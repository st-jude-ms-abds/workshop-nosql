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media/image5.svg" ContentType="image/svg+xml"/>
  <Override PartName="/ppt/media/image7.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 Id="rId6"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56" r:id="rId2"/>
    <p:sldId id="259" r:id="rId3"/>
    <p:sldId id="282" r:id="rId4"/>
    <p:sldId id="288" r:id="rId5"/>
    <p:sldId id="286" r:id="rId6"/>
    <p:sldId id="292" r:id="rId7"/>
    <p:sldId id="293" r:id="rId8"/>
    <p:sldId id="283" r:id="rId9"/>
    <p:sldId id="290" r:id="rId10"/>
    <p:sldId id="291" r:id="rId11"/>
    <p:sldId id="294" r:id="rId17"/>
    <p:sldId id="295" r:id="rId12"/>
    <p:sldId id="296" r:id="rId25"/>
    <p:sldId id="297" r:id="rId26"/>
    <p:sldId id="298" r:id="rId27"/>
    <p:sldId id="299" r:id="rId28"/>
    <p:sldId id="300" r:id="rId29"/>
    <p:sldId id="301" r:id="rId30"/>
    <p:sldId id="285" r:id="rId13"/>
    <p:sldId id="287" r:id="rId14"/>
    <p:sldId id="289" r:id="rId15"/>
    <p:sldId id="284" r:id="rId16"/>
    <p:sldId id="302" r:id="rId31"/>
    <p:sldId id="303" r:id="rId3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4134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00E3603-9B2C-9345-BF59-C66650AFB7CF}" v="53" dt="2025-10-22T13:21:43.03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8345"/>
    <p:restoredTop sz="87535"/>
  </p:normalViewPr>
  <p:slideViewPr>
    <p:cSldViewPr snapToGrid="0">
      <p:cViewPr varScale="1">
        <p:scale>
          <a:sx n="93" d="100"/>
          <a:sy n="93" d="100"/>
        </p:scale>
        <p:origin x="1016" y="50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2.xml"/><Relationship Id="rId13" Type="http://schemas.openxmlformats.org/officeDocument/2006/relationships/slide" Target="slides/slide19.xml"/><Relationship Id="rId14" Type="http://schemas.openxmlformats.org/officeDocument/2006/relationships/slide" Target="slides/slide20.xml"/><Relationship Id="rId15" Type="http://schemas.openxmlformats.org/officeDocument/2006/relationships/slide" Target="slides/slide21.xml"/><Relationship Id="rId16" Type="http://schemas.openxmlformats.org/officeDocument/2006/relationships/slide" Target="slides/slide22.xml"/><Relationship Id="rId17" Type="http://schemas.openxmlformats.org/officeDocument/2006/relationships/slide" Target="slides/slide11.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 Id="rId23" Type="http://schemas.microsoft.com/office/2016/11/relationships/changesInfo" Target="changesInfos/changesInfo1.xml"/><Relationship Id="rId24" Type="http://schemas.microsoft.com/office/2015/10/relationships/revisionInfo" Target="revisionInfo.xml"/><Relationship Id="rId25" Type="http://schemas.openxmlformats.org/officeDocument/2006/relationships/slide" Target="slides/slide13.xml"/><Relationship Id="rId26" Type="http://schemas.openxmlformats.org/officeDocument/2006/relationships/slide" Target="slides/slide14.xml"/><Relationship Id="rId27" Type="http://schemas.openxmlformats.org/officeDocument/2006/relationships/slide" Target="slides/slide15.xml"/><Relationship Id="rId28" Type="http://schemas.openxmlformats.org/officeDocument/2006/relationships/slide" Target="slides/slide16.xml"/><Relationship Id="rId29" Type="http://schemas.openxmlformats.org/officeDocument/2006/relationships/slide" Target="slides/slide17.xml"/><Relationship Id="rId30" Type="http://schemas.openxmlformats.org/officeDocument/2006/relationships/slide" Target="slides/slide18.xml"/><Relationship Id="rId31" Type="http://schemas.openxmlformats.org/officeDocument/2006/relationships/slide" Target="slides/slide23.xml"/><Relationship Id="rId32" Type="http://schemas.openxmlformats.org/officeDocument/2006/relationships/slide" Target="slides/slide2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Zhang, Ziang" userId="86022b89-3620-4733-abee-95d8d72b2d97" providerId="ADAL" clId="{48F4A9CE-C642-5EFE-B34D-78AF252C9260}"/>
    <pc:docChg chg="undo redo custSel mod addSld delSld modSld sldOrd modMainMaster">
      <pc:chgData name="Zhang, Ziang" userId="86022b89-3620-4733-abee-95d8d72b2d97" providerId="ADAL" clId="{48F4A9CE-C642-5EFE-B34D-78AF252C9260}" dt="2025-10-22T14:36:47.648" v="2556" actId="729"/>
      <pc:docMkLst>
        <pc:docMk/>
      </pc:docMkLst>
      <pc:sldChg chg="addSp delSp modSp mod">
        <pc:chgData name="Zhang, Ziang" userId="86022b89-3620-4733-abee-95d8d72b2d97" providerId="ADAL" clId="{48F4A9CE-C642-5EFE-B34D-78AF252C9260}" dt="2025-10-22T03:02:37.686" v="1224" actId="1076"/>
        <pc:sldMkLst>
          <pc:docMk/>
          <pc:sldMk cId="2402775423" sldId="282"/>
        </pc:sldMkLst>
        <pc:spChg chg="add del mod">
          <ac:chgData name="Zhang, Ziang" userId="86022b89-3620-4733-abee-95d8d72b2d97" providerId="ADAL" clId="{48F4A9CE-C642-5EFE-B34D-78AF252C9260}" dt="2025-10-22T02:59:26.642" v="1139" actId="478"/>
          <ac:spMkLst>
            <pc:docMk/>
            <pc:sldMk cId="2402775423" sldId="282"/>
            <ac:spMk id="3" creationId="{84B1DD2B-CB93-571C-30AA-7B3688F7145D}"/>
          </ac:spMkLst>
        </pc:spChg>
        <pc:spChg chg="del">
          <ac:chgData name="Zhang, Ziang" userId="86022b89-3620-4733-abee-95d8d72b2d97" providerId="ADAL" clId="{48F4A9CE-C642-5EFE-B34D-78AF252C9260}" dt="2025-10-22T02:59:31.707" v="1141" actId="478"/>
          <ac:spMkLst>
            <pc:docMk/>
            <pc:sldMk cId="2402775423" sldId="282"/>
            <ac:spMk id="4" creationId="{4FA5364E-EDA1-E813-3056-6EDF7CA6764B}"/>
          </ac:spMkLst>
        </pc:spChg>
        <pc:spChg chg="add mod">
          <ac:chgData name="Zhang, Ziang" userId="86022b89-3620-4733-abee-95d8d72b2d97" providerId="ADAL" clId="{48F4A9CE-C642-5EFE-B34D-78AF252C9260}" dt="2025-10-22T03:02:33.725" v="1213" actId="1076"/>
          <ac:spMkLst>
            <pc:docMk/>
            <pc:sldMk cId="2402775423" sldId="282"/>
            <ac:spMk id="6" creationId="{3460AAA6-84F5-ABBC-B444-37A4B4B8AF3C}"/>
          </ac:spMkLst>
        </pc:spChg>
        <pc:spChg chg="add mod">
          <ac:chgData name="Zhang, Ziang" userId="86022b89-3620-4733-abee-95d8d72b2d97" providerId="ADAL" clId="{48F4A9CE-C642-5EFE-B34D-78AF252C9260}" dt="2025-10-22T03:02:37.686" v="1224" actId="1076"/>
          <ac:spMkLst>
            <pc:docMk/>
            <pc:sldMk cId="2402775423" sldId="282"/>
            <ac:spMk id="7" creationId="{C03E5938-B11D-058B-C660-8DAE544E508A}"/>
          </ac:spMkLst>
        </pc:spChg>
        <pc:picChg chg="add mod">
          <ac:chgData name="Zhang, Ziang" userId="86022b89-3620-4733-abee-95d8d72b2d97" providerId="ADAL" clId="{48F4A9CE-C642-5EFE-B34D-78AF252C9260}" dt="2025-10-22T03:02:33.063" v="1211" actId="1076"/>
          <ac:picMkLst>
            <pc:docMk/>
            <pc:sldMk cId="2402775423" sldId="282"/>
            <ac:picMk id="5" creationId="{9A276E7B-1B36-D356-4253-EA9BA89125E6}"/>
          </ac:picMkLst>
        </pc:picChg>
        <pc:picChg chg="del">
          <ac:chgData name="Zhang, Ziang" userId="86022b89-3620-4733-abee-95d8d72b2d97" providerId="ADAL" clId="{48F4A9CE-C642-5EFE-B34D-78AF252C9260}" dt="2025-10-22T02:58:33.235" v="1135" actId="478"/>
          <ac:picMkLst>
            <pc:docMk/>
            <pc:sldMk cId="2402775423" sldId="282"/>
            <ac:picMk id="1026" creationId="{C31FE6EB-F762-D073-E7CC-29318AB49C26}"/>
          </ac:picMkLst>
        </pc:picChg>
        <pc:picChg chg="del">
          <ac:chgData name="Zhang, Ziang" userId="86022b89-3620-4733-abee-95d8d72b2d97" providerId="ADAL" clId="{48F4A9CE-C642-5EFE-B34D-78AF252C9260}" dt="2025-10-22T02:59:27.863" v="1140" actId="478"/>
          <ac:picMkLst>
            <pc:docMk/>
            <pc:sldMk cId="2402775423" sldId="282"/>
            <ac:picMk id="1028" creationId="{8F779C37-3676-8D51-F543-0D145204BF1E}"/>
          </ac:picMkLst>
        </pc:picChg>
      </pc:sldChg>
      <pc:sldChg chg="mod ord modShow">
        <pc:chgData name="Zhang, Ziang" userId="86022b89-3620-4733-abee-95d8d72b2d97" providerId="ADAL" clId="{48F4A9CE-C642-5EFE-B34D-78AF252C9260}" dt="2025-10-22T13:18:49.417" v="2443" actId="20578"/>
        <pc:sldMkLst>
          <pc:docMk/>
          <pc:sldMk cId="2728976178" sldId="283"/>
        </pc:sldMkLst>
      </pc:sldChg>
      <pc:sldChg chg="add del mod modShow">
        <pc:chgData name="Zhang, Ziang" userId="86022b89-3620-4733-abee-95d8d72b2d97" providerId="ADAL" clId="{48F4A9CE-C642-5EFE-B34D-78AF252C9260}" dt="2025-10-22T14:36:47.648" v="2556" actId="729"/>
        <pc:sldMkLst>
          <pc:docMk/>
          <pc:sldMk cId="454728193" sldId="284"/>
        </pc:sldMkLst>
      </pc:sldChg>
      <pc:sldChg chg="add del mod modShow">
        <pc:chgData name="Zhang, Ziang" userId="86022b89-3620-4733-abee-95d8d72b2d97" providerId="ADAL" clId="{48F4A9CE-C642-5EFE-B34D-78AF252C9260}" dt="2025-10-22T04:04:05.465" v="1998" actId="729"/>
        <pc:sldMkLst>
          <pc:docMk/>
          <pc:sldMk cId="273240953" sldId="285"/>
        </pc:sldMkLst>
      </pc:sldChg>
      <pc:sldChg chg="modSp add del mod ord modShow">
        <pc:chgData name="Zhang, Ziang" userId="86022b89-3620-4733-abee-95d8d72b2d97" providerId="ADAL" clId="{48F4A9CE-C642-5EFE-B34D-78AF252C9260}" dt="2025-10-22T13:21:07.875" v="2473" actId="1076"/>
        <pc:sldMkLst>
          <pc:docMk/>
          <pc:sldMk cId="1755794965" sldId="286"/>
        </pc:sldMkLst>
        <pc:spChg chg="mod">
          <ac:chgData name="Zhang, Ziang" userId="86022b89-3620-4733-abee-95d8d72b2d97" providerId="ADAL" clId="{48F4A9CE-C642-5EFE-B34D-78AF252C9260}" dt="2025-10-22T13:21:07.875" v="2473" actId="1076"/>
          <ac:spMkLst>
            <pc:docMk/>
            <pc:sldMk cId="1755794965" sldId="286"/>
            <ac:spMk id="2" creationId="{57CA7A18-4D0D-0D4A-96DF-D76243B62A13}"/>
          </ac:spMkLst>
        </pc:spChg>
        <pc:picChg chg="mod">
          <ac:chgData name="Zhang, Ziang" userId="86022b89-3620-4733-abee-95d8d72b2d97" providerId="ADAL" clId="{48F4A9CE-C642-5EFE-B34D-78AF252C9260}" dt="2025-10-22T13:21:00.737" v="2472" actId="167"/>
          <ac:picMkLst>
            <pc:docMk/>
            <pc:sldMk cId="1755794965" sldId="286"/>
            <ac:picMk id="4098" creationId="{B5878A7C-2E8A-9499-E2C4-C2CA292BC5CA}"/>
          </ac:picMkLst>
        </pc:picChg>
      </pc:sldChg>
      <pc:sldChg chg="add del mod modShow">
        <pc:chgData name="Zhang, Ziang" userId="86022b89-3620-4733-abee-95d8d72b2d97" providerId="ADAL" clId="{48F4A9CE-C642-5EFE-B34D-78AF252C9260}" dt="2025-10-22T04:04:10.633" v="2000" actId="729"/>
        <pc:sldMkLst>
          <pc:docMk/>
          <pc:sldMk cId="4137189614" sldId="287"/>
        </pc:sldMkLst>
      </pc:sldChg>
      <pc:sldChg chg="add del mod modShow">
        <pc:chgData name="Zhang, Ziang" userId="86022b89-3620-4733-abee-95d8d72b2d97" providerId="ADAL" clId="{48F4A9CE-C642-5EFE-B34D-78AF252C9260}" dt="2025-10-22T04:04:13.907" v="2001" actId="729"/>
        <pc:sldMkLst>
          <pc:docMk/>
          <pc:sldMk cId="3280692308" sldId="289"/>
        </pc:sldMkLst>
      </pc:sldChg>
      <pc:sldChg chg="addSp delSp modSp mod">
        <pc:chgData name="Zhang, Ziang" userId="86022b89-3620-4733-abee-95d8d72b2d97" providerId="ADAL" clId="{48F4A9CE-C642-5EFE-B34D-78AF252C9260}" dt="2025-10-22T04:12:19.156" v="2005" actId="1076"/>
        <pc:sldMkLst>
          <pc:docMk/>
          <pc:sldMk cId="3954144906" sldId="290"/>
        </pc:sldMkLst>
        <pc:spChg chg="mod">
          <ac:chgData name="Zhang, Ziang" userId="86022b89-3620-4733-abee-95d8d72b2d97" providerId="ADAL" clId="{48F4A9CE-C642-5EFE-B34D-78AF252C9260}" dt="2025-10-22T04:12:19.156" v="2005" actId="1076"/>
          <ac:spMkLst>
            <pc:docMk/>
            <pc:sldMk cId="3954144906" sldId="290"/>
            <ac:spMk id="2" creationId="{573C2178-3BA5-6B38-2810-E588B4CD0592}"/>
          </ac:spMkLst>
        </pc:spChg>
        <pc:spChg chg="mod">
          <ac:chgData name="Zhang, Ziang" userId="86022b89-3620-4733-abee-95d8d72b2d97" providerId="ADAL" clId="{48F4A9CE-C642-5EFE-B34D-78AF252C9260}" dt="2025-10-22T04:02:24.037" v="1985" actId="255"/>
          <ac:spMkLst>
            <pc:docMk/>
            <pc:sldMk cId="3954144906" sldId="290"/>
            <ac:spMk id="3" creationId="{BD4E3C20-7484-C9F3-03C7-19FAA3C1A04F}"/>
          </ac:spMkLst>
        </pc:spChg>
        <pc:spChg chg="add mod">
          <ac:chgData name="Zhang, Ziang" userId="86022b89-3620-4733-abee-95d8d72b2d97" providerId="ADAL" clId="{48F4A9CE-C642-5EFE-B34D-78AF252C9260}" dt="2025-10-22T04:00:48.583" v="1904" actId="164"/>
          <ac:spMkLst>
            <pc:docMk/>
            <pc:sldMk cId="3954144906" sldId="290"/>
            <ac:spMk id="7" creationId="{EA1AD64E-1C63-EC9E-66BD-17E3CBD5604F}"/>
          </ac:spMkLst>
        </pc:spChg>
        <pc:grpChg chg="add mod">
          <ac:chgData name="Zhang, Ziang" userId="86022b89-3620-4733-abee-95d8d72b2d97" providerId="ADAL" clId="{48F4A9CE-C642-5EFE-B34D-78AF252C9260}" dt="2025-10-22T04:00:48.583" v="1904" actId="164"/>
          <ac:grpSpMkLst>
            <pc:docMk/>
            <pc:sldMk cId="3954144906" sldId="290"/>
            <ac:grpSpMk id="12" creationId="{8D22E662-0E43-F7FB-6AC4-044CFD2AE765}"/>
          </ac:grpSpMkLst>
        </pc:grpChg>
        <pc:picChg chg="del">
          <ac:chgData name="Zhang, Ziang" userId="86022b89-3620-4733-abee-95d8d72b2d97" providerId="ADAL" clId="{48F4A9CE-C642-5EFE-B34D-78AF252C9260}" dt="2025-10-22T03:39:26.214" v="1662" actId="478"/>
          <ac:picMkLst>
            <pc:docMk/>
            <pc:sldMk cId="3954144906" sldId="290"/>
            <ac:picMk id="5" creationId="{7576FB11-64AC-8CAD-549A-C312201C996D}"/>
          </ac:picMkLst>
        </pc:picChg>
        <pc:picChg chg="add del mod">
          <ac:chgData name="Zhang, Ziang" userId="86022b89-3620-4733-abee-95d8d72b2d97" providerId="ADAL" clId="{48F4A9CE-C642-5EFE-B34D-78AF252C9260}" dt="2025-10-22T03:43:36.609" v="1773" actId="478"/>
          <ac:picMkLst>
            <pc:docMk/>
            <pc:sldMk cId="3954144906" sldId="290"/>
            <ac:picMk id="6" creationId="{A526214A-64DF-0E2C-8DB6-7D1E3C9B5D57}"/>
          </ac:picMkLst>
        </pc:picChg>
        <pc:picChg chg="add del mod">
          <ac:chgData name="Zhang, Ziang" userId="86022b89-3620-4733-abee-95d8d72b2d97" providerId="ADAL" clId="{48F4A9CE-C642-5EFE-B34D-78AF252C9260}" dt="2025-10-22T03:45:46.420" v="1809" actId="478"/>
          <ac:picMkLst>
            <pc:docMk/>
            <pc:sldMk cId="3954144906" sldId="290"/>
            <ac:picMk id="9" creationId="{9B64C489-0807-239F-210F-2862B3969698}"/>
          </ac:picMkLst>
        </pc:picChg>
        <pc:picChg chg="add mod">
          <ac:chgData name="Zhang, Ziang" userId="86022b89-3620-4733-abee-95d8d72b2d97" providerId="ADAL" clId="{48F4A9CE-C642-5EFE-B34D-78AF252C9260}" dt="2025-10-22T04:00:48.583" v="1904" actId="164"/>
          <ac:picMkLst>
            <pc:docMk/>
            <pc:sldMk cId="3954144906" sldId="290"/>
            <ac:picMk id="11" creationId="{520A5D3B-81B0-CBEF-468A-DFC9486CC00A}"/>
          </ac:picMkLst>
        </pc:picChg>
      </pc:sldChg>
      <pc:sldChg chg="del">
        <pc:chgData name="Zhang, Ziang" userId="86022b89-3620-4733-abee-95d8d72b2d97" providerId="ADAL" clId="{48F4A9CE-C642-5EFE-B34D-78AF252C9260}" dt="2025-10-22T13:21:35.053" v="2476" actId="2696"/>
        <pc:sldMkLst>
          <pc:docMk/>
          <pc:sldMk cId="1518980786" sldId="291"/>
        </pc:sldMkLst>
      </pc:sldChg>
      <pc:sldChg chg="modSp add mod ord modNotesTx">
        <pc:chgData name="Zhang, Ziang" userId="86022b89-3620-4733-abee-95d8d72b2d97" providerId="ADAL" clId="{48F4A9CE-C642-5EFE-B34D-78AF252C9260}" dt="2025-10-22T13:35:21.880" v="2550" actId="20577"/>
        <pc:sldMkLst>
          <pc:docMk/>
          <pc:sldMk cId="1589132869" sldId="291"/>
        </pc:sldMkLst>
        <pc:spChg chg="mod">
          <ac:chgData name="Zhang, Ziang" userId="86022b89-3620-4733-abee-95d8d72b2d97" providerId="ADAL" clId="{48F4A9CE-C642-5EFE-B34D-78AF252C9260}" dt="2025-10-22T13:34:56.574" v="2482" actId="20577"/>
          <ac:spMkLst>
            <pc:docMk/>
            <pc:sldMk cId="1589132869" sldId="291"/>
            <ac:spMk id="2" creationId="{5BF2ED6D-CCE0-D569-9B7B-2E23E15E4735}"/>
          </ac:spMkLst>
        </pc:spChg>
      </pc:sldChg>
      <pc:sldChg chg="add">
        <pc:chgData name="Zhang, Ziang" userId="86022b89-3620-4733-abee-95d8d72b2d97" providerId="ADAL" clId="{48F4A9CE-C642-5EFE-B34D-78AF252C9260}" dt="2025-10-22T13:21:43.032" v="2477"/>
        <pc:sldMkLst>
          <pc:docMk/>
          <pc:sldMk cId="2211787419" sldId="292"/>
        </pc:sldMkLst>
      </pc:sldChg>
      <pc:sldChg chg="del mod modShow">
        <pc:chgData name="Zhang, Ziang" userId="86022b89-3620-4733-abee-95d8d72b2d97" providerId="ADAL" clId="{48F4A9CE-C642-5EFE-B34D-78AF252C9260}" dt="2025-10-22T13:21:35.053" v="2476" actId="2696"/>
        <pc:sldMkLst>
          <pc:docMk/>
          <pc:sldMk cId="3182324879" sldId="292"/>
        </pc:sldMkLst>
      </pc:sldChg>
      <pc:sldChg chg="addSp modSp add del mod modShow">
        <pc:chgData name="Zhang, Ziang" userId="86022b89-3620-4733-abee-95d8d72b2d97" providerId="ADAL" clId="{48F4A9CE-C642-5EFE-B34D-78AF252C9260}" dt="2025-10-22T13:21:35.053" v="2476" actId="2696"/>
        <pc:sldMkLst>
          <pc:docMk/>
          <pc:sldMk cId="2345624157" sldId="293"/>
        </pc:sldMkLst>
      </pc:sldChg>
      <pc:sldChg chg="add">
        <pc:chgData name="Zhang, Ziang" userId="86022b89-3620-4733-abee-95d8d72b2d97" providerId="ADAL" clId="{48F4A9CE-C642-5EFE-B34D-78AF252C9260}" dt="2025-10-22T13:21:43.032" v="2477"/>
        <pc:sldMkLst>
          <pc:docMk/>
          <pc:sldMk cId="4033893340" sldId="293"/>
        </pc:sldMkLst>
      </pc:sldChg>
      <pc:sldChg chg="modSp mod modShow">
        <pc:chgData name="Zhang, Ziang" userId="86022b89-3620-4733-abee-95d8d72b2d97" providerId="ADAL" clId="{48F4A9CE-C642-5EFE-B34D-78AF252C9260}" dt="2025-10-22T14:30:06.574" v="2555" actId="1076"/>
        <pc:sldMkLst>
          <pc:docMk/>
          <pc:sldMk cId="477488607" sldId="294"/>
        </pc:sldMkLst>
        <pc:spChg chg="mod">
          <ac:chgData name="Zhang, Ziang" userId="86022b89-3620-4733-abee-95d8d72b2d97" providerId="ADAL" clId="{48F4A9CE-C642-5EFE-B34D-78AF252C9260}" dt="2025-10-22T14:30:06.574" v="2555" actId="1076"/>
          <ac:spMkLst>
            <pc:docMk/>
            <pc:sldMk cId="477488607" sldId="294"/>
            <ac:spMk id="2" creationId="{72121936-CD43-6A82-7C10-E6E17C1639A1}"/>
          </ac:spMkLst>
        </pc:spChg>
      </pc:sldChg>
      <pc:sldChg chg="add del">
        <pc:chgData name="Zhang, Ziang" userId="86022b89-3620-4733-abee-95d8d72b2d97" providerId="ADAL" clId="{48F4A9CE-C642-5EFE-B34D-78AF252C9260}" dt="2025-10-22T04:03:22.883" v="1986" actId="2696"/>
        <pc:sldMkLst>
          <pc:docMk/>
          <pc:sldMk cId="541204773" sldId="295"/>
        </pc:sldMkLst>
      </pc:sldChg>
      <pc:sldChg chg="add del">
        <pc:chgData name="Zhang, Ziang" userId="86022b89-3620-4733-abee-95d8d72b2d97" providerId="ADAL" clId="{48F4A9CE-C642-5EFE-B34D-78AF252C9260}" dt="2025-10-22T03:02:42.247" v="1226" actId="2696"/>
        <pc:sldMkLst>
          <pc:docMk/>
          <pc:sldMk cId="546995905" sldId="295"/>
        </pc:sldMkLst>
      </pc:sldChg>
      <pc:sldChg chg="addSp delSp modSp new mod">
        <pc:chgData name="Zhang, Ziang" userId="86022b89-3620-4733-abee-95d8d72b2d97" providerId="ADAL" clId="{48F4A9CE-C642-5EFE-B34D-78AF252C9260}" dt="2025-10-22T14:29:39.782" v="2552" actId="20577"/>
        <pc:sldMkLst>
          <pc:docMk/>
          <pc:sldMk cId="3172130596" sldId="295"/>
        </pc:sldMkLst>
        <pc:spChg chg="mod">
          <ac:chgData name="Zhang, Ziang" userId="86022b89-3620-4733-abee-95d8d72b2d97" providerId="ADAL" clId="{48F4A9CE-C642-5EFE-B34D-78AF252C9260}" dt="2025-10-22T04:29:42.549" v="2110" actId="20577"/>
          <ac:spMkLst>
            <pc:docMk/>
            <pc:sldMk cId="3172130596" sldId="295"/>
            <ac:spMk id="2" creationId="{EC6D8A5A-E0BA-3A1E-8B28-CA8E3CF5475C}"/>
          </ac:spMkLst>
        </pc:spChg>
        <pc:spChg chg="del">
          <ac:chgData name="Zhang, Ziang" userId="86022b89-3620-4733-abee-95d8d72b2d97" providerId="ADAL" clId="{48F4A9CE-C642-5EFE-B34D-78AF252C9260}" dt="2025-10-22T04:12:45.761" v="2019"/>
          <ac:spMkLst>
            <pc:docMk/>
            <pc:sldMk cId="3172130596" sldId="295"/>
            <ac:spMk id="3" creationId="{A0F00BBF-BF42-92DC-7166-77D73373DB0E}"/>
          </ac:spMkLst>
        </pc:spChg>
        <pc:spChg chg="add mod">
          <ac:chgData name="Zhang, Ziang" userId="86022b89-3620-4733-abee-95d8d72b2d97" providerId="ADAL" clId="{48F4A9CE-C642-5EFE-B34D-78AF252C9260}" dt="2025-10-22T14:29:39.782" v="2552" actId="20577"/>
          <ac:spMkLst>
            <pc:docMk/>
            <pc:sldMk cId="3172130596" sldId="295"/>
            <ac:spMk id="6" creationId="{0CE453BF-A7CD-04EB-0E38-2396E905A348}"/>
          </ac:spMkLst>
        </pc:spChg>
        <pc:spChg chg="add mod">
          <ac:chgData name="Zhang, Ziang" userId="86022b89-3620-4733-abee-95d8d72b2d97" providerId="ADAL" clId="{48F4A9CE-C642-5EFE-B34D-78AF252C9260}" dt="2025-10-22T04:33:58.611" v="2442" actId="1076"/>
          <ac:spMkLst>
            <pc:docMk/>
            <pc:sldMk cId="3172130596" sldId="295"/>
            <ac:spMk id="7" creationId="{C9071369-1CBD-C369-1B0A-819E4BD42B13}"/>
          </ac:spMkLst>
        </pc:spChg>
        <pc:picChg chg="add mod">
          <ac:chgData name="Zhang, Ziang" userId="86022b89-3620-4733-abee-95d8d72b2d97" providerId="ADAL" clId="{48F4A9CE-C642-5EFE-B34D-78AF252C9260}" dt="2025-10-22T04:12:48.964" v="2022" actId="1076"/>
          <ac:picMkLst>
            <pc:docMk/>
            <pc:sldMk cId="3172130596" sldId="295"/>
            <ac:picMk id="5" creationId="{5D179347-26C7-C1F0-B279-CEAC3884EDA2}"/>
          </ac:picMkLst>
        </pc:picChg>
      </pc:sldChg>
      <pc:sldChg chg="add del">
        <pc:chgData name="Zhang, Ziang" userId="86022b89-3620-4733-abee-95d8d72b2d97" providerId="ADAL" clId="{48F4A9CE-C642-5EFE-B34D-78AF252C9260}" dt="2025-10-22T04:03:23.496" v="1987" actId="2696"/>
        <pc:sldMkLst>
          <pc:docMk/>
          <pc:sldMk cId="4041442116" sldId="296"/>
        </pc:sldMkLst>
      </pc:sldChg>
      <pc:sldMasterChg chg="addSp mod">
        <pc:chgData name="Zhang, Ziang" userId="86022b89-3620-4733-abee-95d8d72b2d97" providerId="ADAL" clId="{48F4A9CE-C642-5EFE-B34D-78AF252C9260}" dt="2025-10-22T02:57:13.111" v="1133" actId="33475"/>
        <pc:sldMasterMkLst>
          <pc:docMk/>
          <pc:sldMasterMk cId="4135623836" sldId="2147483648"/>
        </pc:sldMasterMkLst>
        <pc:spChg chg="add">
          <ac:chgData name="Zhang, Ziang" userId="86022b89-3620-4733-abee-95d8d72b2d97" providerId="ADAL" clId="{48F4A9CE-C642-5EFE-B34D-78AF252C9260}" dt="2025-10-22T02:57:13.111" v="1133" actId="33475"/>
          <ac:spMkLst>
            <pc:docMk/>
            <pc:sldMasterMk cId="4135623836" sldId="2147483648"/>
            <ac:spMk id="8" creationId="{91160E02-EE88-D537-D70A-9F8548711A59}"/>
          </ac:spMkLst>
        </pc:sp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8306857-204C-AC47-96FD-9722BEC647FD}" type="datetimeFigureOut">
              <a:rPr lang="en-US" smtClean="0"/>
              <a:t>10/22/25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F784608-109B-AB47-A93C-DEA587F8BA7F}" type="slidenum">
              <a:rPr lang="en-US" smtClean="0"/>
              <a:t>‹#›</a:t>
            </a:fld>
            <a:endParaRPr lang="en-US"/>
          </a:p>
        </p:txBody>
      </p:sp>
    </p:spTree>
    <p:extLst>
      <p:ext uri="{BB962C8B-B14F-4D97-AF65-F5344CB8AC3E}">
        <p14:creationId xmlns:p14="http://schemas.microsoft.com/office/powerpoint/2010/main" val="243258712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Greeting. Introduce the lecturers and the HPC Support team. Read the title: the second lecture of day two is about graph databases. In the afternoon (Lecture 27) we build a genome graph; this morning we learn the concepts and the Cypher language with a small example: this very course. The workbook is 3-graphdb-concept/workbook.ipynb.</a:t>
            </a:r>
          </a:p>
        </p:txBody>
      </p:sp>
      <p:sp>
        <p:nvSpPr>
          <p:cNvPr id="4" name="Slide Number Placeholder 3"/>
          <p:cNvSpPr>
            <a:spLocks noGrp="1"/>
          </p:cNvSpPr>
          <p:nvPr>
            <p:ph type="sldNum" sz="quarter" idx="5"/>
          </p:nvPr>
        </p:nvSpPr>
        <p:spPr/>
        <p:txBody>
          <a:bodyPr/>
          <a:lstStyle/>
          <a:p>
            <a:fld id="{5F784608-109B-AB47-A93C-DEA587F8BA7F}" type="slidenum">
              <a:rPr lang="en-US" smtClean="0"/>
              <a:t>1</a:t>
            </a:fld>
            <a:endParaRPr lang="en-US"/>
          </a:p>
        </p:txBody>
      </p:sp>
    </p:spTree>
    <p:extLst>
      <p:ext uri="{BB962C8B-B14F-4D97-AF65-F5344CB8AC3E}">
        <p14:creationId xmlns:p14="http://schemas.microsoft.com/office/powerpoint/2010/main" val="368806213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Three objectives: understand the fundamental data model (nodes, relationships, properties); understand graph traversal techniques; understand genomic data as a graph. The last objective is covered by the bridge slide near the end and by the afternoon workshop.</a:t>
            </a:r>
          </a:p>
        </p:txBody>
      </p:sp>
      <p:sp>
        <p:nvSpPr>
          <p:cNvPr id="4" name="Slide Number Placeholder 3"/>
          <p:cNvSpPr>
            <a:spLocks noGrp="1"/>
          </p:cNvSpPr>
          <p:nvPr>
            <p:ph type="sldNum" sz="quarter" idx="5"/>
          </p:nvPr>
        </p:nvSpPr>
        <p:spPr/>
        <p:txBody>
          <a:bodyPr/>
          <a:lstStyle/>
          <a:p>
            <a:fld id="{5F784608-109B-AB47-A93C-DEA587F8BA7F}" type="slidenum">
              <a:rPr lang="en-US" smtClean="0"/>
              <a:t>2</a:t>
            </a:fld>
            <a:endParaRPr lang="en-US"/>
          </a:p>
        </p:txBody>
      </p:sp>
    </p:spTree>
    <p:extLst>
      <p:ext uri="{BB962C8B-B14F-4D97-AF65-F5344CB8AC3E}">
        <p14:creationId xmlns:p14="http://schemas.microsoft.com/office/powerpoint/2010/main" val="411621603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BF5D62-DA93-DB82-C13F-E289D99F2E6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7FEF2D0-35FC-E6B6-491A-041A5CCFD25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E09E8E2-3BF4-FC28-32BA-C15338343B24}"/>
              </a:ext>
            </a:extLst>
          </p:cNvPr>
          <p:cNvSpPr>
            <a:spLocks noGrp="1"/>
          </p:cNvSpPr>
          <p:nvPr>
            <p:ph type="body" idx="1"/>
          </p:nvPr>
        </p:nvSpPr>
        <p:spPr/>
        <p:txBody>
          <a:bodyPr/>
          <a:lstStyle/>
          <a:p>
            <a:r>
              <a:rPr lang="en-US" dirty="0"/>
              <a:t>https://</a:t>
            </a:r>
            <a:r>
              <a:rPr lang="en-US" dirty="0" err="1"/>
              <a:t>graphein.ai</a:t>
            </a:r>
            <a:r>
              <a:rPr lang="en-US" dirty="0"/>
              <a:t>/notebooks/</a:t>
            </a:r>
            <a:r>
              <a:rPr lang="en-US" dirty="0" err="1"/>
              <a:t>protein_graph_analytics.html</a:t>
            </a:r>
            <a:endParaRPr lang="en-US" dirty="0"/>
          </a:p>
        </p:txBody>
      </p:sp>
      <p:sp>
        <p:nvSpPr>
          <p:cNvPr id="4" name="Slide Number Placeholder 3">
            <a:extLst>
              <a:ext uri="{FF2B5EF4-FFF2-40B4-BE49-F238E27FC236}">
                <a16:creationId xmlns:a16="http://schemas.microsoft.com/office/drawing/2014/main" id="{4DB5D7E2-5860-CD16-86E4-F24375C1D72B}"/>
              </a:ext>
            </a:extLst>
          </p:cNvPr>
          <p:cNvSpPr>
            <a:spLocks noGrp="1"/>
          </p:cNvSpPr>
          <p:nvPr>
            <p:ph type="sldNum" sz="quarter" idx="5"/>
          </p:nvPr>
        </p:nvSpPr>
        <p:spPr/>
        <p:txBody>
          <a:bodyPr/>
          <a:lstStyle/>
          <a:p>
            <a:fld id="{5F784608-109B-AB47-A93C-DEA587F8BA7F}" type="slidenum">
              <a:rPr lang="en-US" smtClean="0"/>
              <a:t>6</a:t>
            </a:fld>
            <a:endParaRPr lang="en-US"/>
          </a:p>
        </p:txBody>
      </p:sp>
    </p:spTree>
    <p:extLst>
      <p:ext uri="{BB962C8B-B14F-4D97-AF65-F5344CB8AC3E}">
        <p14:creationId xmlns:p14="http://schemas.microsoft.com/office/powerpoint/2010/main" val="76427407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F58193-2B53-222D-15C1-EA3D6843393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A077D47-7E70-2BFD-B380-B4264785331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7AA973B-A50E-F066-9933-A5711033D232}"/>
              </a:ext>
            </a:extLst>
          </p:cNvPr>
          <p:cNvSpPr>
            <a:spLocks noGrp="1"/>
          </p:cNvSpPr>
          <p:nvPr>
            <p:ph type="body" idx="1"/>
          </p:nvPr>
        </p:nvSpPr>
        <p:spPr/>
        <p:txBody>
          <a:bodyPr/>
          <a:lstStyle/>
          <a:p>
            <a:r>
              <a:rPr lang="en-US" dirty="0"/>
              <a:t>https://</a:t>
            </a:r>
            <a:r>
              <a:rPr lang="en-US" dirty="0" err="1"/>
              <a:t>graphein.ai</a:t>
            </a:r>
            <a:r>
              <a:rPr lang="en-US" dirty="0"/>
              <a:t>/notebooks/</a:t>
            </a:r>
            <a:r>
              <a:rPr lang="en-US" dirty="0" err="1"/>
              <a:t>protein_graph_analytics.html</a:t>
            </a:r>
            <a:endParaRPr lang="en-US" dirty="0"/>
          </a:p>
        </p:txBody>
      </p:sp>
      <p:sp>
        <p:nvSpPr>
          <p:cNvPr id="4" name="Slide Number Placeholder 3">
            <a:extLst>
              <a:ext uri="{FF2B5EF4-FFF2-40B4-BE49-F238E27FC236}">
                <a16:creationId xmlns:a16="http://schemas.microsoft.com/office/drawing/2014/main" id="{27671BBF-DD38-08E2-090D-A9C683F3C19A}"/>
              </a:ext>
            </a:extLst>
          </p:cNvPr>
          <p:cNvSpPr>
            <a:spLocks noGrp="1"/>
          </p:cNvSpPr>
          <p:nvPr>
            <p:ph type="sldNum" sz="quarter" idx="5"/>
          </p:nvPr>
        </p:nvSpPr>
        <p:spPr/>
        <p:txBody>
          <a:bodyPr/>
          <a:lstStyle/>
          <a:p>
            <a:fld id="{5F784608-109B-AB47-A93C-DEA587F8BA7F}" type="slidenum">
              <a:rPr lang="en-US" smtClean="0"/>
              <a:t>7</a:t>
            </a:fld>
            <a:endParaRPr lang="en-US"/>
          </a:p>
        </p:txBody>
      </p:sp>
    </p:spTree>
    <p:extLst>
      <p:ext uri="{BB962C8B-B14F-4D97-AF65-F5344CB8AC3E}">
        <p14:creationId xmlns:p14="http://schemas.microsoft.com/office/powerpoint/2010/main" val="278624169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kern="1200" dirty="0">
                <a:solidFill>
                  <a:schemeClr val="tx1"/>
                </a:solidFill>
                <a:effectLst/>
                <a:latin typeface="+mn-lt"/>
                <a:ea typeface="+mn-ea"/>
                <a:cs typeface="+mn-cs"/>
              </a:rPr>
              <a:t>---</a:t>
            </a:r>
          </a:p>
          <a:p>
            <a:r>
              <a:rPr lang="en-US" sz="1200" b="0" kern="1200" dirty="0">
                <a:solidFill>
                  <a:schemeClr val="tx1"/>
                </a:solidFill>
                <a:effectLst/>
                <a:latin typeface="+mn-lt"/>
                <a:ea typeface="+mn-ea"/>
                <a:cs typeface="+mn-cs"/>
              </a:rPr>
              <a:t>title: The course</a:t>
            </a:r>
          </a:p>
          <a:p>
            <a:r>
              <a:rPr lang="en-US" sz="1200" b="0" kern="1200" dirty="0">
                <a:solidFill>
                  <a:schemeClr val="tx1"/>
                </a:solidFill>
                <a:effectLst/>
                <a:latin typeface="+mn-lt"/>
                <a:ea typeface="+mn-ea"/>
                <a:cs typeface="+mn-cs"/>
              </a:rPr>
              <a:t>---</a:t>
            </a:r>
          </a:p>
          <a:p>
            <a:r>
              <a:rPr lang="en-US" sz="1200" b="0" kern="1200" dirty="0" err="1">
                <a:solidFill>
                  <a:schemeClr val="tx1"/>
                </a:solidFill>
                <a:effectLst/>
                <a:latin typeface="+mn-lt"/>
                <a:ea typeface="+mn-ea"/>
                <a:cs typeface="+mn-cs"/>
              </a:rPr>
              <a:t>erDiagram</a:t>
            </a:r>
            <a:endParaRPr lang="en-US" sz="1200" b="0" kern="1200" dirty="0">
              <a:solidFill>
                <a:schemeClr val="tx1"/>
              </a:solidFill>
              <a:effectLst/>
              <a:latin typeface="+mn-lt"/>
              <a:ea typeface="+mn-ea"/>
              <a:cs typeface="+mn-cs"/>
            </a:endParaRPr>
          </a:p>
          <a:p>
            <a:r>
              <a:rPr lang="en-US" sz="1200" b="0" kern="1200" dirty="0" err="1">
                <a:solidFill>
                  <a:schemeClr val="tx1"/>
                </a:solidFill>
                <a:effectLst/>
                <a:latin typeface="+mn-lt"/>
                <a:ea typeface="+mn-ea"/>
                <a:cs typeface="+mn-cs"/>
              </a:rPr>
              <a:t>MeetingRoom</a:t>
            </a:r>
            <a:r>
              <a:rPr lang="en-US" sz="1200" b="0" kern="1200" dirty="0">
                <a:solidFill>
                  <a:schemeClr val="tx1"/>
                </a:solidFill>
                <a:effectLst/>
                <a:latin typeface="+mn-lt"/>
                <a:ea typeface="+mn-ea"/>
                <a:cs typeface="+mn-cs"/>
              </a:rPr>
              <a:t> {</a:t>
            </a:r>
          </a:p>
          <a:p>
            <a:r>
              <a:rPr lang="en-US" sz="1200" b="0" kern="1200" dirty="0">
                <a:solidFill>
                  <a:schemeClr val="tx1"/>
                </a:solidFill>
                <a:effectLst/>
                <a:latin typeface="+mn-lt"/>
                <a:ea typeface="+mn-ea"/>
                <a:cs typeface="+mn-cs"/>
              </a:rPr>
              <a:t>id MP163</a:t>
            </a:r>
          </a:p>
          <a:p>
            <a:r>
              <a:rPr lang="en-US" sz="1200" b="0" kern="1200" dirty="0">
                <a:solidFill>
                  <a:schemeClr val="tx1"/>
                </a:solidFill>
                <a:effectLst/>
                <a:latin typeface="+mn-lt"/>
                <a:ea typeface="+mn-ea"/>
                <a:cs typeface="+mn-cs"/>
              </a:rPr>
              <a:t>building ARC</a:t>
            </a:r>
          </a:p>
          <a:p>
            <a:r>
              <a:rPr lang="en-US" sz="1200" b="0" kern="1200" dirty="0">
                <a:solidFill>
                  <a:schemeClr val="tx1"/>
                </a:solidFill>
                <a:effectLst/>
                <a:latin typeface="+mn-lt"/>
                <a:ea typeface="+mn-ea"/>
                <a:cs typeface="+mn-cs"/>
              </a:rPr>
              <a:t>floor plaza</a:t>
            </a:r>
          </a:p>
          <a:p>
            <a:r>
              <a:rPr lang="en-US" sz="1200" b="0" kern="1200" dirty="0">
                <a:solidFill>
                  <a:schemeClr val="tx1"/>
                </a:solidFill>
                <a:effectLst/>
                <a:latin typeface="+mn-lt"/>
                <a:ea typeface="+mn-ea"/>
                <a:cs typeface="+mn-cs"/>
              </a:rPr>
              <a:t>}</a:t>
            </a:r>
          </a:p>
          <a:p>
            <a:r>
              <a:rPr lang="en-US" sz="1200" b="0" kern="1200" dirty="0">
                <a:solidFill>
                  <a:schemeClr val="tx1"/>
                </a:solidFill>
                <a:effectLst/>
                <a:latin typeface="+mn-lt"/>
                <a:ea typeface="+mn-ea"/>
                <a:cs typeface="+mn-cs"/>
              </a:rPr>
              <a:t>Lecture {</a:t>
            </a:r>
          </a:p>
          <a:p>
            <a:r>
              <a:rPr lang="en-US" sz="1200" b="0" kern="1200" dirty="0">
                <a:solidFill>
                  <a:schemeClr val="tx1"/>
                </a:solidFill>
                <a:effectLst/>
                <a:latin typeface="+mn-lt"/>
                <a:ea typeface="+mn-ea"/>
                <a:cs typeface="+mn-cs"/>
              </a:rPr>
              <a:t>program ABDS</a:t>
            </a:r>
          </a:p>
          <a:p>
            <a:r>
              <a:rPr lang="en-US" sz="1200" b="0" kern="1200" dirty="0">
                <a:solidFill>
                  <a:schemeClr val="tx1"/>
                </a:solidFill>
                <a:effectLst/>
                <a:latin typeface="+mn-lt"/>
                <a:ea typeface="+mn-ea"/>
                <a:cs typeface="+mn-cs"/>
              </a:rPr>
              <a:t>series </a:t>
            </a:r>
            <a:r>
              <a:rPr lang="en-US" sz="1200" b="0" kern="1200" dirty="0" err="1">
                <a:solidFill>
                  <a:schemeClr val="tx1"/>
                </a:solidFill>
                <a:effectLst/>
                <a:latin typeface="+mn-lt"/>
                <a:ea typeface="+mn-ea"/>
                <a:cs typeface="+mn-cs"/>
              </a:rPr>
              <a:t>DataWrangling</a:t>
            </a: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index n26</a:t>
            </a:r>
          </a:p>
          <a:p>
            <a:r>
              <a:rPr lang="en-US" sz="1200" b="0" kern="1200" dirty="0">
                <a:solidFill>
                  <a:schemeClr val="tx1"/>
                </a:solidFill>
                <a:effectLst/>
                <a:latin typeface="+mn-lt"/>
                <a:ea typeface="+mn-ea"/>
                <a:cs typeface="+mn-cs"/>
              </a:rPr>
              <a:t>}</a:t>
            </a:r>
          </a:p>
          <a:p>
            <a:r>
              <a:rPr lang="en-US" sz="1200" b="0" kern="1200" dirty="0" err="1">
                <a:solidFill>
                  <a:schemeClr val="tx1"/>
                </a:solidFill>
                <a:effectLst/>
                <a:latin typeface="+mn-lt"/>
                <a:ea typeface="+mn-ea"/>
                <a:cs typeface="+mn-cs"/>
              </a:rPr>
              <a:t>MeetingRoom</a:t>
            </a:r>
            <a:r>
              <a:rPr lang="en-US" sz="1200" b="0" kern="1200" dirty="0">
                <a:solidFill>
                  <a:schemeClr val="tx1"/>
                </a:solidFill>
                <a:effectLst/>
                <a:latin typeface="+mn-lt"/>
                <a:ea typeface="+mn-ea"/>
                <a:cs typeface="+mn-cs"/>
              </a:rPr>
              <a:t> ||--o{ Lecture: HOSTS</a:t>
            </a:r>
          </a:p>
          <a:p>
            <a:br>
              <a:rPr lang="en-US" sz="1200" b="0" kern="1200" dirty="0">
                <a:solidFill>
                  <a:schemeClr val="tx1"/>
                </a:solidFill>
                <a:effectLst/>
                <a:latin typeface="+mn-lt"/>
                <a:ea typeface="+mn-ea"/>
                <a:cs typeface="+mn-cs"/>
              </a:rPr>
            </a:br>
            <a:endParaRPr lang="en-US" sz="1200" b="0"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5F784608-109B-AB47-A93C-DEA587F8BA7F}" type="slidenum">
              <a:rPr lang="en-US" smtClean="0"/>
              <a:t>9</a:t>
            </a:fld>
            <a:endParaRPr lang="en-US"/>
          </a:p>
        </p:txBody>
      </p:sp>
    </p:spTree>
    <p:extLst>
      <p:ext uri="{BB962C8B-B14F-4D97-AF65-F5344CB8AC3E}">
        <p14:creationId xmlns:p14="http://schemas.microsoft.com/office/powerpoint/2010/main" val="39784400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a:t>
            </a:r>
            <a:r>
              <a:rPr lang="en-US" dirty="0" err="1"/>
              <a:t>github.com</a:t>
            </a:r>
            <a:r>
              <a:rPr lang="en-US" dirty="0"/>
              <a:t>/w-</a:t>
            </a:r>
            <a:r>
              <a:rPr lang="en-US" dirty="0" err="1"/>
              <a:t>gao</a:t>
            </a:r>
            <a:r>
              <a:rPr lang="en-US" dirty="0"/>
              <a:t>/</a:t>
            </a:r>
            <a:r>
              <a:rPr lang="en-US" dirty="0" err="1"/>
              <a:t>pgv</a:t>
            </a:r>
            <a:endParaRPr lang="en-US" dirty="0"/>
          </a:p>
          <a:p>
            <a:r>
              <a:rPr lang="en-US" dirty="0"/>
              <a:t>Is this a good example that could be stored into the graph DB?</a:t>
            </a:r>
          </a:p>
        </p:txBody>
      </p:sp>
      <p:sp>
        <p:nvSpPr>
          <p:cNvPr id="4" name="Slide Number Placeholder 3"/>
          <p:cNvSpPr>
            <a:spLocks noGrp="1"/>
          </p:cNvSpPr>
          <p:nvPr>
            <p:ph type="sldNum" sz="quarter" idx="5"/>
          </p:nvPr>
        </p:nvSpPr>
        <p:spPr/>
        <p:txBody>
          <a:bodyPr/>
          <a:lstStyle/>
          <a:p>
            <a:fld id="{5F784608-109B-AB47-A93C-DEA587F8BA7F}" type="slidenum">
              <a:rPr lang="en-US" smtClean="0"/>
              <a:t>10</a:t>
            </a:fld>
            <a:endParaRPr lang="en-US"/>
          </a:p>
        </p:txBody>
      </p:sp>
    </p:spTree>
    <p:extLst>
      <p:ext uri="{BB962C8B-B14F-4D97-AF65-F5344CB8AC3E}">
        <p14:creationId xmlns:p14="http://schemas.microsoft.com/office/powerpoint/2010/main" val="1900473473"/>
      </p:ext>
    </p:extLst>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remote Neo4j Aura / Hetionet instance used in the first version of this lecture is no longer needed: every student runs a Neo4j database in a Docker container on their own laptop. docker compose up -d in the docker/ folder starts it (together with MongoDB). The Neo4j Browser at http://localhost:7474 is a web UI where you can type Cypher and see the graph; Python reaches the same database through the neo4j driver on the Bolt port 7687. The workbook for this lecture is 3-graphdb-concept/workbook.ipynb and it uses both the Python driver and an interactive graph viewer.</a:t>
            </a:r>
          </a:p>
          <a:p>
            <a:r>
              <a:t>User neo4j, password workshop_neo4j. These are workshop-only credentials: the port is bound to 127.0.0.1, so only your own laptop can connect.</a:t>
            </a:r>
          </a:p>
          <a:p>
            <a:r>
              <a:t>If anything does not work: python scripts/check_setup.py tells you what is wrong, and SETUP.md has a troubleshooting table.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Cypher is a declarative pattern-matching language: you draw the shape you are looking for and Neo4j finds every place where that shape occurs. Round brackets are nodes (the circles on the whiteboard) and arrows are relationships. Inside the brackets, the name before the colon is a variable you choose so that you can refer to the node later, the word after the colon is the label, and curly braces hold properties. A relationship has square brackets with its type, and a direction.</a:t>
            </a:r>
          </a:p>
          <a:p>
            <a:r>
              <a:t>Example: (r:MeetingRoom {id: 'MP163'})-[:HOSTS]-&gt;(l:Lecture {index: 'n26'}) reads 'room MP163 hosts lecture n26'. A double dash -- matches a relationship in either direction.</a:t>
            </a:r>
          </a:p>
          <a:p>
            <a:r>
              <a:t>The official reference card is at dev.neo4j.com/refcard.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CREATE always makes a new node: run it twice and you get two nodes. In the workbook we do exactly that with the room MP163 and look at the two internal ids to prove it: one real room, two nodes. Real data must not contain such duplicates.</a:t>
            </a:r>
          </a:p>
          <a:p>
            <a:r>
              <a:t>MERGE first looks for the pattern and creates it only if it is missing: get-or-create. Running a MERGE script repeatedly changes nothing, a property called idempotence, which makes scripts safe to re-run. Rule of thumb: use MERGE for loading data, CREATE only when you are sure the thing is new. Put only the identifying properties inside the MERGE braces and set the other properties with SET.</a:t>
            </a:r>
          </a:p>
          <a:p>
            <a:r>
              <a:t>In the workbook, the course-graph script is run twice: the first run creates 7 nodes and 12 relationships; the second run creates nothing new.</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model this very course. The room MP163 in the ARC building hosts four lectures of the DataWrangling series (n24 to n27), and the two lecturers give all four. Nodes: MeetingRoom, Lecturer and Lecture. Relationships: HOSTS from room to lecture, GIVES from lecturer to lecture.</a:t>
            </a:r>
          </a:p>
          <a:p>
            <a:r>
              <a:t>The script on the right creates everything with MERGE: 7 nodes and 12 relationships on the first run. The times are stored as ISO-8601 text, which sorts correctly and is easy to draw; a Neo4j datetime() would also work but cannot be drawn by the viewer we use. Every node type also gets a name property which the viewer uses as a caption; the identifier of each type (id, uid, index) is used for look-ups.</a:t>
            </a:r>
          </a:p>
          <a:p>
            <a:r>
              <a:t>Then in the workbook we draw the graph with the interactive viewer: hover or click a node to see its properties.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exercise from the lecture slides: add yourself to the graph. First create a Student node with your own uid, then connect it to the lecture n26 with an ATTENDS relationship. Give the relationship a property, for example checked_in, to prove that relationships can have properties too.</a:t>
            </a:r>
          </a:p>
          <a:p>
            <a:r>
              <a:t>Solution: MATCH both existing nodes (the comma means both patterns must be found), MERGE the relationship and SET its property. ON CREATE SET sets the property only when the relationship is new; toString(datetime()) stores the current time as text. Because of MERGE, running the solution twice does not create a second ATTENDS relationship.</a:t>
            </a:r>
          </a:p>
          <a:p>
            <a:r>
              <a:t>In the workbook three classmates (alice, bob, carol) are added so that the next slides have something to traverse.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Reading data means describing the shape you are looking for with MATCH, optionally filtering with WHERE, and choosing what to give back with RETURN. A property map inside the pattern, {index: 'n26'}, and a WHERE clause are two ways to filter. WHERE can express any condition: comparisons, AND/OR/NOT, CONTAINS, STARTS WITH, IN [...].</a:t>
            </a:r>
          </a:p>
          <a:p>
            <a:r>
              <a:t>A traversal follows relationships: 'which room hosts which lectures?' draws the pattern (m:MeetingRoom)-[:HOSTS]-&gt;(l:Lecture). Two hops: (m:MeetingRoom)-[:HOSTS]-&gt;(l:Lecture)&lt;-[:GIVES]-(p:Lecturer) walks backwards from the lecture to the lecturer; the arrow direction is how the data is stored, but you can match from either end.</a:t>
            </a:r>
          </a:p>
          <a:p>
            <a:r>
              <a:t>Aggregation without GROUP BY: as soon as you use count or collect, every non-aggregated column in RETURN becomes the grouping key. Returning whole nodes and relationships gives a graph picture; returning properties gives a table.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graph database shines when a question needs several hops. 'Which students shared at least one lecture with me, and how many?' is a two-hop traversal: from me to a lecture I attend, and from that lecture to another student who attends it too. The pattern is (me:Student)-[:ATTENDS]-&gt;(l:Lecture)&lt;-[:ATTENDS]-(classmate:Student), with WHERE classmate &lt;&gt; me to exclude myself.</a:t>
            </a:r>
          </a:p>
          <a:p>
            <a:r>
              <a:t>In the workbook's example data, 'student_demo' attends n26 and n27, carol attends n24, n26 and n27, alice attends n24, n25 and n26. So carol shares two lectures with me (n26 and n27) and alice shares one (n26).</a:t>
            </a:r>
          </a:p>
          <a:p>
            <a:r>
              <a:t>REMEMBER THIS PATTERN: person -&gt; shared thing &lt;- person. It finds 'similar' entities by the things they have in common. In the next lecture the students become genomes and the lectures become gene functions (KOs). Variable-length paths: add a star to repeat a relationship, for example (:Lecture)-[*1..2]-(x) is everything within two steps of a lecture.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SET adds or changes properties, including several at once with +=, and it can add a label (SET s:Visitor adds a second label to the same node: a node can have several labels). REMOVE deletes a property; DELETE deletes a relationship or a node.</a:t>
            </a:r>
          </a:p>
          <a:p>
            <a:r>
              <a:t>Plain DELETE of a node fails while the node still has relationships. Neo4j will not leave dangling relationships behind: in the workbook the error is 'Cannot delete node, because it still has relationships. To delete this node, you must first delete its relationships.' DETACH DELETE removes the relationships first and then the node. MATCH (n) DETACH DELETE n wipes the whole database, so use it with care; the workbook uses it at the beginning and at the end to start from a clean slate.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course graph has exactly the same shape as genomic data. Students are genomes, lectures are KOs, the ATTENDS relationship is CONTAINS_KO, and classmates (students who share lectures) are similar genomes (genomes that share KOs). A KO is a KEGG Orthology group: a gene function, for example K04077 is the chaperonin GroEL.</a:t>
            </a:r>
          </a:p>
          <a:p>
            <a:r>
              <a:t>The tiny genome graph in the workbook has 3 genomes and 4 functions, all real KEGG Orthology IDs. Running the same two-hop pattern from E. coli: B. subtilis shares 2 KOs (groEL and fliC), Synechocystis shares 1 (groEL). B. subtilis is a fellow bacterium with flagella, so it is closer than the photosynthetic Synechocystis.</a:t>
            </a:r>
          </a:p>
          <a:p>
            <a:r>
              <a:t>The hierarchy (a lecture belongs to a series) corresponds to the tree of life: (:Taxon)-[:CHILD_OF]-&gt;(:Taxon). In Lecture 27 we scale the same pattern to 65 genomes and almost 9,000 functions and add the tree.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Concepts to remember. Node: an entity with zero or more labels and properties. Relationship: directed, exactly one type, may have properties. Pattern: draw what you look for. MATCH/WHERE/RETURN to read; CREATE versus MERGE (use MERGE for loading data); SET/REMOVE/DELETE/DETACH DELETE. Traversal: follow relationships; shared-neighbour patterns find similar things. Aggregation: count and collect, and the non-aggregated columns are the grouping key.</a:t>
            </a:r>
          </a:p>
          <a:p>
            <a:r>
              <a:t>Practice questions from the workbook. 1. What is the difference between a label and a relationship type? A node can have several labels, a relationship has exactly one type, a direction, and connects two nodes. 2. Why does the classmates pattern return each pair twice, and how do you keep one? The pattern is symmetric; compare an ordering property, WHERE a.uid &lt; b.uid. 3. Where would you store the check-in time? On the ATTENDS relationship, because it describes the pair.</a:t>
            </a:r>
          </a:p>
          <a:p>
            <a:r>
              <a:t>Optional reading: Hetionet (neo4j.het.io) is a knowledge graph of genes, diseases, drugs and tissues; it needs internet access and is not used in the workbooks.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844D13-0AF5-47F0-2154-DEEE798AB6F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0ED7F924-BF3D-5B36-5DC4-608CDB5A463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09B1FBE-3F45-CA79-D23B-8E5974315474}"/>
              </a:ext>
            </a:extLst>
          </p:cNvPr>
          <p:cNvSpPr>
            <a:spLocks noGrp="1"/>
          </p:cNvSpPr>
          <p:nvPr>
            <p:ph type="dt" sz="half" idx="10"/>
          </p:nvPr>
        </p:nvSpPr>
        <p:spPr/>
        <p:txBody>
          <a:bodyPr/>
          <a:lstStyle/>
          <a:p>
            <a:fld id="{154F0F4B-3552-6348-A459-82F3827CA3A8}" type="datetimeFigureOut">
              <a:rPr lang="en-US" smtClean="0"/>
              <a:t>10/22/25</a:t>
            </a:fld>
            <a:endParaRPr lang="en-US"/>
          </a:p>
        </p:txBody>
      </p:sp>
      <p:sp>
        <p:nvSpPr>
          <p:cNvPr id="5" name="Footer Placeholder 4">
            <a:extLst>
              <a:ext uri="{FF2B5EF4-FFF2-40B4-BE49-F238E27FC236}">
                <a16:creationId xmlns:a16="http://schemas.microsoft.com/office/drawing/2014/main" id="{7423A7D1-9D94-05B0-4D46-AE1147C5E72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D10AB79-8B4E-5342-AEB8-44CF898470D5}"/>
              </a:ext>
            </a:extLst>
          </p:cNvPr>
          <p:cNvSpPr>
            <a:spLocks noGrp="1"/>
          </p:cNvSpPr>
          <p:nvPr>
            <p:ph type="sldNum" sz="quarter" idx="12"/>
          </p:nvPr>
        </p:nvSpPr>
        <p:spPr/>
        <p:txBody>
          <a:bodyPr/>
          <a:lstStyle/>
          <a:p>
            <a:fld id="{E6BE4B7F-C25D-E74A-A11E-9EDAC9D4396D}" type="slidenum">
              <a:rPr lang="en-US" smtClean="0"/>
              <a:t>‹#›</a:t>
            </a:fld>
            <a:endParaRPr lang="en-US"/>
          </a:p>
        </p:txBody>
      </p:sp>
    </p:spTree>
    <p:extLst>
      <p:ext uri="{BB962C8B-B14F-4D97-AF65-F5344CB8AC3E}">
        <p14:creationId xmlns:p14="http://schemas.microsoft.com/office/powerpoint/2010/main" val="37757417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939940-A560-E2E7-DDD7-05BF8221970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AD9329C-8D59-1596-4134-12EA9B347B7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0A29BAB-2993-0D65-BCA4-8DF00C8C88E9}"/>
              </a:ext>
            </a:extLst>
          </p:cNvPr>
          <p:cNvSpPr>
            <a:spLocks noGrp="1"/>
          </p:cNvSpPr>
          <p:nvPr>
            <p:ph type="dt" sz="half" idx="10"/>
          </p:nvPr>
        </p:nvSpPr>
        <p:spPr/>
        <p:txBody>
          <a:bodyPr/>
          <a:lstStyle/>
          <a:p>
            <a:fld id="{154F0F4B-3552-6348-A459-82F3827CA3A8}" type="datetimeFigureOut">
              <a:rPr lang="en-US" smtClean="0"/>
              <a:t>10/22/25</a:t>
            </a:fld>
            <a:endParaRPr lang="en-US"/>
          </a:p>
        </p:txBody>
      </p:sp>
      <p:sp>
        <p:nvSpPr>
          <p:cNvPr id="5" name="Footer Placeholder 4">
            <a:extLst>
              <a:ext uri="{FF2B5EF4-FFF2-40B4-BE49-F238E27FC236}">
                <a16:creationId xmlns:a16="http://schemas.microsoft.com/office/drawing/2014/main" id="{DE3D3EF9-9A0A-DD9B-CB88-11AF441AFBF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F50B04C-643B-81F1-F377-8C2B89622C6D}"/>
              </a:ext>
            </a:extLst>
          </p:cNvPr>
          <p:cNvSpPr>
            <a:spLocks noGrp="1"/>
          </p:cNvSpPr>
          <p:nvPr>
            <p:ph type="sldNum" sz="quarter" idx="12"/>
          </p:nvPr>
        </p:nvSpPr>
        <p:spPr/>
        <p:txBody>
          <a:bodyPr/>
          <a:lstStyle/>
          <a:p>
            <a:fld id="{E6BE4B7F-C25D-E74A-A11E-9EDAC9D4396D}" type="slidenum">
              <a:rPr lang="en-US" smtClean="0"/>
              <a:t>‹#›</a:t>
            </a:fld>
            <a:endParaRPr lang="en-US"/>
          </a:p>
        </p:txBody>
      </p:sp>
    </p:spTree>
    <p:extLst>
      <p:ext uri="{BB962C8B-B14F-4D97-AF65-F5344CB8AC3E}">
        <p14:creationId xmlns:p14="http://schemas.microsoft.com/office/powerpoint/2010/main" val="3546113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55B155-6E8E-376C-26CB-3D865588897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812015B3-E391-6D15-8A78-316E2F4D143A}"/>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53EF4DC-101A-B984-05D7-DD1BAFEB4118}"/>
              </a:ext>
            </a:extLst>
          </p:cNvPr>
          <p:cNvSpPr>
            <a:spLocks noGrp="1"/>
          </p:cNvSpPr>
          <p:nvPr>
            <p:ph type="dt" sz="half" idx="10"/>
          </p:nvPr>
        </p:nvSpPr>
        <p:spPr/>
        <p:txBody>
          <a:bodyPr/>
          <a:lstStyle/>
          <a:p>
            <a:fld id="{154F0F4B-3552-6348-A459-82F3827CA3A8}" type="datetimeFigureOut">
              <a:rPr lang="en-US" smtClean="0"/>
              <a:t>10/22/25</a:t>
            </a:fld>
            <a:endParaRPr lang="en-US"/>
          </a:p>
        </p:txBody>
      </p:sp>
      <p:sp>
        <p:nvSpPr>
          <p:cNvPr id="5" name="Footer Placeholder 4">
            <a:extLst>
              <a:ext uri="{FF2B5EF4-FFF2-40B4-BE49-F238E27FC236}">
                <a16:creationId xmlns:a16="http://schemas.microsoft.com/office/drawing/2014/main" id="{D45B6271-FF54-8C23-3A90-27D5FF9E9C0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2B36372-ECF6-3C7F-B309-F357A010C563}"/>
              </a:ext>
            </a:extLst>
          </p:cNvPr>
          <p:cNvSpPr>
            <a:spLocks noGrp="1"/>
          </p:cNvSpPr>
          <p:nvPr>
            <p:ph type="sldNum" sz="quarter" idx="12"/>
          </p:nvPr>
        </p:nvSpPr>
        <p:spPr/>
        <p:txBody>
          <a:bodyPr/>
          <a:lstStyle/>
          <a:p>
            <a:fld id="{E6BE4B7F-C25D-E74A-A11E-9EDAC9D4396D}" type="slidenum">
              <a:rPr lang="en-US" smtClean="0"/>
              <a:t>‹#›</a:t>
            </a:fld>
            <a:endParaRPr lang="en-US"/>
          </a:p>
        </p:txBody>
      </p:sp>
    </p:spTree>
    <p:extLst>
      <p:ext uri="{BB962C8B-B14F-4D97-AF65-F5344CB8AC3E}">
        <p14:creationId xmlns:p14="http://schemas.microsoft.com/office/powerpoint/2010/main" val="137924978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7B3846-017D-106B-84B5-24D10B0B847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877E763-2A29-3D0E-842A-58B63DA1323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C94DA7A-DA73-8FE2-49B7-365AB47F89B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04BF4BA-D9BF-6AC4-4A89-7B2C25AEB8EB}"/>
              </a:ext>
            </a:extLst>
          </p:cNvPr>
          <p:cNvSpPr>
            <a:spLocks noGrp="1"/>
          </p:cNvSpPr>
          <p:nvPr>
            <p:ph type="dt" sz="half" idx="10"/>
          </p:nvPr>
        </p:nvSpPr>
        <p:spPr/>
        <p:txBody>
          <a:bodyPr/>
          <a:lstStyle/>
          <a:p>
            <a:fld id="{154F0F4B-3552-6348-A459-82F3827CA3A8}" type="datetimeFigureOut">
              <a:rPr lang="en-US" smtClean="0"/>
              <a:t>10/22/25</a:t>
            </a:fld>
            <a:endParaRPr lang="en-US"/>
          </a:p>
        </p:txBody>
      </p:sp>
      <p:sp>
        <p:nvSpPr>
          <p:cNvPr id="6" name="Footer Placeholder 5">
            <a:extLst>
              <a:ext uri="{FF2B5EF4-FFF2-40B4-BE49-F238E27FC236}">
                <a16:creationId xmlns:a16="http://schemas.microsoft.com/office/drawing/2014/main" id="{1E183F5F-AAC5-3E0E-B3AA-9C980FD1A9A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6C5408D-10B3-6105-1D03-7A26B17860CF}"/>
              </a:ext>
            </a:extLst>
          </p:cNvPr>
          <p:cNvSpPr>
            <a:spLocks noGrp="1"/>
          </p:cNvSpPr>
          <p:nvPr>
            <p:ph type="sldNum" sz="quarter" idx="12"/>
          </p:nvPr>
        </p:nvSpPr>
        <p:spPr/>
        <p:txBody>
          <a:bodyPr/>
          <a:lstStyle/>
          <a:p>
            <a:fld id="{E6BE4B7F-C25D-E74A-A11E-9EDAC9D4396D}" type="slidenum">
              <a:rPr lang="en-US" smtClean="0"/>
              <a:t>‹#›</a:t>
            </a:fld>
            <a:endParaRPr lang="en-US"/>
          </a:p>
        </p:txBody>
      </p:sp>
    </p:spTree>
    <p:extLst>
      <p:ext uri="{BB962C8B-B14F-4D97-AF65-F5344CB8AC3E}">
        <p14:creationId xmlns:p14="http://schemas.microsoft.com/office/powerpoint/2010/main" val="361821883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4CC433-06F8-E695-0C23-87CC6D0D8C16}"/>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35AD5F79-D6C5-DDC9-0886-8A01B176E5D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3B407BD-463E-F7FC-A36C-6586270DC9E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F390DBE-DDF1-FAA8-03D2-E38663C2D15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B25112C-78C2-90D4-CA10-0777929D1EA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9460DEC-3586-CAE4-66A8-449CC374F6C6}"/>
              </a:ext>
            </a:extLst>
          </p:cNvPr>
          <p:cNvSpPr>
            <a:spLocks noGrp="1"/>
          </p:cNvSpPr>
          <p:nvPr>
            <p:ph type="dt" sz="half" idx="10"/>
          </p:nvPr>
        </p:nvSpPr>
        <p:spPr/>
        <p:txBody>
          <a:bodyPr/>
          <a:lstStyle/>
          <a:p>
            <a:fld id="{154F0F4B-3552-6348-A459-82F3827CA3A8}" type="datetimeFigureOut">
              <a:rPr lang="en-US" smtClean="0"/>
              <a:t>10/22/25</a:t>
            </a:fld>
            <a:endParaRPr lang="en-US"/>
          </a:p>
        </p:txBody>
      </p:sp>
      <p:sp>
        <p:nvSpPr>
          <p:cNvPr id="8" name="Footer Placeholder 7">
            <a:extLst>
              <a:ext uri="{FF2B5EF4-FFF2-40B4-BE49-F238E27FC236}">
                <a16:creationId xmlns:a16="http://schemas.microsoft.com/office/drawing/2014/main" id="{BF12A016-B8A1-0DAF-D862-FC300467557A}"/>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2303DA9C-442F-83F5-C93D-7DE100E7F1F3}"/>
              </a:ext>
            </a:extLst>
          </p:cNvPr>
          <p:cNvSpPr>
            <a:spLocks noGrp="1"/>
          </p:cNvSpPr>
          <p:nvPr>
            <p:ph type="sldNum" sz="quarter" idx="12"/>
          </p:nvPr>
        </p:nvSpPr>
        <p:spPr/>
        <p:txBody>
          <a:bodyPr/>
          <a:lstStyle/>
          <a:p>
            <a:fld id="{E6BE4B7F-C25D-E74A-A11E-9EDAC9D4396D}" type="slidenum">
              <a:rPr lang="en-US" smtClean="0"/>
              <a:t>‹#›</a:t>
            </a:fld>
            <a:endParaRPr lang="en-US"/>
          </a:p>
        </p:txBody>
      </p:sp>
    </p:spTree>
    <p:extLst>
      <p:ext uri="{BB962C8B-B14F-4D97-AF65-F5344CB8AC3E}">
        <p14:creationId xmlns:p14="http://schemas.microsoft.com/office/powerpoint/2010/main" val="271845538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97A5A5-98E1-60E5-E817-7C6DFC75D1ED}"/>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C11AAD21-240E-4E28-8D8B-BD9B230D9DD6}"/>
              </a:ext>
            </a:extLst>
          </p:cNvPr>
          <p:cNvSpPr>
            <a:spLocks noGrp="1"/>
          </p:cNvSpPr>
          <p:nvPr>
            <p:ph type="dt" sz="half" idx="10"/>
          </p:nvPr>
        </p:nvSpPr>
        <p:spPr/>
        <p:txBody>
          <a:bodyPr/>
          <a:lstStyle/>
          <a:p>
            <a:fld id="{154F0F4B-3552-6348-A459-82F3827CA3A8}" type="datetimeFigureOut">
              <a:rPr lang="en-US" smtClean="0"/>
              <a:t>10/22/25</a:t>
            </a:fld>
            <a:endParaRPr lang="en-US"/>
          </a:p>
        </p:txBody>
      </p:sp>
      <p:sp>
        <p:nvSpPr>
          <p:cNvPr id="4" name="Footer Placeholder 3">
            <a:extLst>
              <a:ext uri="{FF2B5EF4-FFF2-40B4-BE49-F238E27FC236}">
                <a16:creationId xmlns:a16="http://schemas.microsoft.com/office/drawing/2014/main" id="{C9D699FA-3E5E-9BD8-744C-66E8294B8C62}"/>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C92028DD-7A5E-9B20-D393-EE4E75E1BB70}"/>
              </a:ext>
            </a:extLst>
          </p:cNvPr>
          <p:cNvSpPr>
            <a:spLocks noGrp="1"/>
          </p:cNvSpPr>
          <p:nvPr>
            <p:ph type="sldNum" sz="quarter" idx="12"/>
          </p:nvPr>
        </p:nvSpPr>
        <p:spPr/>
        <p:txBody>
          <a:bodyPr/>
          <a:lstStyle/>
          <a:p>
            <a:fld id="{E6BE4B7F-C25D-E74A-A11E-9EDAC9D4396D}" type="slidenum">
              <a:rPr lang="en-US" smtClean="0"/>
              <a:t>‹#›</a:t>
            </a:fld>
            <a:endParaRPr lang="en-US"/>
          </a:p>
        </p:txBody>
      </p:sp>
    </p:spTree>
    <p:extLst>
      <p:ext uri="{BB962C8B-B14F-4D97-AF65-F5344CB8AC3E}">
        <p14:creationId xmlns:p14="http://schemas.microsoft.com/office/powerpoint/2010/main" val="284585374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FAB1358-3613-13C9-C0B7-004C584EE157}"/>
              </a:ext>
            </a:extLst>
          </p:cNvPr>
          <p:cNvSpPr>
            <a:spLocks noGrp="1"/>
          </p:cNvSpPr>
          <p:nvPr>
            <p:ph type="dt" sz="half" idx="10"/>
          </p:nvPr>
        </p:nvSpPr>
        <p:spPr/>
        <p:txBody>
          <a:bodyPr/>
          <a:lstStyle/>
          <a:p>
            <a:fld id="{154F0F4B-3552-6348-A459-82F3827CA3A8}" type="datetimeFigureOut">
              <a:rPr lang="en-US" smtClean="0"/>
              <a:t>10/22/25</a:t>
            </a:fld>
            <a:endParaRPr lang="en-US"/>
          </a:p>
        </p:txBody>
      </p:sp>
      <p:sp>
        <p:nvSpPr>
          <p:cNvPr id="3" name="Footer Placeholder 2">
            <a:extLst>
              <a:ext uri="{FF2B5EF4-FFF2-40B4-BE49-F238E27FC236}">
                <a16:creationId xmlns:a16="http://schemas.microsoft.com/office/drawing/2014/main" id="{05EBEEDD-FBF9-64FF-AB78-FEBF1B648552}"/>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4618850-5319-D707-1354-A44DB7F170AD}"/>
              </a:ext>
            </a:extLst>
          </p:cNvPr>
          <p:cNvSpPr>
            <a:spLocks noGrp="1"/>
          </p:cNvSpPr>
          <p:nvPr>
            <p:ph type="sldNum" sz="quarter" idx="12"/>
          </p:nvPr>
        </p:nvSpPr>
        <p:spPr/>
        <p:txBody>
          <a:bodyPr/>
          <a:lstStyle/>
          <a:p>
            <a:fld id="{E6BE4B7F-C25D-E74A-A11E-9EDAC9D4396D}" type="slidenum">
              <a:rPr lang="en-US" smtClean="0"/>
              <a:t>‹#›</a:t>
            </a:fld>
            <a:endParaRPr lang="en-US"/>
          </a:p>
        </p:txBody>
      </p:sp>
    </p:spTree>
    <p:extLst>
      <p:ext uri="{BB962C8B-B14F-4D97-AF65-F5344CB8AC3E}">
        <p14:creationId xmlns:p14="http://schemas.microsoft.com/office/powerpoint/2010/main" val="103653781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B27E20-43D5-C764-70E7-119B8C126B5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B61AD1B9-29A7-66B6-5260-FE5B7EECC34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F4B2D96-26C8-F12F-C61F-4C722479436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DAC8492-E391-D49F-DC61-DBDC541E8D4F}"/>
              </a:ext>
            </a:extLst>
          </p:cNvPr>
          <p:cNvSpPr>
            <a:spLocks noGrp="1"/>
          </p:cNvSpPr>
          <p:nvPr>
            <p:ph type="dt" sz="half" idx="10"/>
          </p:nvPr>
        </p:nvSpPr>
        <p:spPr/>
        <p:txBody>
          <a:bodyPr/>
          <a:lstStyle/>
          <a:p>
            <a:fld id="{154F0F4B-3552-6348-A459-82F3827CA3A8}" type="datetimeFigureOut">
              <a:rPr lang="en-US" smtClean="0"/>
              <a:t>10/22/25</a:t>
            </a:fld>
            <a:endParaRPr lang="en-US"/>
          </a:p>
        </p:txBody>
      </p:sp>
      <p:sp>
        <p:nvSpPr>
          <p:cNvPr id="6" name="Footer Placeholder 5">
            <a:extLst>
              <a:ext uri="{FF2B5EF4-FFF2-40B4-BE49-F238E27FC236}">
                <a16:creationId xmlns:a16="http://schemas.microsoft.com/office/drawing/2014/main" id="{9C8040B7-491C-5862-8257-FF839B3F692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04FE5F6-D920-CE6A-DF40-F3230961B0F7}"/>
              </a:ext>
            </a:extLst>
          </p:cNvPr>
          <p:cNvSpPr>
            <a:spLocks noGrp="1"/>
          </p:cNvSpPr>
          <p:nvPr>
            <p:ph type="sldNum" sz="quarter" idx="12"/>
          </p:nvPr>
        </p:nvSpPr>
        <p:spPr/>
        <p:txBody>
          <a:bodyPr/>
          <a:lstStyle/>
          <a:p>
            <a:fld id="{E6BE4B7F-C25D-E74A-A11E-9EDAC9D4396D}" type="slidenum">
              <a:rPr lang="en-US" smtClean="0"/>
              <a:t>‹#›</a:t>
            </a:fld>
            <a:endParaRPr lang="en-US"/>
          </a:p>
        </p:txBody>
      </p:sp>
    </p:spTree>
    <p:extLst>
      <p:ext uri="{BB962C8B-B14F-4D97-AF65-F5344CB8AC3E}">
        <p14:creationId xmlns:p14="http://schemas.microsoft.com/office/powerpoint/2010/main" val="310898940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B064CB-02D7-67C6-1187-217524B956F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1A55BF9C-BFB1-7176-D5BD-1401A6A080D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2D67268B-5579-224D-3C04-6D638C5B52A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C39A34E-CD93-4E68-66CE-72F31E91021B}"/>
              </a:ext>
            </a:extLst>
          </p:cNvPr>
          <p:cNvSpPr>
            <a:spLocks noGrp="1"/>
          </p:cNvSpPr>
          <p:nvPr>
            <p:ph type="dt" sz="half" idx="10"/>
          </p:nvPr>
        </p:nvSpPr>
        <p:spPr/>
        <p:txBody>
          <a:bodyPr/>
          <a:lstStyle/>
          <a:p>
            <a:fld id="{154F0F4B-3552-6348-A459-82F3827CA3A8}" type="datetimeFigureOut">
              <a:rPr lang="en-US" smtClean="0"/>
              <a:t>10/22/25</a:t>
            </a:fld>
            <a:endParaRPr lang="en-US"/>
          </a:p>
        </p:txBody>
      </p:sp>
      <p:sp>
        <p:nvSpPr>
          <p:cNvPr id="6" name="Footer Placeholder 5">
            <a:extLst>
              <a:ext uri="{FF2B5EF4-FFF2-40B4-BE49-F238E27FC236}">
                <a16:creationId xmlns:a16="http://schemas.microsoft.com/office/drawing/2014/main" id="{EDD6924A-BD6C-86C4-11CF-0E15EAD5E61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376B134-9AA5-3BFD-CABD-21DADF99FA0A}"/>
              </a:ext>
            </a:extLst>
          </p:cNvPr>
          <p:cNvSpPr>
            <a:spLocks noGrp="1"/>
          </p:cNvSpPr>
          <p:nvPr>
            <p:ph type="sldNum" sz="quarter" idx="12"/>
          </p:nvPr>
        </p:nvSpPr>
        <p:spPr/>
        <p:txBody>
          <a:bodyPr/>
          <a:lstStyle/>
          <a:p>
            <a:fld id="{E6BE4B7F-C25D-E74A-A11E-9EDAC9D4396D}" type="slidenum">
              <a:rPr lang="en-US" smtClean="0"/>
              <a:t>‹#›</a:t>
            </a:fld>
            <a:endParaRPr lang="en-US"/>
          </a:p>
        </p:txBody>
      </p:sp>
    </p:spTree>
    <p:extLst>
      <p:ext uri="{BB962C8B-B14F-4D97-AF65-F5344CB8AC3E}">
        <p14:creationId xmlns:p14="http://schemas.microsoft.com/office/powerpoint/2010/main" val="65378158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D034A4-7FBC-300F-A6B2-9827080A758B}"/>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1FCC1AF9-FA4C-4625-BA29-317CA723CA7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6EFA009-4915-B8F0-2B28-12C40C0969C8}"/>
              </a:ext>
            </a:extLst>
          </p:cNvPr>
          <p:cNvSpPr>
            <a:spLocks noGrp="1"/>
          </p:cNvSpPr>
          <p:nvPr>
            <p:ph type="dt" sz="half" idx="10"/>
          </p:nvPr>
        </p:nvSpPr>
        <p:spPr/>
        <p:txBody>
          <a:bodyPr/>
          <a:lstStyle/>
          <a:p>
            <a:fld id="{154F0F4B-3552-6348-A459-82F3827CA3A8}" type="datetimeFigureOut">
              <a:rPr lang="en-US" smtClean="0"/>
              <a:t>10/22/25</a:t>
            </a:fld>
            <a:endParaRPr lang="en-US"/>
          </a:p>
        </p:txBody>
      </p:sp>
      <p:sp>
        <p:nvSpPr>
          <p:cNvPr id="5" name="Footer Placeholder 4">
            <a:extLst>
              <a:ext uri="{FF2B5EF4-FFF2-40B4-BE49-F238E27FC236}">
                <a16:creationId xmlns:a16="http://schemas.microsoft.com/office/drawing/2014/main" id="{886208DF-491D-B73A-6462-D7B50B4C2EB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1FDC0A0-7C24-D6AC-3539-5456C8DC670E}"/>
              </a:ext>
            </a:extLst>
          </p:cNvPr>
          <p:cNvSpPr>
            <a:spLocks noGrp="1"/>
          </p:cNvSpPr>
          <p:nvPr>
            <p:ph type="sldNum" sz="quarter" idx="12"/>
          </p:nvPr>
        </p:nvSpPr>
        <p:spPr/>
        <p:txBody>
          <a:bodyPr/>
          <a:lstStyle/>
          <a:p>
            <a:fld id="{E6BE4B7F-C25D-E74A-A11E-9EDAC9D4396D}" type="slidenum">
              <a:rPr lang="en-US" smtClean="0"/>
              <a:t>‹#›</a:t>
            </a:fld>
            <a:endParaRPr lang="en-US"/>
          </a:p>
        </p:txBody>
      </p:sp>
    </p:spTree>
    <p:extLst>
      <p:ext uri="{BB962C8B-B14F-4D97-AF65-F5344CB8AC3E}">
        <p14:creationId xmlns:p14="http://schemas.microsoft.com/office/powerpoint/2010/main" val="314549606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D9FFA73-D82D-7E4D-01F0-3CB1E6EF844E}"/>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BD7CFF21-A84B-7FEC-A2D6-34627ADA612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703EE14-D5B7-B0D7-59FA-03CA58E2C519}"/>
              </a:ext>
            </a:extLst>
          </p:cNvPr>
          <p:cNvSpPr>
            <a:spLocks noGrp="1"/>
          </p:cNvSpPr>
          <p:nvPr>
            <p:ph type="dt" sz="half" idx="10"/>
          </p:nvPr>
        </p:nvSpPr>
        <p:spPr/>
        <p:txBody>
          <a:bodyPr/>
          <a:lstStyle/>
          <a:p>
            <a:fld id="{154F0F4B-3552-6348-A459-82F3827CA3A8}" type="datetimeFigureOut">
              <a:rPr lang="en-US" smtClean="0"/>
              <a:t>10/22/25</a:t>
            </a:fld>
            <a:endParaRPr lang="en-US"/>
          </a:p>
        </p:txBody>
      </p:sp>
      <p:sp>
        <p:nvSpPr>
          <p:cNvPr id="5" name="Footer Placeholder 4">
            <a:extLst>
              <a:ext uri="{FF2B5EF4-FFF2-40B4-BE49-F238E27FC236}">
                <a16:creationId xmlns:a16="http://schemas.microsoft.com/office/drawing/2014/main" id="{18284A9E-F68E-339E-54E7-4A1BA4A9E11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E00ACD3-038C-7BAD-C0A3-AC45790649EF}"/>
              </a:ext>
            </a:extLst>
          </p:cNvPr>
          <p:cNvSpPr>
            <a:spLocks noGrp="1"/>
          </p:cNvSpPr>
          <p:nvPr>
            <p:ph type="sldNum" sz="quarter" idx="12"/>
          </p:nvPr>
        </p:nvSpPr>
        <p:spPr/>
        <p:txBody>
          <a:bodyPr/>
          <a:lstStyle/>
          <a:p>
            <a:fld id="{E6BE4B7F-C25D-E74A-A11E-9EDAC9D4396D}" type="slidenum">
              <a:rPr lang="en-US" smtClean="0"/>
              <a:t>‹#›</a:t>
            </a:fld>
            <a:endParaRPr lang="en-US"/>
          </a:p>
        </p:txBody>
      </p:sp>
    </p:spTree>
    <p:extLst>
      <p:ext uri="{BB962C8B-B14F-4D97-AF65-F5344CB8AC3E}">
        <p14:creationId xmlns:p14="http://schemas.microsoft.com/office/powerpoint/2010/main" val="180222253"/>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3BE5405-6037-EE6E-D727-D6686B85FFD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B4C2CAE8-BE39-4227-66CD-4396168819E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7125CE9-8491-BCBB-1709-1D87D693613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154F0F4B-3552-6348-A459-82F3827CA3A8}" type="datetimeFigureOut">
              <a:rPr lang="en-US" smtClean="0"/>
              <a:t>10/22/25</a:t>
            </a:fld>
            <a:endParaRPr lang="en-US"/>
          </a:p>
        </p:txBody>
      </p:sp>
      <p:sp>
        <p:nvSpPr>
          <p:cNvPr id="5" name="Footer Placeholder 4">
            <a:extLst>
              <a:ext uri="{FF2B5EF4-FFF2-40B4-BE49-F238E27FC236}">
                <a16:creationId xmlns:a16="http://schemas.microsoft.com/office/drawing/2014/main" id="{FCEA9951-2D4E-21B8-2877-E266D2AD424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84F427C4-DC15-99A2-0E9E-75F25EF73EC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6BE4B7F-C25D-E74A-A11E-9EDAC9D4396D}" type="slidenum">
              <a:rPr lang="en-US" smtClean="0"/>
              <a:t>‹#›</a:t>
            </a:fld>
            <a:endParaRPr lang="en-US"/>
          </a:p>
        </p:txBody>
      </p:sp>
      <p:sp>
        <p:nvSpPr>
          <p:cNvPr id="8" name="TextBox 7">
            <a:extLst>
              <a:ext uri="{FF2B5EF4-FFF2-40B4-BE49-F238E27FC236}">
                <a16:creationId xmlns:a16="http://schemas.microsoft.com/office/drawing/2014/main" id="{91160E02-EE88-D537-D70A-9F8548711A59}"/>
              </a:ext>
            </a:extLst>
          </p:cNvPr>
          <p:cNvSpPr txBox="1"/>
          <p:nvPr userDrawn="1">
            <p:extLst>
              <p:ext uri="{1162E1C5-73C7-4A58-AE30-91384D911F3F}">
                <p184:classification xmlns:p184="http://schemas.microsoft.com/office/powerpoint/2018/4/main" val="ftr"/>
              </p:ext>
            </p:extLst>
          </p:nvPr>
        </p:nvSpPr>
        <p:spPr>
          <a:xfrm>
            <a:off x="63500" y="6642100"/>
            <a:ext cx="1220788" cy="152400"/>
          </a:xfrm>
          <a:prstGeom prst="rect">
            <a:avLst/>
          </a:prstGeom>
        </p:spPr>
        <p:txBody>
          <a:bodyPr horzOverflow="overflow" lIns="0" tIns="0" rIns="0" bIns="0">
            <a:spAutoFit/>
          </a:bodyPr>
          <a:lstStyle/>
          <a:p>
            <a:pPr algn="l"/>
            <a:r>
              <a:rPr lang="en-US" sz="1000">
                <a:solidFill>
                  <a:srgbClr val="000000">
                    <a:alpha val="50000"/>
                  </a:srgbClr>
                </a:solidFill>
                <a:latin typeface="Aptos" panose="020B0004020202020204" pitchFamily="34" charset="0"/>
              </a:rPr>
              <a:t>St. Jude - Confidential</a:t>
            </a:r>
          </a:p>
        </p:txBody>
      </p:sp>
    </p:spTree>
    <p:extLst>
      <p:ext uri="{BB962C8B-B14F-4D97-AF65-F5344CB8AC3E}">
        <p14:creationId xmlns:p14="http://schemas.microsoft.com/office/powerpoint/2010/main" val="413562383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3.png"/><Relationship Id="rId6" Type="http://schemas.openxmlformats.org/officeDocument/2006/relationships/image" Target="../media/image4.png"/><Relationship Id="rId7" Type="http://schemas.openxmlformats.org/officeDocument/2006/relationships/image" Target="../media/image5.sv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6.png"/><Relationship Id="rId4" Type="http://schemas.openxmlformats.org/officeDocument/2006/relationships/image" Target="../media/image7.sv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8.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9.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0.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11.png"/><Relationship Id="rId4" Type="http://schemas.openxmlformats.org/officeDocument/2006/relationships/image" Target="../media/image12.png"/><Relationship Id="rId5" Type="http://schemas.openxmlformats.org/officeDocument/2006/relationships/image" Target="../media/image1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14.jpeg"/><Relationship Id="rId4" Type="http://schemas.openxmlformats.org/officeDocument/2006/relationships/image" Target="../media/image1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6.png"/><Relationship Id="rId3" Type="http://schemas.openxmlformats.org/officeDocument/2006/relationships/image" Target="../media/image17.png"/><Relationship Id="rId4" Type="http://schemas.openxmlformats.org/officeDocument/2006/relationships/image" Target="../media/image1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1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20.png"/><Relationship Id="rId4" Type="http://schemas.openxmlformats.org/officeDocument/2006/relationships/image" Target="../media/image2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3.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4.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5.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6.png"/><Relationship Id="rId3" Type="http://schemas.openxmlformats.org/officeDocument/2006/relationships/image" Target="../media/image27.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5.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A3363022-C969-41E9-8EB2-E4C94908C1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202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8D1AD6B3-BE88-4CEB-BA17-790657CC472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62CCF75-A32F-6D3E-356A-4F6CF28F53AF}"/>
              </a:ext>
            </a:extLst>
          </p:cNvPr>
          <p:cNvSpPr>
            <a:spLocks noGrp="1"/>
          </p:cNvSpPr>
          <p:nvPr>
            <p:ph type="ctrTitle"/>
          </p:nvPr>
        </p:nvSpPr>
        <p:spPr>
          <a:xfrm>
            <a:off x="6574282" y="1100818"/>
            <a:ext cx="4805996" cy="1297115"/>
          </a:xfrm>
        </p:spPr>
        <p:txBody>
          <a:bodyPr anchor="t">
            <a:normAutofit/>
          </a:bodyPr>
          <a:lstStyle/>
          <a:p>
            <a:pPr algn="l"/>
            <a:r>
              <a:rPr lang="en-US" sz="4000" dirty="0">
                <a:solidFill>
                  <a:schemeClr val="tx2"/>
                </a:solidFill>
              </a:rPr>
              <a:t>NoSQL Databases for Bioinformatics</a:t>
            </a:r>
            <a:r>
              <a:rPr lang="en-US" sz="4000" dirty="0">
                <a:solidFill>
                  <a:schemeClr val="tx2"/>
                </a:solidFill>
                <a:effectLst/>
              </a:rPr>
              <a:t> </a:t>
            </a:r>
            <a:endParaRPr lang="en-US" sz="4000" dirty="0">
              <a:solidFill>
                <a:schemeClr val="tx2"/>
              </a:solidFill>
            </a:endParaRPr>
          </a:p>
        </p:txBody>
      </p:sp>
      <p:sp>
        <p:nvSpPr>
          <p:cNvPr id="4" name="Rectangle 3">
            <a:extLst>
              <a:ext uri="{FF2B5EF4-FFF2-40B4-BE49-F238E27FC236}">
                <a16:creationId xmlns:a16="http://schemas.microsoft.com/office/drawing/2014/main" id="{0F89DE96-BD63-5DF4-75A8-78E5DF718320}"/>
              </a:ext>
            </a:extLst>
          </p:cNvPr>
          <p:cNvSpPr/>
          <p:nvPr/>
        </p:nvSpPr>
        <p:spPr>
          <a:xfrm>
            <a:off x="132994" y="3965861"/>
            <a:ext cx="3608842" cy="1624237"/>
          </a:xfrm>
          <a:prstGeom prst="rect">
            <a:avLst/>
          </a:prstGeom>
          <a:solidFill>
            <a:srgbClr val="D4134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a:extLst>
              <a:ext uri="{FF2B5EF4-FFF2-40B4-BE49-F238E27FC236}">
                <a16:creationId xmlns:a16="http://schemas.microsoft.com/office/drawing/2014/main" id="{04117F24-66B9-F755-8690-F8EDDD63AE17}"/>
              </a:ext>
            </a:extLst>
          </p:cNvPr>
          <p:cNvSpPr>
            <a:spLocks noGrp="1"/>
          </p:cNvSpPr>
          <p:nvPr>
            <p:ph type="subTitle" idx="1"/>
          </p:nvPr>
        </p:nvSpPr>
        <p:spPr>
          <a:xfrm>
            <a:off x="6604973" y="2283702"/>
            <a:ext cx="4805691" cy="838831"/>
          </a:xfrm>
        </p:spPr>
        <p:txBody>
          <a:bodyPr anchor="b">
            <a:noAutofit/>
          </a:bodyPr>
          <a:lstStyle/>
          <a:p>
            <a:pPr algn="l"/>
            <a:r>
              <a:rPr lang="en-US" dirty="0" err="1">
                <a:solidFill>
                  <a:schemeClr val="tx2"/>
                </a:solidFill>
              </a:rPr>
              <a:t>GraphDB</a:t>
            </a:r>
            <a:r>
              <a:rPr lang="en-US" dirty="0">
                <a:solidFill>
                  <a:schemeClr val="tx2"/>
                </a:solidFill>
              </a:rPr>
              <a:t> basics</a:t>
            </a:r>
            <a:endParaRPr lang="en-US" dirty="0">
              <a:solidFill>
                <a:schemeClr val="tx2"/>
              </a:solidFill>
              <a:effectLst/>
            </a:endParaRPr>
          </a:p>
        </p:txBody>
      </p:sp>
      <p:pic>
        <p:nvPicPr>
          <p:cNvPr id="6" name="Picture 5">
            <a:extLst>
              <a:ext uri="{FF2B5EF4-FFF2-40B4-BE49-F238E27FC236}">
                <a16:creationId xmlns:a16="http://schemas.microsoft.com/office/drawing/2014/main" id="{0BCAC87D-BE74-14F2-47C6-B5516D0E5B4B}"/>
              </a:ext>
            </a:extLst>
          </p:cNvPr>
          <p:cNvPicPr>
            <a:picLocks noChangeAspect="1"/>
          </p:cNvPicPr>
          <p:nvPr/>
        </p:nvPicPr>
        <p:blipFill>
          <a:blip r:embed="rId3"/>
          <a:stretch>
            <a:fillRect/>
          </a:stretch>
        </p:blipFill>
        <p:spPr>
          <a:xfrm>
            <a:off x="276300" y="2117618"/>
            <a:ext cx="4141760" cy="1459970"/>
          </a:xfrm>
          <a:custGeom>
            <a:avLst/>
            <a:gdLst/>
            <a:ahLst/>
            <a:cxnLst/>
            <a:rect l="l" t="t" r="r" b="b"/>
            <a:pathLst>
              <a:path w="4141760" h="4377846">
                <a:moveTo>
                  <a:pt x="0" y="0"/>
                </a:moveTo>
                <a:lnTo>
                  <a:pt x="4141760" y="0"/>
                </a:lnTo>
                <a:lnTo>
                  <a:pt x="4141760" y="4377846"/>
                </a:lnTo>
                <a:lnTo>
                  <a:pt x="0" y="4377846"/>
                </a:lnTo>
                <a:close/>
              </a:path>
            </a:pathLst>
          </a:custGeom>
        </p:spPr>
      </p:pic>
      <p:grpSp>
        <p:nvGrpSpPr>
          <p:cNvPr id="15" name="Group 14">
            <a:extLst>
              <a:ext uri="{FF2B5EF4-FFF2-40B4-BE49-F238E27FC236}">
                <a16:creationId xmlns:a16="http://schemas.microsoft.com/office/drawing/2014/main" id="{89D1390B-7E13-4B4F-9CB2-391063412E5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253" y="-5977"/>
            <a:ext cx="6238675" cy="6863979"/>
            <a:chOff x="305" y="-5977"/>
            <a:chExt cx="6238675" cy="6863979"/>
          </a:xfrm>
        </p:grpSpPr>
        <p:sp>
          <p:nvSpPr>
            <p:cNvPr id="16" name="Freeform: Shape 15">
              <a:extLst>
                <a:ext uri="{FF2B5EF4-FFF2-40B4-BE49-F238E27FC236}">
                  <a16:creationId xmlns:a16="http://schemas.microsoft.com/office/drawing/2014/main" id="{9E720206-AA49-4786-A932-A2650DE0918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305" y="34854"/>
              <a:ext cx="6028697" cy="6817170"/>
            </a:xfrm>
            <a:custGeom>
              <a:avLst/>
              <a:gdLst>
                <a:gd name="connsiteX0" fmla="*/ 6028697 w 6028697"/>
                <a:gd name="connsiteY0" fmla="*/ 6155323 h 6817170"/>
                <a:gd name="connsiteX1" fmla="*/ 6028697 w 6028697"/>
                <a:gd name="connsiteY1" fmla="*/ 6817170 h 6817170"/>
                <a:gd name="connsiteX2" fmla="*/ 5157862 w 6028697"/>
                <a:gd name="connsiteY2" fmla="*/ 6817170 h 6817170"/>
                <a:gd name="connsiteX3" fmla="*/ 5347156 w 6028697"/>
                <a:gd name="connsiteY3" fmla="*/ 6687553 h 6817170"/>
                <a:gd name="connsiteX4" fmla="*/ 5487470 w 6028697"/>
                <a:gd name="connsiteY4" fmla="*/ 6581714 h 6817170"/>
                <a:gd name="connsiteX5" fmla="*/ 5627642 w 6028697"/>
                <a:gd name="connsiteY5" fmla="*/ 6472328 h 6817170"/>
                <a:gd name="connsiteX6" fmla="*/ 5911392 w 6028697"/>
                <a:gd name="connsiteY6" fmla="*/ 6245328 h 6817170"/>
                <a:gd name="connsiteX7" fmla="*/ 4481066 w 6028697"/>
                <a:gd name="connsiteY7" fmla="*/ 478 h 6817170"/>
                <a:gd name="connsiteX8" fmla="*/ 4672258 w 6028697"/>
                <a:gd name="connsiteY8" fmla="*/ 7519 h 6817170"/>
                <a:gd name="connsiteX9" fmla="*/ 5429869 w 6028697"/>
                <a:gd name="connsiteY9" fmla="*/ 125134 h 6817170"/>
                <a:gd name="connsiteX10" fmla="*/ 5976319 w 6028697"/>
                <a:gd name="connsiteY10" fmla="*/ 314893 h 6817170"/>
                <a:gd name="connsiteX11" fmla="*/ 6028697 w 6028697"/>
                <a:gd name="connsiteY11" fmla="*/ 339901 h 6817170"/>
                <a:gd name="connsiteX12" fmla="*/ 6028697 w 6028697"/>
                <a:gd name="connsiteY12" fmla="*/ 732458 h 6817170"/>
                <a:gd name="connsiteX13" fmla="*/ 5990985 w 6028697"/>
                <a:gd name="connsiteY13" fmla="*/ 712211 h 6817170"/>
                <a:gd name="connsiteX14" fmla="*/ 5341339 w 6028697"/>
                <a:gd name="connsiteY14" fmla="*/ 475281 h 6817170"/>
                <a:gd name="connsiteX15" fmla="*/ 4651969 w 6028697"/>
                <a:gd name="connsiteY15" fmla="*/ 377104 h 6817170"/>
                <a:gd name="connsiteX16" fmla="*/ 3953093 w 6028697"/>
                <a:gd name="connsiteY16" fmla="*/ 402498 h 6817170"/>
                <a:gd name="connsiteX17" fmla="*/ 3267413 w 6028697"/>
                <a:gd name="connsiteY17" fmla="*/ 546643 h 6817170"/>
                <a:gd name="connsiteX18" fmla="*/ 1439498 w 6028697"/>
                <a:gd name="connsiteY18" fmla="*/ 1568141 h 6817170"/>
                <a:gd name="connsiteX19" fmla="*/ 960671 w 6028697"/>
                <a:gd name="connsiteY19" fmla="*/ 2082013 h 6817170"/>
                <a:gd name="connsiteX20" fmla="*/ 581866 w 6028697"/>
                <a:gd name="connsiteY20" fmla="*/ 2672638 h 6817170"/>
                <a:gd name="connsiteX21" fmla="*/ 324789 w 6028697"/>
                <a:gd name="connsiteY21" fmla="*/ 3325262 h 6817170"/>
                <a:gd name="connsiteX22" fmla="*/ 231151 w 6028697"/>
                <a:gd name="connsiteY22" fmla="*/ 4022292 h 6817170"/>
                <a:gd name="connsiteX23" fmla="*/ 270592 w 6028697"/>
                <a:gd name="connsiteY23" fmla="*/ 4362792 h 6817170"/>
                <a:gd name="connsiteX24" fmla="*/ 387213 w 6028697"/>
                <a:gd name="connsiteY24" fmla="*/ 4681585 h 6817170"/>
                <a:gd name="connsiteX25" fmla="*/ 468507 w 6028697"/>
                <a:gd name="connsiteY25" fmla="*/ 4831546 h 6817170"/>
                <a:gd name="connsiteX26" fmla="*/ 561862 w 6028697"/>
                <a:gd name="connsiteY26" fmla="*/ 4976826 h 6817170"/>
                <a:gd name="connsiteX27" fmla="*/ 777511 w 6028697"/>
                <a:gd name="connsiteY27" fmla="*/ 5257597 h 6817170"/>
                <a:gd name="connsiteX28" fmla="*/ 1010895 w 6028697"/>
                <a:gd name="connsiteY28" fmla="*/ 5540494 h 6817170"/>
                <a:gd name="connsiteX29" fmla="*/ 1126948 w 6028697"/>
                <a:gd name="connsiteY29" fmla="*/ 5688186 h 6817170"/>
                <a:gd name="connsiteX30" fmla="*/ 1182706 w 6028697"/>
                <a:gd name="connsiteY30" fmla="*/ 5760543 h 6817170"/>
                <a:gd name="connsiteX31" fmla="*/ 1237327 w 6028697"/>
                <a:gd name="connsiteY31" fmla="*/ 5830060 h 6817170"/>
                <a:gd name="connsiteX32" fmla="*/ 1706649 w 6028697"/>
                <a:gd name="connsiteY32" fmla="*/ 6342797 h 6817170"/>
                <a:gd name="connsiteX33" fmla="*/ 1956207 w 6028697"/>
                <a:gd name="connsiteY33" fmla="*/ 6573484 h 6817170"/>
                <a:gd name="connsiteX34" fmla="*/ 2217681 w 6028697"/>
                <a:gd name="connsiteY34" fmla="*/ 6786297 h 6817170"/>
                <a:gd name="connsiteX35" fmla="*/ 2260820 w 6028697"/>
                <a:gd name="connsiteY35" fmla="*/ 6817170 h 6817170"/>
                <a:gd name="connsiteX36" fmla="*/ 1429497 w 6028697"/>
                <a:gd name="connsiteY36" fmla="*/ 6817170 h 6817170"/>
                <a:gd name="connsiteX37" fmla="*/ 1327275 w 6028697"/>
                <a:gd name="connsiteY37" fmla="*/ 6713800 h 6817170"/>
                <a:gd name="connsiteX38" fmla="*/ 1080556 w 6028697"/>
                <a:gd name="connsiteY38" fmla="*/ 6414443 h 6817170"/>
                <a:gd name="connsiteX39" fmla="*/ 865189 w 6028697"/>
                <a:gd name="connsiteY39" fmla="*/ 6097496 h 6817170"/>
                <a:gd name="connsiteX40" fmla="*/ 814823 w 6028697"/>
                <a:gd name="connsiteY40" fmla="*/ 6016911 h 6817170"/>
                <a:gd name="connsiteX41" fmla="*/ 766729 w 6028697"/>
                <a:gd name="connsiteY41" fmla="*/ 5938453 h 6817170"/>
                <a:gd name="connsiteX42" fmla="*/ 671672 w 6028697"/>
                <a:gd name="connsiteY42" fmla="*/ 5786648 h 6817170"/>
                <a:gd name="connsiteX43" fmla="*/ 474608 w 6028697"/>
                <a:gd name="connsiteY43" fmla="*/ 5474664 h 6817170"/>
                <a:gd name="connsiteX44" fmla="*/ 282652 w 6028697"/>
                <a:gd name="connsiteY44" fmla="*/ 5146508 h 6817170"/>
                <a:gd name="connsiteX45" fmla="*/ 196108 w 6028697"/>
                <a:gd name="connsiteY45" fmla="*/ 4972712 h 6817170"/>
                <a:gd name="connsiteX46" fmla="*/ 122474 w 6028697"/>
                <a:gd name="connsiteY46" fmla="*/ 4791821 h 6817170"/>
                <a:gd name="connsiteX47" fmla="*/ 65724 w 6028697"/>
                <a:gd name="connsiteY47" fmla="*/ 4603129 h 6817170"/>
                <a:gd name="connsiteX48" fmla="*/ 44727 w 6028697"/>
                <a:gd name="connsiteY48" fmla="*/ 4506937 h 6817170"/>
                <a:gd name="connsiteX49" fmla="*/ 35505 w 6028697"/>
                <a:gd name="connsiteY49" fmla="*/ 4458699 h 6817170"/>
                <a:gd name="connsiteX50" fmla="*/ 27845 w 6028697"/>
                <a:gd name="connsiteY50" fmla="*/ 4410320 h 6817170"/>
                <a:gd name="connsiteX51" fmla="*/ 37 w 6028697"/>
                <a:gd name="connsiteY51" fmla="*/ 4022292 h 6817170"/>
                <a:gd name="connsiteX52" fmla="*/ 78777 w 6028697"/>
                <a:gd name="connsiteY52" fmla="*/ 3267236 h 6817170"/>
                <a:gd name="connsiteX53" fmla="*/ 315424 w 6028697"/>
                <a:gd name="connsiteY53" fmla="*/ 2543673 h 6817170"/>
                <a:gd name="connsiteX54" fmla="*/ 1202710 w 6028697"/>
                <a:gd name="connsiteY54" fmla="*/ 1314895 h 6817170"/>
                <a:gd name="connsiteX55" fmla="*/ 1791065 w 6028697"/>
                <a:gd name="connsiteY55" fmla="*/ 833514 h 6817170"/>
                <a:gd name="connsiteX56" fmla="*/ 3908404 w 6028697"/>
                <a:gd name="connsiteY56" fmla="*/ 29794 h 6817170"/>
                <a:gd name="connsiteX57" fmla="*/ 4481066 w 6028697"/>
                <a:gd name="connsiteY57" fmla="*/ 478 h 6817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Lst>
              <a:rect l="l" t="t" r="r" b="b"/>
              <a:pathLst>
                <a:path w="6028697" h="6817170">
                  <a:moveTo>
                    <a:pt x="6028697" y="6155323"/>
                  </a:moveTo>
                  <a:lnTo>
                    <a:pt x="6028697" y="6817170"/>
                  </a:lnTo>
                  <a:lnTo>
                    <a:pt x="5157862" y="6817170"/>
                  </a:lnTo>
                  <a:lnTo>
                    <a:pt x="5347156" y="6687553"/>
                  </a:lnTo>
                  <a:cubicBezTo>
                    <a:pt x="5394117" y="6653219"/>
                    <a:pt x="5440793" y="6617608"/>
                    <a:pt x="5487470" y="6581714"/>
                  </a:cubicBezTo>
                  <a:cubicBezTo>
                    <a:pt x="5534147" y="6545820"/>
                    <a:pt x="5580966" y="6509358"/>
                    <a:pt x="5627642" y="6472328"/>
                  </a:cubicBezTo>
                  <a:lnTo>
                    <a:pt x="5911392" y="6245328"/>
                  </a:lnTo>
                  <a:close/>
                  <a:moveTo>
                    <a:pt x="4481066" y="478"/>
                  </a:moveTo>
                  <a:cubicBezTo>
                    <a:pt x="4544817" y="1422"/>
                    <a:pt x="4608563" y="3769"/>
                    <a:pt x="4672258" y="7519"/>
                  </a:cubicBezTo>
                  <a:cubicBezTo>
                    <a:pt x="4927973" y="22364"/>
                    <a:pt x="5181687" y="61751"/>
                    <a:pt x="5429869" y="125134"/>
                  </a:cubicBezTo>
                  <a:cubicBezTo>
                    <a:pt x="5617090" y="173104"/>
                    <a:pt x="5799867" y="236595"/>
                    <a:pt x="5976319" y="314893"/>
                  </a:cubicBezTo>
                  <a:lnTo>
                    <a:pt x="6028697" y="339901"/>
                  </a:lnTo>
                  <a:lnTo>
                    <a:pt x="6028697" y="732458"/>
                  </a:lnTo>
                  <a:lnTo>
                    <a:pt x="5990985" y="712211"/>
                  </a:lnTo>
                  <a:cubicBezTo>
                    <a:pt x="5783917" y="609342"/>
                    <a:pt x="5566013" y="529876"/>
                    <a:pt x="5341339" y="475281"/>
                  </a:cubicBezTo>
                  <a:cubicBezTo>
                    <a:pt x="5115233" y="420503"/>
                    <a:pt x="4884375" y="387624"/>
                    <a:pt x="4651969" y="377104"/>
                  </a:cubicBezTo>
                  <a:cubicBezTo>
                    <a:pt x="4418713" y="365171"/>
                    <a:pt x="4184861" y="373670"/>
                    <a:pt x="3953093" y="402498"/>
                  </a:cubicBezTo>
                  <a:cubicBezTo>
                    <a:pt x="3721001" y="431832"/>
                    <a:pt x="3491675" y="480040"/>
                    <a:pt x="3267413" y="546643"/>
                  </a:cubicBezTo>
                  <a:cubicBezTo>
                    <a:pt x="2591323" y="750761"/>
                    <a:pt x="1967642" y="1099289"/>
                    <a:pt x="1439498" y="1568141"/>
                  </a:cubicBezTo>
                  <a:cubicBezTo>
                    <a:pt x="1265589" y="1725523"/>
                    <a:pt x="1105393" y="1897434"/>
                    <a:pt x="960671" y="2082013"/>
                  </a:cubicBezTo>
                  <a:cubicBezTo>
                    <a:pt x="815775" y="2266294"/>
                    <a:pt x="688923" y="2464081"/>
                    <a:pt x="581866" y="2672638"/>
                  </a:cubicBezTo>
                  <a:cubicBezTo>
                    <a:pt x="473765" y="2880669"/>
                    <a:pt x="387610" y="3099397"/>
                    <a:pt x="324789" y="3325262"/>
                  </a:cubicBezTo>
                  <a:cubicBezTo>
                    <a:pt x="262714" y="3552403"/>
                    <a:pt x="231223" y="3786822"/>
                    <a:pt x="231151" y="4022292"/>
                  </a:cubicBezTo>
                  <a:cubicBezTo>
                    <a:pt x="231413" y="4136912"/>
                    <a:pt x="244645" y="4251136"/>
                    <a:pt x="270592" y="4362792"/>
                  </a:cubicBezTo>
                  <a:cubicBezTo>
                    <a:pt x="297885" y="4472943"/>
                    <a:pt x="336983" y="4579833"/>
                    <a:pt x="387213" y="4681585"/>
                  </a:cubicBezTo>
                  <a:cubicBezTo>
                    <a:pt x="412042" y="4732517"/>
                    <a:pt x="439423" y="4782457"/>
                    <a:pt x="468507" y="4831546"/>
                  </a:cubicBezTo>
                  <a:cubicBezTo>
                    <a:pt x="497591" y="4880636"/>
                    <a:pt x="529230" y="4929015"/>
                    <a:pt x="561862" y="4976826"/>
                  </a:cubicBezTo>
                  <a:cubicBezTo>
                    <a:pt x="627975" y="5072166"/>
                    <a:pt x="701466" y="5164668"/>
                    <a:pt x="777511" y="5257597"/>
                  </a:cubicBezTo>
                  <a:cubicBezTo>
                    <a:pt x="853556" y="5350524"/>
                    <a:pt x="933574" y="5443594"/>
                    <a:pt x="1010895" y="5540494"/>
                  </a:cubicBezTo>
                  <a:cubicBezTo>
                    <a:pt x="1049957" y="5588732"/>
                    <a:pt x="1088642" y="5637963"/>
                    <a:pt x="1126948" y="5688186"/>
                  </a:cubicBezTo>
                  <a:lnTo>
                    <a:pt x="1182706" y="5760543"/>
                  </a:lnTo>
                  <a:cubicBezTo>
                    <a:pt x="1201007" y="5783669"/>
                    <a:pt x="1218458" y="5807503"/>
                    <a:pt x="1237327" y="5830060"/>
                  </a:cubicBezTo>
                  <a:cubicBezTo>
                    <a:pt x="1383714" y="6009916"/>
                    <a:pt x="1540413" y="6181116"/>
                    <a:pt x="1706649" y="6342797"/>
                  </a:cubicBezTo>
                  <a:cubicBezTo>
                    <a:pt x="1788084" y="6422531"/>
                    <a:pt x="1871265" y="6499427"/>
                    <a:pt x="1956207" y="6573484"/>
                  </a:cubicBezTo>
                  <a:cubicBezTo>
                    <a:pt x="2041332" y="6647402"/>
                    <a:pt x="2127733" y="6718907"/>
                    <a:pt x="2217681" y="6786297"/>
                  </a:cubicBezTo>
                  <a:lnTo>
                    <a:pt x="2260820" y="6817170"/>
                  </a:lnTo>
                  <a:lnTo>
                    <a:pt x="1429497" y="6817170"/>
                  </a:lnTo>
                  <a:lnTo>
                    <a:pt x="1327275" y="6713800"/>
                  </a:lnTo>
                  <a:cubicBezTo>
                    <a:pt x="1239186" y="6618984"/>
                    <a:pt x="1156797" y="6519019"/>
                    <a:pt x="1080556" y="6414443"/>
                  </a:cubicBezTo>
                  <a:cubicBezTo>
                    <a:pt x="1004653" y="6310734"/>
                    <a:pt x="932439" y="6205177"/>
                    <a:pt x="865189" y="6097496"/>
                  </a:cubicBezTo>
                  <a:cubicBezTo>
                    <a:pt x="847881" y="6070823"/>
                    <a:pt x="831565" y="6043725"/>
                    <a:pt x="814823" y="6016911"/>
                  </a:cubicBezTo>
                  <a:lnTo>
                    <a:pt x="766729" y="5938453"/>
                  </a:lnTo>
                  <a:cubicBezTo>
                    <a:pt x="735941" y="5887947"/>
                    <a:pt x="703878" y="5837581"/>
                    <a:pt x="671672" y="5786648"/>
                  </a:cubicBezTo>
                  <a:lnTo>
                    <a:pt x="474608" y="5474664"/>
                  </a:lnTo>
                  <a:cubicBezTo>
                    <a:pt x="408778" y="5368968"/>
                    <a:pt x="343516" y="5260008"/>
                    <a:pt x="282652" y="5146508"/>
                  </a:cubicBezTo>
                  <a:cubicBezTo>
                    <a:pt x="252290" y="5089759"/>
                    <a:pt x="223065" y="5032015"/>
                    <a:pt x="196108" y="4972712"/>
                  </a:cubicBezTo>
                  <a:cubicBezTo>
                    <a:pt x="169152" y="4913408"/>
                    <a:pt x="144607" y="4853111"/>
                    <a:pt x="122474" y="4791821"/>
                  </a:cubicBezTo>
                  <a:cubicBezTo>
                    <a:pt x="100342" y="4730532"/>
                    <a:pt x="81757" y="4666830"/>
                    <a:pt x="65724" y="4603129"/>
                  </a:cubicBezTo>
                  <a:cubicBezTo>
                    <a:pt x="58205" y="4571064"/>
                    <a:pt x="50828" y="4539143"/>
                    <a:pt x="44727" y="4506937"/>
                  </a:cubicBezTo>
                  <a:lnTo>
                    <a:pt x="35505" y="4458699"/>
                  </a:lnTo>
                  <a:lnTo>
                    <a:pt x="27845" y="4410320"/>
                  </a:lnTo>
                  <a:cubicBezTo>
                    <a:pt x="8635" y="4281881"/>
                    <a:pt x="-661" y="4152150"/>
                    <a:pt x="37" y="4022292"/>
                  </a:cubicBezTo>
                  <a:cubicBezTo>
                    <a:pt x="712" y="3768592"/>
                    <a:pt x="27094" y="3515615"/>
                    <a:pt x="78777" y="3267236"/>
                  </a:cubicBezTo>
                  <a:cubicBezTo>
                    <a:pt x="130048" y="3017876"/>
                    <a:pt x="209439" y="2775142"/>
                    <a:pt x="315424" y="2543673"/>
                  </a:cubicBezTo>
                  <a:cubicBezTo>
                    <a:pt x="528236" y="2081161"/>
                    <a:pt x="838234" y="1667312"/>
                    <a:pt x="1202710" y="1314895"/>
                  </a:cubicBezTo>
                  <a:cubicBezTo>
                    <a:pt x="1385514" y="1138814"/>
                    <a:pt x="1582282" y="977831"/>
                    <a:pt x="1791065" y="833514"/>
                  </a:cubicBezTo>
                  <a:cubicBezTo>
                    <a:pt x="2420037" y="395614"/>
                    <a:pt x="3147288" y="119557"/>
                    <a:pt x="3908404" y="29794"/>
                  </a:cubicBezTo>
                  <a:cubicBezTo>
                    <a:pt x="4098509" y="7429"/>
                    <a:pt x="4289811" y="-2355"/>
                    <a:pt x="4481066" y="478"/>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Freeform: Shape 16">
              <a:extLst>
                <a:ext uri="{FF2B5EF4-FFF2-40B4-BE49-F238E27FC236}">
                  <a16:creationId xmlns:a16="http://schemas.microsoft.com/office/drawing/2014/main" id="{C72F6EE6-EDE9-45A5-8F6D-02B9B7CB2C2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305" y="1"/>
              <a:ext cx="6165116" cy="6858001"/>
            </a:xfrm>
            <a:custGeom>
              <a:avLst/>
              <a:gdLst>
                <a:gd name="connsiteX0" fmla="*/ 6264586 w 6264586"/>
                <a:gd name="connsiteY0" fmla="*/ 6646464 h 6858001"/>
                <a:gd name="connsiteX1" fmla="*/ 6264586 w 6264586"/>
                <a:gd name="connsiteY1" fmla="*/ 6858001 h 6858001"/>
                <a:gd name="connsiteX2" fmla="*/ 5997170 w 6264586"/>
                <a:gd name="connsiteY2" fmla="*/ 6858001 h 6858001"/>
                <a:gd name="connsiteX3" fmla="*/ 6121512 w 6264586"/>
                <a:gd name="connsiteY3" fmla="*/ 6761029 h 6858001"/>
                <a:gd name="connsiteX4" fmla="*/ 2693206 w 6264586"/>
                <a:gd name="connsiteY4" fmla="*/ 0 h 6858001"/>
                <a:gd name="connsiteX5" fmla="*/ 5872285 w 6264586"/>
                <a:gd name="connsiteY5" fmla="*/ 0 h 6858001"/>
                <a:gd name="connsiteX6" fmla="*/ 6024875 w 6264586"/>
                <a:gd name="connsiteY6" fmla="*/ 68385 h 6858001"/>
                <a:gd name="connsiteX7" fmla="*/ 6206432 w 6264586"/>
                <a:gd name="connsiteY7" fmla="*/ 162336 h 6858001"/>
                <a:gd name="connsiteX8" fmla="*/ 6264586 w 6264586"/>
                <a:gd name="connsiteY8" fmla="*/ 196704 h 6858001"/>
                <a:gd name="connsiteX9" fmla="*/ 6264586 w 6264586"/>
                <a:gd name="connsiteY9" fmla="*/ 537242 h 6858001"/>
                <a:gd name="connsiteX10" fmla="*/ 6230189 w 6264586"/>
                <a:gd name="connsiteY10" fmla="*/ 517260 h 6858001"/>
                <a:gd name="connsiteX11" fmla="*/ 5540536 w 6264586"/>
                <a:gd name="connsiteY11" fmla="*/ 249543 h 6858001"/>
                <a:gd name="connsiteX12" fmla="*/ 5178896 w 6264586"/>
                <a:gd name="connsiteY12" fmla="*/ 178606 h 6858001"/>
                <a:gd name="connsiteX13" fmla="*/ 4814279 w 6264586"/>
                <a:gd name="connsiteY13" fmla="*/ 146683 h 6858001"/>
                <a:gd name="connsiteX14" fmla="*/ 4655095 w 6264586"/>
                <a:gd name="connsiteY14" fmla="*/ 143421 h 6858001"/>
                <a:gd name="connsiteX15" fmla="*/ 4081069 w 6264586"/>
                <a:gd name="connsiteY15" fmla="*/ 185983 h 6858001"/>
                <a:gd name="connsiteX16" fmla="*/ 3720566 w 6264586"/>
                <a:gd name="connsiteY16" fmla="*/ 256921 h 6858001"/>
                <a:gd name="connsiteX17" fmla="*/ 3365879 w 6264586"/>
                <a:gd name="connsiteY17" fmla="*/ 357651 h 6858001"/>
                <a:gd name="connsiteX18" fmla="*/ 3020555 w 6264586"/>
                <a:gd name="connsiteY18" fmla="*/ 486190 h 6858001"/>
                <a:gd name="connsiteX19" fmla="*/ 2685163 w 6264586"/>
                <a:gd name="connsiteY19" fmla="*/ 641542 h 6858001"/>
                <a:gd name="connsiteX20" fmla="*/ 2047720 w 6264586"/>
                <a:gd name="connsiteY20" fmla="*/ 1025030 h 6858001"/>
                <a:gd name="connsiteX21" fmla="*/ 1897333 w 6264586"/>
                <a:gd name="connsiteY21" fmla="*/ 1134983 h 6858001"/>
                <a:gd name="connsiteX22" fmla="*/ 1835758 w 6264586"/>
                <a:gd name="connsiteY22" fmla="*/ 1182227 h 6858001"/>
                <a:gd name="connsiteX23" fmla="*/ 1823273 w 6264586"/>
                <a:gd name="connsiteY23" fmla="*/ 1192016 h 6858001"/>
                <a:gd name="connsiteX24" fmla="*/ 1750918 w 6264586"/>
                <a:gd name="connsiteY24" fmla="*/ 1249760 h 6858001"/>
                <a:gd name="connsiteX25" fmla="*/ 1469297 w 6264586"/>
                <a:gd name="connsiteY25" fmla="*/ 1496906 h 6858001"/>
                <a:gd name="connsiteX26" fmla="*/ 967769 w 6264586"/>
                <a:gd name="connsiteY26" fmla="*/ 2056602 h 6858001"/>
                <a:gd name="connsiteX27" fmla="*/ 754105 w 6264586"/>
                <a:gd name="connsiteY27" fmla="*/ 2368727 h 6858001"/>
                <a:gd name="connsiteX28" fmla="*/ 572364 w 6264586"/>
                <a:gd name="connsiteY28" fmla="*/ 2701140 h 6858001"/>
                <a:gd name="connsiteX29" fmla="*/ 532497 w 6264586"/>
                <a:gd name="connsiteY29" fmla="*/ 2786265 h 6858001"/>
                <a:gd name="connsiteX30" fmla="*/ 512918 w 6264586"/>
                <a:gd name="connsiteY30" fmla="*/ 2828827 h 6858001"/>
                <a:gd name="connsiteX31" fmla="*/ 494475 w 6264586"/>
                <a:gd name="connsiteY31" fmla="*/ 2872240 h 6858001"/>
                <a:gd name="connsiteX32" fmla="*/ 491637 w 6264586"/>
                <a:gd name="connsiteY32" fmla="*/ 2878908 h 6858001"/>
                <a:gd name="connsiteX33" fmla="*/ 459290 w 6264586"/>
                <a:gd name="connsiteY33" fmla="*/ 2959635 h 6858001"/>
                <a:gd name="connsiteX34" fmla="*/ 446805 w 6264586"/>
                <a:gd name="connsiteY34" fmla="*/ 2992408 h 6858001"/>
                <a:gd name="connsiteX35" fmla="*/ 426090 w 6264586"/>
                <a:gd name="connsiteY35" fmla="*/ 3049158 h 6858001"/>
                <a:gd name="connsiteX36" fmla="*/ 426090 w 6264586"/>
                <a:gd name="connsiteY36" fmla="*/ 3049867 h 6858001"/>
                <a:gd name="connsiteX37" fmla="*/ 318124 w 6264586"/>
                <a:gd name="connsiteY37" fmla="*/ 3414202 h 6858001"/>
                <a:gd name="connsiteX38" fmla="*/ 230729 w 6264586"/>
                <a:gd name="connsiteY38" fmla="*/ 4169260 h 6858001"/>
                <a:gd name="connsiteX39" fmla="*/ 268893 w 6264586"/>
                <a:gd name="connsiteY39" fmla="*/ 4544236 h 6858001"/>
                <a:gd name="connsiteX40" fmla="*/ 379840 w 6264586"/>
                <a:gd name="connsiteY40" fmla="*/ 4900056 h 6858001"/>
                <a:gd name="connsiteX41" fmla="*/ 406512 w 6264586"/>
                <a:gd name="connsiteY41" fmla="*/ 4960211 h 6858001"/>
                <a:gd name="connsiteX42" fmla="*/ 417862 w 6264586"/>
                <a:gd name="connsiteY42" fmla="*/ 4984613 h 6858001"/>
                <a:gd name="connsiteX43" fmla="*/ 428077 w 6264586"/>
                <a:gd name="connsiteY43" fmla="*/ 5005043 h 6858001"/>
                <a:gd name="connsiteX44" fmla="*/ 460140 w 6264586"/>
                <a:gd name="connsiteY44" fmla="*/ 5067327 h 6858001"/>
                <a:gd name="connsiteX45" fmla="*/ 555197 w 6264586"/>
                <a:gd name="connsiteY45" fmla="*/ 5229773 h 6858001"/>
                <a:gd name="connsiteX46" fmla="*/ 660611 w 6264586"/>
                <a:gd name="connsiteY46" fmla="*/ 5387396 h 6858001"/>
                <a:gd name="connsiteX47" fmla="*/ 774110 w 6264586"/>
                <a:gd name="connsiteY47" fmla="*/ 5542182 h 6858001"/>
                <a:gd name="connsiteX48" fmla="*/ 917829 w 6264586"/>
                <a:gd name="connsiteY48" fmla="*/ 5727896 h 6858001"/>
                <a:gd name="connsiteX49" fmla="*/ 1012885 w 6264586"/>
                <a:gd name="connsiteY49" fmla="*/ 5849767 h 6858001"/>
                <a:gd name="connsiteX50" fmla="*/ 1133053 w 6264586"/>
                <a:gd name="connsiteY50" fmla="*/ 6006822 h 6858001"/>
                <a:gd name="connsiteX51" fmla="*/ 1194343 w 6264586"/>
                <a:gd name="connsiteY51" fmla="*/ 6090245 h 6858001"/>
                <a:gd name="connsiteX52" fmla="*/ 1249390 w 6264586"/>
                <a:gd name="connsiteY52" fmla="*/ 6165155 h 6858001"/>
                <a:gd name="connsiteX53" fmla="*/ 1345724 w 6264586"/>
                <a:gd name="connsiteY53" fmla="*/ 6292132 h 6858001"/>
                <a:gd name="connsiteX54" fmla="*/ 1364310 w 6264586"/>
                <a:gd name="connsiteY54" fmla="*/ 6316251 h 6858001"/>
                <a:gd name="connsiteX55" fmla="*/ 1373673 w 6264586"/>
                <a:gd name="connsiteY55" fmla="*/ 6327885 h 6858001"/>
                <a:gd name="connsiteX56" fmla="*/ 1484619 w 6264586"/>
                <a:gd name="connsiteY56" fmla="*/ 6462240 h 6858001"/>
                <a:gd name="connsiteX57" fmla="*/ 1739000 w 6264586"/>
                <a:gd name="connsiteY57" fmla="*/ 6737335 h 6858001"/>
                <a:gd name="connsiteX58" fmla="*/ 1866801 w 6264586"/>
                <a:gd name="connsiteY58" fmla="*/ 6858001 h 6858001"/>
                <a:gd name="connsiteX59" fmla="*/ 1144149 w 6264586"/>
                <a:gd name="connsiteY59" fmla="*/ 6858001 h 6858001"/>
                <a:gd name="connsiteX60" fmla="*/ 1058349 w 6264586"/>
                <a:gd name="connsiteY60" fmla="*/ 6766452 h 6858001"/>
                <a:gd name="connsiteX61" fmla="*/ 580309 w 6264586"/>
                <a:gd name="connsiteY61" fmla="*/ 6105000 h 6858001"/>
                <a:gd name="connsiteX62" fmla="*/ 1 w 6264586"/>
                <a:gd name="connsiteY62" fmla="*/ 3960094 h 6858001"/>
                <a:gd name="connsiteX63" fmla="*/ 2599292 w 6264586"/>
                <a:gd name="connsiteY63" fmla="*/ 37050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6264586" h="6858001">
                  <a:moveTo>
                    <a:pt x="6264586" y="6646464"/>
                  </a:moveTo>
                  <a:lnTo>
                    <a:pt x="6264586" y="6858001"/>
                  </a:lnTo>
                  <a:lnTo>
                    <a:pt x="5997170" y="6858001"/>
                  </a:lnTo>
                  <a:lnTo>
                    <a:pt x="6121512" y="6761029"/>
                  </a:lnTo>
                  <a:close/>
                  <a:moveTo>
                    <a:pt x="2693206" y="0"/>
                  </a:moveTo>
                  <a:lnTo>
                    <a:pt x="5872285" y="0"/>
                  </a:lnTo>
                  <a:lnTo>
                    <a:pt x="6024875" y="68385"/>
                  </a:lnTo>
                  <a:cubicBezTo>
                    <a:pt x="6086250" y="97989"/>
                    <a:pt x="6146793" y="129318"/>
                    <a:pt x="6206432" y="162336"/>
                  </a:cubicBezTo>
                  <a:lnTo>
                    <a:pt x="6264586" y="196704"/>
                  </a:lnTo>
                  <a:lnTo>
                    <a:pt x="6264586" y="537242"/>
                  </a:lnTo>
                  <a:lnTo>
                    <a:pt x="6230189" y="517260"/>
                  </a:lnTo>
                  <a:cubicBezTo>
                    <a:pt x="6012226" y="399931"/>
                    <a:pt x="5780573" y="310008"/>
                    <a:pt x="5540536" y="249543"/>
                  </a:cubicBezTo>
                  <a:cubicBezTo>
                    <a:pt x="5421375" y="219324"/>
                    <a:pt x="5300641" y="195644"/>
                    <a:pt x="5178896" y="178606"/>
                  </a:cubicBezTo>
                  <a:cubicBezTo>
                    <a:pt x="5057977" y="161840"/>
                    <a:pt x="4936276" y="151186"/>
                    <a:pt x="4814279" y="146683"/>
                  </a:cubicBezTo>
                  <a:cubicBezTo>
                    <a:pt x="4761501" y="144556"/>
                    <a:pt x="4708015" y="143421"/>
                    <a:pt x="4655095" y="143421"/>
                  </a:cubicBezTo>
                  <a:cubicBezTo>
                    <a:pt x="4462968" y="143573"/>
                    <a:pt x="4271111" y="157799"/>
                    <a:pt x="4081069" y="185983"/>
                  </a:cubicBezTo>
                  <a:cubicBezTo>
                    <a:pt x="3956361" y="205703"/>
                    <a:pt x="3835058" y="229396"/>
                    <a:pt x="3720566" y="256921"/>
                  </a:cubicBezTo>
                  <a:cubicBezTo>
                    <a:pt x="3596708" y="286714"/>
                    <a:pt x="3477677" y="320905"/>
                    <a:pt x="3365879" y="357651"/>
                  </a:cubicBezTo>
                  <a:cubicBezTo>
                    <a:pt x="3249257" y="395958"/>
                    <a:pt x="3133487" y="438945"/>
                    <a:pt x="3020555" y="486190"/>
                  </a:cubicBezTo>
                  <a:cubicBezTo>
                    <a:pt x="2907623" y="533434"/>
                    <a:pt x="2794832" y="585786"/>
                    <a:pt x="2685163" y="641542"/>
                  </a:cubicBezTo>
                  <a:cubicBezTo>
                    <a:pt x="2463995" y="754348"/>
                    <a:pt x="2250998" y="882488"/>
                    <a:pt x="2047720" y="1025030"/>
                  </a:cubicBezTo>
                  <a:cubicBezTo>
                    <a:pt x="2006151" y="1054399"/>
                    <a:pt x="1951528" y="1093415"/>
                    <a:pt x="1897333" y="1134983"/>
                  </a:cubicBezTo>
                  <a:cubicBezTo>
                    <a:pt x="1876761" y="1150164"/>
                    <a:pt x="1855905" y="1166479"/>
                    <a:pt x="1835758" y="1182227"/>
                  </a:cubicBezTo>
                  <a:lnTo>
                    <a:pt x="1823273" y="1192016"/>
                  </a:lnTo>
                  <a:cubicBezTo>
                    <a:pt x="1797027" y="1211879"/>
                    <a:pt x="1772057" y="1232309"/>
                    <a:pt x="1750918" y="1249760"/>
                  </a:cubicBezTo>
                  <a:cubicBezTo>
                    <a:pt x="1645931" y="1335737"/>
                    <a:pt x="1554422" y="1416605"/>
                    <a:pt x="1469297" y="1496906"/>
                  </a:cubicBezTo>
                  <a:cubicBezTo>
                    <a:pt x="1286595" y="1668957"/>
                    <a:pt x="1118818" y="1856190"/>
                    <a:pt x="967769" y="2056602"/>
                  </a:cubicBezTo>
                  <a:cubicBezTo>
                    <a:pt x="890731" y="2159603"/>
                    <a:pt x="818800" y="2264590"/>
                    <a:pt x="754105" y="2368727"/>
                  </a:cubicBezTo>
                  <a:cubicBezTo>
                    <a:pt x="681749" y="2488328"/>
                    <a:pt x="622304" y="2596720"/>
                    <a:pt x="572364" y="2701140"/>
                  </a:cubicBezTo>
                  <a:cubicBezTo>
                    <a:pt x="557609" y="2730507"/>
                    <a:pt x="543989" y="2760443"/>
                    <a:pt x="532497" y="2786265"/>
                  </a:cubicBezTo>
                  <a:lnTo>
                    <a:pt x="512918" y="2828827"/>
                  </a:lnTo>
                  <a:lnTo>
                    <a:pt x="494475" y="2872240"/>
                  </a:lnTo>
                  <a:lnTo>
                    <a:pt x="491637" y="2878908"/>
                  </a:lnTo>
                  <a:cubicBezTo>
                    <a:pt x="480146" y="2906575"/>
                    <a:pt x="469220" y="2932821"/>
                    <a:pt x="459290" y="2959635"/>
                  </a:cubicBezTo>
                  <a:cubicBezTo>
                    <a:pt x="455176" y="2970559"/>
                    <a:pt x="451060" y="2981484"/>
                    <a:pt x="446805" y="2992408"/>
                  </a:cubicBezTo>
                  <a:cubicBezTo>
                    <a:pt x="439427" y="3012412"/>
                    <a:pt x="432333" y="3030572"/>
                    <a:pt x="426090" y="3049158"/>
                  </a:cubicBezTo>
                  <a:lnTo>
                    <a:pt x="426090" y="3049867"/>
                  </a:lnTo>
                  <a:cubicBezTo>
                    <a:pt x="383010" y="3169099"/>
                    <a:pt x="346959" y="3290756"/>
                    <a:pt x="318124" y="3414202"/>
                  </a:cubicBezTo>
                  <a:cubicBezTo>
                    <a:pt x="260107" y="3661703"/>
                    <a:pt x="230780" y="3915049"/>
                    <a:pt x="230729" y="4169260"/>
                  </a:cubicBezTo>
                  <a:cubicBezTo>
                    <a:pt x="231621" y="4295173"/>
                    <a:pt x="244398" y="4420719"/>
                    <a:pt x="268893" y="4544236"/>
                  </a:cubicBezTo>
                  <a:cubicBezTo>
                    <a:pt x="293708" y="4666304"/>
                    <a:pt x="330882" y="4785521"/>
                    <a:pt x="379840" y="4900056"/>
                  </a:cubicBezTo>
                  <a:cubicBezTo>
                    <a:pt x="387926" y="4919919"/>
                    <a:pt x="397006" y="4939498"/>
                    <a:pt x="406512" y="4960211"/>
                  </a:cubicBezTo>
                  <a:cubicBezTo>
                    <a:pt x="410343" y="4968299"/>
                    <a:pt x="414173" y="4976385"/>
                    <a:pt x="417862" y="4984613"/>
                  </a:cubicBezTo>
                  <a:lnTo>
                    <a:pt x="428077" y="5005043"/>
                  </a:lnTo>
                  <a:cubicBezTo>
                    <a:pt x="438860" y="5026751"/>
                    <a:pt x="449075" y="5047181"/>
                    <a:pt x="460140" y="5067327"/>
                  </a:cubicBezTo>
                  <a:cubicBezTo>
                    <a:pt x="485536" y="5116273"/>
                    <a:pt x="514763" y="5165789"/>
                    <a:pt x="555197" y="5229773"/>
                  </a:cubicBezTo>
                  <a:cubicBezTo>
                    <a:pt x="586836" y="5280282"/>
                    <a:pt x="620318" y="5329511"/>
                    <a:pt x="660611" y="5387396"/>
                  </a:cubicBezTo>
                  <a:cubicBezTo>
                    <a:pt x="698065" y="5440741"/>
                    <a:pt x="737223" y="5493094"/>
                    <a:pt x="774110" y="5542182"/>
                  </a:cubicBezTo>
                  <a:cubicBezTo>
                    <a:pt x="821070" y="5604324"/>
                    <a:pt x="870301" y="5667173"/>
                    <a:pt x="917829" y="5727896"/>
                  </a:cubicBezTo>
                  <a:cubicBezTo>
                    <a:pt x="949042" y="5767762"/>
                    <a:pt x="979828" y="5807063"/>
                    <a:pt x="1012885" y="5849767"/>
                  </a:cubicBezTo>
                  <a:cubicBezTo>
                    <a:pt x="1045942" y="5892471"/>
                    <a:pt x="1089497" y="5948796"/>
                    <a:pt x="1133053" y="6006822"/>
                  </a:cubicBezTo>
                  <a:cubicBezTo>
                    <a:pt x="1153624" y="6034345"/>
                    <a:pt x="1175332" y="6063998"/>
                    <a:pt x="1194343" y="6090245"/>
                  </a:cubicBezTo>
                  <a:cubicBezTo>
                    <a:pt x="1213355" y="6116491"/>
                    <a:pt x="1231372" y="6141178"/>
                    <a:pt x="1249390" y="6165155"/>
                  </a:cubicBezTo>
                  <a:cubicBezTo>
                    <a:pt x="1280461" y="6208000"/>
                    <a:pt x="1313659" y="6250847"/>
                    <a:pt x="1345724" y="6292132"/>
                  </a:cubicBezTo>
                  <a:lnTo>
                    <a:pt x="1364310" y="6316251"/>
                  </a:lnTo>
                  <a:lnTo>
                    <a:pt x="1373673" y="6327885"/>
                  </a:lnTo>
                  <a:cubicBezTo>
                    <a:pt x="1409566" y="6372433"/>
                    <a:pt x="1446738" y="6418542"/>
                    <a:pt x="1484619" y="6462240"/>
                  </a:cubicBezTo>
                  <a:cubicBezTo>
                    <a:pt x="1567899" y="6559850"/>
                    <a:pt x="1653876" y="6652211"/>
                    <a:pt x="1739000" y="6737335"/>
                  </a:cubicBezTo>
                  <a:lnTo>
                    <a:pt x="1866801" y="6858001"/>
                  </a:lnTo>
                  <a:lnTo>
                    <a:pt x="1144149" y="6858001"/>
                  </a:lnTo>
                  <a:lnTo>
                    <a:pt x="1058349" y="6766452"/>
                  </a:lnTo>
                  <a:cubicBezTo>
                    <a:pt x="878978" y="6562465"/>
                    <a:pt x="718756" y="6341104"/>
                    <a:pt x="580309" y="6105000"/>
                  </a:cubicBezTo>
                  <a:cubicBezTo>
                    <a:pt x="200401" y="5454007"/>
                    <a:pt x="146" y="4713831"/>
                    <a:pt x="1" y="3960094"/>
                  </a:cubicBezTo>
                  <a:cubicBezTo>
                    <a:pt x="-335" y="2196754"/>
                    <a:pt x="1071479" y="683605"/>
                    <a:pt x="2599292" y="3705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C093DC50-3BD7-46B1-A300-CD207E152FF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305" y="-5977"/>
              <a:ext cx="6238675" cy="6858001"/>
            </a:xfrm>
            <a:custGeom>
              <a:avLst/>
              <a:gdLst>
                <a:gd name="connsiteX0" fmla="*/ 6264586 w 6264586"/>
                <a:gd name="connsiteY0" fmla="*/ 6646464 h 6858001"/>
                <a:gd name="connsiteX1" fmla="*/ 6264586 w 6264586"/>
                <a:gd name="connsiteY1" fmla="*/ 6858001 h 6858001"/>
                <a:gd name="connsiteX2" fmla="*/ 5997170 w 6264586"/>
                <a:gd name="connsiteY2" fmla="*/ 6858001 h 6858001"/>
                <a:gd name="connsiteX3" fmla="*/ 6121512 w 6264586"/>
                <a:gd name="connsiteY3" fmla="*/ 6761029 h 6858001"/>
                <a:gd name="connsiteX4" fmla="*/ 2693206 w 6264586"/>
                <a:gd name="connsiteY4" fmla="*/ 0 h 6858001"/>
                <a:gd name="connsiteX5" fmla="*/ 5872285 w 6264586"/>
                <a:gd name="connsiteY5" fmla="*/ 0 h 6858001"/>
                <a:gd name="connsiteX6" fmla="*/ 6024875 w 6264586"/>
                <a:gd name="connsiteY6" fmla="*/ 68385 h 6858001"/>
                <a:gd name="connsiteX7" fmla="*/ 6206432 w 6264586"/>
                <a:gd name="connsiteY7" fmla="*/ 162336 h 6858001"/>
                <a:gd name="connsiteX8" fmla="*/ 6264586 w 6264586"/>
                <a:gd name="connsiteY8" fmla="*/ 196704 h 6858001"/>
                <a:gd name="connsiteX9" fmla="*/ 6264586 w 6264586"/>
                <a:gd name="connsiteY9" fmla="*/ 537242 h 6858001"/>
                <a:gd name="connsiteX10" fmla="*/ 6230189 w 6264586"/>
                <a:gd name="connsiteY10" fmla="*/ 517260 h 6858001"/>
                <a:gd name="connsiteX11" fmla="*/ 5540536 w 6264586"/>
                <a:gd name="connsiteY11" fmla="*/ 249543 h 6858001"/>
                <a:gd name="connsiteX12" fmla="*/ 5178896 w 6264586"/>
                <a:gd name="connsiteY12" fmla="*/ 178606 h 6858001"/>
                <a:gd name="connsiteX13" fmla="*/ 4814279 w 6264586"/>
                <a:gd name="connsiteY13" fmla="*/ 146683 h 6858001"/>
                <a:gd name="connsiteX14" fmla="*/ 4655095 w 6264586"/>
                <a:gd name="connsiteY14" fmla="*/ 143421 h 6858001"/>
                <a:gd name="connsiteX15" fmla="*/ 4081069 w 6264586"/>
                <a:gd name="connsiteY15" fmla="*/ 185983 h 6858001"/>
                <a:gd name="connsiteX16" fmla="*/ 3720566 w 6264586"/>
                <a:gd name="connsiteY16" fmla="*/ 256921 h 6858001"/>
                <a:gd name="connsiteX17" fmla="*/ 3365879 w 6264586"/>
                <a:gd name="connsiteY17" fmla="*/ 357651 h 6858001"/>
                <a:gd name="connsiteX18" fmla="*/ 3020555 w 6264586"/>
                <a:gd name="connsiteY18" fmla="*/ 486190 h 6858001"/>
                <a:gd name="connsiteX19" fmla="*/ 2685163 w 6264586"/>
                <a:gd name="connsiteY19" fmla="*/ 641542 h 6858001"/>
                <a:gd name="connsiteX20" fmla="*/ 2047720 w 6264586"/>
                <a:gd name="connsiteY20" fmla="*/ 1025030 h 6858001"/>
                <a:gd name="connsiteX21" fmla="*/ 1897333 w 6264586"/>
                <a:gd name="connsiteY21" fmla="*/ 1134983 h 6858001"/>
                <a:gd name="connsiteX22" fmla="*/ 1835758 w 6264586"/>
                <a:gd name="connsiteY22" fmla="*/ 1182227 h 6858001"/>
                <a:gd name="connsiteX23" fmla="*/ 1823273 w 6264586"/>
                <a:gd name="connsiteY23" fmla="*/ 1192016 h 6858001"/>
                <a:gd name="connsiteX24" fmla="*/ 1750918 w 6264586"/>
                <a:gd name="connsiteY24" fmla="*/ 1249760 h 6858001"/>
                <a:gd name="connsiteX25" fmla="*/ 1469297 w 6264586"/>
                <a:gd name="connsiteY25" fmla="*/ 1496906 h 6858001"/>
                <a:gd name="connsiteX26" fmla="*/ 967769 w 6264586"/>
                <a:gd name="connsiteY26" fmla="*/ 2056602 h 6858001"/>
                <a:gd name="connsiteX27" fmla="*/ 754105 w 6264586"/>
                <a:gd name="connsiteY27" fmla="*/ 2368727 h 6858001"/>
                <a:gd name="connsiteX28" fmla="*/ 572364 w 6264586"/>
                <a:gd name="connsiteY28" fmla="*/ 2701140 h 6858001"/>
                <a:gd name="connsiteX29" fmla="*/ 532497 w 6264586"/>
                <a:gd name="connsiteY29" fmla="*/ 2786265 h 6858001"/>
                <a:gd name="connsiteX30" fmla="*/ 512918 w 6264586"/>
                <a:gd name="connsiteY30" fmla="*/ 2828827 h 6858001"/>
                <a:gd name="connsiteX31" fmla="*/ 494475 w 6264586"/>
                <a:gd name="connsiteY31" fmla="*/ 2872240 h 6858001"/>
                <a:gd name="connsiteX32" fmla="*/ 491637 w 6264586"/>
                <a:gd name="connsiteY32" fmla="*/ 2878908 h 6858001"/>
                <a:gd name="connsiteX33" fmla="*/ 459290 w 6264586"/>
                <a:gd name="connsiteY33" fmla="*/ 2959635 h 6858001"/>
                <a:gd name="connsiteX34" fmla="*/ 446805 w 6264586"/>
                <a:gd name="connsiteY34" fmla="*/ 2992408 h 6858001"/>
                <a:gd name="connsiteX35" fmla="*/ 426090 w 6264586"/>
                <a:gd name="connsiteY35" fmla="*/ 3049158 h 6858001"/>
                <a:gd name="connsiteX36" fmla="*/ 426090 w 6264586"/>
                <a:gd name="connsiteY36" fmla="*/ 3049867 h 6858001"/>
                <a:gd name="connsiteX37" fmla="*/ 318124 w 6264586"/>
                <a:gd name="connsiteY37" fmla="*/ 3414202 h 6858001"/>
                <a:gd name="connsiteX38" fmla="*/ 230729 w 6264586"/>
                <a:gd name="connsiteY38" fmla="*/ 4169260 h 6858001"/>
                <a:gd name="connsiteX39" fmla="*/ 268893 w 6264586"/>
                <a:gd name="connsiteY39" fmla="*/ 4544236 h 6858001"/>
                <a:gd name="connsiteX40" fmla="*/ 379840 w 6264586"/>
                <a:gd name="connsiteY40" fmla="*/ 4900056 h 6858001"/>
                <a:gd name="connsiteX41" fmla="*/ 406512 w 6264586"/>
                <a:gd name="connsiteY41" fmla="*/ 4960211 h 6858001"/>
                <a:gd name="connsiteX42" fmla="*/ 417862 w 6264586"/>
                <a:gd name="connsiteY42" fmla="*/ 4984613 h 6858001"/>
                <a:gd name="connsiteX43" fmla="*/ 428077 w 6264586"/>
                <a:gd name="connsiteY43" fmla="*/ 5005043 h 6858001"/>
                <a:gd name="connsiteX44" fmla="*/ 460140 w 6264586"/>
                <a:gd name="connsiteY44" fmla="*/ 5067327 h 6858001"/>
                <a:gd name="connsiteX45" fmla="*/ 555197 w 6264586"/>
                <a:gd name="connsiteY45" fmla="*/ 5229773 h 6858001"/>
                <a:gd name="connsiteX46" fmla="*/ 660611 w 6264586"/>
                <a:gd name="connsiteY46" fmla="*/ 5387396 h 6858001"/>
                <a:gd name="connsiteX47" fmla="*/ 774110 w 6264586"/>
                <a:gd name="connsiteY47" fmla="*/ 5542182 h 6858001"/>
                <a:gd name="connsiteX48" fmla="*/ 917829 w 6264586"/>
                <a:gd name="connsiteY48" fmla="*/ 5727896 h 6858001"/>
                <a:gd name="connsiteX49" fmla="*/ 1012885 w 6264586"/>
                <a:gd name="connsiteY49" fmla="*/ 5849767 h 6858001"/>
                <a:gd name="connsiteX50" fmla="*/ 1133053 w 6264586"/>
                <a:gd name="connsiteY50" fmla="*/ 6006822 h 6858001"/>
                <a:gd name="connsiteX51" fmla="*/ 1194343 w 6264586"/>
                <a:gd name="connsiteY51" fmla="*/ 6090245 h 6858001"/>
                <a:gd name="connsiteX52" fmla="*/ 1249390 w 6264586"/>
                <a:gd name="connsiteY52" fmla="*/ 6165155 h 6858001"/>
                <a:gd name="connsiteX53" fmla="*/ 1345724 w 6264586"/>
                <a:gd name="connsiteY53" fmla="*/ 6292132 h 6858001"/>
                <a:gd name="connsiteX54" fmla="*/ 1364310 w 6264586"/>
                <a:gd name="connsiteY54" fmla="*/ 6316251 h 6858001"/>
                <a:gd name="connsiteX55" fmla="*/ 1373673 w 6264586"/>
                <a:gd name="connsiteY55" fmla="*/ 6327885 h 6858001"/>
                <a:gd name="connsiteX56" fmla="*/ 1484619 w 6264586"/>
                <a:gd name="connsiteY56" fmla="*/ 6462240 h 6858001"/>
                <a:gd name="connsiteX57" fmla="*/ 1739000 w 6264586"/>
                <a:gd name="connsiteY57" fmla="*/ 6737335 h 6858001"/>
                <a:gd name="connsiteX58" fmla="*/ 1866801 w 6264586"/>
                <a:gd name="connsiteY58" fmla="*/ 6858001 h 6858001"/>
                <a:gd name="connsiteX59" fmla="*/ 1144149 w 6264586"/>
                <a:gd name="connsiteY59" fmla="*/ 6858001 h 6858001"/>
                <a:gd name="connsiteX60" fmla="*/ 1058349 w 6264586"/>
                <a:gd name="connsiteY60" fmla="*/ 6766452 h 6858001"/>
                <a:gd name="connsiteX61" fmla="*/ 580309 w 6264586"/>
                <a:gd name="connsiteY61" fmla="*/ 6105000 h 6858001"/>
                <a:gd name="connsiteX62" fmla="*/ 1 w 6264586"/>
                <a:gd name="connsiteY62" fmla="*/ 3960094 h 6858001"/>
                <a:gd name="connsiteX63" fmla="*/ 2599292 w 6264586"/>
                <a:gd name="connsiteY63" fmla="*/ 37050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6264586" h="6858001">
                  <a:moveTo>
                    <a:pt x="6264586" y="6646464"/>
                  </a:moveTo>
                  <a:lnTo>
                    <a:pt x="6264586" y="6858001"/>
                  </a:lnTo>
                  <a:lnTo>
                    <a:pt x="5997170" y="6858001"/>
                  </a:lnTo>
                  <a:lnTo>
                    <a:pt x="6121512" y="6761029"/>
                  </a:lnTo>
                  <a:close/>
                  <a:moveTo>
                    <a:pt x="2693206" y="0"/>
                  </a:moveTo>
                  <a:lnTo>
                    <a:pt x="5872285" y="0"/>
                  </a:lnTo>
                  <a:lnTo>
                    <a:pt x="6024875" y="68385"/>
                  </a:lnTo>
                  <a:cubicBezTo>
                    <a:pt x="6086250" y="97989"/>
                    <a:pt x="6146793" y="129318"/>
                    <a:pt x="6206432" y="162336"/>
                  </a:cubicBezTo>
                  <a:lnTo>
                    <a:pt x="6264586" y="196704"/>
                  </a:lnTo>
                  <a:lnTo>
                    <a:pt x="6264586" y="537242"/>
                  </a:lnTo>
                  <a:lnTo>
                    <a:pt x="6230189" y="517260"/>
                  </a:lnTo>
                  <a:cubicBezTo>
                    <a:pt x="6012226" y="399931"/>
                    <a:pt x="5780573" y="310008"/>
                    <a:pt x="5540536" y="249543"/>
                  </a:cubicBezTo>
                  <a:cubicBezTo>
                    <a:pt x="5421375" y="219324"/>
                    <a:pt x="5300641" y="195644"/>
                    <a:pt x="5178896" y="178606"/>
                  </a:cubicBezTo>
                  <a:cubicBezTo>
                    <a:pt x="5057977" y="161840"/>
                    <a:pt x="4936276" y="151186"/>
                    <a:pt x="4814279" y="146683"/>
                  </a:cubicBezTo>
                  <a:cubicBezTo>
                    <a:pt x="4761501" y="144556"/>
                    <a:pt x="4708015" y="143421"/>
                    <a:pt x="4655095" y="143421"/>
                  </a:cubicBezTo>
                  <a:cubicBezTo>
                    <a:pt x="4462968" y="143573"/>
                    <a:pt x="4271111" y="157799"/>
                    <a:pt x="4081069" y="185983"/>
                  </a:cubicBezTo>
                  <a:cubicBezTo>
                    <a:pt x="3956361" y="205703"/>
                    <a:pt x="3835058" y="229396"/>
                    <a:pt x="3720566" y="256921"/>
                  </a:cubicBezTo>
                  <a:cubicBezTo>
                    <a:pt x="3596708" y="286714"/>
                    <a:pt x="3477677" y="320905"/>
                    <a:pt x="3365879" y="357651"/>
                  </a:cubicBezTo>
                  <a:cubicBezTo>
                    <a:pt x="3249257" y="395958"/>
                    <a:pt x="3133487" y="438945"/>
                    <a:pt x="3020555" y="486190"/>
                  </a:cubicBezTo>
                  <a:cubicBezTo>
                    <a:pt x="2907623" y="533434"/>
                    <a:pt x="2794832" y="585786"/>
                    <a:pt x="2685163" y="641542"/>
                  </a:cubicBezTo>
                  <a:cubicBezTo>
                    <a:pt x="2463995" y="754348"/>
                    <a:pt x="2250998" y="882488"/>
                    <a:pt x="2047720" y="1025030"/>
                  </a:cubicBezTo>
                  <a:cubicBezTo>
                    <a:pt x="2006151" y="1054399"/>
                    <a:pt x="1951528" y="1093415"/>
                    <a:pt x="1897333" y="1134983"/>
                  </a:cubicBezTo>
                  <a:cubicBezTo>
                    <a:pt x="1876761" y="1150164"/>
                    <a:pt x="1855905" y="1166479"/>
                    <a:pt x="1835758" y="1182227"/>
                  </a:cubicBezTo>
                  <a:lnTo>
                    <a:pt x="1823273" y="1192016"/>
                  </a:lnTo>
                  <a:cubicBezTo>
                    <a:pt x="1797027" y="1211879"/>
                    <a:pt x="1772057" y="1232309"/>
                    <a:pt x="1750918" y="1249760"/>
                  </a:cubicBezTo>
                  <a:cubicBezTo>
                    <a:pt x="1645931" y="1335737"/>
                    <a:pt x="1554422" y="1416605"/>
                    <a:pt x="1469297" y="1496906"/>
                  </a:cubicBezTo>
                  <a:cubicBezTo>
                    <a:pt x="1286595" y="1668957"/>
                    <a:pt x="1118818" y="1856190"/>
                    <a:pt x="967769" y="2056602"/>
                  </a:cubicBezTo>
                  <a:cubicBezTo>
                    <a:pt x="890731" y="2159603"/>
                    <a:pt x="818800" y="2264590"/>
                    <a:pt x="754105" y="2368727"/>
                  </a:cubicBezTo>
                  <a:cubicBezTo>
                    <a:pt x="681749" y="2488328"/>
                    <a:pt x="622304" y="2596720"/>
                    <a:pt x="572364" y="2701140"/>
                  </a:cubicBezTo>
                  <a:cubicBezTo>
                    <a:pt x="557609" y="2730507"/>
                    <a:pt x="543989" y="2760443"/>
                    <a:pt x="532497" y="2786265"/>
                  </a:cubicBezTo>
                  <a:lnTo>
                    <a:pt x="512918" y="2828827"/>
                  </a:lnTo>
                  <a:lnTo>
                    <a:pt x="494475" y="2872240"/>
                  </a:lnTo>
                  <a:lnTo>
                    <a:pt x="491637" y="2878908"/>
                  </a:lnTo>
                  <a:cubicBezTo>
                    <a:pt x="480146" y="2906575"/>
                    <a:pt x="469220" y="2932821"/>
                    <a:pt x="459290" y="2959635"/>
                  </a:cubicBezTo>
                  <a:cubicBezTo>
                    <a:pt x="455176" y="2970559"/>
                    <a:pt x="451060" y="2981484"/>
                    <a:pt x="446805" y="2992408"/>
                  </a:cubicBezTo>
                  <a:cubicBezTo>
                    <a:pt x="439427" y="3012412"/>
                    <a:pt x="432333" y="3030572"/>
                    <a:pt x="426090" y="3049158"/>
                  </a:cubicBezTo>
                  <a:lnTo>
                    <a:pt x="426090" y="3049867"/>
                  </a:lnTo>
                  <a:cubicBezTo>
                    <a:pt x="383010" y="3169099"/>
                    <a:pt x="346959" y="3290756"/>
                    <a:pt x="318124" y="3414202"/>
                  </a:cubicBezTo>
                  <a:cubicBezTo>
                    <a:pt x="260107" y="3661703"/>
                    <a:pt x="230780" y="3915049"/>
                    <a:pt x="230729" y="4169260"/>
                  </a:cubicBezTo>
                  <a:cubicBezTo>
                    <a:pt x="231621" y="4295173"/>
                    <a:pt x="244398" y="4420719"/>
                    <a:pt x="268893" y="4544236"/>
                  </a:cubicBezTo>
                  <a:cubicBezTo>
                    <a:pt x="293708" y="4666304"/>
                    <a:pt x="330882" y="4785521"/>
                    <a:pt x="379840" y="4900056"/>
                  </a:cubicBezTo>
                  <a:cubicBezTo>
                    <a:pt x="387926" y="4919919"/>
                    <a:pt x="397006" y="4939498"/>
                    <a:pt x="406512" y="4960211"/>
                  </a:cubicBezTo>
                  <a:cubicBezTo>
                    <a:pt x="410343" y="4968299"/>
                    <a:pt x="414173" y="4976385"/>
                    <a:pt x="417862" y="4984613"/>
                  </a:cubicBezTo>
                  <a:lnTo>
                    <a:pt x="428077" y="5005043"/>
                  </a:lnTo>
                  <a:cubicBezTo>
                    <a:pt x="438860" y="5026751"/>
                    <a:pt x="449075" y="5047181"/>
                    <a:pt x="460140" y="5067327"/>
                  </a:cubicBezTo>
                  <a:cubicBezTo>
                    <a:pt x="485536" y="5116273"/>
                    <a:pt x="514763" y="5165789"/>
                    <a:pt x="555197" y="5229773"/>
                  </a:cubicBezTo>
                  <a:cubicBezTo>
                    <a:pt x="586836" y="5280282"/>
                    <a:pt x="620318" y="5329511"/>
                    <a:pt x="660611" y="5387396"/>
                  </a:cubicBezTo>
                  <a:cubicBezTo>
                    <a:pt x="698065" y="5440741"/>
                    <a:pt x="737223" y="5493094"/>
                    <a:pt x="774110" y="5542182"/>
                  </a:cubicBezTo>
                  <a:cubicBezTo>
                    <a:pt x="821070" y="5604324"/>
                    <a:pt x="870301" y="5667173"/>
                    <a:pt x="917829" y="5727896"/>
                  </a:cubicBezTo>
                  <a:cubicBezTo>
                    <a:pt x="949042" y="5767762"/>
                    <a:pt x="979828" y="5807063"/>
                    <a:pt x="1012885" y="5849767"/>
                  </a:cubicBezTo>
                  <a:cubicBezTo>
                    <a:pt x="1045942" y="5892471"/>
                    <a:pt x="1089497" y="5948796"/>
                    <a:pt x="1133053" y="6006822"/>
                  </a:cubicBezTo>
                  <a:cubicBezTo>
                    <a:pt x="1153624" y="6034345"/>
                    <a:pt x="1175332" y="6063998"/>
                    <a:pt x="1194343" y="6090245"/>
                  </a:cubicBezTo>
                  <a:cubicBezTo>
                    <a:pt x="1213355" y="6116491"/>
                    <a:pt x="1231372" y="6141178"/>
                    <a:pt x="1249390" y="6165155"/>
                  </a:cubicBezTo>
                  <a:cubicBezTo>
                    <a:pt x="1280461" y="6208000"/>
                    <a:pt x="1313659" y="6250847"/>
                    <a:pt x="1345724" y="6292132"/>
                  </a:cubicBezTo>
                  <a:lnTo>
                    <a:pt x="1364310" y="6316251"/>
                  </a:lnTo>
                  <a:lnTo>
                    <a:pt x="1373673" y="6327885"/>
                  </a:lnTo>
                  <a:cubicBezTo>
                    <a:pt x="1409566" y="6372433"/>
                    <a:pt x="1446738" y="6418542"/>
                    <a:pt x="1484619" y="6462240"/>
                  </a:cubicBezTo>
                  <a:cubicBezTo>
                    <a:pt x="1567899" y="6559850"/>
                    <a:pt x="1653876" y="6652211"/>
                    <a:pt x="1739000" y="6737335"/>
                  </a:cubicBezTo>
                  <a:lnTo>
                    <a:pt x="1866801" y="6858001"/>
                  </a:lnTo>
                  <a:lnTo>
                    <a:pt x="1144149" y="6858001"/>
                  </a:lnTo>
                  <a:lnTo>
                    <a:pt x="1058349" y="6766452"/>
                  </a:lnTo>
                  <a:cubicBezTo>
                    <a:pt x="878978" y="6562465"/>
                    <a:pt x="718756" y="6341104"/>
                    <a:pt x="580309" y="6105000"/>
                  </a:cubicBezTo>
                  <a:cubicBezTo>
                    <a:pt x="200401" y="5454007"/>
                    <a:pt x="146" y="4713831"/>
                    <a:pt x="1" y="3960094"/>
                  </a:cubicBezTo>
                  <a:cubicBezTo>
                    <a:pt x="-335" y="2196754"/>
                    <a:pt x="1071479" y="683605"/>
                    <a:pt x="2599292" y="3705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5" name="TextBox 4">
            <a:extLst>
              <a:ext uri="{FF2B5EF4-FFF2-40B4-BE49-F238E27FC236}">
                <a16:creationId xmlns:a16="http://schemas.microsoft.com/office/drawing/2014/main" id="{603EC705-FED4-B532-631E-6EB9FDCD9F12}"/>
              </a:ext>
            </a:extLst>
          </p:cNvPr>
          <p:cNvSpPr txBox="1"/>
          <p:nvPr/>
        </p:nvSpPr>
        <p:spPr>
          <a:xfrm>
            <a:off x="-4253" y="6400800"/>
            <a:ext cx="12196253" cy="497111"/>
          </a:xfrm>
          <a:prstGeom prst="rect">
            <a:avLst/>
          </a:prstGeom>
          <a:solidFill>
            <a:srgbClr val="000000">
              <a:alpha val="50000"/>
            </a:srgbClr>
          </a:solidFill>
          <a:ln>
            <a:noFill/>
          </a:ln>
        </p:spPr>
        <p:txBody>
          <a:bodyPr wrap="square">
            <a:noAutofit/>
          </a:bodyPr>
          <a:lstStyle/>
          <a:p>
            <a:pPr algn="ctr">
              <a:spcAft>
                <a:spcPts val="600"/>
              </a:spcAft>
            </a:pPr>
            <a:r>
              <a:rPr lang="en-US" sz="2400" b="1" dirty="0">
                <a:solidFill>
                  <a:srgbClr val="FFFFFF"/>
                </a:solidFill>
              </a:rPr>
              <a:t>Data Bases and Data Wrangling Series.  Lecture#26</a:t>
            </a:r>
          </a:p>
        </p:txBody>
      </p:sp>
      <p:grpSp>
        <p:nvGrpSpPr>
          <p:cNvPr id="10" name="Group 9">
            <a:extLst>
              <a:ext uri="{FF2B5EF4-FFF2-40B4-BE49-F238E27FC236}">
                <a16:creationId xmlns:a16="http://schemas.microsoft.com/office/drawing/2014/main" id="{CA514136-51C1-DB95-EF15-31D96C91756B}"/>
              </a:ext>
            </a:extLst>
          </p:cNvPr>
          <p:cNvGrpSpPr/>
          <p:nvPr/>
        </p:nvGrpSpPr>
        <p:grpSpPr>
          <a:xfrm>
            <a:off x="6573977" y="5205034"/>
            <a:ext cx="2490469" cy="585398"/>
            <a:chOff x="6869852" y="4458043"/>
            <a:chExt cx="2490469" cy="585398"/>
          </a:xfrm>
        </p:grpSpPr>
        <p:pic>
          <p:nvPicPr>
            <p:cNvPr id="1026" name="Picture 2">
              <a:extLst>
                <a:ext uri="{FF2B5EF4-FFF2-40B4-BE49-F238E27FC236}">
                  <a16:creationId xmlns:a16="http://schemas.microsoft.com/office/drawing/2014/main" id="{A45DF704-9241-D370-D1C2-7757764ADBD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69852" y="4494801"/>
              <a:ext cx="548640" cy="548640"/>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87AD7D6A-0A13-9BA1-C7FE-AA069D576572}"/>
                </a:ext>
              </a:extLst>
            </p:cNvPr>
            <p:cNvSpPr txBox="1"/>
            <p:nvPr/>
          </p:nvSpPr>
          <p:spPr>
            <a:xfrm>
              <a:off x="7459288" y="4458043"/>
              <a:ext cx="1901033" cy="584775"/>
            </a:xfrm>
            <a:prstGeom prst="rect">
              <a:avLst/>
            </a:prstGeom>
            <a:noFill/>
          </p:spPr>
          <p:txBody>
            <a:bodyPr wrap="none" rtlCol="0">
              <a:spAutoFit/>
            </a:bodyPr>
            <a:lstStyle/>
            <a:p>
              <a:r>
                <a:rPr lang="en-US" sz="3200" dirty="0"/>
                <a:t>Yawei Hui</a:t>
              </a:r>
            </a:p>
          </p:txBody>
        </p:sp>
      </p:grpSp>
      <p:grpSp>
        <p:nvGrpSpPr>
          <p:cNvPr id="14" name="Group 13">
            <a:extLst>
              <a:ext uri="{FF2B5EF4-FFF2-40B4-BE49-F238E27FC236}">
                <a16:creationId xmlns:a16="http://schemas.microsoft.com/office/drawing/2014/main" id="{742227D3-F0DD-3D14-1B7F-15F4604223D0}"/>
              </a:ext>
            </a:extLst>
          </p:cNvPr>
          <p:cNvGrpSpPr/>
          <p:nvPr/>
        </p:nvGrpSpPr>
        <p:grpSpPr>
          <a:xfrm>
            <a:off x="9274424" y="5200075"/>
            <a:ext cx="2917271" cy="584775"/>
            <a:chOff x="9274424" y="5200075"/>
            <a:chExt cx="2917271" cy="584775"/>
          </a:xfrm>
        </p:grpSpPr>
        <p:pic>
          <p:nvPicPr>
            <p:cNvPr id="1028" name="Picture 4">
              <a:extLst>
                <a:ext uri="{FF2B5EF4-FFF2-40B4-BE49-F238E27FC236}">
                  <a16:creationId xmlns:a16="http://schemas.microsoft.com/office/drawing/2014/main" id="{03B96E4B-60E8-C395-D33B-7EEE67CF48F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274424" y="5205034"/>
              <a:ext cx="548640" cy="548640"/>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a:extLst>
              <a:ext uri="{909E8E84-426E-40DD-AFC4-6F175D3DCCD1}">
                <a14:hiddenFill xmlns:a14="http://schemas.microsoft.com/office/drawing/2010/main">
                  <a:solidFill>
                    <a:srgbClr val="FFFFFF"/>
                  </a:solidFill>
                </a14:hiddenFill>
              </a:ext>
            </a:extLst>
          </p:spPr>
        </p:pic>
        <p:sp>
          <p:nvSpPr>
            <p:cNvPr id="12" name="TextBox 11">
              <a:extLst>
                <a:ext uri="{FF2B5EF4-FFF2-40B4-BE49-F238E27FC236}">
                  <a16:creationId xmlns:a16="http://schemas.microsoft.com/office/drawing/2014/main" id="{9493716A-E960-4C7D-607F-DA4214854DDB}"/>
                </a:ext>
              </a:extLst>
            </p:cNvPr>
            <p:cNvSpPr txBox="1"/>
            <p:nvPr/>
          </p:nvSpPr>
          <p:spPr>
            <a:xfrm>
              <a:off x="9891065" y="5200075"/>
              <a:ext cx="2300630" cy="584775"/>
            </a:xfrm>
            <a:prstGeom prst="rect">
              <a:avLst/>
            </a:prstGeom>
            <a:noFill/>
          </p:spPr>
          <p:txBody>
            <a:bodyPr wrap="none" rtlCol="0">
              <a:spAutoFit/>
            </a:bodyPr>
            <a:lstStyle/>
            <a:p>
              <a:r>
                <a:rPr lang="en-US" sz="3200" dirty="0"/>
                <a:t>Ziang Zhang</a:t>
              </a:r>
            </a:p>
          </p:txBody>
        </p:sp>
      </p:grpSp>
      <p:sp>
        <p:nvSpPr>
          <p:cNvPr id="20" name="TextBox 19">
            <a:extLst>
              <a:ext uri="{FF2B5EF4-FFF2-40B4-BE49-F238E27FC236}">
                <a16:creationId xmlns:a16="http://schemas.microsoft.com/office/drawing/2014/main" id="{6381C003-B846-E9BF-C90E-F6CCB39663C4}"/>
              </a:ext>
            </a:extLst>
          </p:cNvPr>
          <p:cNvSpPr txBox="1"/>
          <p:nvPr/>
        </p:nvSpPr>
        <p:spPr>
          <a:xfrm>
            <a:off x="132994" y="5110709"/>
            <a:ext cx="3540841" cy="461665"/>
          </a:xfrm>
          <a:prstGeom prst="rect">
            <a:avLst/>
          </a:prstGeom>
          <a:noFill/>
        </p:spPr>
        <p:txBody>
          <a:bodyPr wrap="none" rtlCol="0">
            <a:spAutoFit/>
          </a:bodyPr>
          <a:lstStyle/>
          <a:p>
            <a:r>
              <a:rPr lang="en-US" sz="2400" i="1" dirty="0">
                <a:solidFill>
                  <a:schemeClr val="bg1"/>
                </a:solidFill>
              </a:rPr>
              <a:t>H</a:t>
            </a:r>
            <a:r>
              <a:rPr lang="en-US" sz="1400" i="1" dirty="0">
                <a:solidFill>
                  <a:schemeClr val="bg1"/>
                </a:solidFill>
              </a:rPr>
              <a:t>igh </a:t>
            </a:r>
            <a:r>
              <a:rPr lang="en-US" sz="2400" i="1" dirty="0">
                <a:solidFill>
                  <a:schemeClr val="bg1"/>
                </a:solidFill>
              </a:rPr>
              <a:t>P</a:t>
            </a:r>
            <a:r>
              <a:rPr lang="en-US" sz="1400" i="1" dirty="0">
                <a:solidFill>
                  <a:schemeClr val="bg1"/>
                </a:solidFill>
              </a:rPr>
              <a:t>erformance </a:t>
            </a:r>
            <a:r>
              <a:rPr lang="en-US" sz="2400" i="1" dirty="0">
                <a:solidFill>
                  <a:schemeClr val="bg1"/>
                </a:solidFill>
              </a:rPr>
              <a:t>C</a:t>
            </a:r>
            <a:r>
              <a:rPr lang="en-US" sz="1400" i="1" dirty="0">
                <a:solidFill>
                  <a:schemeClr val="bg1"/>
                </a:solidFill>
              </a:rPr>
              <a:t>omputing </a:t>
            </a:r>
            <a:r>
              <a:rPr lang="en-US" sz="2400" i="1" dirty="0">
                <a:solidFill>
                  <a:schemeClr val="bg1"/>
                </a:solidFill>
              </a:rPr>
              <a:t>S</a:t>
            </a:r>
            <a:r>
              <a:rPr lang="en-US" sz="1400" i="1" dirty="0">
                <a:solidFill>
                  <a:schemeClr val="bg1"/>
                </a:solidFill>
              </a:rPr>
              <a:t>upport</a:t>
            </a:r>
          </a:p>
        </p:txBody>
      </p:sp>
      <p:pic>
        <p:nvPicPr>
          <p:cNvPr id="8" name="Graphic 7">
            <a:extLst>
              <a:ext uri="{FF2B5EF4-FFF2-40B4-BE49-F238E27FC236}">
                <a16:creationId xmlns:a16="http://schemas.microsoft.com/office/drawing/2014/main" id="{386C0F30-25DA-EA4D-71A5-EE973ADB9E0D}"/>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337260" y="3959883"/>
            <a:ext cx="1012152" cy="1012152"/>
          </a:xfrm>
          <a:prstGeom prst="rect">
            <a:avLst/>
          </a:prstGeom>
        </p:spPr>
      </p:pic>
      <p:sp>
        <p:nvSpPr>
          <p:cNvPr id="21" name="TextBox 20">
            <a:extLst>
              <a:ext uri="{FF2B5EF4-FFF2-40B4-BE49-F238E27FC236}">
                <a16:creationId xmlns:a16="http://schemas.microsoft.com/office/drawing/2014/main" id="{86A84C94-EE15-E071-8D54-E70F1EF18F77}"/>
              </a:ext>
            </a:extLst>
          </p:cNvPr>
          <p:cNvSpPr txBox="1"/>
          <p:nvPr/>
        </p:nvSpPr>
        <p:spPr>
          <a:xfrm>
            <a:off x="230580" y="4737905"/>
            <a:ext cx="1415340" cy="430887"/>
          </a:xfrm>
          <a:prstGeom prst="rect">
            <a:avLst/>
          </a:prstGeom>
          <a:noFill/>
        </p:spPr>
        <p:txBody>
          <a:bodyPr wrap="square" rtlCol="0">
            <a:spAutoFit/>
          </a:bodyPr>
          <a:lstStyle/>
          <a:p>
            <a:r>
              <a:rPr lang="en-US" sz="1100" dirty="0">
                <a:solidFill>
                  <a:schemeClr val="bg1"/>
                </a:solidFill>
                <a:latin typeface="Times New Roman" panose="02020603050405020304" pitchFamily="18" charset="0"/>
                <a:cs typeface="Times New Roman" panose="02020603050405020304" pitchFamily="18" charset="0"/>
              </a:rPr>
              <a:t>St. Jude Children’s Research Hospital</a:t>
            </a:r>
          </a:p>
        </p:txBody>
      </p:sp>
      <p:sp>
        <p:nvSpPr>
          <p:cNvPr id="22" name="TextBox 21">
            <a:extLst>
              <a:ext uri="{FF2B5EF4-FFF2-40B4-BE49-F238E27FC236}">
                <a16:creationId xmlns:a16="http://schemas.microsoft.com/office/drawing/2014/main" id="{0146AEE2-38F9-1A41-DBA9-871A2EAC2D07}"/>
              </a:ext>
            </a:extLst>
          </p:cNvPr>
          <p:cNvSpPr txBox="1"/>
          <p:nvPr/>
        </p:nvSpPr>
        <p:spPr>
          <a:xfrm>
            <a:off x="1605369" y="4230266"/>
            <a:ext cx="2546371" cy="837665"/>
          </a:xfrm>
          <a:prstGeom prst="rect">
            <a:avLst/>
          </a:prstGeom>
          <a:noFill/>
        </p:spPr>
        <p:txBody>
          <a:bodyPr wrap="square" rtlCol="0">
            <a:spAutoFit/>
          </a:bodyPr>
          <a:lstStyle/>
          <a:p>
            <a:pPr>
              <a:spcAft>
                <a:spcPts val="600"/>
              </a:spcAft>
            </a:pPr>
            <a:r>
              <a:rPr lang="en-US" sz="2600" b="1" dirty="0">
                <a:solidFill>
                  <a:schemeClr val="bg1"/>
                </a:solidFill>
                <a:latin typeface="Arial" panose="020B0604020202020204" pitchFamily="34" charset="0"/>
                <a:ea typeface="Verdana" panose="020B0604030504040204" pitchFamily="34" charset="0"/>
                <a:cs typeface="Arial" panose="020B0604020202020204" pitchFamily="34" charset="0"/>
              </a:rPr>
              <a:t>Information </a:t>
            </a:r>
          </a:p>
          <a:p>
            <a:pPr>
              <a:lnSpc>
                <a:spcPts val="2020"/>
              </a:lnSpc>
              <a:spcAft>
                <a:spcPts val="600"/>
              </a:spcAft>
            </a:pPr>
            <a:r>
              <a:rPr lang="en-US" sz="2600" b="1" dirty="0">
                <a:solidFill>
                  <a:schemeClr val="bg1"/>
                </a:solidFill>
                <a:latin typeface="Arial" panose="020B0604020202020204" pitchFamily="34" charset="0"/>
                <a:ea typeface="Verdana" panose="020B0604030504040204" pitchFamily="34" charset="0"/>
                <a:cs typeface="Arial" panose="020B0604020202020204" pitchFamily="34" charset="0"/>
              </a:rPr>
              <a:t>Services</a:t>
            </a:r>
          </a:p>
        </p:txBody>
      </p:sp>
      <p:cxnSp>
        <p:nvCxnSpPr>
          <p:cNvPr id="25" name="Straight Connector 24">
            <a:extLst>
              <a:ext uri="{FF2B5EF4-FFF2-40B4-BE49-F238E27FC236}">
                <a16:creationId xmlns:a16="http://schemas.microsoft.com/office/drawing/2014/main" id="{F1D151AA-1106-8BFC-1C6D-BD7B569F8E53}"/>
              </a:ext>
            </a:extLst>
          </p:cNvPr>
          <p:cNvCxnSpPr/>
          <p:nvPr/>
        </p:nvCxnSpPr>
        <p:spPr>
          <a:xfrm flipV="1">
            <a:off x="1565329" y="4254285"/>
            <a:ext cx="0" cy="790413"/>
          </a:xfrm>
          <a:prstGeom prst="line">
            <a:avLst/>
          </a:prstGeom>
          <a:ln>
            <a:solidFill>
              <a:schemeClr val="bg1"/>
            </a:solidFill>
          </a:ln>
        </p:spPr>
        <p:style>
          <a:lnRef idx="2">
            <a:schemeClr val="accent4"/>
          </a:lnRef>
          <a:fillRef idx="0">
            <a:schemeClr val="accent4"/>
          </a:fillRef>
          <a:effectRef idx="1">
            <a:schemeClr val="accent4"/>
          </a:effectRef>
          <a:fontRef idx="minor">
            <a:schemeClr val="tx1"/>
          </a:fontRef>
        </p:style>
      </p:cxnSp>
    </p:spTree>
    <p:extLst>
      <p:ext uri="{BB962C8B-B14F-4D97-AF65-F5344CB8AC3E}">
        <p14:creationId xmlns:p14="http://schemas.microsoft.com/office/powerpoint/2010/main" val="253084726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32777C1-2C22-5788-A2AC-238F5FCA8338}"/>
            </a:ext>
          </a:extLst>
        </p:cNvPr>
        <p:cNvGrpSpPr/>
        <p:nvPr/>
      </p:nvGrpSpPr>
      <p:grpSpPr>
        <a:xfrm>
          <a:off x="0" y="0"/>
          <a:ext cx="0" cy="0"/>
          <a:chOff x="0" y="0"/>
          <a:chExt cx="0" cy="0"/>
        </a:xfrm>
      </p:grpSpPr>
      <p:sp useBgFill="1">
        <p:nvSpPr>
          <p:cNvPr id="24" name="Rectangle 23">
            <a:extLst>
              <a:ext uri="{FF2B5EF4-FFF2-40B4-BE49-F238E27FC236}">
                <a16:creationId xmlns:a16="http://schemas.microsoft.com/office/drawing/2014/main" id="{245A9F99-D9B1-4094-A2E2-B90AC1DB7B9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B7FAF607-473A-4A43-A23D-BBFF5C4117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909A58A-BDE9-3576-8D56-65261A24286D}"/>
              </a:ext>
            </a:extLst>
          </p:cNvPr>
          <p:cNvSpPr>
            <a:spLocks noGrp="1"/>
          </p:cNvSpPr>
          <p:nvPr>
            <p:ph type="title"/>
          </p:nvPr>
        </p:nvSpPr>
        <p:spPr>
          <a:xfrm>
            <a:off x="6094105" y="802955"/>
            <a:ext cx="4977976" cy="1454051"/>
          </a:xfrm>
        </p:spPr>
        <p:txBody>
          <a:bodyPr>
            <a:normAutofit/>
          </a:bodyPr>
          <a:lstStyle/>
          <a:p>
            <a:r>
              <a:rPr lang="en-US" sz="3600" dirty="0">
                <a:solidFill>
                  <a:schemeClr val="tx2"/>
                </a:solidFill>
              </a:rPr>
              <a:t>Learning Objectives </a:t>
            </a:r>
          </a:p>
        </p:txBody>
      </p:sp>
      <p:pic>
        <p:nvPicPr>
          <p:cNvPr id="21" name="Graphic 20" descr="Database">
            <a:extLst>
              <a:ext uri="{FF2B5EF4-FFF2-40B4-BE49-F238E27FC236}">
                <a16:creationId xmlns:a16="http://schemas.microsoft.com/office/drawing/2014/main" id="{CBF2D29C-C293-65C1-A399-C3423462AAEE}"/>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86951" y="1793846"/>
            <a:ext cx="3620021" cy="3620021"/>
          </a:xfrm>
          <a:prstGeom prst="rect">
            <a:avLst/>
          </a:prstGeom>
        </p:spPr>
      </p:pic>
      <p:sp>
        <p:nvSpPr>
          <p:cNvPr id="3" name="Content Placeholder 2">
            <a:extLst>
              <a:ext uri="{FF2B5EF4-FFF2-40B4-BE49-F238E27FC236}">
                <a16:creationId xmlns:a16="http://schemas.microsoft.com/office/drawing/2014/main" id="{9D541AE3-87E5-D467-9399-6EFE23CD1F5E}"/>
              </a:ext>
            </a:extLst>
          </p:cNvPr>
          <p:cNvSpPr>
            <a:spLocks noGrp="1"/>
          </p:cNvSpPr>
          <p:nvPr>
            <p:ph idx="1"/>
          </p:nvPr>
        </p:nvSpPr>
        <p:spPr>
          <a:xfrm>
            <a:off x="6094102" y="1254852"/>
            <a:ext cx="5928606" cy="4536348"/>
          </a:xfrm>
        </p:spPr>
        <p:txBody>
          <a:bodyPr anchor="ctr">
            <a:normAutofit/>
          </a:bodyPr>
          <a:lstStyle/>
          <a:p>
            <a:pPr marL="0" indent="0">
              <a:buNone/>
            </a:pPr>
            <a:r>
              <a:rPr lang="en-US" sz="2000" dirty="0">
                <a:solidFill>
                  <a:schemeClr val="tx2"/>
                </a:solidFill>
              </a:rPr>
              <a:t>At the end of the session, you will be able to:</a:t>
            </a:r>
          </a:p>
          <a:p>
            <a:pPr>
              <a:buFont typeface="Wingdings" pitchFamily="2" charset="2"/>
              <a:buChar char="q"/>
            </a:pPr>
            <a:r>
              <a:rPr lang="en-US" sz="2000" b="1" dirty="0">
                <a:solidFill>
                  <a:schemeClr val="tx2"/>
                </a:solidFill>
              </a:rPr>
              <a:t>Understand </a:t>
            </a:r>
            <a:r>
              <a:rPr lang="en-US" sz="2000" dirty="0">
                <a:solidFill>
                  <a:schemeClr val="tx2"/>
                </a:solidFill>
              </a:rPr>
              <a:t>the fundamental data model</a:t>
            </a:r>
            <a:br>
              <a:rPr lang="en-US" sz="2000" dirty="0">
                <a:solidFill>
                  <a:schemeClr val="tx2"/>
                </a:solidFill>
              </a:rPr>
            </a:br>
            <a:r>
              <a:rPr lang="en-US" sz="2000" dirty="0">
                <a:solidFill>
                  <a:schemeClr val="tx2"/>
                </a:solidFill>
              </a:rPr>
              <a:t>    • Nodes</a:t>
            </a:r>
            <a:br>
              <a:rPr lang="en-US" sz="2000" dirty="0">
                <a:solidFill>
                  <a:schemeClr val="tx2"/>
                </a:solidFill>
              </a:rPr>
            </a:br>
            <a:r>
              <a:rPr lang="en-US" sz="2000" dirty="0">
                <a:solidFill>
                  <a:schemeClr val="tx2"/>
                </a:solidFill>
              </a:rPr>
              <a:t>    • Relationships</a:t>
            </a:r>
            <a:br>
              <a:rPr lang="en-US" sz="2000" dirty="0">
                <a:solidFill>
                  <a:schemeClr val="tx2"/>
                </a:solidFill>
              </a:rPr>
            </a:br>
            <a:r>
              <a:rPr lang="en-US" sz="2000" dirty="0">
                <a:solidFill>
                  <a:schemeClr val="tx2"/>
                </a:solidFill>
              </a:rPr>
              <a:t>    • Properties</a:t>
            </a:r>
          </a:p>
          <a:p>
            <a:pPr>
              <a:buFont typeface="Wingdings" pitchFamily="2" charset="2"/>
              <a:buChar char="q"/>
            </a:pPr>
            <a:r>
              <a:rPr lang="en-US" sz="2000" b="1" dirty="0">
                <a:solidFill>
                  <a:schemeClr val="tx2"/>
                </a:solidFill>
              </a:rPr>
              <a:t>Understand </a:t>
            </a:r>
            <a:r>
              <a:rPr lang="en-US" sz="2000" dirty="0">
                <a:solidFill>
                  <a:schemeClr val="tx2"/>
                </a:solidFill>
              </a:rPr>
              <a:t>graph traversal techniques</a:t>
            </a:r>
          </a:p>
          <a:p>
            <a:pPr>
              <a:buFont typeface="Wingdings" pitchFamily="2" charset="2"/>
              <a:buChar char="q"/>
            </a:pPr>
            <a:r>
              <a:rPr lang="en-US" sz="2000" b="1" dirty="0">
                <a:solidFill>
                  <a:schemeClr val="tx2"/>
                </a:solidFill>
              </a:rPr>
              <a:t>Understand</a:t>
            </a:r>
            <a:r>
              <a:rPr lang="en-US" sz="2000" dirty="0">
                <a:solidFill>
                  <a:schemeClr val="tx2"/>
                </a:solidFill>
              </a:rPr>
              <a:t> genomic data as a graph</a:t>
            </a:r>
          </a:p>
        </p:txBody>
      </p:sp>
      <p:grpSp>
        <p:nvGrpSpPr>
          <p:cNvPr id="28" name="Group 27">
            <a:extLst>
              <a:ext uri="{FF2B5EF4-FFF2-40B4-BE49-F238E27FC236}">
                <a16:creationId xmlns:a16="http://schemas.microsoft.com/office/drawing/2014/main" id="{C5F6476F-D303-44D3-B30F-1BA348F0F64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2635" y="52996"/>
            <a:ext cx="5928607" cy="6805005"/>
            <a:chOff x="6095999" y="52996"/>
            <a:chExt cx="6093363" cy="6805005"/>
          </a:xfrm>
          <a:solidFill>
            <a:schemeClr val="accent5">
              <a:alpha val="10000"/>
            </a:schemeClr>
          </a:solidFill>
        </p:grpSpPr>
        <p:sp>
          <p:nvSpPr>
            <p:cNvPr id="29" name="Freeform: Shape 28">
              <a:extLst>
                <a:ext uri="{FF2B5EF4-FFF2-40B4-BE49-F238E27FC236}">
                  <a16:creationId xmlns:a16="http://schemas.microsoft.com/office/drawing/2014/main" id="{C972EB4B-0539-4430-9340-8117B9D7C32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96001" y="52996"/>
              <a:ext cx="6093361" cy="6805003"/>
            </a:xfrm>
            <a:custGeom>
              <a:avLst/>
              <a:gdLst>
                <a:gd name="connsiteX0" fmla="*/ 3391253 w 5890489"/>
                <a:gd name="connsiteY0" fmla="*/ 0 h 6578438"/>
                <a:gd name="connsiteX1" fmla="*/ 3434974 w 5890489"/>
                <a:gd name="connsiteY1" fmla="*/ 646 h 6578438"/>
                <a:gd name="connsiteX2" fmla="*/ 3522419 w 5890489"/>
                <a:gd name="connsiteY2" fmla="*/ 2712 h 6578438"/>
                <a:gd name="connsiteX3" fmla="*/ 3610261 w 5890489"/>
                <a:gd name="connsiteY3" fmla="*/ 6458 h 6578438"/>
                <a:gd name="connsiteX4" fmla="*/ 3786872 w 5890489"/>
                <a:gd name="connsiteY4" fmla="*/ 20667 h 6578438"/>
                <a:gd name="connsiteX5" fmla="*/ 3962291 w 5890489"/>
                <a:gd name="connsiteY5" fmla="*/ 43530 h 6578438"/>
                <a:gd name="connsiteX6" fmla="*/ 4135855 w 5890489"/>
                <a:gd name="connsiteY6" fmla="*/ 75176 h 6578438"/>
                <a:gd name="connsiteX7" fmla="*/ 4307299 w 5890489"/>
                <a:gd name="connsiteY7" fmla="*/ 114315 h 6578438"/>
                <a:gd name="connsiteX8" fmla="*/ 4476358 w 5890489"/>
                <a:gd name="connsiteY8" fmla="*/ 160816 h 6578438"/>
                <a:gd name="connsiteX9" fmla="*/ 4559829 w 5890489"/>
                <a:gd name="connsiteY9" fmla="*/ 186779 h 6578438"/>
                <a:gd name="connsiteX10" fmla="*/ 4642901 w 5890489"/>
                <a:gd name="connsiteY10" fmla="*/ 213648 h 6578438"/>
                <a:gd name="connsiteX11" fmla="*/ 5280847 w 5890489"/>
                <a:gd name="connsiteY11" fmla="*/ 485936 h 6578438"/>
                <a:gd name="connsiteX12" fmla="*/ 5865400 w 5890489"/>
                <a:gd name="connsiteY12" fmla="*/ 851099 h 6578438"/>
                <a:gd name="connsiteX13" fmla="*/ 5890489 w 5890489"/>
                <a:gd name="connsiteY13" fmla="*/ 870950 h 6578438"/>
                <a:gd name="connsiteX14" fmla="*/ 5890489 w 5890489"/>
                <a:gd name="connsiteY14" fmla="*/ 1321814 h 6578438"/>
                <a:gd name="connsiteX15" fmla="*/ 5887395 w 5890489"/>
                <a:gd name="connsiteY15" fmla="*/ 1318952 h 6578438"/>
                <a:gd name="connsiteX16" fmla="*/ 5830291 w 5890489"/>
                <a:gd name="connsiteY16" fmla="*/ 1265992 h 6578438"/>
                <a:gd name="connsiteX17" fmla="*/ 5815981 w 5890489"/>
                <a:gd name="connsiteY17" fmla="*/ 1252687 h 6578438"/>
                <a:gd name="connsiteX18" fmla="*/ 5801142 w 5890489"/>
                <a:gd name="connsiteY18" fmla="*/ 1240158 h 6578438"/>
                <a:gd name="connsiteX19" fmla="*/ 5771464 w 5890489"/>
                <a:gd name="connsiteY19" fmla="*/ 1214969 h 6578438"/>
                <a:gd name="connsiteX20" fmla="*/ 5651030 w 5890489"/>
                <a:gd name="connsiteY20" fmla="*/ 1115767 h 6578438"/>
                <a:gd name="connsiteX21" fmla="*/ 5123183 w 5890489"/>
                <a:gd name="connsiteY21" fmla="*/ 780443 h 6578438"/>
                <a:gd name="connsiteX22" fmla="*/ 4533860 w 5890489"/>
                <a:gd name="connsiteY22" fmla="*/ 567701 h 6578438"/>
                <a:gd name="connsiteX23" fmla="*/ 4457281 w 5890489"/>
                <a:gd name="connsiteY23" fmla="*/ 550780 h 6578438"/>
                <a:gd name="connsiteX24" fmla="*/ 4380568 w 5890489"/>
                <a:gd name="connsiteY24" fmla="*/ 535279 h 6578438"/>
                <a:gd name="connsiteX25" fmla="*/ 4303325 w 5890489"/>
                <a:gd name="connsiteY25" fmla="*/ 522879 h 6578438"/>
                <a:gd name="connsiteX26" fmla="*/ 4264769 w 5890489"/>
                <a:gd name="connsiteY26" fmla="*/ 516679 h 6578438"/>
                <a:gd name="connsiteX27" fmla="*/ 4226082 w 5890489"/>
                <a:gd name="connsiteY27" fmla="*/ 511253 h 6578438"/>
                <a:gd name="connsiteX28" fmla="*/ 4070934 w 5890489"/>
                <a:gd name="connsiteY28" fmla="*/ 494848 h 6578438"/>
                <a:gd name="connsiteX29" fmla="*/ 3915521 w 5890489"/>
                <a:gd name="connsiteY29" fmla="*/ 486065 h 6578438"/>
                <a:gd name="connsiteX30" fmla="*/ 3760241 w 5890489"/>
                <a:gd name="connsiteY30" fmla="*/ 484257 h 6578438"/>
                <a:gd name="connsiteX31" fmla="*/ 3682734 w 5890489"/>
                <a:gd name="connsiteY31" fmla="*/ 486581 h 6578438"/>
                <a:gd name="connsiteX32" fmla="*/ 3605491 w 5890489"/>
                <a:gd name="connsiteY32" fmla="*/ 488907 h 6578438"/>
                <a:gd name="connsiteX33" fmla="*/ 3527454 w 5890489"/>
                <a:gd name="connsiteY33" fmla="*/ 493169 h 6578438"/>
                <a:gd name="connsiteX34" fmla="*/ 3449151 w 5890489"/>
                <a:gd name="connsiteY34" fmla="*/ 498336 h 6578438"/>
                <a:gd name="connsiteX35" fmla="*/ 3410067 w 5890489"/>
                <a:gd name="connsiteY35" fmla="*/ 500532 h 6578438"/>
                <a:gd name="connsiteX36" fmla="*/ 3371246 w 5890489"/>
                <a:gd name="connsiteY36" fmla="*/ 504279 h 6578438"/>
                <a:gd name="connsiteX37" fmla="*/ 3293739 w 5890489"/>
                <a:gd name="connsiteY37" fmla="*/ 511512 h 6578438"/>
                <a:gd name="connsiteX38" fmla="*/ 2689445 w 5890489"/>
                <a:gd name="connsiteY38" fmla="*/ 610198 h 6578438"/>
                <a:gd name="connsiteX39" fmla="*/ 2117875 w 5890489"/>
                <a:gd name="connsiteY39" fmla="*/ 800335 h 6578438"/>
                <a:gd name="connsiteX40" fmla="*/ 1981276 w 5890489"/>
                <a:gd name="connsiteY40" fmla="*/ 865566 h 6578438"/>
                <a:gd name="connsiteX41" fmla="*/ 1847991 w 5890489"/>
                <a:gd name="connsiteY41" fmla="*/ 938676 h 6578438"/>
                <a:gd name="connsiteX42" fmla="*/ 1783069 w 5890489"/>
                <a:gd name="connsiteY42" fmla="*/ 978718 h 6578438"/>
                <a:gd name="connsiteX43" fmla="*/ 1750609 w 5890489"/>
                <a:gd name="connsiteY43" fmla="*/ 998869 h 6578438"/>
                <a:gd name="connsiteX44" fmla="*/ 1734312 w 5890489"/>
                <a:gd name="connsiteY44" fmla="*/ 1008945 h 6578438"/>
                <a:gd name="connsiteX45" fmla="*/ 1718547 w 5890489"/>
                <a:gd name="connsiteY45" fmla="*/ 1019924 h 6578438"/>
                <a:gd name="connsiteX46" fmla="*/ 1655481 w 5890489"/>
                <a:gd name="connsiteY46" fmla="*/ 1063582 h 6578438"/>
                <a:gd name="connsiteX47" fmla="*/ 1593077 w 5890489"/>
                <a:gd name="connsiteY47" fmla="*/ 1108664 h 6578438"/>
                <a:gd name="connsiteX48" fmla="*/ 1532263 w 5890489"/>
                <a:gd name="connsiteY48" fmla="*/ 1156197 h 6578438"/>
                <a:gd name="connsiteX49" fmla="*/ 1472509 w 5890489"/>
                <a:gd name="connsiteY49" fmla="*/ 1205152 h 6578438"/>
                <a:gd name="connsiteX50" fmla="*/ 1414212 w 5890489"/>
                <a:gd name="connsiteY50" fmla="*/ 1256175 h 6578438"/>
                <a:gd name="connsiteX51" fmla="*/ 1357242 w 5890489"/>
                <a:gd name="connsiteY51" fmla="*/ 1308359 h 6578438"/>
                <a:gd name="connsiteX52" fmla="*/ 1153072 w 5890489"/>
                <a:gd name="connsiteY52" fmla="*/ 1529498 h 6578438"/>
                <a:gd name="connsiteX53" fmla="*/ 1002694 w 5890489"/>
                <a:gd name="connsiteY53" fmla="*/ 1770658 h 6578438"/>
                <a:gd name="connsiteX54" fmla="*/ 974076 w 5890489"/>
                <a:gd name="connsiteY54" fmla="*/ 1835371 h 6578438"/>
                <a:gd name="connsiteX55" fmla="*/ 949564 w 5890489"/>
                <a:gd name="connsiteY55" fmla="*/ 1903573 h 6578438"/>
                <a:gd name="connsiteX56" fmla="*/ 927173 w 5890489"/>
                <a:gd name="connsiteY56" fmla="*/ 1974229 h 6578438"/>
                <a:gd name="connsiteX57" fmla="*/ 906107 w 5890489"/>
                <a:gd name="connsiteY57" fmla="*/ 2046952 h 6578438"/>
                <a:gd name="connsiteX58" fmla="*/ 751092 w 5890489"/>
                <a:gd name="connsiteY58" fmla="*/ 2676266 h 6578438"/>
                <a:gd name="connsiteX59" fmla="*/ 547189 w 5890489"/>
                <a:gd name="connsiteY59" fmla="*/ 3308422 h 6578438"/>
                <a:gd name="connsiteX60" fmla="*/ 441195 w 5890489"/>
                <a:gd name="connsiteY60" fmla="*/ 3866306 h 6578438"/>
                <a:gd name="connsiteX61" fmla="*/ 527182 w 5890489"/>
                <a:gd name="connsiteY61" fmla="*/ 4439174 h 6578438"/>
                <a:gd name="connsiteX62" fmla="*/ 775073 w 5890489"/>
                <a:gd name="connsiteY62" fmla="*/ 4987240 h 6578438"/>
                <a:gd name="connsiteX63" fmla="*/ 943206 w 5890489"/>
                <a:gd name="connsiteY63" fmla="*/ 5244933 h 6578438"/>
                <a:gd name="connsiteX64" fmla="*/ 1133728 w 5890489"/>
                <a:gd name="connsiteY64" fmla="*/ 5490356 h 6578438"/>
                <a:gd name="connsiteX65" fmla="*/ 1359626 w 5890489"/>
                <a:gd name="connsiteY65" fmla="*/ 5709815 h 6578438"/>
                <a:gd name="connsiteX66" fmla="*/ 1481254 w 5890489"/>
                <a:gd name="connsiteY66" fmla="*/ 5809146 h 6578438"/>
                <a:gd name="connsiteX67" fmla="*/ 1543260 w 5890489"/>
                <a:gd name="connsiteY67" fmla="*/ 5856940 h 6578438"/>
                <a:gd name="connsiteX68" fmla="*/ 1607518 w 5890489"/>
                <a:gd name="connsiteY68" fmla="*/ 5901374 h 6578438"/>
                <a:gd name="connsiteX69" fmla="*/ 2145566 w 5890489"/>
                <a:gd name="connsiteY69" fmla="*/ 6193814 h 6578438"/>
                <a:gd name="connsiteX70" fmla="*/ 2214991 w 5890489"/>
                <a:gd name="connsiteY70" fmla="*/ 6221844 h 6578438"/>
                <a:gd name="connsiteX71" fmla="*/ 2249307 w 5890489"/>
                <a:gd name="connsiteY71" fmla="*/ 6236182 h 6578438"/>
                <a:gd name="connsiteX72" fmla="*/ 2284285 w 5890489"/>
                <a:gd name="connsiteY72" fmla="*/ 6248711 h 6578438"/>
                <a:gd name="connsiteX73" fmla="*/ 2354241 w 5890489"/>
                <a:gd name="connsiteY73" fmla="*/ 6273124 h 6578438"/>
                <a:gd name="connsiteX74" fmla="*/ 2371597 w 5890489"/>
                <a:gd name="connsiteY74" fmla="*/ 6279324 h 6578438"/>
                <a:gd name="connsiteX75" fmla="*/ 2387894 w 5890489"/>
                <a:gd name="connsiteY75" fmla="*/ 6287719 h 6578438"/>
                <a:gd name="connsiteX76" fmla="*/ 2421414 w 5890489"/>
                <a:gd name="connsiteY76" fmla="*/ 6302186 h 6578438"/>
                <a:gd name="connsiteX77" fmla="*/ 2489117 w 5890489"/>
                <a:gd name="connsiteY77" fmla="*/ 6329441 h 6578438"/>
                <a:gd name="connsiteX78" fmla="*/ 2522902 w 5890489"/>
                <a:gd name="connsiteY78" fmla="*/ 6343134 h 6578438"/>
                <a:gd name="connsiteX79" fmla="*/ 2556953 w 5890489"/>
                <a:gd name="connsiteY79" fmla="*/ 6356051 h 6578438"/>
                <a:gd name="connsiteX80" fmla="*/ 2695009 w 5890489"/>
                <a:gd name="connsiteY80" fmla="*/ 6401905 h 6578438"/>
                <a:gd name="connsiteX81" fmla="*/ 3268035 w 5890489"/>
                <a:gd name="connsiteY81" fmla="*/ 6501238 h 6578438"/>
                <a:gd name="connsiteX82" fmla="*/ 3341038 w 5890489"/>
                <a:gd name="connsiteY82" fmla="*/ 6506145 h 6578438"/>
                <a:gd name="connsiteX83" fmla="*/ 3414703 w 5890489"/>
                <a:gd name="connsiteY83" fmla="*/ 6507050 h 6578438"/>
                <a:gd name="connsiteX84" fmla="*/ 3488237 w 5890489"/>
                <a:gd name="connsiteY84" fmla="*/ 6508212 h 6578438"/>
                <a:gd name="connsiteX85" fmla="*/ 3524142 w 5890489"/>
                <a:gd name="connsiteY85" fmla="*/ 6507955 h 6578438"/>
                <a:gd name="connsiteX86" fmla="*/ 3559252 w 5890489"/>
                <a:gd name="connsiteY86" fmla="*/ 6506921 h 6578438"/>
                <a:gd name="connsiteX87" fmla="*/ 3629207 w 5890489"/>
                <a:gd name="connsiteY87" fmla="*/ 6503045 h 6578438"/>
                <a:gd name="connsiteX88" fmla="*/ 3698633 w 5890489"/>
                <a:gd name="connsiteY88" fmla="*/ 6496845 h 6578438"/>
                <a:gd name="connsiteX89" fmla="*/ 3733213 w 5890489"/>
                <a:gd name="connsiteY89" fmla="*/ 6493357 h 6578438"/>
                <a:gd name="connsiteX90" fmla="*/ 3767529 w 5890489"/>
                <a:gd name="connsiteY90" fmla="*/ 6488707 h 6578438"/>
                <a:gd name="connsiteX91" fmla="*/ 3801845 w 5890489"/>
                <a:gd name="connsiteY91" fmla="*/ 6484057 h 6578438"/>
                <a:gd name="connsiteX92" fmla="*/ 3835895 w 5890489"/>
                <a:gd name="connsiteY92" fmla="*/ 6478116 h 6578438"/>
                <a:gd name="connsiteX93" fmla="*/ 4364801 w 5890489"/>
                <a:gd name="connsiteY93" fmla="*/ 6308517 h 6578438"/>
                <a:gd name="connsiteX94" fmla="*/ 4861379 w 5890489"/>
                <a:gd name="connsiteY94" fmla="*/ 6000576 h 6578438"/>
                <a:gd name="connsiteX95" fmla="*/ 5341263 w 5890489"/>
                <a:gd name="connsiteY95" fmla="*/ 5605834 h 6578438"/>
                <a:gd name="connsiteX96" fmla="*/ 5587301 w 5890489"/>
                <a:gd name="connsiteY96" fmla="*/ 5390379 h 6578438"/>
                <a:gd name="connsiteX97" fmla="*/ 5849105 w 5890489"/>
                <a:gd name="connsiteY97" fmla="*/ 5176344 h 6578438"/>
                <a:gd name="connsiteX98" fmla="*/ 5890489 w 5890489"/>
                <a:gd name="connsiteY98" fmla="*/ 5145260 h 6578438"/>
                <a:gd name="connsiteX99" fmla="*/ 5890489 w 5890489"/>
                <a:gd name="connsiteY99" fmla="*/ 5995323 h 6578438"/>
                <a:gd name="connsiteX100" fmla="*/ 5811477 w 5890489"/>
                <a:gd name="connsiteY100" fmla="*/ 6077819 h 6578438"/>
                <a:gd name="connsiteX101" fmla="*/ 5301384 w 5890489"/>
                <a:gd name="connsiteY101" fmla="*/ 6542958 h 6578438"/>
                <a:gd name="connsiteX102" fmla="*/ 5252008 w 5890489"/>
                <a:gd name="connsiteY102" fmla="*/ 6578438 h 6578438"/>
                <a:gd name="connsiteX103" fmla="*/ 1653730 w 5890489"/>
                <a:gd name="connsiteY103" fmla="*/ 6578438 h 6578438"/>
                <a:gd name="connsiteX104" fmla="*/ 1549768 w 5890489"/>
                <a:gd name="connsiteY104" fmla="*/ 6488821 h 6578438"/>
                <a:gd name="connsiteX105" fmla="*/ 1298282 w 5890489"/>
                <a:gd name="connsiteY105" fmla="*/ 6243932 h 6578438"/>
                <a:gd name="connsiteX106" fmla="*/ 1237999 w 5890489"/>
                <a:gd name="connsiteY106" fmla="*/ 6181671 h 6578438"/>
                <a:gd name="connsiteX107" fmla="*/ 1179967 w 5890489"/>
                <a:gd name="connsiteY107" fmla="*/ 6117862 h 6578438"/>
                <a:gd name="connsiteX108" fmla="*/ 1121936 w 5890489"/>
                <a:gd name="connsiteY108" fmla="*/ 6054569 h 6578438"/>
                <a:gd name="connsiteX109" fmla="*/ 1065628 w 5890489"/>
                <a:gd name="connsiteY109" fmla="*/ 5990243 h 6578438"/>
                <a:gd name="connsiteX110" fmla="*/ 954335 w 5890489"/>
                <a:gd name="connsiteY110" fmla="*/ 5861460 h 6578438"/>
                <a:gd name="connsiteX111" fmla="*/ 898953 w 5890489"/>
                <a:gd name="connsiteY111" fmla="*/ 5797393 h 6578438"/>
                <a:gd name="connsiteX112" fmla="*/ 842908 w 5890489"/>
                <a:gd name="connsiteY112" fmla="*/ 5733582 h 6578438"/>
                <a:gd name="connsiteX113" fmla="*/ 622442 w 5890489"/>
                <a:gd name="connsiteY113" fmla="*/ 5471884 h 6578438"/>
                <a:gd name="connsiteX114" fmla="*/ 425559 w 5890489"/>
                <a:gd name="connsiteY114" fmla="*/ 5190036 h 6578438"/>
                <a:gd name="connsiteX115" fmla="*/ 123877 w 5890489"/>
                <a:gd name="connsiteY115" fmla="*/ 4564210 h 6578438"/>
                <a:gd name="connsiteX116" fmla="*/ 130 w 5890489"/>
                <a:gd name="connsiteY116" fmla="*/ 3865530 h 6578438"/>
                <a:gd name="connsiteX117" fmla="*/ 30602 w 5890489"/>
                <a:gd name="connsiteY117" fmla="*/ 3505793 h 6578438"/>
                <a:gd name="connsiteX118" fmla="*/ 126924 w 5890489"/>
                <a:gd name="connsiteY118" fmla="*/ 3157164 h 6578438"/>
                <a:gd name="connsiteX119" fmla="*/ 334803 w 5890489"/>
                <a:gd name="connsiteY119" fmla="*/ 2560530 h 6578438"/>
                <a:gd name="connsiteX120" fmla="*/ 381176 w 5890489"/>
                <a:gd name="connsiteY120" fmla="*/ 2409144 h 6578438"/>
                <a:gd name="connsiteX121" fmla="*/ 425825 w 5890489"/>
                <a:gd name="connsiteY121" fmla="*/ 2255819 h 6578438"/>
                <a:gd name="connsiteX122" fmla="*/ 470210 w 5890489"/>
                <a:gd name="connsiteY122" fmla="*/ 2099523 h 6578438"/>
                <a:gd name="connsiteX123" fmla="*/ 492998 w 5890489"/>
                <a:gd name="connsiteY123" fmla="*/ 2020213 h 6578438"/>
                <a:gd name="connsiteX124" fmla="*/ 517509 w 5890489"/>
                <a:gd name="connsiteY124" fmla="*/ 1939224 h 6578438"/>
                <a:gd name="connsiteX125" fmla="*/ 544007 w 5890489"/>
                <a:gd name="connsiteY125" fmla="*/ 1857201 h 6578438"/>
                <a:gd name="connsiteX126" fmla="*/ 573288 w 5890489"/>
                <a:gd name="connsiteY126" fmla="*/ 1774274 h 6578438"/>
                <a:gd name="connsiteX127" fmla="*/ 606146 w 5890489"/>
                <a:gd name="connsiteY127" fmla="*/ 1690832 h 6578438"/>
                <a:gd name="connsiteX128" fmla="*/ 644569 w 5890489"/>
                <a:gd name="connsiteY128" fmla="*/ 1607775 h 6578438"/>
                <a:gd name="connsiteX129" fmla="*/ 837874 w 5890489"/>
                <a:gd name="connsiteY129" fmla="*/ 1297638 h 6578438"/>
                <a:gd name="connsiteX130" fmla="*/ 1069602 w 5890489"/>
                <a:gd name="connsiteY130" fmla="*/ 1032194 h 6578438"/>
                <a:gd name="connsiteX131" fmla="*/ 1130548 w 5890489"/>
                <a:gd name="connsiteY131" fmla="*/ 970839 h 6578438"/>
                <a:gd name="connsiteX132" fmla="*/ 1192024 w 5890489"/>
                <a:gd name="connsiteY132" fmla="*/ 910129 h 6578438"/>
                <a:gd name="connsiteX133" fmla="*/ 1255356 w 5890489"/>
                <a:gd name="connsiteY133" fmla="*/ 850841 h 6578438"/>
                <a:gd name="connsiteX134" fmla="*/ 1319614 w 5890489"/>
                <a:gd name="connsiteY134" fmla="*/ 792068 h 6578438"/>
                <a:gd name="connsiteX135" fmla="*/ 1385728 w 5890489"/>
                <a:gd name="connsiteY135" fmla="*/ 734975 h 6578438"/>
                <a:gd name="connsiteX136" fmla="*/ 1452768 w 5890489"/>
                <a:gd name="connsiteY136" fmla="*/ 678528 h 6578438"/>
                <a:gd name="connsiteX137" fmla="*/ 1469594 w 5890489"/>
                <a:gd name="connsiteY137" fmla="*/ 664449 h 6578438"/>
                <a:gd name="connsiteX138" fmla="*/ 1487083 w 5890489"/>
                <a:gd name="connsiteY138" fmla="*/ 651015 h 6578438"/>
                <a:gd name="connsiteX139" fmla="*/ 1522193 w 5890489"/>
                <a:gd name="connsiteY139" fmla="*/ 624277 h 6578438"/>
                <a:gd name="connsiteX140" fmla="*/ 1592415 w 5890489"/>
                <a:gd name="connsiteY140" fmla="*/ 570671 h 6578438"/>
                <a:gd name="connsiteX141" fmla="*/ 1738287 w 5890489"/>
                <a:gd name="connsiteY141" fmla="*/ 469402 h 6578438"/>
                <a:gd name="connsiteX142" fmla="*/ 1890918 w 5890489"/>
                <a:gd name="connsiteY142" fmla="*/ 376530 h 6578438"/>
                <a:gd name="connsiteX143" fmla="*/ 2555363 w 5890489"/>
                <a:gd name="connsiteY143" fmla="*/ 105274 h 6578438"/>
                <a:gd name="connsiteX144" fmla="*/ 3259291 w 5890489"/>
                <a:gd name="connsiteY144" fmla="*/ 3229 h 6578438"/>
                <a:gd name="connsiteX145" fmla="*/ 3347265 w 5890489"/>
                <a:gd name="connsiteY145" fmla="*/ 903 h 65784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Lst>
              <a:rect l="l" t="t" r="r" b="b"/>
              <a:pathLst>
                <a:path w="5890489" h="6578438">
                  <a:moveTo>
                    <a:pt x="3391253" y="0"/>
                  </a:moveTo>
                  <a:lnTo>
                    <a:pt x="3434974" y="646"/>
                  </a:lnTo>
                  <a:lnTo>
                    <a:pt x="3522419" y="2712"/>
                  </a:lnTo>
                  <a:cubicBezTo>
                    <a:pt x="3551567" y="3488"/>
                    <a:pt x="3580451" y="3746"/>
                    <a:pt x="3610261" y="6458"/>
                  </a:cubicBezTo>
                  <a:cubicBezTo>
                    <a:pt x="3669353" y="10850"/>
                    <a:pt x="3728179" y="14337"/>
                    <a:pt x="3786872" y="20667"/>
                  </a:cubicBezTo>
                  <a:lnTo>
                    <a:pt x="3962291" y="43530"/>
                  </a:lnTo>
                  <a:lnTo>
                    <a:pt x="4135855" y="75176"/>
                  </a:lnTo>
                  <a:cubicBezTo>
                    <a:pt x="4193224" y="87836"/>
                    <a:pt x="4250328" y="101398"/>
                    <a:pt x="4307299" y="114315"/>
                  </a:cubicBezTo>
                  <a:cubicBezTo>
                    <a:pt x="4364139" y="128394"/>
                    <a:pt x="4420050" y="145575"/>
                    <a:pt x="4476358" y="160816"/>
                  </a:cubicBezTo>
                  <a:cubicBezTo>
                    <a:pt x="4504580" y="167921"/>
                    <a:pt x="4532138" y="177995"/>
                    <a:pt x="4559829" y="186779"/>
                  </a:cubicBezTo>
                  <a:lnTo>
                    <a:pt x="4642901" y="213648"/>
                  </a:lnTo>
                  <a:cubicBezTo>
                    <a:pt x="4863234" y="288307"/>
                    <a:pt x="5076414" y="379371"/>
                    <a:pt x="5280847" y="485936"/>
                  </a:cubicBezTo>
                  <a:cubicBezTo>
                    <a:pt x="5485018" y="592631"/>
                    <a:pt x="5681768" y="713145"/>
                    <a:pt x="5865400" y="851099"/>
                  </a:cubicBezTo>
                  <a:lnTo>
                    <a:pt x="5890489" y="870950"/>
                  </a:lnTo>
                  <a:lnTo>
                    <a:pt x="5890489" y="1321814"/>
                  </a:lnTo>
                  <a:lnTo>
                    <a:pt x="5887395" y="1318952"/>
                  </a:lnTo>
                  <a:lnTo>
                    <a:pt x="5830291" y="1265992"/>
                  </a:lnTo>
                  <a:lnTo>
                    <a:pt x="5815981" y="1252687"/>
                  </a:lnTo>
                  <a:lnTo>
                    <a:pt x="5801142" y="1240158"/>
                  </a:lnTo>
                  <a:lnTo>
                    <a:pt x="5771464" y="1214969"/>
                  </a:lnTo>
                  <a:cubicBezTo>
                    <a:pt x="5731849" y="1181385"/>
                    <a:pt x="5692897" y="1146896"/>
                    <a:pt x="5651030" y="1115767"/>
                  </a:cubicBezTo>
                  <a:cubicBezTo>
                    <a:pt x="5487534" y="986985"/>
                    <a:pt x="5311321" y="872542"/>
                    <a:pt x="5123183" y="780443"/>
                  </a:cubicBezTo>
                  <a:cubicBezTo>
                    <a:pt x="4935309" y="688087"/>
                    <a:pt x="4737102" y="616398"/>
                    <a:pt x="4533860" y="567701"/>
                  </a:cubicBezTo>
                  <a:lnTo>
                    <a:pt x="4457281" y="550780"/>
                  </a:lnTo>
                  <a:cubicBezTo>
                    <a:pt x="4431709" y="545484"/>
                    <a:pt x="4406536" y="538896"/>
                    <a:pt x="4380568" y="535279"/>
                  </a:cubicBezTo>
                  <a:lnTo>
                    <a:pt x="4303325" y="522879"/>
                  </a:lnTo>
                  <a:lnTo>
                    <a:pt x="4264769" y="516679"/>
                  </a:lnTo>
                  <a:cubicBezTo>
                    <a:pt x="4251918" y="514612"/>
                    <a:pt x="4239067" y="512415"/>
                    <a:pt x="4226082" y="511253"/>
                  </a:cubicBezTo>
                  <a:cubicBezTo>
                    <a:pt x="4174145" y="505829"/>
                    <a:pt x="4122606" y="499498"/>
                    <a:pt x="4070934" y="494848"/>
                  </a:cubicBezTo>
                  <a:lnTo>
                    <a:pt x="3915521" y="486065"/>
                  </a:lnTo>
                  <a:lnTo>
                    <a:pt x="3760241" y="484257"/>
                  </a:lnTo>
                  <a:cubicBezTo>
                    <a:pt x="3734405" y="483869"/>
                    <a:pt x="3708571" y="485936"/>
                    <a:pt x="3682734" y="486581"/>
                  </a:cubicBezTo>
                  <a:lnTo>
                    <a:pt x="3605491" y="488907"/>
                  </a:lnTo>
                  <a:cubicBezTo>
                    <a:pt x="3579921" y="489165"/>
                    <a:pt x="3553555" y="491490"/>
                    <a:pt x="3527454" y="493169"/>
                  </a:cubicBezTo>
                  <a:lnTo>
                    <a:pt x="3449151" y="498336"/>
                  </a:lnTo>
                  <a:lnTo>
                    <a:pt x="3410067" y="500532"/>
                  </a:lnTo>
                  <a:lnTo>
                    <a:pt x="3371246" y="504279"/>
                  </a:lnTo>
                  <a:cubicBezTo>
                    <a:pt x="3345410" y="506862"/>
                    <a:pt x="3319575" y="509315"/>
                    <a:pt x="3293739" y="511512"/>
                  </a:cubicBezTo>
                  <a:cubicBezTo>
                    <a:pt x="3087450" y="531662"/>
                    <a:pt x="2885531" y="563180"/>
                    <a:pt x="2689445" y="610198"/>
                  </a:cubicBezTo>
                  <a:cubicBezTo>
                    <a:pt x="2493357" y="657344"/>
                    <a:pt x="2302303" y="719088"/>
                    <a:pt x="2117875" y="800335"/>
                  </a:cubicBezTo>
                  <a:cubicBezTo>
                    <a:pt x="2072298" y="821648"/>
                    <a:pt x="2026854" y="843606"/>
                    <a:pt x="1981276" y="865566"/>
                  </a:cubicBezTo>
                  <a:cubicBezTo>
                    <a:pt x="1937025" y="889978"/>
                    <a:pt x="1891978" y="913229"/>
                    <a:pt x="1847991" y="938676"/>
                  </a:cubicBezTo>
                  <a:lnTo>
                    <a:pt x="1783069" y="978718"/>
                  </a:lnTo>
                  <a:lnTo>
                    <a:pt x="1750609" y="998869"/>
                  </a:lnTo>
                  <a:lnTo>
                    <a:pt x="1734312" y="1008945"/>
                  </a:lnTo>
                  <a:lnTo>
                    <a:pt x="1718547" y="1019924"/>
                  </a:lnTo>
                  <a:lnTo>
                    <a:pt x="1655481" y="1063582"/>
                  </a:lnTo>
                  <a:cubicBezTo>
                    <a:pt x="1634414" y="1078178"/>
                    <a:pt x="1612950" y="1092259"/>
                    <a:pt x="1593077" y="1108664"/>
                  </a:cubicBezTo>
                  <a:lnTo>
                    <a:pt x="1532263" y="1156197"/>
                  </a:lnTo>
                  <a:cubicBezTo>
                    <a:pt x="1511992" y="1172085"/>
                    <a:pt x="1491587" y="1187844"/>
                    <a:pt x="1472509" y="1205152"/>
                  </a:cubicBezTo>
                  <a:lnTo>
                    <a:pt x="1414212" y="1256175"/>
                  </a:lnTo>
                  <a:cubicBezTo>
                    <a:pt x="1395001" y="1273354"/>
                    <a:pt x="1375127" y="1290147"/>
                    <a:pt x="1357242" y="1308359"/>
                  </a:cubicBezTo>
                  <a:cubicBezTo>
                    <a:pt x="1283178" y="1379532"/>
                    <a:pt x="1212163" y="1452513"/>
                    <a:pt x="1153072" y="1529498"/>
                  </a:cubicBezTo>
                  <a:cubicBezTo>
                    <a:pt x="1090933" y="1605578"/>
                    <a:pt x="1043501" y="1685794"/>
                    <a:pt x="1002694" y="1770658"/>
                  </a:cubicBezTo>
                  <a:lnTo>
                    <a:pt x="974076" y="1835371"/>
                  </a:lnTo>
                  <a:lnTo>
                    <a:pt x="949564" y="1903573"/>
                  </a:lnTo>
                  <a:cubicBezTo>
                    <a:pt x="940820" y="1925661"/>
                    <a:pt x="934593" y="1950719"/>
                    <a:pt x="927173" y="1974229"/>
                  </a:cubicBezTo>
                  <a:cubicBezTo>
                    <a:pt x="920019" y="1998254"/>
                    <a:pt x="912468" y="2021504"/>
                    <a:pt x="906107" y="2046952"/>
                  </a:cubicBezTo>
                  <a:cubicBezTo>
                    <a:pt x="853906" y="2245614"/>
                    <a:pt x="809918" y="2463136"/>
                    <a:pt x="751092" y="2676266"/>
                  </a:cubicBezTo>
                  <a:cubicBezTo>
                    <a:pt x="693458" y="2889912"/>
                    <a:pt x="624166" y="3100976"/>
                    <a:pt x="547189" y="3308422"/>
                  </a:cubicBezTo>
                  <a:cubicBezTo>
                    <a:pt x="479617" y="3487580"/>
                    <a:pt x="444109" y="3675523"/>
                    <a:pt x="441195" y="3866306"/>
                  </a:cubicBezTo>
                  <a:cubicBezTo>
                    <a:pt x="438014" y="4057089"/>
                    <a:pt x="469282" y="4250456"/>
                    <a:pt x="527182" y="4439174"/>
                  </a:cubicBezTo>
                  <a:cubicBezTo>
                    <a:pt x="584815" y="4628278"/>
                    <a:pt x="671067" y="4811828"/>
                    <a:pt x="775073" y="4987240"/>
                  </a:cubicBezTo>
                  <a:cubicBezTo>
                    <a:pt x="827009" y="5075075"/>
                    <a:pt x="884246" y="5160327"/>
                    <a:pt x="943206" y="5244933"/>
                  </a:cubicBezTo>
                  <a:cubicBezTo>
                    <a:pt x="1002296" y="5329411"/>
                    <a:pt x="1064964" y="5412337"/>
                    <a:pt x="1133728" y="5490356"/>
                  </a:cubicBezTo>
                  <a:cubicBezTo>
                    <a:pt x="1203949" y="5567728"/>
                    <a:pt x="1279337" y="5642259"/>
                    <a:pt x="1359626" y="5709815"/>
                  </a:cubicBezTo>
                  <a:cubicBezTo>
                    <a:pt x="1398711" y="5744949"/>
                    <a:pt x="1439916" y="5777241"/>
                    <a:pt x="1481254" y="5809146"/>
                  </a:cubicBezTo>
                  <a:cubicBezTo>
                    <a:pt x="1501922" y="5825163"/>
                    <a:pt x="1522325" y="5841309"/>
                    <a:pt x="1543260" y="5856940"/>
                  </a:cubicBezTo>
                  <a:cubicBezTo>
                    <a:pt x="1564591" y="5871923"/>
                    <a:pt x="1585921" y="5886777"/>
                    <a:pt x="1607518" y="5901374"/>
                  </a:cubicBezTo>
                  <a:cubicBezTo>
                    <a:pt x="1778565" y="6019693"/>
                    <a:pt x="1961271" y="6115924"/>
                    <a:pt x="2145566" y="6193814"/>
                  </a:cubicBezTo>
                  <a:lnTo>
                    <a:pt x="2214991" y="6221844"/>
                  </a:lnTo>
                  <a:lnTo>
                    <a:pt x="2249307" y="6236182"/>
                  </a:lnTo>
                  <a:cubicBezTo>
                    <a:pt x="2260702" y="6241089"/>
                    <a:pt x="2272625" y="6244577"/>
                    <a:pt x="2284285" y="6248711"/>
                  </a:cubicBezTo>
                  <a:lnTo>
                    <a:pt x="2354241" y="6273124"/>
                  </a:lnTo>
                  <a:cubicBezTo>
                    <a:pt x="2360070" y="6275190"/>
                    <a:pt x="2365899" y="6277128"/>
                    <a:pt x="2371597" y="6279324"/>
                  </a:cubicBezTo>
                  <a:cubicBezTo>
                    <a:pt x="2377161" y="6281778"/>
                    <a:pt x="2382329" y="6285007"/>
                    <a:pt x="2387894" y="6287719"/>
                  </a:cubicBezTo>
                  <a:cubicBezTo>
                    <a:pt x="2398757" y="6293274"/>
                    <a:pt x="2410153" y="6297666"/>
                    <a:pt x="2421414" y="6302186"/>
                  </a:cubicBezTo>
                  <a:lnTo>
                    <a:pt x="2489117" y="6329441"/>
                  </a:lnTo>
                  <a:lnTo>
                    <a:pt x="2522902" y="6343134"/>
                  </a:lnTo>
                  <a:cubicBezTo>
                    <a:pt x="2534165" y="6347654"/>
                    <a:pt x="2545294" y="6352563"/>
                    <a:pt x="2556953" y="6356051"/>
                  </a:cubicBezTo>
                  <a:lnTo>
                    <a:pt x="2695009" y="6401905"/>
                  </a:lnTo>
                  <a:cubicBezTo>
                    <a:pt x="2880895" y="6457190"/>
                    <a:pt x="3073141" y="6489095"/>
                    <a:pt x="3268035" y="6501238"/>
                  </a:cubicBezTo>
                  <a:cubicBezTo>
                    <a:pt x="3292413" y="6502659"/>
                    <a:pt x="3316527" y="6505629"/>
                    <a:pt x="3341038" y="6506145"/>
                  </a:cubicBezTo>
                  <a:lnTo>
                    <a:pt x="3414703" y="6507050"/>
                  </a:lnTo>
                  <a:lnTo>
                    <a:pt x="3488237" y="6508212"/>
                  </a:lnTo>
                  <a:cubicBezTo>
                    <a:pt x="3500690" y="6508729"/>
                    <a:pt x="3512483" y="6508471"/>
                    <a:pt x="3524142" y="6507955"/>
                  </a:cubicBezTo>
                  <a:lnTo>
                    <a:pt x="3559252" y="6506921"/>
                  </a:lnTo>
                  <a:cubicBezTo>
                    <a:pt x="3582835" y="6506792"/>
                    <a:pt x="3605889" y="6504467"/>
                    <a:pt x="3629207" y="6503045"/>
                  </a:cubicBezTo>
                  <a:cubicBezTo>
                    <a:pt x="3652526" y="6502012"/>
                    <a:pt x="3675579" y="6499171"/>
                    <a:pt x="3698633" y="6496845"/>
                  </a:cubicBezTo>
                  <a:cubicBezTo>
                    <a:pt x="3710160" y="6495683"/>
                    <a:pt x="3721819" y="6494907"/>
                    <a:pt x="3733213" y="6493357"/>
                  </a:cubicBezTo>
                  <a:lnTo>
                    <a:pt x="3767529" y="6488707"/>
                  </a:lnTo>
                  <a:lnTo>
                    <a:pt x="3801845" y="6484057"/>
                  </a:lnTo>
                  <a:lnTo>
                    <a:pt x="3835895" y="6478116"/>
                  </a:lnTo>
                  <a:cubicBezTo>
                    <a:pt x="4017673" y="6446727"/>
                    <a:pt x="4194152" y="6390281"/>
                    <a:pt x="4364801" y="6308517"/>
                  </a:cubicBezTo>
                  <a:cubicBezTo>
                    <a:pt x="4535583" y="6227139"/>
                    <a:pt x="4700138" y="6120962"/>
                    <a:pt x="4861379" y="6000576"/>
                  </a:cubicBezTo>
                  <a:cubicBezTo>
                    <a:pt x="5022621" y="5879931"/>
                    <a:pt x="5180684" y="5745337"/>
                    <a:pt x="5341263" y="5605834"/>
                  </a:cubicBezTo>
                  <a:lnTo>
                    <a:pt x="5587301" y="5390379"/>
                  </a:lnTo>
                  <a:cubicBezTo>
                    <a:pt x="5674216" y="5315718"/>
                    <a:pt x="5761527" y="5244416"/>
                    <a:pt x="5849105" y="5176344"/>
                  </a:cubicBezTo>
                  <a:lnTo>
                    <a:pt x="5890489" y="5145260"/>
                  </a:lnTo>
                  <a:lnTo>
                    <a:pt x="5890489" y="5995323"/>
                  </a:lnTo>
                  <a:lnTo>
                    <a:pt x="5811477" y="6077819"/>
                  </a:lnTo>
                  <a:cubicBezTo>
                    <a:pt x="5654739" y="6238377"/>
                    <a:pt x="5487138" y="6396093"/>
                    <a:pt x="5301384" y="6542958"/>
                  </a:cubicBezTo>
                  <a:lnTo>
                    <a:pt x="5252008" y="6578438"/>
                  </a:lnTo>
                  <a:lnTo>
                    <a:pt x="1653730" y="6578438"/>
                  </a:lnTo>
                  <a:lnTo>
                    <a:pt x="1549768" y="6488821"/>
                  </a:lnTo>
                  <a:cubicBezTo>
                    <a:pt x="1461976" y="6409495"/>
                    <a:pt x="1378573" y="6327182"/>
                    <a:pt x="1298282" y="6243932"/>
                  </a:cubicBezTo>
                  <a:cubicBezTo>
                    <a:pt x="1278277" y="6223006"/>
                    <a:pt x="1258138" y="6202210"/>
                    <a:pt x="1237999" y="6181671"/>
                  </a:cubicBezTo>
                  <a:lnTo>
                    <a:pt x="1179967" y="6117862"/>
                  </a:lnTo>
                  <a:lnTo>
                    <a:pt x="1121936" y="6054569"/>
                  </a:lnTo>
                  <a:cubicBezTo>
                    <a:pt x="1102328" y="6033644"/>
                    <a:pt x="1084573" y="6011427"/>
                    <a:pt x="1065628" y="5990243"/>
                  </a:cubicBezTo>
                  <a:cubicBezTo>
                    <a:pt x="1028662" y="5947099"/>
                    <a:pt x="990239" y="5904991"/>
                    <a:pt x="954335" y="5861460"/>
                  </a:cubicBezTo>
                  <a:cubicBezTo>
                    <a:pt x="936050" y="5840018"/>
                    <a:pt x="917634" y="5818446"/>
                    <a:pt x="898953" y="5797393"/>
                  </a:cubicBezTo>
                  <a:cubicBezTo>
                    <a:pt x="880404" y="5776208"/>
                    <a:pt x="861325" y="5755412"/>
                    <a:pt x="842908" y="5733582"/>
                  </a:cubicBezTo>
                  <a:cubicBezTo>
                    <a:pt x="767919" y="5647942"/>
                    <a:pt x="693061" y="5561786"/>
                    <a:pt x="622442" y="5471884"/>
                  </a:cubicBezTo>
                  <a:cubicBezTo>
                    <a:pt x="551559" y="5382112"/>
                    <a:pt x="486639" y="5287430"/>
                    <a:pt x="425559" y="5190036"/>
                  </a:cubicBezTo>
                  <a:cubicBezTo>
                    <a:pt x="303668" y="4994990"/>
                    <a:pt x="200193" y="4786123"/>
                    <a:pt x="123877" y="4564210"/>
                  </a:cubicBezTo>
                  <a:cubicBezTo>
                    <a:pt x="47694" y="4342555"/>
                    <a:pt x="2249" y="4106045"/>
                    <a:pt x="130" y="3865530"/>
                  </a:cubicBezTo>
                  <a:cubicBezTo>
                    <a:pt x="-1328" y="3745403"/>
                    <a:pt x="9537" y="3624629"/>
                    <a:pt x="30602" y="3505793"/>
                  </a:cubicBezTo>
                  <a:cubicBezTo>
                    <a:pt x="51802" y="3386828"/>
                    <a:pt x="84659" y="3270059"/>
                    <a:pt x="126924" y="3157164"/>
                  </a:cubicBezTo>
                  <a:cubicBezTo>
                    <a:pt x="200457" y="2959276"/>
                    <a:pt x="271737" y="2761388"/>
                    <a:pt x="334803" y="2560530"/>
                  </a:cubicBezTo>
                  <a:lnTo>
                    <a:pt x="381176" y="2409144"/>
                  </a:lnTo>
                  <a:lnTo>
                    <a:pt x="425825" y="2255819"/>
                  </a:lnTo>
                  <a:lnTo>
                    <a:pt x="470210" y="2099523"/>
                  </a:lnTo>
                  <a:lnTo>
                    <a:pt x="492998" y="2020213"/>
                  </a:lnTo>
                  <a:lnTo>
                    <a:pt x="517509" y="1939224"/>
                  </a:lnTo>
                  <a:cubicBezTo>
                    <a:pt x="525061" y="1912485"/>
                    <a:pt x="534866" y="1884586"/>
                    <a:pt x="544007" y="1857201"/>
                  </a:cubicBezTo>
                  <a:cubicBezTo>
                    <a:pt x="553680" y="1829559"/>
                    <a:pt x="561496" y="1802304"/>
                    <a:pt x="573288" y="1774274"/>
                  </a:cubicBezTo>
                  <a:lnTo>
                    <a:pt x="606146" y="1690832"/>
                  </a:lnTo>
                  <a:cubicBezTo>
                    <a:pt x="618467" y="1663060"/>
                    <a:pt x="631716" y="1635417"/>
                    <a:pt x="644569" y="1607775"/>
                  </a:cubicBezTo>
                  <a:cubicBezTo>
                    <a:pt x="698625" y="1498368"/>
                    <a:pt x="763413" y="1391287"/>
                    <a:pt x="837874" y="1297638"/>
                  </a:cubicBezTo>
                  <a:cubicBezTo>
                    <a:pt x="910348" y="1201278"/>
                    <a:pt x="990107" y="1115897"/>
                    <a:pt x="1069602" y="1032194"/>
                  </a:cubicBezTo>
                  <a:cubicBezTo>
                    <a:pt x="1089079" y="1010624"/>
                    <a:pt x="1110012" y="990990"/>
                    <a:pt x="1130548" y="970839"/>
                  </a:cubicBezTo>
                  <a:lnTo>
                    <a:pt x="1192024" y="910129"/>
                  </a:lnTo>
                  <a:cubicBezTo>
                    <a:pt x="1212031" y="889462"/>
                    <a:pt x="1234024" y="870475"/>
                    <a:pt x="1255356" y="850841"/>
                  </a:cubicBezTo>
                  <a:lnTo>
                    <a:pt x="1319614" y="792068"/>
                  </a:lnTo>
                  <a:cubicBezTo>
                    <a:pt x="1340680" y="772176"/>
                    <a:pt x="1363469" y="753834"/>
                    <a:pt x="1385728" y="734975"/>
                  </a:cubicBezTo>
                  <a:lnTo>
                    <a:pt x="1452768" y="678528"/>
                  </a:lnTo>
                  <a:lnTo>
                    <a:pt x="1469594" y="664449"/>
                  </a:lnTo>
                  <a:lnTo>
                    <a:pt x="1487083" y="651015"/>
                  </a:lnTo>
                  <a:lnTo>
                    <a:pt x="1522193" y="624277"/>
                  </a:lnTo>
                  <a:lnTo>
                    <a:pt x="1592415" y="570671"/>
                  </a:lnTo>
                  <a:cubicBezTo>
                    <a:pt x="1640110" y="535925"/>
                    <a:pt x="1689531" y="503245"/>
                    <a:pt x="1738287" y="469402"/>
                  </a:cubicBezTo>
                  <a:cubicBezTo>
                    <a:pt x="1788634" y="438015"/>
                    <a:pt x="1839643" y="407013"/>
                    <a:pt x="1890918" y="376530"/>
                  </a:cubicBezTo>
                  <a:cubicBezTo>
                    <a:pt x="2098400" y="258209"/>
                    <a:pt x="2323503" y="166241"/>
                    <a:pt x="2555363" y="105274"/>
                  </a:cubicBezTo>
                  <a:cubicBezTo>
                    <a:pt x="2787223" y="44047"/>
                    <a:pt x="3024516" y="12013"/>
                    <a:pt x="3259291" y="3229"/>
                  </a:cubicBezTo>
                  <a:lnTo>
                    <a:pt x="3347265" y="903"/>
                  </a:ln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Freeform: Shape 29">
              <a:extLst>
                <a:ext uri="{FF2B5EF4-FFF2-40B4-BE49-F238E27FC236}">
                  <a16:creationId xmlns:a16="http://schemas.microsoft.com/office/drawing/2014/main" id="{ACA5348F-9FF6-485F-898D-1BED7EC7270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95999" y="52997"/>
              <a:ext cx="6093363" cy="6805004"/>
            </a:xfrm>
            <a:custGeom>
              <a:avLst/>
              <a:gdLst>
                <a:gd name="connsiteX0" fmla="*/ 3517682 w 5890491"/>
                <a:gd name="connsiteY0" fmla="*/ 0 h 6578439"/>
                <a:gd name="connsiteX1" fmla="*/ 5849513 w 5890491"/>
                <a:gd name="connsiteY1" fmla="*/ 841730 h 6578439"/>
                <a:gd name="connsiteX2" fmla="*/ 5890491 w 5890491"/>
                <a:gd name="connsiteY2" fmla="*/ 879061 h 6578439"/>
                <a:gd name="connsiteX3" fmla="*/ 5890491 w 5890491"/>
                <a:gd name="connsiteY3" fmla="*/ 2034114 h 6578439"/>
                <a:gd name="connsiteX4" fmla="*/ 5757065 w 5890491"/>
                <a:gd name="connsiteY4" fmla="*/ 1854938 h 6578439"/>
                <a:gd name="connsiteX5" fmla="*/ 5564060 w 5890491"/>
                <a:gd name="connsiteY5" fmla="*/ 1642182 h 6578439"/>
                <a:gd name="connsiteX6" fmla="*/ 3517551 w 5890491"/>
                <a:gd name="connsiteY6" fmla="*/ 790012 h 6578439"/>
                <a:gd name="connsiteX7" fmla="*/ 1611552 w 5890491"/>
                <a:gd name="connsiteY7" fmla="*/ 1543282 h 6578439"/>
                <a:gd name="connsiteX8" fmla="*/ 1340656 w 5890491"/>
                <a:gd name="connsiteY8" fmla="*/ 1897925 h 6578439"/>
                <a:gd name="connsiteX9" fmla="*/ 1201705 w 5890491"/>
                <a:gd name="connsiteY9" fmla="*/ 2361213 h 6578439"/>
                <a:gd name="connsiteX10" fmla="*/ 852705 w 5890491"/>
                <a:gd name="connsiteY10" fmla="*/ 3529176 h 6578439"/>
                <a:gd name="connsiteX11" fmla="*/ 863863 w 5890491"/>
                <a:gd name="connsiteY11" fmla="*/ 4437051 h 6578439"/>
                <a:gd name="connsiteX12" fmla="*/ 1413569 w 5890491"/>
                <a:gd name="connsiteY12" fmla="*/ 5357174 h 6578439"/>
                <a:gd name="connsiteX13" fmla="*/ 2339129 w 5890491"/>
                <a:gd name="connsiteY13" fmla="*/ 6143367 h 6578439"/>
                <a:gd name="connsiteX14" fmla="*/ 3439449 w 5890491"/>
                <a:gd name="connsiteY14" fmla="*/ 6420049 h 6578439"/>
                <a:gd name="connsiteX15" fmla="*/ 5251388 w 5890491"/>
                <a:gd name="connsiteY15" fmla="*/ 5349009 h 6578439"/>
                <a:gd name="connsiteX16" fmla="*/ 5657731 w 5890491"/>
                <a:gd name="connsiteY16" fmla="*/ 4959205 h 6578439"/>
                <a:gd name="connsiteX17" fmla="*/ 5836127 w 5890491"/>
                <a:gd name="connsiteY17" fmla="*/ 4792052 h 6578439"/>
                <a:gd name="connsiteX18" fmla="*/ 5890491 w 5890491"/>
                <a:gd name="connsiteY18" fmla="*/ 4738662 h 6578439"/>
                <a:gd name="connsiteX19" fmla="*/ 5890491 w 5890491"/>
                <a:gd name="connsiteY19" fmla="*/ 5821964 h 6578439"/>
                <a:gd name="connsiteX20" fmla="*/ 5802001 w 5890491"/>
                <a:gd name="connsiteY20" fmla="*/ 5907904 h 6578439"/>
                <a:gd name="connsiteX21" fmla="*/ 5294358 w 5890491"/>
                <a:gd name="connsiteY21" fmla="*/ 6397505 h 6578439"/>
                <a:gd name="connsiteX22" fmla="*/ 5077178 w 5890491"/>
                <a:gd name="connsiteY22" fmla="*/ 6578439 h 6578439"/>
                <a:gd name="connsiteX23" fmla="*/ 1567290 w 5890491"/>
                <a:gd name="connsiteY23" fmla="*/ 6578439 h 6578439"/>
                <a:gd name="connsiteX24" fmla="*/ 1508588 w 5890491"/>
                <a:gd name="connsiteY24" fmla="*/ 6535186 h 6578439"/>
                <a:gd name="connsiteX25" fmla="*/ 826498 w 5890491"/>
                <a:gd name="connsiteY25" fmla="*/ 5876034 h 6578439"/>
                <a:gd name="connsiteX26" fmla="*/ 122403 w 5890491"/>
                <a:gd name="connsiteY26" fmla="*/ 3255655 h 6578439"/>
                <a:gd name="connsiteX27" fmla="*/ 1061197 w 5890491"/>
                <a:gd name="connsiteY27" fmla="*/ 984650 h 6578439"/>
                <a:gd name="connsiteX28" fmla="*/ 3517682 w 5890491"/>
                <a:gd name="connsiteY28" fmla="*/ 0 h 65784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5890491" h="6578439">
                  <a:moveTo>
                    <a:pt x="3517682" y="0"/>
                  </a:moveTo>
                  <a:cubicBezTo>
                    <a:pt x="4402017" y="0"/>
                    <a:pt x="5213742" y="315483"/>
                    <a:pt x="5849513" y="841730"/>
                  </a:cubicBezTo>
                  <a:lnTo>
                    <a:pt x="5890491" y="879061"/>
                  </a:lnTo>
                  <a:lnTo>
                    <a:pt x="5890491" y="2034114"/>
                  </a:lnTo>
                  <a:lnTo>
                    <a:pt x="5757065" y="1854938"/>
                  </a:lnTo>
                  <a:cubicBezTo>
                    <a:pt x="5696443" y="1781264"/>
                    <a:pt x="5632076" y="1710299"/>
                    <a:pt x="5564060" y="1642182"/>
                  </a:cubicBezTo>
                  <a:cubicBezTo>
                    <a:pt x="5015393" y="1092636"/>
                    <a:pt x="4288592" y="790012"/>
                    <a:pt x="3517551" y="790012"/>
                  </a:cubicBezTo>
                  <a:cubicBezTo>
                    <a:pt x="2701750" y="790012"/>
                    <a:pt x="2131676" y="1015335"/>
                    <a:pt x="1611552" y="1543282"/>
                  </a:cubicBezTo>
                  <a:cubicBezTo>
                    <a:pt x="1435754" y="1721722"/>
                    <a:pt x="1375945" y="1822729"/>
                    <a:pt x="1340656" y="1897925"/>
                  </a:cubicBezTo>
                  <a:cubicBezTo>
                    <a:pt x="1289148" y="2007623"/>
                    <a:pt x="1252432" y="2155907"/>
                    <a:pt x="1201705" y="2361213"/>
                  </a:cubicBezTo>
                  <a:cubicBezTo>
                    <a:pt x="1133721" y="2635919"/>
                    <a:pt x="1040568" y="3012290"/>
                    <a:pt x="852705" y="3529176"/>
                  </a:cubicBezTo>
                  <a:cubicBezTo>
                    <a:pt x="749952" y="3811784"/>
                    <a:pt x="753584" y="4108747"/>
                    <a:pt x="863863" y="4437051"/>
                  </a:cubicBezTo>
                  <a:cubicBezTo>
                    <a:pt x="964800" y="4737438"/>
                    <a:pt x="1154869" y="5055603"/>
                    <a:pt x="1413569" y="5357174"/>
                  </a:cubicBezTo>
                  <a:cubicBezTo>
                    <a:pt x="1718326" y="5712343"/>
                    <a:pt x="2021008" y="5969404"/>
                    <a:pt x="2339129" y="6143367"/>
                  </a:cubicBezTo>
                  <a:cubicBezTo>
                    <a:pt x="2679565" y="6329577"/>
                    <a:pt x="3039591" y="6420049"/>
                    <a:pt x="3439449" y="6420049"/>
                  </a:cubicBezTo>
                  <a:cubicBezTo>
                    <a:pt x="4142246" y="6420049"/>
                    <a:pt x="4633828" y="5976251"/>
                    <a:pt x="5251388" y="5349009"/>
                  </a:cubicBezTo>
                  <a:cubicBezTo>
                    <a:pt x="5389949" y="5208364"/>
                    <a:pt x="5526047" y="5081677"/>
                    <a:pt x="5657731" y="4959205"/>
                  </a:cubicBezTo>
                  <a:cubicBezTo>
                    <a:pt x="5719520" y="4901722"/>
                    <a:pt x="5779200" y="4846206"/>
                    <a:pt x="5836127" y="4792052"/>
                  </a:cubicBezTo>
                  <a:lnTo>
                    <a:pt x="5890491" y="4738662"/>
                  </a:lnTo>
                  <a:lnTo>
                    <a:pt x="5890491" y="5821964"/>
                  </a:lnTo>
                  <a:lnTo>
                    <a:pt x="5802001" y="5907904"/>
                  </a:lnTo>
                  <a:cubicBezTo>
                    <a:pt x="5634962" y="6077456"/>
                    <a:pt x="5467509" y="6243625"/>
                    <a:pt x="5294358" y="6397505"/>
                  </a:cubicBezTo>
                  <a:lnTo>
                    <a:pt x="5077178" y="6578439"/>
                  </a:lnTo>
                  <a:lnTo>
                    <a:pt x="1567290" y="6578439"/>
                  </a:lnTo>
                  <a:lnTo>
                    <a:pt x="1508588" y="6535186"/>
                  </a:lnTo>
                  <a:cubicBezTo>
                    <a:pt x="1263991" y="6345442"/>
                    <a:pt x="1038054" y="6122666"/>
                    <a:pt x="826498" y="5876034"/>
                  </a:cubicBezTo>
                  <a:cubicBezTo>
                    <a:pt x="261613" y="5217713"/>
                    <a:pt x="-239182" y="4250314"/>
                    <a:pt x="122403" y="3255655"/>
                  </a:cubicBezTo>
                  <a:cubicBezTo>
                    <a:pt x="607497" y="1921629"/>
                    <a:pt x="393040" y="1662857"/>
                    <a:pt x="1061197" y="984650"/>
                  </a:cubicBezTo>
                  <a:cubicBezTo>
                    <a:pt x="1729484" y="306444"/>
                    <a:pt x="2498060" y="0"/>
                    <a:pt x="3517682"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Freeform: Shape 30">
              <a:extLst>
                <a:ext uri="{FF2B5EF4-FFF2-40B4-BE49-F238E27FC236}">
                  <a16:creationId xmlns:a16="http://schemas.microsoft.com/office/drawing/2014/main" id="{33B89F41-1D91-447A-88C5-8A917809FEE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96000" y="52997"/>
              <a:ext cx="6093362" cy="6805004"/>
            </a:xfrm>
            <a:custGeom>
              <a:avLst/>
              <a:gdLst>
                <a:gd name="connsiteX0" fmla="*/ 5890490 w 5890490"/>
                <a:gd name="connsiteY0" fmla="*/ 5389037 h 6578439"/>
                <a:gd name="connsiteX1" fmla="*/ 5890490 w 5890490"/>
                <a:gd name="connsiteY1" fmla="*/ 5855587 h 6578439"/>
                <a:gd name="connsiteX2" fmla="*/ 5784593 w 5890490"/>
                <a:gd name="connsiteY2" fmla="*/ 5962054 h 6578439"/>
                <a:gd name="connsiteX3" fmla="*/ 5663414 w 5890490"/>
                <a:gd name="connsiteY3" fmla="*/ 6082564 h 6578439"/>
                <a:gd name="connsiteX4" fmla="*/ 5147099 w 5890490"/>
                <a:gd name="connsiteY4" fmla="*/ 6547726 h 6578439"/>
                <a:gd name="connsiteX5" fmla="*/ 5105015 w 5890490"/>
                <a:gd name="connsiteY5" fmla="*/ 6578439 h 6578439"/>
                <a:gd name="connsiteX6" fmla="*/ 4385601 w 5890490"/>
                <a:gd name="connsiteY6" fmla="*/ 6578439 h 6578439"/>
                <a:gd name="connsiteX7" fmla="*/ 4507252 w 5890490"/>
                <a:gd name="connsiteY7" fmla="*/ 6515968 h 6578439"/>
                <a:gd name="connsiteX8" fmla="*/ 4909330 w 5890490"/>
                <a:gd name="connsiteY8" fmla="*/ 6253453 h 6578439"/>
                <a:gd name="connsiteX9" fmla="*/ 5411374 w 5890490"/>
                <a:gd name="connsiteY9" fmla="*/ 5828544 h 6578439"/>
                <a:gd name="connsiteX10" fmla="*/ 5533570 w 5890490"/>
                <a:gd name="connsiteY10" fmla="*/ 5714534 h 6578439"/>
                <a:gd name="connsiteX11" fmla="*/ 5657425 w 5890490"/>
                <a:gd name="connsiteY11" fmla="*/ 5597650 h 6578439"/>
                <a:gd name="connsiteX12" fmla="*/ 3336813 w 5890490"/>
                <a:gd name="connsiteY12" fmla="*/ 499 h 6578439"/>
                <a:gd name="connsiteX13" fmla="*/ 3513674 w 5890490"/>
                <a:gd name="connsiteY13" fmla="*/ 1202 h 6578439"/>
                <a:gd name="connsiteX14" fmla="*/ 3602743 w 5890490"/>
                <a:gd name="connsiteY14" fmla="*/ 4827 h 6578439"/>
                <a:gd name="connsiteX15" fmla="*/ 3647213 w 5890490"/>
                <a:gd name="connsiteY15" fmla="*/ 6703 h 6578439"/>
                <a:gd name="connsiteX16" fmla="*/ 3691684 w 5890490"/>
                <a:gd name="connsiteY16" fmla="*/ 9453 h 6578439"/>
                <a:gd name="connsiteX17" fmla="*/ 3868927 w 5890490"/>
                <a:gd name="connsiteY17" fmla="*/ 27080 h 6578439"/>
                <a:gd name="connsiteX18" fmla="*/ 5200872 w 5890490"/>
                <a:gd name="connsiteY18" fmla="*/ 472240 h 6578439"/>
                <a:gd name="connsiteX19" fmla="*/ 5772711 w 5890490"/>
                <a:gd name="connsiteY19" fmla="*/ 866334 h 6578439"/>
                <a:gd name="connsiteX20" fmla="*/ 5890490 w 5890490"/>
                <a:gd name="connsiteY20" fmla="*/ 972426 h 6578439"/>
                <a:gd name="connsiteX21" fmla="*/ 5890490 w 5890490"/>
                <a:gd name="connsiteY21" fmla="*/ 1158576 h 6578439"/>
                <a:gd name="connsiteX22" fmla="*/ 5676045 w 5890490"/>
                <a:gd name="connsiteY22" fmla="*/ 986969 h 6578439"/>
                <a:gd name="connsiteX23" fmla="*/ 5103776 w 5890490"/>
                <a:gd name="connsiteY23" fmla="*/ 655879 h 6578439"/>
                <a:gd name="connsiteX24" fmla="*/ 4482465 w 5890490"/>
                <a:gd name="connsiteY24" fmla="*/ 440363 h 6578439"/>
                <a:gd name="connsiteX25" fmla="*/ 4402444 w 5890490"/>
                <a:gd name="connsiteY25" fmla="*/ 422111 h 6578439"/>
                <a:gd name="connsiteX26" fmla="*/ 4322423 w 5890490"/>
                <a:gd name="connsiteY26" fmla="*/ 404610 h 6578439"/>
                <a:gd name="connsiteX27" fmla="*/ 4241892 w 5890490"/>
                <a:gd name="connsiteY27" fmla="*/ 389858 h 6578439"/>
                <a:gd name="connsiteX28" fmla="*/ 4201627 w 5890490"/>
                <a:gd name="connsiteY28" fmla="*/ 382483 h 6578439"/>
                <a:gd name="connsiteX29" fmla="*/ 4161234 w 5890490"/>
                <a:gd name="connsiteY29" fmla="*/ 375857 h 6578439"/>
                <a:gd name="connsiteX30" fmla="*/ 3999280 w 5890490"/>
                <a:gd name="connsiteY30" fmla="*/ 353606 h 6578439"/>
                <a:gd name="connsiteX31" fmla="*/ 3836817 w 5890490"/>
                <a:gd name="connsiteY31" fmla="*/ 338480 h 6578439"/>
                <a:gd name="connsiteX32" fmla="*/ 3673972 w 5890490"/>
                <a:gd name="connsiteY32" fmla="*/ 330604 h 6578439"/>
                <a:gd name="connsiteX33" fmla="*/ 3511126 w 5890490"/>
                <a:gd name="connsiteY33" fmla="*/ 328978 h 6578439"/>
                <a:gd name="connsiteX34" fmla="*/ 3183142 w 5890490"/>
                <a:gd name="connsiteY34" fmla="*/ 342854 h 6578439"/>
                <a:gd name="connsiteX35" fmla="*/ 2541444 w 5890490"/>
                <a:gd name="connsiteY35" fmla="*/ 439988 h 6578439"/>
                <a:gd name="connsiteX36" fmla="*/ 1933895 w 5890490"/>
                <a:gd name="connsiteY36" fmla="*/ 650505 h 6578439"/>
                <a:gd name="connsiteX37" fmla="*/ 1378079 w 5890490"/>
                <a:gd name="connsiteY37" fmla="*/ 983905 h 6578439"/>
                <a:gd name="connsiteX38" fmla="*/ 1312967 w 5890490"/>
                <a:gd name="connsiteY38" fmla="*/ 1033660 h 6578439"/>
                <a:gd name="connsiteX39" fmla="*/ 1248364 w 5890490"/>
                <a:gd name="connsiteY39" fmla="*/ 1084413 h 6578439"/>
                <a:gd name="connsiteX40" fmla="*/ 1185163 w 5890490"/>
                <a:gd name="connsiteY40" fmla="*/ 1137168 h 6578439"/>
                <a:gd name="connsiteX41" fmla="*/ 1122852 w 5890490"/>
                <a:gd name="connsiteY41" fmla="*/ 1190922 h 6578439"/>
                <a:gd name="connsiteX42" fmla="*/ 892092 w 5890490"/>
                <a:gd name="connsiteY42" fmla="*/ 1421440 h 6578439"/>
                <a:gd name="connsiteX43" fmla="*/ 707202 w 5890490"/>
                <a:gd name="connsiteY43" fmla="*/ 1684212 h 6578439"/>
                <a:gd name="connsiteX44" fmla="*/ 670121 w 5890490"/>
                <a:gd name="connsiteY44" fmla="*/ 1756093 h 6578439"/>
                <a:gd name="connsiteX45" fmla="*/ 637630 w 5890490"/>
                <a:gd name="connsiteY45" fmla="*/ 1830724 h 6578439"/>
                <a:gd name="connsiteX46" fmla="*/ 607685 w 5890490"/>
                <a:gd name="connsiteY46" fmla="*/ 1907105 h 6578439"/>
                <a:gd name="connsiteX47" fmla="*/ 580034 w 5890490"/>
                <a:gd name="connsiteY47" fmla="*/ 1984986 h 6578439"/>
                <a:gd name="connsiteX48" fmla="*/ 481919 w 5890490"/>
                <a:gd name="connsiteY48" fmla="*/ 2304386 h 6578439"/>
                <a:gd name="connsiteX49" fmla="*/ 433881 w 5890490"/>
                <a:gd name="connsiteY49" fmla="*/ 2465399 h 6578439"/>
                <a:gd name="connsiteX50" fmla="*/ 384442 w 5890490"/>
                <a:gd name="connsiteY50" fmla="*/ 2626163 h 6578439"/>
                <a:gd name="connsiteX51" fmla="*/ 166039 w 5890490"/>
                <a:gd name="connsiteY51" fmla="*/ 3261338 h 6578439"/>
                <a:gd name="connsiteX52" fmla="*/ 56202 w 5890490"/>
                <a:gd name="connsiteY52" fmla="*/ 3910265 h 6578439"/>
                <a:gd name="connsiteX53" fmla="*/ 93664 w 5890490"/>
                <a:gd name="connsiteY53" fmla="*/ 4237292 h 6578439"/>
                <a:gd name="connsiteX54" fmla="*/ 111758 w 5890490"/>
                <a:gd name="connsiteY54" fmla="*/ 4317548 h 6578439"/>
                <a:gd name="connsiteX55" fmla="*/ 133038 w 5890490"/>
                <a:gd name="connsiteY55" fmla="*/ 4397054 h 6578439"/>
                <a:gd name="connsiteX56" fmla="*/ 157757 w 5890490"/>
                <a:gd name="connsiteY56" fmla="*/ 4475560 h 6578439"/>
                <a:gd name="connsiteX57" fmla="*/ 185153 w 5890490"/>
                <a:gd name="connsiteY57" fmla="*/ 4553066 h 6578439"/>
                <a:gd name="connsiteX58" fmla="*/ 493642 w 5890490"/>
                <a:gd name="connsiteY58" fmla="*/ 5132239 h 6578439"/>
                <a:gd name="connsiteX59" fmla="*/ 914391 w 5890490"/>
                <a:gd name="connsiteY59" fmla="*/ 5636528 h 6578439"/>
                <a:gd name="connsiteX60" fmla="*/ 1402034 w 5890490"/>
                <a:gd name="connsiteY60" fmla="*/ 6076188 h 6578439"/>
                <a:gd name="connsiteX61" fmla="*/ 1664397 w 5890490"/>
                <a:gd name="connsiteY61" fmla="*/ 6267079 h 6578439"/>
                <a:gd name="connsiteX62" fmla="*/ 1938992 w 5890490"/>
                <a:gd name="connsiteY62" fmla="*/ 6434343 h 6578439"/>
                <a:gd name="connsiteX63" fmla="*/ 2225931 w 5890490"/>
                <a:gd name="connsiteY63" fmla="*/ 6574322 h 6578439"/>
                <a:gd name="connsiteX64" fmla="*/ 2236328 w 5890490"/>
                <a:gd name="connsiteY64" fmla="*/ 6578439 h 6578439"/>
                <a:gd name="connsiteX65" fmla="*/ 1504665 w 5890490"/>
                <a:gd name="connsiteY65" fmla="*/ 6578439 h 6578439"/>
                <a:gd name="connsiteX66" fmla="*/ 1456827 w 5890490"/>
                <a:gd name="connsiteY66" fmla="*/ 6543476 h 6578439"/>
                <a:gd name="connsiteX67" fmla="*/ 1188475 w 5890490"/>
                <a:gd name="connsiteY67" fmla="*/ 6314083 h 6578439"/>
                <a:gd name="connsiteX68" fmla="*/ 721728 w 5890490"/>
                <a:gd name="connsiteY68" fmla="*/ 5798666 h 6578439"/>
                <a:gd name="connsiteX69" fmla="*/ 344175 w 5890490"/>
                <a:gd name="connsiteY69" fmla="*/ 5219495 h 6578439"/>
                <a:gd name="connsiteX70" fmla="*/ 87293 w 5890490"/>
                <a:gd name="connsiteY70" fmla="*/ 4583569 h 6578439"/>
                <a:gd name="connsiteX71" fmla="*/ 65886 w 5890490"/>
                <a:gd name="connsiteY71" fmla="*/ 4500813 h 6578439"/>
                <a:gd name="connsiteX72" fmla="*/ 47409 w 5890490"/>
                <a:gd name="connsiteY72" fmla="*/ 4417431 h 6578439"/>
                <a:gd name="connsiteX73" fmla="*/ 39000 w 5890490"/>
                <a:gd name="connsiteY73" fmla="*/ 4375677 h 6578439"/>
                <a:gd name="connsiteX74" fmla="*/ 31610 w 5890490"/>
                <a:gd name="connsiteY74" fmla="*/ 4333674 h 6578439"/>
                <a:gd name="connsiteX75" fmla="*/ 18868 w 5890490"/>
                <a:gd name="connsiteY75" fmla="*/ 4249417 h 6578439"/>
                <a:gd name="connsiteX76" fmla="*/ 646 w 5890490"/>
                <a:gd name="connsiteY76" fmla="*/ 3910265 h 6578439"/>
                <a:gd name="connsiteX77" fmla="*/ 130234 w 5890490"/>
                <a:gd name="connsiteY77" fmla="*/ 3248337 h 6578439"/>
                <a:gd name="connsiteX78" fmla="*/ 335383 w 5890490"/>
                <a:gd name="connsiteY78" fmla="*/ 2611911 h 6578439"/>
                <a:gd name="connsiteX79" fmla="*/ 487272 w 5890490"/>
                <a:gd name="connsiteY79" fmla="*/ 1958609 h 6578439"/>
                <a:gd name="connsiteX80" fmla="*/ 508550 w 5890490"/>
                <a:gd name="connsiteY80" fmla="*/ 1876227 h 6578439"/>
                <a:gd name="connsiteX81" fmla="*/ 531742 w 5890490"/>
                <a:gd name="connsiteY81" fmla="*/ 1793721 h 6578439"/>
                <a:gd name="connsiteX82" fmla="*/ 558245 w 5890490"/>
                <a:gd name="connsiteY82" fmla="*/ 1711465 h 6578439"/>
                <a:gd name="connsiteX83" fmla="*/ 590100 w 5890490"/>
                <a:gd name="connsiteY83" fmla="*/ 1630332 h 6578439"/>
                <a:gd name="connsiteX84" fmla="*/ 758680 w 5890490"/>
                <a:gd name="connsiteY84" fmla="*/ 1322433 h 6578439"/>
                <a:gd name="connsiteX85" fmla="*/ 976317 w 5890490"/>
                <a:gd name="connsiteY85" fmla="*/ 1049286 h 6578439"/>
                <a:gd name="connsiteX86" fmla="*/ 1035314 w 5890490"/>
                <a:gd name="connsiteY86" fmla="*/ 985406 h 6578439"/>
                <a:gd name="connsiteX87" fmla="*/ 1095329 w 5890490"/>
                <a:gd name="connsiteY87" fmla="*/ 922526 h 6578439"/>
                <a:gd name="connsiteX88" fmla="*/ 1157384 w 5890490"/>
                <a:gd name="connsiteY88" fmla="*/ 861271 h 6578439"/>
                <a:gd name="connsiteX89" fmla="*/ 1220841 w 5890490"/>
                <a:gd name="connsiteY89" fmla="*/ 801017 h 6578439"/>
                <a:gd name="connsiteX90" fmla="*/ 1286462 w 5890490"/>
                <a:gd name="connsiteY90" fmla="*/ 742886 h 6578439"/>
                <a:gd name="connsiteX91" fmla="*/ 1353233 w 5890490"/>
                <a:gd name="connsiteY91" fmla="*/ 685632 h 6578439"/>
                <a:gd name="connsiteX92" fmla="*/ 1369924 w 5890490"/>
                <a:gd name="connsiteY92" fmla="*/ 671256 h 6578439"/>
                <a:gd name="connsiteX93" fmla="*/ 1387380 w 5890490"/>
                <a:gd name="connsiteY93" fmla="*/ 657755 h 6578439"/>
                <a:gd name="connsiteX94" fmla="*/ 1422422 w 5890490"/>
                <a:gd name="connsiteY94" fmla="*/ 630877 h 6578439"/>
                <a:gd name="connsiteX95" fmla="*/ 1492759 w 5890490"/>
                <a:gd name="connsiteY95" fmla="*/ 577248 h 6578439"/>
                <a:gd name="connsiteX96" fmla="*/ 1528820 w 5890490"/>
                <a:gd name="connsiteY96" fmla="*/ 551496 h 6578439"/>
                <a:gd name="connsiteX97" fmla="*/ 1565390 w 5890490"/>
                <a:gd name="connsiteY97" fmla="*/ 526370 h 6578439"/>
                <a:gd name="connsiteX98" fmla="*/ 1639040 w 5890490"/>
                <a:gd name="connsiteY98" fmla="*/ 476490 h 6578439"/>
                <a:gd name="connsiteX99" fmla="*/ 1792075 w 5890490"/>
                <a:gd name="connsiteY99" fmla="*/ 384859 h 6578439"/>
                <a:gd name="connsiteX100" fmla="*/ 2455943 w 5890490"/>
                <a:gd name="connsiteY100" fmla="*/ 117836 h 6578439"/>
                <a:gd name="connsiteX101" fmla="*/ 3159952 w 5890490"/>
                <a:gd name="connsiteY101" fmla="*/ 7203 h 6578439"/>
                <a:gd name="connsiteX102" fmla="*/ 3336813 w 5890490"/>
                <a:gd name="connsiteY102" fmla="*/ 499 h 65784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Lst>
              <a:rect l="l" t="t" r="r" b="b"/>
              <a:pathLst>
                <a:path w="5890490" h="6578439">
                  <a:moveTo>
                    <a:pt x="5890490" y="5389037"/>
                  </a:moveTo>
                  <a:lnTo>
                    <a:pt x="5890490" y="5855587"/>
                  </a:lnTo>
                  <a:lnTo>
                    <a:pt x="5784593" y="5962054"/>
                  </a:lnTo>
                  <a:cubicBezTo>
                    <a:pt x="5744454" y="6002308"/>
                    <a:pt x="5704062" y="6042436"/>
                    <a:pt x="5663414" y="6082564"/>
                  </a:cubicBezTo>
                  <a:cubicBezTo>
                    <a:pt x="5500314" y="6242577"/>
                    <a:pt x="5330970" y="6400714"/>
                    <a:pt x="5147099" y="6547726"/>
                  </a:cubicBezTo>
                  <a:lnTo>
                    <a:pt x="5105015" y="6578439"/>
                  </a:lnTo>
                  <a:lnTo>
                    <a:pt x="4385601" y="6578439"/>
                  </a:lnTo>
                  <a:lnTo>
                    <a:pt x="4507252" y="6515968"/>
                  </a:lnTo>
                  <a:cubicBezTo>
                    <a:pt x="4645901" y="6439679"/>
                    <a:pt x="4779837" y="6350961"/>
                    <a:pt x="4909330" y="6253453"/>
                  </a:cubicBezTo>
                  <a:cubicBezTo>
                    <a:pt x="5082369" y="6123567"/>
                    <a:pt x="5248145" y="5979180"/>
                    <a:pt x="5411374" y="5828544"/>
                  </a:cubicBezTo>
                  <a:cubicBezTo>
                    <a:pt x="5452149" y="5790791"/>
                    <a:pt x="5492924" y="5752788"/>
                    <a:pt x="5533570" y="5714534"/>
                  </a:cubicBezTo>
                  <a:lnTo>
                    <a:pt x="5657425" y="5597650"/>
                  </a:lnTo>
                  <a:close/>
                  <a:moveTo>
                    <a:pt x="3336813" y="499"/>
                  </a:moveTo>
                  <a:cubicBezTo>
                    <a:pt x="3395682" y="-392"/>
                    <a:pt x="3454550" y="-48"/>
                    <a:pt x="3513674" y="1202"/>
                  </a:cubicBezTo>
                  <a:lnTo>
                    <a:pt x="3602743" y="4827"/>
                  </a:lnTo>
                  <a:lnTo>
                    <a:pt x="3647213" y="6703"/>
                  </a:lnTo>
                  <a:cubicBezTo>
                    <a:pt x="3661994" y="7327"/>
                    <a:pt x="3676903" y="7703"/>
                    <a:pt x="3691684" y="9453"/>
                  </a:cubicBezTo>
                  <a:lnTo>
                    <a:pt x="3868927" y="27080"/>
                  </a:lnTo>
                  <a:cubicBezTo>
                    <a:pt x="4340645" y="85584"/>
                    <a:pt x="4795160" y="243221"/>
                    <a:pt x="5200872" y="472240"/>
                  </a:cubicBezTo>
                  <a:cubicBezTo>
                    <a:pt x="5403855" y="587124"/>
                    <a:pt x="5594988" y="719447"/>
                    <a:pt x="5772711" y="866334"/>
                  </a:cubicBezTo>
                  <a:lnTo>
                    <a:pt x="5890490" y="972426"/>
                  </a:lnTo>
                  <a:lnTo>
                    <a:pt x="5890490" y="1158576"/>
                  </a:lnTo>
                  <a:lnTo>
                    <a:pt x="5676045" y="986969"/>
                  </a:lnTo>
                  <a:cubicBezTo>
                    <a:pt x="5496587" y="857740"/>
                    <a:pt x="5304275" y="746699"/>
                    <a:pt x="5103776" y="655879"/>
                  </a:cubicBezTo>
                  <a:cubicBezTo>
                    <a:pt x="4903214" y="564747"/>
                    <a:pt x="4695006" y="492492"/>
                    <a:pt x="4482465" y="440363"/>
                  </a:cubicBezTo>
                  <a:lnTo>
                    <a:pt x="4402444" y="422111"/>
                  </a:lnTo>
                  <a:cubicBezTo>
                    <a:pt x="4375813" y="416111"/>
                    <a:pt x="4349436" y="408859"/>
                    <a:pt x="4322423" y="404610"/>
                  </a:cubicBezTo>
                  <a:lnTo>
                    <a:pt x="4241892" y="389858"/>
                  </a:lnTo>
                  <a:lnTo>
                    <a:pt x="4201627" y="382483"/>
                  </a:lnTo>
                  <a:cubicBezTo>
                    <a:pt x="4188248" y="379983"/>
                    <a:pt x="4174869" y="377483"/>
                    <a:pt x="4161234" y="375857"/>
                  </a:cubicBezTo>
                  <a:cubicBezTo>
                    <a:pt x="4107208" y="368482"/>
                    <a:pt x="4053308" y="360482"/>
                    <a:pt x="3999280" y="353606"/>
                  </a:cubicBezTo>
                  <a:cubicBezTo>
                    <a:pt x="3944999" y="348855"/>
                    <a:pt x="3890844" y="343854"/>
                    <a:pt x="3836817" y="338480"/>
                  </a:cubicBezTo>
                  <a:lnTo>
                    <a:pt x="3673972" y="330604"/>
                  </a:lnTo>
                  <a:cubicBezTo>
                    <a:pt x="3619690" y="329104"/>
                    <a:pt x="3565281" y="329604"/>
                    <a:pt x="3511126" y="328978"/>
                  </a:cubicBezTo>
                  <a:cubicBezTo>
                    <a:pt x="3402054" y="330728"/>
                    <a:pt x="3291706" y="334604"/>
                    <a:pt x="3183142" y="342854"/>
                  </a:cubicBezTo>
                  <a:cubicBezTo>
                    <a:pt x="2965505" y="358855"/>
                    <a:pt x="2750670" y="389733"/>
                    <a:pt x="2541444" y="439988"/>
                  </a:cubicBezTo>
                  <a:cubicBezTo>
                    <a:pt x="2332216" y="490117"/>
                    <a:pt x="2128850" y="559997"/>
                    <a:pt x="1933895" y="650505"/>
                  </a:cubicBezTo>
                  <a:cubicBezTo>
                    <a:pt x="1738939" y="741261"/>
                    <a:pt x="1553540" y="854146"/>
                    <a:pt x="1378079" y="983905"/>
                  </a:cubicBezTo>
                  <a:lnTo>
                    <a:pt x="1312967" y="1033660"/>
                  </a:lnTo>
                  <a:cubicBezTo>
                    <a:pt x="1291178" y="1050286"/>
                    <a:pt x="1269006" y="1066412"/>
                    <a:pt x="1248364" y="1084413"/>
                  </a:cubicBezTo>
                  <a:lnTo>
                    <a:pt x="1185163" y="1137168"/>
                  </a:lnTo>
                  <a:cubicBezTo>
                    <a:pt x="1164138" y="1154794"/>
                    <a:pt x="1142603" y="1172046"/>
                    <a:pt x="1122852" y="1190922"/>
                  </a:cubicBezTo>
                  <a:cubicBezTo>
                    <a:pt x="1041557" y="1264303"/>
                    <a:pt x="961663" y="1339309"/>
                    <a:pt x="892092" y="1421440"/>
                  </a:cubicBezTo>
                  <a:cubicBezTo>
                    <a:pt x="819589" y="1501822"/>
                    <a:pt x="759827" y="1590329"/>
                    <a:pt x="707202" y="1684212"/>
                  </a:cubicBezTo>
                  <a:cubicBezTo>
                    <a:pt x="694715" y="1708089"/>
                    <a:pt x="682227" y="1731841"/>
                    <a:pt x="670121" y="1756093"/>
                  </a:cubicBezTo>
                  <a:lnTo>
                    <a:pt x="637630" y="1830724"/>
                  </a:lnTo>
                  <a:cubicBezTo>
                    <a:pt x="626161" y="1855350"/>
                    <a:pt x="617624" y="1881603"/>
                    <a:pt x="607685" y="1907105"/>
                  </a:cubicBezTo>
                  <a:cubicBezTo>
                    <a:pt x="598128" y="1932857"/>
                    <a:pt x="588317" y="1958483"/>
                    <a:pt x="580034" y="1984986"/>
                  </a:cubicBezTo>
                  <a:cubicBezTo>
                    <a:pt x="544611" y="2089620"/>
                    <a:pt x="513393" y="2197128"/>
                    <a:pt x="481919" y="2304386"/>
                  </a:cubicBezTo>
                  <a:lnTo>
                    <a:pt x="433881" y="2465399"/>
                  </a:lnTo>
                  <a:lnTo>
                    <a:pt x="384442" y="2626163"/>
                  </a:lnTo>
                  <a:cubicBezTo>
                    <a:pt x="317672" y="2839680"/>
                    <a:pt x="243129" y="3050946"/>
                    <a:pt x="166039" y="3261338"/>
                  </a:cubicBezTo>
                  <a:cubicBezTo>
                    <a:pt x="88822" y="3468979"/>
                    <a:pt x="50850" y="3690248"/>
                    <a:pt x="56202" y="3910265"/>
                  </a:cubicBezTo>
                  <a:cubicBezTo>
                    <a:pt x="58495" y="4020274"/>
                    <a:pt x="71493" y="4129783"/>
                    <a:pt x="93664" y="4237292"/>
                  </a:cubicBezTo>
                  <a:cubicBezTo>
                    <a:pt x="99143" y="4264168"/>
                    <a:pt x="104623" y="4291045"/>
                    <a:pt x="111758" y="4317548"/>
                  </a:cubicBezTo>
                  <a:cubicBezTo>
                    <a:pt x="118384" y="4344176"/>
                    <a:pt x="124627" y="4370802"/>
                    <a:pt x="133038" y="4397054"/>
                  </a:cubicBezTo>
                  <a:cubicBezTo>
                    <a:pt x="140810" y="4423307"/>
                    <a:pt x="148456" y="4449683"/>
                    <a:pt x="157757" y="4475560"/>
                  </a:cubicBezTo>
                  <a:cubicBezTo>
                    <a:pt x="166549" y="4501562"/>
                    <a:pt x="175087" y="4527564"/>
                    <a:pt x="185153" y="4553066"/>
                  </a:cubicBezTo>
                  <a:cubicBezTo>
                    <a:pt x="262371" y="4758458"/>
                    <a:pt x="368895" y="4951974"/>
                    <a:pt x="493642" y="5132239"/>
                  </a:cubicBezTo>
                  <a:cubicBezTo>
                    <a:pt x="618389" y="5312627"/>
                    <a:pt x="760846" y="5480391"/>
                    <a:pt x="914391" y="5636528"/>
                  </a:cubicBezTo>
                  <a:cubicBezTo>
                    <a:pt x="1069081" y="5793166"/>
                    <a:pt x="1231544" y="5941677"/>
                    <a:pt x="1402034" y="6076188"/>
                  </a:cubicBezTo>
                  <a:cubicBezTo>
                    <a:pt x="1487535" y="6143320"/>
                    <a:pt x="1574565" y="6207574"/>
                    <a:pt x="1664397" y="6267079"/>
                  </a:cubicBezTo>
                  <a:cubicBezTo>
                    <a:pt x="1753592" y="6327459"/>
                    <a:pt x="1845336" y="6383088"/>
                    <a:pt x="1938992" y="6434343"/>
                  </a:cubicBezTo>
                  <a:cubicBezTo>
                    <a:pt x="2032647" y="6485659"/>
                    <a:pt x="2128309" y="6532600"/>
                    <a:pt x="2225931" y="6574322"/>
                  </a:cubicBezTo>
                  <a:lnTo>
                    <a:pt x="2236328" y="6578439"/>
                  </a:lnTo>
                  <a:lnTo>
                    <a:pt x="1504665" y="6578439"/>
                  </a:lnTo>
                  <a:lnTo>
                    <a:pt x="1456827" y="6543476"/>
                  </a:lnTo>
                  <a:cubicBezTo>
                    <a:pt x="1363554" y="6470595"/>
                    <a:pt x="1273848" y="6394340"/>
                    <a:pt x="1188475" y="6314083"/>
                  </a:cubicBezTo>
                  <a:cubicBezTo>
                    <a:pt x="1017856" y="6153445"/>
                    <a:pt x="863803" y="5979931"/>
                    <a:pt x="721728" y="5798666"/>
                  </a:cubicBezTo>
                  <a:cubicBezTo>
                    <a:pt x="579397" y="5616027"/>
                    <a:pt x="452103" y="5422511"/>
                    <a:pt x="344175" y="5219495"/>
                  </a:cubicBezTo>
                  <a:cubicBezTo>
                    <a:pt x="236505" y="5016354"/>
                    <a:pt x="147946" y="4803586"/>
                    <a:pt x="87293" y="4583569"/>
                  </a:cubicBezTo>
                  <a:cubicBezTo>
                    <a:pt x="79138" y="4556193"/>
                    <a:pt x="72639" y="4528440"/>
                    <a:pt x="65886" y="4500813"/>
                  </a:cubicBezTo>
                  <a:cubicBezTo>
                    <a:pt x="58751" y="4473311"/>
                    <a:pt x="53144" y="4445308"/>
                    <a:pt x="47409" y="4417431"/>
                  </a:cubicBezTo>
                  <a:cubicBezTo>
                    <a:pt x="44733" y="4403430"/>
                    <a:pt x="41294" y="4389679"/>
                    <a:pt x="39000" y="4375677"/>
                  </a:cubicBezTo>
                  <a:lnTo>
                    <a:pt x="31610" y="4333674"/>
                  </a:lnTo>
                  <a:cubicBezTo>
                    <a:pt x="26258" y="4305797"/>
                    <a:pt x="22563" y="4277544"/>
                    <a:pt x="18868" y="4249417"/>
                  </a:cubicBezTo>
                  <a:cubicBezTo>
                    <a:pt x="4214" y="4136784"/>
                    <a:pt x="-2158" y="4023275"/>
                    <a:pt x="646" y="3910265"/>
                  </a:cubicBezTo>
                  <a:cubicBezTo>
                    <a:pt x="5997" y="3683872"/>
                    <a:pt x="50596" y="3459605"/>
                    <a:pt x="130234" y="3248337"/>
                  </a:cubicBezTo>
                  <a:cubicBezTo>
                    <a:pt x="207961" y="3039196"/>
                    <a:pt x="278044" y="2827179"/>
                    <a:pt x="335383" y="2611911"/>
                  </a:cubicBezTo>
                  <a:cubicBezTo>
                    <a:pt x="393743" y="2396644"/>
                    <a:pt x="435792" y="2178627"/>
                    <a:pt x="487272" y="1958609"/>
                  </a:cubicBezTo>
                  <a:cubicBezTo>
                    <a:pt x="493259" y="1931107"/>
                    <a:pt x="501287" y="1903730"/>
                    <a:pt x="508550" y="1876227"/>
                  </a:cubicBezTo>
                  <a:cubicBezTo>
                    <a:pt x="516195" y="1848725"/>
                    <a:pt x="522312" y="1820972"/>
                    <a:pt x="531742" y="1793721"/>
                  </a:cubicBezTo>
                  <a:lnTo>
                    <a:pt x="558245" y="1711465"/>
                  </a:lnTo>
                  <a:cubicBezTo>
                    <a:pt x="568439" y="1684337"/>
                    <a:pt x="579652" y="1657459"/>
                    <a:pt x="590100" y="1630332"/>
                  </a:cubicBezTo>
                  <a:cubicBezTo>
                    <a:pt x="635080" y="1523075"/>
                    <a:pt x="690637" y="1417566"/>
                    <a:pt x="758680" y="1322433"/>
                  </a:cubicBezTo>
                  <a:cubicBezTo>
                    <a:pt x="824430" y="1225051"/>
                    <a:pt x="899610" y="1136168"/>
                    <a:pt x="976317" y="1049286"/>
                  </a:cubicBezTo>
                  <a:cubicBezTo>
                    <a:pt x="995049" y="1027035"/>
                    <a:pt x="1015436" y="1006533"/>
                    <a:pt x="1035314" y="985406"/>
                  </a:cubicBezTo>
                  <a:lnTo>
                    <a:pt x="1095329" y="922526"/>
                  </a:lnTo>
                  <a:cubicBezTo>
                    <a:pt x="1114953" y="901149"/>
                    <a:pt x="1136359" y="881397"/>
                    <a:pt x="1157384" y="861271"/>
                  </a:cubicBezTo>
                  <a:lnTo>
                    <a:pt x="1220841" y="801017"/>
                  </a:lnTo>
                  <a:cubicBezTo>
                    <a:pt x="1241610" y="780514"/>
                    <a:pt x="1264418" y="762014"/>
                    <a:pt x="1286462" y="742886"/>
                  </a:cubicBezTo>
                  <a:lnTo>
                    <a:pt x="1353233" y="685632"/>
                  </a:lnTo>
                  <a:lnTo>
                    <a:pt x="1369924" y="671256"/>
                  </a:lnTo>
                  <a:cubicBezTo>
                    <a:pt x="1375658" y="666631"/>
                    <a:pt x="1381520" y="662255"/>
                    <a:pt x="1387380" y="657755"/>
                  </a:cubicBezTo>
                  <a:lnTo>
                    <a:pt x="1422422" y="630877"/>
                  </a:lnTo>
                  <a:lnTo>
                    <a:pt x="1492759" y="577248"/>
                  </a:lnTo>
                  <a:cubicBezTo>
                    <a:pt x="1504355" y="567997"/>
                    <a:pt x="1516714" y="559997"/>
                    <a:pt x="1528820" y="551496"/>
                  </a:cubicBezTo>
                  <a:lnTo>
                    <a:pt x="1565390" y="526370"/>
                  </a:lnTo>
                  <a:lnTo>
                    <a:pt x="1639040" y="476490"/>
                  </a:lnTo>
                  <a:cubicBezTo>
                    <a:pt x="1689754" y="445613"/>
                    <a:pt x="1740723" y="414986"/>
                    <a:pt x="1792075" y="384859"/>
                  </a:cubicBezTo>
                  <a:cubicBezTo>
                    <a:pt x="2000282" y="268724"/>
                    <a:pt x="2224927" y="179467"/>
                    <a:pt x="2455943" y="117836"/>
                  </a:cubicBezTo>
                  <a:cubicBezTo>
                    <a:pt x="2687088" y="55957"/>
                    <a:pt x="2923964" y="21204"/>
                    <a:pt x="3159952" y="7203"/>
                  </a:cubicBezTo>
                  <a:cubicBezTo>
                    <a:pt x="3219076" y="3515"/>
                    <a:pt x="3277945" y="1389"/>
                    <a:pt x="3336813" y="49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Tree>
    <p:extLst>
      <p:ext uri="{BB962C8B-B14F-4D97-AF65-F5344CB8AC3E}">
        <p14:creationId xmlns:p14="http://schemas.microsoft.com/office/powerpoint/2010/main" val="347501039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EEAA30-1943-DD95-2F92-A781F9D61A77}"/>
              </a:ext>
            </a:extLst>
          </p:cNvPr>
          <p:cNvSpPr>
            <a:spLocks noGrp="1"/>
          </p:cNvSpPr>
          <p:nvPr>
            <p:ph type="title"/>
          </p:nvPr>
        </p:nvSpPr>
        <p:spPr/>
        <p:txBody>
          <a:bodyPr/>
          <a:lstStyle/>
          <a:p>
            <a:r>
              <a:rPr lang="en-US" dirty="0"/>
              <a:t>What is a graph?</a:t>
            </a:r>
          </a:p>
        </p:txBody>
      </p:sp>
      <p:pic>
        <p:nvPicPr>
          <p:cNvPr id="5" name="Picture 2">
            <a:extLst>
              <a:ext uri="{FF2B5EF4-FFF2-40B4-BE49-F238E27FC236}">
                <a16:creationId xmlns:a16="http://schemas.microsoft.com/office/drawing/2014/main" id="{9A276E7B-1B36-D356-4253-EA9BA89125E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26000" y="2479729"/>
            <a:ext cx="2540000" cy="1689100"/>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3460AAA6-84F5-ABBC-B444-37A4B4B8AF3C}"/>
              </a:ext>
            </a:extLst>
          </p:cNvPr>
          <p:cNvSpPr txBox="1"/>
          <p:nvPr/>
        </p:nvSpPr>
        <p:spPr>
          <a:xfrm>
            <a:off x="1787160" y="4957870"/>
            <a:ext cx="8617680" cy="369332"/>
          </a:xfrm>
          <a:prstGeom prst="rect">
            <a:avLst/>
          </a:prstGeom>
          <a:noFill/>
        </p:spPr>
        <p:txBody>
          <a:bodyPr wrap="none" rtlCol="0">
            <a:spAutoFit/>
          </a:bodyPr>
          <a:lstStyle/>
          <a:p>
            <a:r>
              <a:rPr lang="en-US"/>
              <a:t>Graph is a mathematical </a:t>
            </a:r>
            <a:r>
              <a:rPr lang="en-US" dirty="0"/>
              <a:t>structures used to model pairwise relations between objects</a:t>
            </a:r>
          </a:p>
        </p:txBody>
      </p:sp>
      <p:sp>
        <p:nvSpPr>
          <p:cNvPr id="7" name="TextBox 6">
            <a:extLst>
              <a:ext uri="{FF2B5EF4-FFF2-40B4-BE49-F238E27FC236}">
                <a16:creationId xmlns:a16="http://schemas.microsoft.com/office/drawing/2014/main" id="{C03E5938-B11D-058B-C660-8DAE544E508A}"/>
              </a:ext>
            </a:extLst>
          </p:cNvPr>
          <p:cNvSpPr txBox="1"/>
          <p:nvPr/>
        </p:nvSpPr>
        <p:spPr>
          <a:xfrm>
            <a:off x="9389630" y="6596390"/>
            <a:ext cx="2802370" cy="261610"/>
          </a:xfrm>
          <a:prstGeom prst="rect">
            <a:avLst/>
          </a:prstGeom>
          <a:noFill/>
        </p:spPr>
        <p:txBody>
          <a:bodyPr wrap="none" rtlCol="0">
            <a:spAutoFit/>
          </a:bodyPr>
          <a:lstStyle/>
          <a:p>
            <a:r>
              <a:rPr lang="en-US" sz="1100" dirty="0"/>
              <a:t>https://</a:t>
            </a:r>
            <a:r>
              <a:rPr lang="en-US" sz="1100" dirty="0" err="1"/>
              <a:t>en.wikipedia.org</a:t>
            </a:r>
            <a:r>
              <a:rPr lang="en-US" sz="1100" dirty="0"/>
              <a:t>/wiki/</a:t>
            </a:r>
            <a:r>
              <a:rPr lang="en-US" sz="1100" dirty="0" err="1"/>
              <a:t>Graph_theory</a:t>
            </a:r>
            <a:endParaRPr lang="en-US" sz="1100" dirty="0"/>
          </a:p>
        </p:txBody>
      </p:sp>
    </p:spTree>
    <p:extLst>
      <p:ext uri="{BB962C8B-B14F-4D97-AF65-F5344CB8AC3E}">
        <p14:creationId xmlns:p14="http://schemas.microsoft.com/office/powerpoint/2010/main" val="240277542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84C1A2-0E0E-4877-1578-68DE0E810E92}"/>
              </a:ext>
            </a:extLst>
          </p:cNvPr>
          <p:cNvSpPr>
            <a:spLocks noGrp="1"/>
          </p:cNvSpPr>
          <p:nvPr>
            <p:ph type="title"/>
          </p:nvPr>
        </p:nvSpPr>
        <p:spPr/>
        <p:txBody>
          <a:bodyPr/>
          <a:lstStyle/>
          <a:p>
            <a:r>
              <a:rPr lang="en-US" dirty="0"/>
              <a:t>Graph Components</a:t>
            </a:r>
          </a:p>
        </p:txBody>
      </p:sp>
      <p:sp>
        <p:nvSpPr>
          <p:cNvPr id="3" name="Content Placeholder 2">
            <a:extLst>
              <a:ext uri="{FF2B5EF4-FFF2-40B4-BE49-F238E27FC236}">
                <a16:creationId xmlns:a16="http://schemas.microsoft.com/office/drawing/2014/main" id="{62638B13-CB52-EB1E-53F4-A74A1E98A6C1}"/>
              </a:ext>
            </a:extLst>
          </p:cNvPr>
          <p:cNvSpPr>
            <a:spLocks noGrp="1"/>
          </p:cNvSpPr>
          <p:nvPr>
            <p:ph idx="1"/>
          </p:nvPr>
        </p:nvSpPr>
        <p:spPr/>
        <p:txBody>
          <a:bodyPr/>
          <a:lstStyle/>
          <a:p>
            <a:r>
              <a:rPr lang="en-US" dirty="0"/>
              <a:t>Node (Vertex)</a:t>
            </a:r>
          </a:p>
          <a:p>
            <a:pPr lvl="1"/>
            <a:r>
              <a:rPr lang="en-US" dirty="0"/>
              <a:t>The main data element from which graphs are constructed</a:t>
            </a:r>
          </a:p>
          <a:p>
            <a:endParaRPr lang="en-US" dirty="0"/>
          </a:p>
          <a:p>
            <a:endParaRPr lang="en-US" dirty="0"/>
          </a:p>
          <a:p>
            <a:r>
              <a:rPr lang="en-US" dirty="0"/>
              <a:t>Relationship (Edge)</a:t>
            </a:r>
          </a:p>
          <a:p>
            <a:pPr lvl="1"/>
            <a:r>
              <a:rPr lang="en-US" dirty="0"/>
              <a:t>A link between two nodes. Has</a:t>
            </a:r>
          </a:p>
          <a:p>
            <a:pPr lvl="2"/>
            <a:r>
              <a:rPr lang="en-US" dirty="0"/>
              <a:t>Direction</a:t>
            </a:r>
          </a:p>
          <a:p>
            <a:pPr lvl="2"/>
            <a:r>
              <a:rPr lang="en-US" dirty="0"/>
              <a:t>Type</a:t>
            </a:r>
          </a:p>
        </p:txBody>
      </p:sp>
      <p:pic>
        <p:nvPicPr>
          <p:cNvPr id="9" name="Picture 8" descr="A diagram of a person with a sign&#10;&#10;AI-generated content may be incorrect.">
            <a:extLst>
              <a:ext uri="{FF2B5EF4-FFF2-40B4-BE49-F238E27FC236}">
                <a16:creationId xmlns:a16="http://schemas.microsoft.com/office/drawing/2014/main" id="{274B380B-12AA-1999-50A4-0F358B7EE8D8}"/>
              </a:ext>
            </a:extLst>
          </p:cNvPr>
          <p:cNvPicPr>
            <a:picLocks noChangeAspect="1"/>
          </p:cNvPicPr>
          <p:nvPr/>
        </p:nvPicPr>
        <p:blipFill>
          <a:blip r:embed="rId2"/>
          <a:stretch>
            <a:fillRect/>
          </a:stretch>
        </p:blipFill>
        <p:spPr>
          <a:xfrm>
            <a:off x="8238165" y="2806700"/>
            <a:ext cx="1244600" cy="3073400"/>
          </a:xfrm>
          <a:prstGeom prst="rect">
            <a:avLst/>
          </a:prstGeom>
        </p:spPr>
      </p:pic>
    </p:spTree>
    <p:extLst>
      <p:ext uri="{BB962C8B-B14F-4D97-AF65-F5344CB8AC3E}">
        <p14:creationId xmlns:p14="http://schemas.microsoft.com/office/powerpoint/2010/main" val="29002257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99AE36-33E6-C46C-F730-B6ED3A6B31FD}"/>
            </a:ext>
          </a:extLst>
        </p:cNvPr>
        <p:cNvGrpSpPr/>
        <p:nvPr/>
      </p:nvGrpSpPr>
      <p:grpSpPr>
        <a:xfrm>
          <a:off x="0" y="0"/>
          <a:ext cx="0" cy="0"/>
          <a:chOff x="0" y="0"/>
          <a:chExt cx="0" cy="0"/>
        </a:xfrm>
      </p:grpSpPr>
      <p:pic>
        <p:nvPicPr>
          <p:cNvPr id="4098" name="Picture 2">
            <a:extLst>
              <a:ext uri="{FF2B5EF4-FFF2-40B4-BE49-F238E27FC236}">
                <a16:creationId xmlns:a16="http://schemas.microsoft.com/office/drawing/2014/main" id="{B5878A7C-2E8A-9499-E2C4-C2CA292BC5C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16058" y="0"/>
            <a:ext cx="10459956" cy="6879873"/>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57CA7A18-4D0D-0D4A-96DF-D76243B62A13}"/>
              </a:ext>
            </a:extLst>
          </p:cNvPr>
          <p:cNvSpPr>
            <a:spLocks noGrp="1"/>
          </p:cNvSpPr>
          <p:nvPr>
            <p:ph type="title"/>
          </p:nvPr>
        </p:nvSpPr>
        <p:spPr>
          <a:xfrm>
            <a:off x="0" y="0"/>
            <a:ext cx="12431233" cy="1325563"/>
          </a:xfrm>
        </p:spPr>
        <p:txBody>
          <a:bodyPr>
            <a:normAutofit/>
          </a:bodyPr>
          <a:lstStyle/>
          <a:p>
            <a:r>
              <a:rPr lang="en-US" sz="4000" dirty="0"/>
              <a:t>Example Graph - Movie</a:t>
            </a:r>
          </a:p>
        </p:txBody>
      </p:sp>
      <p:sp>
        <p:nvSpPr>
          <p:cNvPr id="7" name="TextBox 6">
            <a:extLst>
              <a:ext uri="{FF2B5EF4-FFF2-40B4-BE49-F238E27FC236}">
                <a16:creationId xmlns:a16="http://schemas.microsoft.com/office/drawing/2014/main" id="{664B7A03-543D-9E81-080A-9C2582988C99}"/>
              </a:ext>
            </a:extLst>
          </p:cNvPr>
          <p:cNvSpPr txBox="1"/>
          <p:nvPr/>
        </p:nvSpPr>
        <p:spPr>
          <a:xfrm>
            <a:off x="3317358" y="3249650"/>
            <a:ext cx="6634716" cy="369332"/>
          </a:xfrm>
          <a:prstGeom prst="rect">
            <a:avLst/>
          </a:prstGeom>
          <a:noFill/>
        </p:spPr>
        <p:txBody>
          <a:bodyPr wrap="square">
            <a:spAutoFit/>
          </a:bodyPr>
          <a:lstStyle/>
          <a:p>
            <a:r>
              <a:rPr lang="en-US" b="0" dirty="0">
                <a:effectLst/>
              </a:rPr>
              <a:t> </a:t>
            </a:r>
            <a:endParaRPr lang="en-US" dirty="0"/>
          </a:p>
        </p:txBody>
      </p:sp>
      <p:sp>
        <p:nvSpPr>
          <p:cNvPr id="10" name="TextBox 9">
            <a:extLst>
              <a:ext uri="{FF2B5EF4-FFF2-40B4-BE49-F238E27FC236}">
                <a16:creationId xmlns:a16="http://schemas.microsoft.com/office/drawing/2014/main" id="{E006490C-6F07-3E36-FD3D-A9ABF5C02E1E}"/>
              </a:ext>
            </a:extLst>
          </p:cNvPr>
          <p:cNvSpPr txBox="1"/>
          <p:nvPr/>
        </p:nvSpPr>
        <p:spPr>
          <a:xfrm>
            <a:off x="3317358" y="3249650"/>
            <a:ext cx="6634716" cy="369332"/>
          </a:xfrm>
          <a:prstGeom prst="rect">
            <a:avLst/>
          </a:prstGeom>
          <a:noFill/>
        </p:spPr>
        <p:txBody>
          <a:bodyPr wrap="square">
            <a:spAutoFit/>
          </a:bodyPr>
          <a:lstStyle/>
          <a:p>
            <a:r>
              <a:rPr lang="en-US" b="0" dirty="0">
                <a:effectLst/>
              </a:rPr>
              <a:t> </a:t>
            </a:r>
            <a:endParaRPr lang="en-US" dirty="0"/>
          </a:p>
        </p:txBody>
      </p:sp>
    </p:spTree>
    <p:extLst>
      <p:ext uri="{BB962C8B-B14F-4D97-AF65-F5344CB8AC3E}">
        <p14:creationId xmlns:p14="http://schemas.microsoft.com/office/powerpoint/2010/main" val="175579496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7FF4DF-558C-5F71-7DB6-BA057739851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524D637-00F3-A72D-D3B6-6EF42D4A53D5}"/>
              </a:ext>
            </a:extLst>
          </p:cNvPr>
          <p:cNvSpPr>
            <a:spLocks noGrp="1"/>
          </p:cNvSpPr>
          <p:nvPr>
            <p:ph type="title"/>
          </p:nvPr>
        </p:nvSpPr>
        <p:spPr/>
        <p:txBody>
          <a:bodyPr/>
          <a:lstStyle/>
          <a:p>
            <a:r>
              <a:rPr lang="en-US" dirty="0"/>
              <a:t>Example: Molecular and RNA Graph</a:t>
            </a:r>
          </a:p>
        </p:txBody>
      </p:sp>
      <p:grpSp>
        <p:nvGrpSpPr>
          <p:cNvPr id="13" name="Group 12">
            <a:extLst>
              <a:ext uri="{FF2B5EF4-FFF2-40B4-BE49-F238E27FC236}">
                <a16:creationId xmlns:a16="http://schemas.microsoft.com/office/drawing/2014/main" id="{BD7528D6-2CDB-6E52-76C2-991127894433}"/>
              </a:ext>
            </a:extLst>
          </p:cNvPr>
          <p:cNvGrpSpPr/>
          <p:nvPr/>
        </p:nvGrpSpPr>
        <p:grpSpPr>
          <a:xfrm>
            <a:off x="-319521" y="1690688"/>
            <a:ext cx="5663046" cy="2336057"/>
            <a:chOff x="262370" y="1973717"/>
            <a:chExt cx="5663046" cy="2336057"/>
          </a:xfrm>
        </p:grpSpPr>
        <p:pic>
          <p:nvPicPr>
            <p:cNvPr id="7172" name="Picture 4">
              <a:extLst>
                <a:ext uri="{FF2B5EF4-FFF2-40B4-BE49-F238E27FC236}">
                  <a16:creationId xmlns:a16="http://schemas.microsoft.com/office/drawing/2014/main" id="{4F074591-AC95-23EE-A3C2-AA40F425862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2370" y="1973717"/>
              <a:ext cx="5663046" cy="1887682"/>
            </a:xfrm>
            <a:prstGeom prst="rect">
              <a:avLst/>
            </a:prstGeom>
            <a:noFill/>
            <a:extLst>
              <a:ext uri="{909E8E84-426E-40DD-AFC4-6F175D3DCCD1}">
                <a14:hiddenFill xmlns:a14="http://schemas.microsoft.com/office/drawing/2010/main">
                  <a:solidFill>
                    <a:srgbClr val="FFFFFF"/>
                  </a:solidFill>
                </a14:hiddenFill>
              </a:ext>
            </a:extLst>
          </p:spPr>
        </p:pic>
        <p:sp>
          <p:nvSpPr>
            <p:cNvPr id="12" name="TextBox 11">
              <a:extLst>
                <a:ext uri="{FF2B5EF4-FFF2-40B4-BE49-F238E27FC236}">
                  <a16:creationId xmlns:a16="http://schemas.microsoft.com/office/drawing/2014/main" id="{AF95811F-DD84-1429-1C68-F54C4B9E269B}"/>
                </a:ext>
              </a:extLst>
            </p:cNvPr>
            <p:cNvSpPr txBox="1"/>
            <p:nvPr/>
          </p:nvSpPr>
          <p:spPr>
            <a:xfrm>
              <a:off x="1553441" y="3940442"/>
              <a:ext cx="3080904" cy="369332"/>
            </a:xfrm>
            <a:prstGeom prst="rect">
              <a:avLst/>
            </a:prstGeom>
            <a:noFill/>
          </p:spPr>
          <p:txBody>
            <a:bodyPr wrap="square">
              <a:spAutoFit/>
            </a:bodyPr>
            <a:lstStyle/>
            <a:p>
              <a:pPr algn="l">
                <a:buNone/>
              </a:pPr>
              <a:r>
                <a:rPr lang="en-US" b="0" i="0" dirty="0">
                  <a:solidFill>
                    <a:srgbClr val="000000"/>
                  </a:solidFill>
                  <a:effectLst/>
                  <a:latin typeface="SFMono-Regular"/>
                </a:rPr>
                <a:t>CC(=O)OC1=CC=CC=C1C(=O)O</a:t>
              </a:r>
            </a:p>
          </p:txBody>
        </p:sp>
      </p:grpSp>
      <p:pic>
        <p:nvPicPr>
          <p:cNvPr id="7174" name="Picture 6">
            <a:extLst>
              <a:ext uri="{FF2B5EF4-FFF2-40B4-BE49-F238E27FC236}">
                <a16:creationId xmlns:a16="http://schemas.microsoft.com/office/drawing/2014/main" id="{44C71728-2864-6651-3C67-A7D0A8862CF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71550" y="4105788"/>
            <a:ext cx="3314907" cy="2244623"/>
          </a:xfrm>
          <a:prstGeom prst="rect">
            <a:avLst/>
          </a:prstGeom>
          <a:noFill/>
          <a:extLst>
            <a:ext uri="{909E8E84-426E-40DD-AFC4-6F175D3DCCD1}">
              <a14:hiddenFill xmlns:a14="http://schemas.microsoft.com/office/drawing/2010/main">
                <a:solidFill>
                  <a:srgbClr val="FFFFFF"/>
                </a:solidFill>
              </a14:hiddenFill>
            </a:ext>
          </a:extLst>
        </p:spPr>
      </p:pic>
      <p:pic>
        <p:nvPicPr>
          <p:cNvPr id="7176" name="Picture 8">
            <a:extLst>
              <a:ext uri="{FF2B5EF4-FFF2-40B4-BE49-F238E27FC236}">
                <a16:creationId xmlns:a16="http://schemas.microsoft.com/office/drawing/2014/main" id="{A3E8E8C1-BE51-983E-182C-F92EFDC36CC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204980" y="1924379"/>
            <a:ext cx="5664200" cy="3835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1178741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DEDB4B-5494-D9CC-8B1E-4F0A7BA8E97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3DC63CD-A3DF-E0EA-4C2F-54B11C45699A}"/>
              </a:ext>
            </a:extLst>
          </p:cNvPr>
          <p:cNvSpPr>
            <a:spLocks noGrp="1"/>
          </p:cNvSpPr>
          <p:nvPr>
            <p:ph type="title"/>
          </p:nvPr>
        </p:nvSpPr>
        <p:spPr/>
        <p:txBody>
          <a:bodyPr/>
          <a:lstStyle/>
          <a:p>
            <a:r>
              <a:rPr lang="en-US" dirty="0"/>
              <a:t>Example: Protein Graph Analytics</a:t>
            </a:r>
          </a:p>
        </p:txBody>
      </p:sp>
      <p:pic>
        <p:nvPicPr>
          <p:cNvPr id="7170" name="Picture 2">
            <a:extLst>
              <a:ext uri="{FF2B5EF4-FFF2-40B4-BE49-F238E27FC236}">
                <a16:creationId xmlns:a16="http://schemas.microsoft.com/office/drawing/2014/main" id="{656A7903-653F-34FC-72C9-CD2AA779E64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1360054"/>
            <a:ext cx="5643419" cy="5643419"/>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descr="A diagram of a molecule&#10;&#10;AI-generated content may be incorrect.">
            <a:extLst>
              <a:ext uri="{FF2B5EF4-FFF2-40B4-BE49-F238E27FC236}">
                <a16:creationId xmlns:a16="http://schemas.microsoft.com/office/drawing/2014/main" id="{2FAD7E07-2A45-2ADD-FDDE-8D639D2649DB}"/>
              </a:ext>
            </a:extLst>
          </p:cNvPr>
          <p:cNvPicPr>
            <a:picLocks noChangeAspect="1"/>
          </p:cNvPicPr>
          <p:nvPr/>
        </p:nvPicPr>
        <p:blipFill>
          <a:blip r:embed="rId4"/>
          <a:stretch>
            <a:fillRect/>
          </a:stretch>
        </p:blipFill>
        <p:spPr>
          <a:xfrm>
            <a:off x="5823526" y="1606549"/>
            <a:ext cx="5530273" cy="5153209"/>
          </a:xfrm>
          <a:prstGeom prst="rect">
            <a:avLst/>
          </a:prstGeom>
        </p:spPr>
      </p:pic>
    </p:spTree>
    <p:extLst>
      <p:ext uri="{BB962C8B-B14F-4D97-AF65-F5344CB8AC3E}">
        <p14:creationId xmlns:p14="http://schemas.microsoft.com/office/powerpoint/2010/main" val="403389334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A498EB-7F3E-075E-02E0-981FC0F6995B}"/>
              </a:ext>
            </a:extLst>
          </p:cNvPr>
          <p:cNvSpPr>
            <a:spLocks noGrp="1"/>
          </p:cNvSpPr>
          <p:nvPr>
            <p:ph type="title"/>
          </p:nvPr>
        </p:nvSpPr>
        <p:spPr/>
        <p:txBody>
          <a:bodyPr/>
          <a:lstStyle/>
          <a:p>
            <a:r>
              <a:rPr lang="en-US" dirty="0"/>
              <a:t>A graph is…</a:t>
            </a:r>
          </a:p>
        </p:txBody>
      </p:sp>
      <p:sp>
        <p:nvSpPr>
          <p:cNvPr id="3" name="Content Placeholder 2">
            <a:extLst>
              <a:ext uri="{FF2B5EF4-FFF2-40B4-BE49-F238E27FC236}">
                <a16:creationId xmlns:a16="http://schemas.microsoft.com/office/drawing/2014/main" id="{7B0D0729-0890-9140-A287-AEF240529504}"/>
              </a:ext>
            </a:extLst>
          </p:cNvPr>
          <p:cNvSpPr>
            <a:spLocks noGrp="1"/>
          </p:cNvSpPr>
          <p:nvPr>
            <p:ph idx="1"/>
          </p:nvPr>
        </p:nvSpPr>
        <p:spPr/>
        <p:txBody>
          <a:bodyPr/>
          <a:lstStyle/>
          <a:p>
            <a:r>
              <a:rPr lang="en-US" dirty="0"/>
              <a:t>A set of discrete entities, each of which has some set of relationships with the other entities</a:t>
            </a:r>
          </a:p>
        </p:txBody>
      </p:sp>
      <p:pic>
        <p:nvPicPr>
          <p:cNvPr id="2054" name="Picture 6">
            <a:extLst>
              <a:ext uri="{FF2B5EF4-FFF2-40B4-BE49-F238E27FC236}">
                <a16:creationId xmlns:a16="http://schemas.microsoft.com/office/drawing/2014/main" id="{FE0A00BD-2E5B-5E11-31A9-FED5253BC99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0579" y="3053354"/>
            <a:ext cx="3835400" cy="3022600"/>
          </a:xfrm>
          <a:prstGeom prst="rect">
            <a:avLst/>
          </a:prstGeom>
          <a:noFill/>
          <a:extLst>
            <a:ext uri="{909E8E84-426E-40DD-AFC4-6F175D3DCCD1}">
              <a14:hiddenFill xmlns:a14="http://schemas.microsoft.com/office/drawing/2010/main">
                <a:solidFill>
                  <a:srgbClr val="FFFFFF"/>
                </a:solidFill>
              </a14:hiddenFill>
            </a:ext>
          </a:extLst>
        </p:spPr>
      </p:pic>
      <p:pic>
        <p:nvPicPr>
          <p:cNvPr id="2056" name="Picture 8">
            <a:extLst>
              <a:ext uri="{FF2B5EF4-FFF2-40B4-BE49-F238E27FC236}">
                <a16:creationId xmlns:a16="http://schemas.microsoft.com/office/drawing/2014/main" id="{77CB4AF9-9D3F-0290-1A38-75D91E7B046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386004" y="3053354"/>
            <a:ext cx="3778250" cy="3022600"/>
          </a:xfrm>
          <a:prstGeom prst="rect">
            <a:avLst/>
          </a:prstGeom>
          <a:noFill/>
          <a:extLst>
            <a:ext uri="{909E8E84-426E-40DD-AFC4-6F175D3DCCD1}">
              <a14:hiddenFill xmlns:a14="http://schemas.microsoft.com/office/drawing/2010/main">
                <a:solidFill>
                  <a:srgbClr val="FFFFFF"/>
                </a:solidFill>
              </a14:hiddenFill>
            </a:ext>
          </a:extLst>
        </p:spPr>
      </p:pic>
      <p:pic>
        <p:nvPicPr>
          <p:cNvPr id="2058" name="Picture 10">
            <a:extLst>
              <a:ext uri="{FF2B5EF4-FFF2-40B4-BE49-F238E27FC236}">
                <a16:creationId xmlns:a16="http://schemas.microsoft.com/office/drawing/2014/main" id="{54DAE93F-C5CB-DF9A-76B6-BD8FA6FF5FC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696325" y="3421654"/>
            <a:ext cx="2857500" cy="2286000"/>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A27F0C4E-325E-3FD7-3416-D774C2398B8A}"/>
              </a:ext>
            </a:extLst>
          </p:cNvPr>
          <p:cNvSpPr txBox="1"/>
          <p:nvPr/>
        </p:nvSpPr>
        <p:spPr>
          <a:xfrm>
            <a:off x="838200" y="6311900"/>
            <a:ext cx="9140456" cy="923330"/>
          </a:xfrm>
          <a:prstGeom prst="rect">
            <a:avLst/>
          </a:prstGeom>
          <a:noFill/>
        </p:spPr>
        <p:txBody>
          <a:bodyPr wrap="square">
            <a:spAutoFit/>
          </a:bodyPr>
          <a:lstStyle/>
          <a:p>
            <a:pPr rtl="0">
              <a:buNone/>
            </a:pPr>
            <a:r>
              <a:rPr lang="en-US" sz="1800" b="0" i="1" u="none" strike="noStrike" dirty="0">
                <a:solidFill>
                  <a:srgbClr val="53585F"/>
                </a:solidFill>
                <a:effectLst/>
                <a:latin typeface="Arial" panose="020B0604020202020204" pitchFamily="34" charset="0"/>
              </a:rPr>
              <a:t>Seven Bridges of Konigsberg problem.  Leonhard Euler,  1735</a:t>
            </a:r>
            <a:endParaRPr lang="en-US" b="0" dirty="0">
              <a:effectLst/>
            </a:endParaRPr>
          </a:p>
          <a:p>
            <a:pPr>
              <a:buNone/>
            </a:pPr>
            <a:br>
              <a:rPr lang="en-US" dirty="0"/>
            </a:br>
            <a:endParaRPr lang="en-US" dirty="0"/>
          </a:p>
        </p:txBody>
      </p:sp>
    </p:spTree>
    <p:extLst>
      <p:ext uri="{BB962C8B-B14F-4D97-AF65-F5344CB8AC3E}">
        <p14:creationId xmlns:p14="http://schemas.microsoft.com/office/powerpoint/2010/main" val="272897617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26083E-3A94-1F9F-DA39-78445C06547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73C2178-3BA5-6B38-2810-E588B4CD0592}"/>
              </a:ext>
            </a:extLst>
          </p:cNvPr>
          <p:cNvSpPr>
            <a:spLocks noGrp="1"/>
          </p:cNvSpPr>
          <p:nvPr>
            <p:ph type="title"/>
          </p:nvPr>
        </p:nvSpPr>
        <p:spPr>
          <a:xfrm>
            <a:off x="838200" y="0"/>
            <a:ext cx="10515600" cy="1325563"/>
          </a:xfrm>
        </p:spPr>
        <p:txBody>
          <a:bodyPr/>
          <a:lstStyle/>
          <a:p>
            <a:r>
              <a:rPr lang="en-US" dirty="0"/>
              <a:t>Graph Database</a:t>
            </a:r>
          </a:p>
        </p:txBody>
      </p:sp>
      <p:sp>
        <p:nvSpPr>
          <p:cNvPr id="3" name="Content Placeholder 2">
            <a:extLst>
              <a:ext uri="{FF2B5EF4-FFF2-40B4-BE49-F238E27FC236}">
                <a16:creationId xmlns:a16="http://schemas.microsoft.com/office/drawing/2014/main" id="{BD4E3C20-7484-C9F3-03C7-19FAA3C1A04F}"/>
              </a:ext>
            </a:extLst>
          </p:cNvPr>
          <p:cNvSpPr>
            <a:spLocks noGrp="1"/>
          </p:cNvSpPr>
          <p:nvPr>
            <p:ph idx="1"/>
          </p:nvPr>
        </p:nvSpPr>
        <p:spPr>
          <a:xfrm>
            <a:off x="838200" y="1301858"/>
            <a:ext cx="10515600" cy="4875105"/>
          </a:xfrm>
        </p:spPr>
        <p:txBody>
          <a:bodyPr>
            <a:normAutofit/>
          </a:bodyPr>
          <a:lstStyle/>
          <a:p>
            <a:r>
              <a:rPr lang="en-US" sz="2400" dirty="0"/>
              <a:t>Node (Vertex)</a:t>
            </a:r>
          </a:p>
          <a:p>
            <a:pPr lvl="1"/>
            <a:r>
              <a:rPr lang="en-US" sz="2000" dirty="0"/>
              <a:t>Label(s): A node can zero, one, or more labels.</a:t>
            </a:r>
          </a:p>
          <a:p>
            <a:pPr lvl="1"/>
            <a:r>
              <a:rPr lang="en-US" sz="2000" dirty="0"/>
              <a:t>Property: Key-value pairs that describes the node.</a:t>
            </a:r>
          </a:p>
          <a:p>
            <a:pPr marL="457200" lvl="1" indent="0">
              <a:buNone/>
            </a:pPr>
            <a:r>
              <a:rPr lang="en-US" sz="1400" dirty="0"/>
              <a:t>MATCH (</a:t>
            </a:r>
            <a:r>
              <a:rPr lang="en-US" sz="1400" dirty="0" err="1"/>
              <a:t>n:Lecture</a:t>
            </a:r>
            <a:r>
              <a:rPr lang="en-US" sz="1400" dirty="0"/>
              <a:t> {program: "ABDS"})</a:t>
            </a:r>
          </a:p>
          <a:p>
            <a:pPr marL="457200" lvl="1" indent="0">
              <a:buNone/>
            </a:pPr>
            <a:r>
              <a:rPr lang="en-US" sz="1400" dirty="0"/>
              <a:t>RETURN n</a:t>
            </a:r>
          </a:p>
          <a:p>
            <a:r>
              <a:rPr lang="en-US" sz="2400" dirty="0"/>
              <a:t>Edge (Relation)</a:t>
            </a:r>
          </a:p>
          <a:p>
            <a:pPr lvl="1"/>
            <a:r>
              <a:rPr lang="en-US" sz="2000" dirty="0"/>
              <a:t>Type: An edge must have ONE type</a:t>
            </a:r>
          </a:p>
          <a:p>
            <a:pPr lvl="1"/>
            <a:r>
              <a:rPr lang="en-US" sz="2000" dirty="0"/>
              <a:t>Property: Key-value pairs that describes the edge.</a:t>
            </a:r>
          </a:p>
          <a:p>
            <a:pPr marL="457200" lvl="1" indent="0">
              <a:buNone/>
            </a:pPr>
            <a:r>
              <a:rPr lang="en-US" sz="1400" dirty="0"/>
              <a:t>MATCH ()-[</a:t>
            </a:r>
            <a:r>
              <a:rPr lang="en-US" sz="1400" dirty="0" err="1"/>
              <a:t>r:HOSTS</a:t>
            </a:r>
            <a:r>
              <a:rPr lang="en-US" sz="1400" dirty="0"/>
              <a:t>]-()</a:t>
            </a:r>
          </a:p>
          <a:p>
            <a:pPr marL="457200" lvl="1" indent="0">
              <a:buNone/>
            </a:pPr>
            <a:r>
              <a:rPr lang="en-US" sz="1400" dirty="0"/>
              <a:t>RETURN r</a:t>
            </a:r>
          </a:p>
          <a:p>
            <a:r>
              <a:rPr lang="en-US" sz="2400" dirty="0"/>
              <a:t>Traversals</a:t>
            </a:r>
          </a:p>
          <a:p>
            <a:pPr lvl="1"/>
            <a:r>
              <a:rPr lang="en-US" sz="2000" dirty="0"/>
              <a:t>The query combines relations and nodes</a:t>
            </a:r>
          </a:p>
          <a:p>
            <a:pPr marL="457200" lvl="1" indent="0">
              <a:buNone/>
            </a:pPr>
            <a:r>
              <a:rPr lang="en-US" sz="1400" dirty="0"/>
              <a:t>MATCH (</a:t>
            </a:r>
            <a:r>
              <a:rPr lang="en-US" sz="1400" dirty="0" err="1"/>
              <a:t>m:MeetingRoom</a:t>
            </a:r>
            <a:r>
              <a:rPr lang="en-US" sz="1400" dirty="0"/>
              <a:t>)-[:HOSTS]-&gt;(</a:t>
            </a:r>
            <a:r>
              <a:rPr lang="en-US" sz="1400" dirty="0" err="1"/>
              <a:t>l:Lecture</a:t>
            </a:r>
            <a:r>
              <a:rPr lang="en-US" sz="1400" dirty="0"/>
              <a:t> {series: "</a:t>
            </a:r>
            <a:r>
              <a:rPr lang="en-US" sz="1400" dirty="0" err="1"/>
              <a:t>DataWrangling</a:t>
            </a:r>
            <a:r>
              <a:rPr lang="en-US" sz="1400" dirty="0"/>
              <a:t>"})</a:t>
            </a:r>
          </a:p>
          <a:p>
            <a:pPr marL="457200" lvl="1" indent="0">
              <a:buNone/>
            </a:pPr>
            <a:r>
              <a:rPr lang="en-US" sz="1400" dirty="0"/>
              <a:t>RETURN </a:t>
            </a:r>
            <a:r>
              <a:rPr lang="en-US" sz="1400" dirty="0" err="1"/>
              <a:t>m.id</a:t>
            </a:r>
            <a:r>
              <a:rPr lang="en-US" sz="1400" dirty="0"/>
              <a:t>, </a:t>
            </a:r>
            <a:r>
              <a:rPr lang="en-US" sz="1400" dirty="0" err="1"/>
              <a:t>m.floor</a:t>
            </a:r>
            <a:endParaRPr lang="en-US" sz="1400" dirty="0"/>
          </a:p>
        </p:txBody>
      </p:sp>
      <p:grpSp>
        <p:nvGrpSpPr>
          <p:cNvPr id="12" name="Group 11">
            <a:extLst>
              <a:ext uri="{FF2B5EF4-FFF2-40B4-BE49-F238E27FC236}">
                <a16:creationId xmlns:a16="http://schemas.microsoft.com/office/drawing/2014/main" id="{8D22E662-0E43-F7FB-6AC4-044CFD2AE765}"/>
              </a:ext>
            </a:extLst>
          </p:cNvPr>
          <p:cNvGrpSpPr/>
          <p:nvPr/>
        </p:nvGrpSpPr>
        <p:grpSpPr>
          <a:xfrm>
            <a:off x="8071927" y="308128"/>
            <a:ext cx="4120073" cy="6464300"/>
            <a:chOff x="8071927" y="308128"/>
            <a:chExt cx="4120073" cy="6464300"/>
          </a:xfrm>
        </p:grpSpPr>
        <p:pic>
          <p:nvPicPr>
            <p:cNvPr id="11" name="Picture 10" descr="A diagram of a computer program&#10;&#10;AI-generated content may be incorrect.">
              <a:extLst>
                <a:ext uri="{FF2B5EF4-FFF2-40B4-BE49-F238E27FC236}">
                  <a16:creationId xmlns:a16="http://schemas.microsoft.com/office/drawing/2014/main" id="{520A5D3B-81B0-CBEF-468A-DFC9486CC00A}"/>
                </a:ext>
              </a:extLst>
            </p:cNvPr>
            <p:cNvPicPr>
              <a:picLocks noChangeAspect="1"/>
            </p:cNvPicPr>
            <p:nvPr/>
          </p:nvPicPr>
          <p:blipFill>
            <a:blip r:embed="rId3"/>
            <a:stretch>
              <a:fillRect/>
            </a:stretch>
          </p:blipFill>
          <p:spPr>
            <a:xfrm>
              <a:off x="8071927" y="308128"/>
              <a:ext cx="3797300" cy="6464300"/>
            </a:xfrm>
            <a:prstGeom prst="rect">
              <a:avLst/>
            </a:prstGeom>
          </p:spPr>
        </p:pic>
        <p:sp>
          <p:nvSpPr>
            <p:cNvPr id="7" name="TextBox 6">
              <a:extLst>
                <a:ext uri="{FF2B5EF4-FFF2-40B4-BE49-F238E27FC236}">
                  <a16:creationId xmlns:a16="http://schemas.microsoft.com/office/drawing/2014/main" id="{EA1AD64E-1C63-EC9E-66BD-17E3CBD5604F}"/>
                </a:ext>
              </a:extLst>
            </p:cNvPr>
            <p:cNvSpPr txBox="1"/>
            <p:nvPr/>
          </p:nvSpPr>
          <p:spPr>
            <a:xfrm>
              <a:off x="10157469" y="3155558"/>
              <a:ext cx="2034531" cy="769441"/>
            </a:xfrm>
            <a:prstGeom prst="rect">
              <a:avLst/>
            </a:prstGeom>
            <a:noFill/>
          </p:spPr>
          <p:txBody>
            <a:bodyPr wrap="none" rtlCol="0">
              <a:spAutoFit/>
            </a:bodyPr>
            <a:lstStyle/>
            <a:p>
              <a:r>
                <a:rPr lang="en-US" sz="1100" dirty="0"/>
                <a:t>{</a:t>
              </a:r>
            </a:p>
            <a:p>
              <a:r>
                <a:rPr lang="en-US" sz="1100" dirty="0" err="1"/>
                <a:t>startTime</a:t>
              </a:r>
              <a:r>
                <a:rPr lang="en-US" sz="1100" dirty="0"/>
                <a:t>: '20251022 9:00:00',</a:t>
              </a:r>
            </a:p>
            <a:p>
              <a:r>
                <a:rPr lang="en-US" sz="1100" dirty="0" err="1"/>
                <a:t>endTime</a:t>
              </a:r>
              <a:r>
                <a:rPr lang="en-US" sz="1100" dirty="0"/>
                <a:t>: '20251022 10:30:00'</a:t>
              </a:r>
            </a:p>
            <a:p>
              <a:r>
                <a:rPr lang="en-US" sz="1100" dirty="0"/>
                <a:t>}</a:t>
              </a:r>
            </a:p>
          </p:txBody>
        </p:sp>
      </p:grpSp>
    </p:spTree>
    <p:extLst>
      <p:ext uri="{BB962C8B-B14F-4D97-AF65-F5344CB8AC3E}">
        <p14:creationId xmlns:p14="http://schemas.microsoft.com/office/powerpoint/2010/main" val="395414490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F2ED6D-CCE0-D569-9B7B-2E23E15E4735}"/>
              </a:ext>
            </a:extLst>
          </p:cNvPr>
          <p:cNvSpPr>
            <a:spLocks noGrp="1"/>
          </p:cNvSpPr>
          <p:nvPr>
            <p:ph type="title"/>
          </p:nvPr>
        </p:nvSpPr>
        <p:spPr/>
        <p:txBody>
          <a:bodyPr/>
          <a:lstStyle/>
          <a:p>
            <a:r>
              <a:rPr lang="en-US" dirty="0"/>
              <a:t>Example: pangenome visualization with </a:t>
            </a:r>
            <a:r>
              <a:rPr lang="en-US" dirty="0" err="1"/>
              <a:t>pgv</a:t>
            </a:r>
            <a:endParaRPr lang="en-US" dirty="0"/>
          </a:p>
        </p:txBody>
      </p:sp>
      <p:pic>
        <p:nvPicPr>
          <p:cNvPr id="5" name="Content Placeholder 4" descr="A close-up of a dna&#10;&#10;AI-generated content may be incorrect.">
            <a:extLst>
              <a:ext uri="{FF2B5EF4-FFF2-40B4-BE49-F238E27FC236}">
                <a16:creationId xmlns:a16="http://schemas.microsoft.com/office/drawing/2014/main" id="{73E9BFE8-113B-8E01-FC3E-AAC91F417D8C}"/>
              </a:ext>
            </a:extLst>
          </p:cNvPr>
          <p:cNvPicPr>
            <a:picLocks noGrp="1" noChangeAspect="1"/>
          </p:cNvPicPr>
          <p:nvPr>
            <p:ph idx="1"/>
          </p:nvPr>
        </p:nvPicPr>
        <p:blipFill>
          <a:blip r:embed="rId3"/>
          <a:stretch>
            <a:fillRect/>
          </a:stretch>
        </p:blipFill>
        <p:spPr>
          <a:xfrm>
            <a:off x="324061" y="1746097"/>
            <a:ext cx="11543877" cy="2308775"/>
          </a:xfrm>
        </p:spPr>
      </p:pic>
      <p:pic>
        <p:nvPicPr>
          <p:cNvPr id="7" name="Picture 6" descr="A diagram of a network&#10;&#10;AI-generated content may be incorrect.">
            <a:extLst>
              <a:ext uri="{FF2B5EF4-FFF2-40B4-BE49-F238E27FC236}">
                <a16:creationId xmlns:a16="http://schemas.microsoft.com/office/drawing/2014/main" id="{20D91EAF-0F6A-DC9B-F233-EE0C856E34BA}"/>
              </a:ext>
            </a:extLst>
          </p:cNvPr>
          <p:cNvPicPr>
            <a:picLocks noChangeAspect="1"/>
          </p:cNvPicPr>
          <p:nvPr/>
        </p:nvPicPr>
        <p:blipFill>
          <a:blip r:embed="rId4"/>
          <a:stretch>
            <a:fillRect/>
          </a:stretch>
        </p:blipFill>
        <p:spPr>
          <a:xfrm>
            <a:off x="324061" y="3950962"/>
            <a:ext cx="11532336" cy="2308776"/>
          </a:xfrm>
          <a:prstGeom prst="rect">
            <a:avLst/>
          </a:prstGeom>
        </p:spPr>
      </p:pic>
      <p:sp>
        <p:nvSpPr>
          <p:cNvPr id="9" name="TextBox 8">
            <a:extLst>
              <a:ext uri="{FF2B5EF4-FFF2-40B4-BE49-F238E27FC236}">
                <a16:creationId xmlns:a16="http://schemas.microsoft.com/office/drawing/2014/main" id="{0A8114D4-822F-867E-5708-C07B0758658B}"/>
              </a:ext>
            </a:extLst>
          </p:cNvPr>
          <p:cNvSpPr txBox="1"/>
          <p:nvPr/>
        </p:nvSpPr>
        <p:spPr>
          <a:xfrm>
            <a:off x="324061" y="6308209"/>
            <a:ext cx="9702016" cy="369332"/>
          </a:xfrm>
          <a:prstGeom prst="rect">
            <a:avLst/>
          </a:prstGeom>
          <a:noFill/>
        </p:spPr>
        <p:txBody>
          <a:bodyPr wrap="square">
            <a:spAutoFit/>
          </a:bodyPr>
          <a:lstStyle/>
          <a:p>
            <a:r>
              <a:rPr lang="en-US" b="0" i="0" dirty="0">
                <a:solidFill>
                  <a:srgbClr val="1F2328"/>
                </a:solidFill>
                <a:effectLst/>
                <a:latin typeface="-apple-system"/>
              </a:rPr>
              <a:t>A pangenome represents genetic variation in a population as a </a:t>
            </a:r>
            <a:r>
              <a:rPr lang="en-US" b="0" i="1" dirty="0">
                <a:solidFill>
                  <a:srgbClr val="1F2328"/>
                </a:solidFill>
                <a:effectLst/>
                <a:latin typeface="-apple-system"/>
              </a:rPr>
              <a:t>variation graph</a:t>
            </a:r>
            <a:endParaRPr lang="en-US" dirty="0"/>
          </a:p>
        </p:txBody>
      </p:sp>
    </p:spTree>
    <p:extLst>
      <p:ext uri="{BB962C8B-B14F-4D97-AF65-F5344CB8AC3E}">
        <p14:creationId xmlns:p14="http://schemas.microsoft.com/office/powerpoint/2010/main" val="1589132869"/>
      </p:ext>
    </p:extLst>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74320"/>
            <a:ext cx="9509760" cy="777240"/>
          </a:xfrm>
        </p:spPr>
        <p:txBody>
          <a:bodyPr wrap="square" anchor="ctr"/>
          <a:lstStyle/>
          <a:p>
            <a:pPr algn="l"/>
            <a:r>
              <a:rPr sz="3000" b="1" i="0">
                <a:solidFill>
                  <a:srgbClr val="0E2841"/>
                </a:solidFill>
              </a:rPr>
              <a:t>Hands-on: your own Neo4j, on your laptop</a:t>
            </a:r>
          </a:p>
        </p:txBody>
      </p:sp>
      <p:sp>
        <p:nvSpPr>
          <p:cNvPr id="3" name="footer"/>
          <p:cNvSpPr txBox="1"/>
          <p:nvPr/>
        </p:nvSpPr>
        <p:spPr>
          <a:xfrm>
            <a:off x="548640" y="6455664"/>
            <a:ext cx="8686800" cy="274320"/>
          </a:xfrm>
          <a:prstGeom prst="rect">
            <a:avLst/>
          </a:prstGeom>
          <a:noFill/>
        </p:spPr>
        <p:txBody>
          <a:bodyPr wrap="square" lIns="45720" rIns="45720" tIns="27432" bIns="27432" anchor="t">
            <a:spAutoFit/>
          </a:bodyPr>
          <a:lstStyle/>
          <a:p>
            <a:pPr algn="l">
              <a:spcAft>
                <a:spcPts val="600"/>
              </a:spcAft>
            </a:pPr>
            <a:r>
              <a:rPr sz="1000" b="0" i="0">
                <a:solidFill>
                  <a:srgbClr val="595959"/>
                </a:solidFill>
              </a:rPr>
              <a:t>NoSQL Databases for Bioinformatics  ·  Lecture 26  ·  Graph database basics</a:t>
            </a:r>
          </a:p>
        </p:txBody>
      </p:sp>
      <p:sp>
        <p:nvSpPr>
          <p:cNvPr id="4" name="slide number"/>
          <p:cNvSpPr txBox="1"/>
          <p:nvPr/>
        </p:nvSpPr>
        <p:spPr>
          <a:xfrm>
            <a:off x="10698480" y="6455664"/>
            <a:ext cx="914400" cy="274320"/>
          </a:xfrm>
          <a:prstGeom prst="rect">
            <a:avLst/>
          </a:prstGeom>
          <a:noFill/>
        </p:spPr>
        <p:txBody>
          <a:bodyPr wrap="square" lIns="45720" rIns="45720" tIns="27432" bIns="27432" anchor="t">
            <a:spAutoFit/>
          </a:bodyPr>
          <a:lstStyle/>
          <a:p>
            <a:pPr algn="r">
              <a:spcAft>
                <a:spcPts val="600"/>
              </a:spcAft>
            </a:pPr>
            <a:fld id="{B6F15528-21DE-4FAA-801E-634DDDAF4B2B}" type="slidenum">
              <a:rPr lang="en-US" sz="1000">
                <a:solidFill>
                  <a:srgbClr val="595959"/>
                </a:solidFill>
              </a:rPr>
              <a:t>‹#›</a:t>
            </a:fld>
          </a:p>
        </p:txBody>
      </p:sp>
      <p:sp>
        <p:nvSpPr>
          <p:cNvPr id="5" name="step tag"/>
          <p:cNvSpPr/>
          <p:nvPr/>
        </p:nvSpPr>
        <p:spPr>
          <a:xfrm>
            <a:off x="10195560" y="411480"/>
            <a:ext cx="1417320" cy="329184"/>
          </a:xfrm>
          <a:prstGeom prst="roundRect">
            <a:avLst>
              <a:gd name="adj" fmla="val 50000"/>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i="0">
                <a:solidFill>
                  <a:srgbClr val="FFFFFF"/>
                </a:solidFill>
              </a:rPr>
              <a:t>HANDS-ON</a:t>
            </a:r>
          </a:p>
        </p:txBody>
      </p:sp>
      <p:sp>
        <p:nvSpPr>
          <p:cNvPr id="6" name="step 1"/>
          <p:cNvSpPr/>
          <p:nvPr/>
        </p:nvSpPr>
        <p:spPr>
          <a:xfrm>
            <a:off x="548640" y="1371600"/>
            <a:ext cx="3566160" cy="2834640"/>
          </a:xfrm>
          <a:prstGeom prst="roundRect">
            <a:avLst>
              <a:gd name="adj" fmla="val 1935"/>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n1"/>
          <p:cNvSpPr/>
          <p:nvPr/>
        </p:nvSpPr>
        <p:spPr>
          <a:xfrm>
            <a:off x="685800" y="1508760"/>
            <a:ext cx="502920" cy="502920"/>
          </a:xfrm>
          <a:prstGeom prst="ellipse">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2000" b="1" i="0">
                <a:solidFill>
                  <a:srgbClr val="FFFFFF"/>
                </a:solidFill>
              </a:rPr>
              <a:t>1</a:t>
            </a:r>
          </a:p>
        </p:txBody>
      </p:sp>
      <p:sp>
        <p:nvSpPr>
          <p:cNvPr id="8" name="h1"/>
          <p:cNvSpPr txBox="1"/>
          <p:nvPr/>
        </p:nvSpPr>
        <p:spPr>
          <a:xfrm>
            <a:off x="1325880" y="1508760"/>
            <a:ext cx="2651760" cy="502920"/>
          </a:xfrm>
          <a:prstGeom prst="rect">
            <a:avLst/>
          </a:prstGeom>
          <a:noFill/>
        </p:spPr>
        <p:txBody>
          <a:bodyPr wrap="square" lIns="45720" rIns="45720" tIns="27432" bIns="27432" anchor="ctr">
            <a:spAutoFit/>
          </a:bodyPr>
          <a:lstStyle/>
          <a:p>
            <a:pPr algn="l">
              <a:spcAft>
                <a:spcPts val="600"/>
              </a:spcAft>
            </a:pPr>
            <a:r>
              <a:rPr sz="2200" b="1" i="0">
                <a:solidFill>
                  <a:srgbClr val="156082"/>
                </a:solidFill>
              </a:rPr>
              <a:t>Start</a:t>
            </a:r>
          </a:p>
        </p:txBody>
      </p:sp>
      <p:sp>
        <p:nvSpPr>
          <p:cNvPr id="9" name="b1"/>
          <p:cNvSpPr txBox="1"/>
          <p:nvPr/>
        </p:nvSpPr>
        <p:spPr>
          <a:xfrm>
            <a:off x="731520" y="2240280"/>
            <a:ext cx="3246120" cy="1828800"/>
          </a:xfrm>
          <a:prstGeom prst="rect">
            <a:avLst/>
          </a:prstGeom>
          <a:noFill/>
        </p:spPr>
        <p:txBody>
          <a:bodyPr wrap="square" lIns="45720" rIns="45720" tIns="27432" bIns="27432" anchor="t">
            <a:spAutoFit/>
          </a:bodyPr>
          <a:lstStyle/>
          <a:p>
            <a:pPr algn="l">
              <a:spcAft>
                <a:spcPts val="800"/>
              </a:spcAft>
            </a:pPr>
            <a:r>
              <a:rPr sz="1500" b="0" i="0">
                <a:solidFill>
                  <a:srgbClr val="156082"/>
                </a:solidFill>
                <a:latin typeface="Courier New"/>
              </a:rPr>
              <a:t>cd docker</a:t>
            </a:r>
          </a:p>
          <a:p>
            <a:pPr algn="l">
              <a:spcAft>
                <a:spcPts val="800"/>
              </a:spcAft>
            </a:pPr>
            <a:r>
              <a:rPr sz="1500" b="0" i="0">
                <a:solidFill>
                  <a:srgbClr val="156082"/>
                </a:solidFill>
                <a:latin typeface="Courier New"/>
              </a:rPr>
              <a:t>docker compose up -d</a:t>
            </a:r>
          </a:p>
          <a:p>
            <a:pPr algn="l">
              <a:spcAft>
                <a:spcPts val="800"/>
              </a:spcAft>
            </a:pPr>
            <a:r>
              <a:rPr sz="1500" b="0" i="0">
                <a:solidFill>
                  <a:srgbClr val="156082"/>
                </a:solidFill>
                <a:latin typeface="Courier New"/>
              </a:rPr>
              <a:t>docker compose ps</a:t>
            </a:r>
            <a:r>
              <a:rPr sz="1500" b="0" i="0">
                <a:solidFill>
                  <a:srgbClr val="0E2841"/>
                </a:solidFill>
              </a:rPr>
              <a:t> → healthy</a:t>
            </a:r>
          </a:p>
        </p:txBody>
      </p:sp>
      <p:sp>
        <p:nvSpPr>
          <p:cNvPr id="10" name="step 2"/>
          <p:cNvSpPr/>
          <p:nvPr/>
        </p:nvSpPr>
        <p:spPr>
          <a:xfrm>
            <a:off x="4297679" y="1371600"/>
            <a:ext cx="3566160" cy="2834640"/>
          </a:xfrm>
          <a:prstGeom prst="roundRect">
            <a:avLst>
              <a:gd name="adj" fmla="val 1935"/>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n2"/>
          <p:cNvSpPr/>
          <p:nvPr/>
        </p:nvSpPr>
        <p:spPr>
          <a:xfrm>
            <a:off x="4434840" y="1508760"/>
            <a:ext cx="502920" cy="502920"/>
          </a:xfrm>
          <a:prstGeom prst="ellipse">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2000" b="1" i="0">
                <a:solidFill>
                  <a:srgbClr val="FFFFFF"/>
                </a:solidFill>
              </a:rPr>
              <a:t>2</a:t>
            </a:r>
          </a:p>
        </p:txBody>
      </p:sp>
      <p:sp>
        <p:nvSpPr>
          <p:cNvPr id="12" name="h2"/>
          <p:cNvSpPr txBox="1"/>
          <p:nvPr/>
        </p:nvSpPr>
        <p:spPr>
          <a:xfrm>
            <a:off x="5074919" y="1508760"/>
            <a:ext cx="2651760" cy="502920"/>
          </a:xfrm>
          <a:prstGeom prst="rect">
            <a:avLst/>
          </a:prstGeom>
          <a:noFill/>
        </p:spPr>
        <p:txBody>
          <a:bodyPr wrap="square" lIns="45720" rIns="45720" tIns="27432" bIns="27432" anchor="ctr">
            <a:spAutoFit/>
          </a:bodyPr>
          <a:lstStyle/>
          <a:p>
            <a:pPr algn="l">
              <a:spcAft>
                <a:spcPts val="600"/>
              </a:spcAft>
            </a:pPr>
            <a:r>
              <a:rPr sz="2200" b="1" i="0">
                <a:solidFill>
                  <a:srgbClr val="156082"/>
                </a:solidFill>
              </a:rPr>
              <a:t>Look</a:t>
            </a:r>
          </a:p>
        </p:txBody>
      </p:sp>
      <p:sp>
        <p:nvSpPr>
          <p:cNvPr id="13" name="b2"/>
          <p:cNvSpPr txBox="1"/>
          <p:nvPr/>
        </p:nvSpPr>
        <p:spPr>
          <a:xfrm>
            <a:off x="4480559" y="2240280"/>
            <a:ext cx="3246120" cy="1828800"/>
          </a:xfrm>
          <a:prstGeom prst="rect">
            <a:avLst/>
          </a:prstGeom>
          <a:noFill/>
        </p:spPr>
        <p:txBody>
          <a:bodyPr wrap="square" lIns="45720" rIns="45720" tIns="27432" bIns="27432" anchor="t">
            <a:spAutoFit/>
          </a:bodyPr>
          <a:lstStyle/>
          <a:p>
            <a:pPr algn="l">
              <a:spcAft>
                <a:spcPts val="800"/>
              </a:spcAft>
            </a:pPr>
            <a:r>
              <a:rPr sz="1500" b="0" i="0">
                <a:solidFill>
                  <a:srgbClr val="0E2841"/>
                </a:solidFill>
              </a:rPr>
              <a:t>Neo4j Browser</a:t>
            </a:r>
          </a:p>
          <a:p>
            <a:pPr algn="l">
              <a:spcAft>
                <a:spcPts val="800"/>
              </a:spcAft>
            </a:pPr>
            <a:r>
              <a:rPr sz="1500" b="0" i="0">
                <a:solidFill>
                  <a:srgbClr val="156082"/>
                </a:solidFill>
                <a:latin typeface="Courier New"/>
              </a:rPr>
              <a:t>http://localhost:7474</a:t>
            </a:r>
          </a:p>
          <a:p>
            <a:pPr algn="l">
              <a:spcAft>
                <a:spcPts val="800"/>
              </a:spcAft>
            </a:pPr>
            <a:r>
              <a:rPr sz="1500" b="0" i="0">
                <a:solidFill>
                  <a:srgbClr val="0E2841"/>
                </a:solidFill>
              </a:rPr>
              <a:t>user </a:t>
            </a:r>
            <a:r>
              <a:rPr sz="1500" b="0" i="0">
                <a:solidFill>
                  <a:srgbClr val="156082"/>
                </a:solidFill>
                <a:latin typeface="Courier New"/>
              </a:rPr>
              <a:t>neo4j</a:t>
            </a:r>
            <a:r>
              <a:rPr sz="1500" b="0" i="0">
                <a:solidFill>
                  <a:srgbClr val="0E2841"/>
                </a:solidFill>
              </a:rPr>
              <a:t> · password </a:t>
            </a:r>
            <a:r>
              <a:rPr sz="1500" b="0" i="0">
                <a:solidFill>
                  <a:srgbClr val="156082"/>
                </a:solidFill>
                <a:latin typeface="Courier New"/>
              </a:rPr>
              <a:t>workshop_neo4j</a:t>
            </a:r>
          </a:p>
        </p:txBody>
      </p:sp>
      <p:sp>
        <p:nvSpPr>
          <p:cNvPr id="14" name="step 3"/>
          <p:cNvSpPr/>
          <p:nvPr/>
        </p:nvSpPr>
        <p:spPr>
          <a:xfrm>
            <a:off x="8046719" y="1371600"/>
            <a:ext cx="3566160" cy="2834640"/>
          </a:xfrm>
          <a:prstGeom prst="roundRect">
            <a:avLst>
              <a:gd name="adj" fmla="val 1935"/>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n3"/>
          <p:cNvSpPr/>
          <p:nvPr/>
        </p:nvSpPr>
        <p:spPr>
          <a:xfrm>
            <a:off x="8183879" y="1508760"/>
            <a:ext cx="502920" cy="502920"/>
          </a:xfrm>
          <a:prstGeom prst="ellipse">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2000" b="1" i="0">
                <a:solidFill>
                  <a:srgbClr val="FFFFFF"/>
                </a:solidFill>
              </a:rPr>
              <a:t>3</a:t>
            </a:r>
          </a:p>
        </p:txBody>
      </p:sp>
      <p:sp>
        <p:nvSpPr>
          <p:cNvPr id="16" name="h3"/>
          <p:cNvSpPr txBox="1"/>
          <p:nvPr/>
        </p:nvSpPr>
        <p:spPr>
          <a:xfrm>
            <a:off x="8823959" y="1508760"/>
            <a:ext cx="2651760" cy="502920"/>
          </a:xfrm>
          <a:prstGeom prst="rect">
            <a:avLst/>
          </a:prstGeom>
          <a:noFill/>
        </p:spPr>
        <p:txBody>
          <a:bodyPr wrap="square" lIns="45720" rIns="45720" tIns="27432" bIns="27432" anchor="ctr">
            <a:spAutoFit/>
          </a:bodyPr>
          <a:lstStyle/>
          <a:p>
            <a:pPr algn="l">
              <a:spcAft>
                <a:spcPts val="600"/>
              </a:spcAft>
            </a:pPr>
            <a:r>
              <a:rPr sz="2200" b="1" i="0">
                <a:solidFill>
                  <a:srgbClr val="156082"/>
                </a:solidFill>
              </a:rPr>
              <a:t>Code</a:t>
            </a:r>
          </a:p>
        </p:txBody>
      </p:sp>
      <p:sp>
        <p:nvSpPr>
          <p:cNvPr id="17" name="b3"/>
          <p:cNvSpPr txBox="1"/>
          <p:nvPr/>
        </p:nvSpPr>
        <p:spPr>
          <a:xfrm>
            <a:off x="8229599" y="2240280"/>
            <a:ext cx="3246120" cy="1828800"/>
          </a:xfrm>
          <a:prstGeom prst="rect">
            <a:avLst/>
          </a:prstGeom>
          <a:noFill/>
        </p:spPr>
        <p:txBody>
          <a:bodyPr wrap="square" lIns="45720" rIns="45720" tIns="27432" bIns="27432" anchor="t">
            <a:spAutoFit/>
          </a:bodyPr>
          <a:lstStyle/>
          <a:p>
            <a:pPr algn="l">
              <a:spcAft>
                <a:spcPts val="800"/>
              </a:spcAft>
            </a:pPr>
            <a:r>
              <a:rPr sz="1500" b="0" i="0">
                <a:solidFill>
                  <a:srgbClr val="156082"/>
                </a:solidFill>
                <a:latin typeface="Courier New"/>
              </a:rPr>
              <a:t>jupyter lab</a:t>
            </a:r>
          </a:p>
          <a:p>
            <a:pPr algn="l">
              <a:spcAft>
                <a:spcPts val="800"/>
              </a:spcAft>
            </a:pPr>
            <a:r>
              <a:rPr sz="1500" b="0" i="0">
                <a:solidFill>
                  <a:srgbClr val="0E2841"/>
                </a:solidFill>
              </a:rPr>
              <a:t>open </a:t>
            </a:r>
            <a:r>
              <a:rPr sz="1500" b="0" i="0">
                <a:solidFill>
                  <a:srgbClr val="156082"/>
                </a:solidFill>
                <a:latin typeface="Courier New"/>
              </a:rPr>
              <a:t>3-graphdb-concept/</a:t>
            </a:r>
          </a:p>
          <a:p>
            <a:pPr algn="l">
              <a:spcAft>
                <a:spcPts val="800"/>
              </a:spcAft>
            </a:pPr>
            <a:r>
              <a:rPr sz="1500" b="0" i="0">
                <a:solidFill>
                  <a:srgbClr val="0E2841"/>
                </a:solidFill>
              </a:rPr>
              <a:t>then </a:t>
            </a:r>
            <a:r>
              <a:rPr sz="1500" b="0" i="0">
                <a:solidFill>
                  <a:srgbClr val="156082"/>
                </a:solidFill>
                <a:latin typeface="Courier New"/>
              </a:rPr>
              <a:t>workbook.ipynb</a:t>
            </a:r>
          </a:p>
        </p:txBody>
      </p:sp>
      <p:sp>
        <p:nvSpPr>
          <p:cNvPr id="18" name="node Python"/>
          <p:cNvSpPr/>
          <p:nvPr/>
        </p:nvSpPr>
        <p:spPr>
          <a:xfrm>
            <a:off x="822960" y="4983479"/>
            <a:ext cx="2377440" cy="731520"/>
          </a:xfrm>
          <a:prstGeom prst="roundRect">
            <a:avLst>
              <a:gd name="adj" fmla="val 15000"/>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500" b="1" i="0">
                <a:solidFill>
                  <a:srgbClr val="FFFFFF"/>
                </a:solidFill>
              </a:rPr>
              <a:t>Python</a:t>
            </a:r>
          </a:p>
          <a:p>
            <a:pPr algn="ctr"/>
            <a:r>
              <a:rPr sz="1500" b="0" i="0">
                <a:solidFill>
                  <a:srgbClr val="FFFFFF"/>
                </a:solidFill>
              </a:rPr>
              <a:t>(neo4j driver)</a:t>
            </a:r>
          </a:p>
        </p:txBody>
      </p:sp>
      <p:sp>
        <p:nvSpPr>
          <p:cNvPr id="19" name="node Neo4j server"/>
          <p:cNvSpPr/>
          <p:nvPr/>
        </p:nvSpPr>
        <p:spPr>
          <a:xfrm>
            <a:off x="4709160" y="4983479"/>
            <a:ext cx="2743200" cy="731520"/>
          </a:xfrm>
          <a:prstGeom prst="roundRect">
            <a:avLst>
              <a:gd name="adj" fmla="val 15000"/>
            </a:avLst>
          </a:prstGeom>
          <a:solidFill>
            <a:srgbClr val="2E8B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500" b="1" i="0">
                <a:solidFill>
                  <a:srgbClr val="FFFFFF"/>
                </a:solidFill>
              </a:rPr>
              <a:t>Neo4j server</a:t>
            </a:r>
          </a:p>
          <a:p>
            <a:pPr algn="ctr"/>
            <a:r>
              <a:rPr sz="1500" b="0" i="0">
                <a:solidFill>
                  <a:srgbClr val="FFFFFF"/>
                </a:solidFill>
              </a:rPr>
              <a:t>(Docker)</a:t>
            </a:r>
          </a:p>
        </p:txBody>
      </p:sp>
      <p:sp>
        <p:nvSpPr>
          <p:cNvPr id="20" name="node Neo4j Browser"/>
          <p:cNvSpPr/>
          <p:nvPr/>
        </p:nvSpPr>
        <p:spPr>
          <a:xfrm>
            <a:off x="8869680" y="4983479"/>
            <a:ext cx="2377440" cy="731520"/>
          </a:xfrm>
          <a:prstGeom prst="roundRect">
            <a:avLst>
              <a:gd name="adj" fmla="val 15000"/>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500" b="1" i="0">
                <a:solidFill>
                  <a:srgbClr val="FFFFFF"/>
                </a:solidFill>
              </a:rPr>
              <a:t>Neo4j Browser</a:t>
            </a:r>
          </a:p>
          <a:p>
            <a:pPr algn="ctr"/>
            <a:r>
              <a:rPr sz="1500" b="0" i="0">
                <a:solidFill>
                  <a:srgbClr val="FFFFFF"/>
                </a:solidFill>
              </a:rPr>
              <a:t>(web UI)</a:t>
            </a:r>
          </a:p>
        </p:txBody>
      </p:sp>
      <p:cxnSp>
        <p:nvCxnSpPr>
          <p:cNvPr id="21" name="edge"/>
          <p:cNvCxnSpPr/>
          <p:nvPr/>
        </p:nvCxnSpPr>
        <p:spPr>
          <a:xfrm>
            <a:off x="3200400" y="5349240"/>
            <a:ext cx="1508760" cy="0"/>
          </a:xfrm>
          <a:prstGeom prst="line">
            <a:avLst/>
          </a:prstGeom>
          <a:ln w="31750">
            <a:solidFill>
              <a:srgbClr val="0E2841"/>
            </a:solidFill>
            <a:tailEnd type="triangle"/>
          </a:ln>
        </p:spPr>
        <p:style>
          <a:lnRef idx="2">
            <a:schemeClr val="accent1"/>
          </a:lnRef>
          <a:fillRef idx="0">
            <a:schemeClr val="accent1"/>
          </a:fillRef>
          <a:effectRef idx="1">
            <a:schemeClr val="accent1"/>
          </a:effectRef>
          <a:fontRef idx="minor">
            <a:schemeClr val="tx1"/>
          </a:fontRef>
        </p:style>
      </p:cxnSp>
      <p:sp>
        <p:nvSpPr>
          <p:cNvPr id="22" name="edge label"/>
          <p:cNvSpPr txBox="1"/>
          <p:nvPr/>
        </p:nvSpPr>
        <p:spPr>
          <a:xfrm>
            <a:off x="3131820" y="4937759"/>
            <a:ext cx="1645920" cy="320040"/>
          </a:xfrm>
          <a:prstGeom prst="rect">
            <a:avLst/>
          </a:prstGeom>
          <a:noFill/>
        </p:spPr>
        <p:txBody>
          <a:bodyPr wrap="square" lIns="9144" rIns="9144" tIns="27432" bIns="27432" anchor="t">
            <a:spAutoFit/>
          </a:bodyPr>
          <a:lstStyle/>
          <a:p>
            <a:pPr algn="ctr">
              <a:spcAft>
                <a:spcPts val="0"/>
              </a:spcAft>
            </a:pPr>
            <a:r>
              <a:rPr sz="1300" b="1" i="0">
                <a:solidFill>
                  <a:srgbClr val="0E2841"/>
                </a:solidFill>
              </a:rPr>
              <a:t>Bolt  :7687</a:t>
            </a:r>
          </a:p>
        </p:txBody>
      </p:sp>
      <p:cxnSp>
        <p:nvCxnSpPr>
          <p:cNvPr id="23" name="edge"/>
          <p:cNvCxnSpPr/>
          <p:nvPr/>
        </p:nvCxnSpPr>
        <p:spPr>
          <a:xfrm flipH="1">
            <a:off x="7452360" y="5349240"/>
            <a:ext cx="1417320" cy="0"/>
          </a:xfrm>
          <a:prstGeom prst="line">
            <a:avLst/>
          </a:prstGeom>
          <a:ln w="31750">
            <a:solidFill>
              <a:srgbClr val="0E2841"/>
            </a:solidFill>
            <a:tailEnd type="triangle"/>
          </a:ln>
        </p:spPr>
        <p:style>
          <a:lnRef idx="2">
            <a:schemeClr val="accent1"/>
          </a:lnRef>
          <a:fillRef idx="0">
            <a:schemeClr val="accent1"/>
          </a:fillRef>
          <a:effectRef idx="1">
            <a:schemeClr val="accent1"/>
          </a:effectRef>
          <a:fontRef idx="minor">
            <a:schemeClr val="tx1"/>
          </a:fontRef>
        </p:style>
      </p:cxnSp>
      <p:sp>
        <p:nvSpPr>
          <p:cNvPr id="24" name="edge label"/>
          <p:cNvSpPr txBox="1"/>
          <p:nvPr/>
        </p:nvSpPr>
        <p:spPr>
          <a:xfrm>
            <a:off x="7338060" y="4937759"/>
            <a:ext cx="1645920" cy="320040"/>
          </a:xfrm>
          <a:prstGeom prst="rect">
            <a:avLst/>
          </a:prstGeom>
          <a:noFill/>
        </p:spPr>
        <p:txBody>
          <a:bodyPr wrap="square" lIns="9144" rIns="9144" tIns="27432" bIns="27432" anchor="t">
            <a:spAutoFit/>
          </a:bodyPr>
          <a:lstStyle/>
          <a:p>
            <a:pPr algn="ctr">
              <a:spcAft>
                <a:spcPts val="0"/>
              </a:spcAft>
            </a:pPr>
            <a:r>
              <a:rPr sz="1300" b="1" i="0">
                <a:solidFill>
                  <a:srgbClr val="0E2841"/>
                </a:solidFill>
              </a:rPr>
              <a:t>HTTP  :7474</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74320"/>
            <a:ext cx="9509760" cy="777240"/>
          </a:xfrm>
        </p:spPr>
        <p:txBody>
          <a:bodyPr wrap="square" anchor="ctr"/>
          <a:lstStyle/>
          <a:p>
            <a:pPr algn="l"/>
            <a:r>
              <a:rPr sz="3000" b="1" i="0">
                <a:solidFill>
                  <a:srgbClr val="0E2841"/>
                </a:solidFill>
              </a:rPr>
              <a:t>Cypher: ASCII art for graphs</a:t>
            </a:r>
          </a:p>
        </p:txBody>
      </p:sp>
      <p:sp>
        <p:nvSpPr>
          <p:cNvPr id="3" name="footer"/>
          <p:cNvSpPr txBox="1"/>
          <p:nvPr/>
        </p:nvSpPr>
        <p:spPr>
          <a:xfrm>
            <a:off x="548640" y="6455664"/>
            <a:ext cx="8686800" cy="274320"/>
          </a:xfrm>
          <a:prstGeom prst="rect">
            <a:avLst/>
          </a:prstGeom>
          <a:noFill/>
        </p:spPr>
        <p:txBody>
          <a:bodyPr wrap="square" lIns="45720" rIns="45720" tIns="27432" bIns="27432" anchor="t">
            <a:spAutoFit/>
          </a:bodyPr>
          <a:lstStyle/>
          <a:p>
            <a:pPr algn="l">
              <a:spcAft>
                <a:spcPts val="600"/>
              </a:spcAft>
            </a:pPr>
            <a:r>
              <a:rPr sz="1000" b="0" i="0">
                <a:solidFill>
                  <a:srgbClr val="595959"/>
                </a:solidFill>
              </a:rPr>
              <a:t>NoSQL Databases for Bioinformatics  ·  Lecture 26  ·  Graph database basics</a:t>
            </a:r>
          </a:p>
        </p:txBody>
      </p:sp>
      <p:sp>
        <p:nvSpPr>
          <p:cNvPr id="4" name="slide number"/>
          <p:cNvSpPr txBox="1"/>
          <p:nvPr/>
        </p:nvSpPr>
        <p:spPr>
          <a:xfrm>
            <a:off x="10698480" y="6455664"/>
            <a:ext cx="914400" cy="274320"/>
          </a:xfrm>
          <a:prstGeom prst="rect">
            <a:avLst/>
          </a:prstGeom>
          <a:noFill/>
        </p:spPr>
        <p:txBody>
          <a:bodyPr wrap="square" lIns="45720" rIns="45720" tIns="27432" bIns="27432" anchor="t">
            <a:spAutoFit/>
          </a:bodyPr>
          <a:lstStyle/>
          <a:p>
            <a:pPr algn="r">
              <a:spcAft>
                <a:spcPts val="600"/>
              </a:spcAft>
            </a:pPr>
            <a:fld id="{B6F15528-21DE-4FAA-801E-634DDDAF4B2B}" type="slidenum">
              <a:rPr lang="en-US" sz="1000">
                <a:solidFill>
                  <a:srgbClr val="595959"/>
                </a:solidFill>
              </a:rPr>
              <a:t>‹#›</a:t>
            </a:fld>
          </a:p>
        </p:txBody>
      </p:sp>
      <p:sp>
        <p:nvSpPr>
          <p:cNvPr id="5" name="step tag"/>
          <p:cNvSpPr/>
          <p:nvPr/>
        </p:nvSpPr>
        <p:spPr>
          <a:xfrm>
            <a:off x="10195560" y="411480"/>
            <a:ext cx="1417320" cy="329184"/>
          </a:xfrm>
          <a:prstGeom prst="roundRect">
            <a:avLst>
              <a:gd name="adj" fmla="val 50000"/>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i="0">
                <a:solidFill>
                  <a:srgbClr val="FFFFFF"/>
                </a:solidFill>
              </a:rPr>
              <a:t>HANDS-ON</a:t>
            </a:r>
          </a:p>
        </p:txBody>
      </p:sp>
      <p:sp>
        <p:nvSpPr>
          <p:cNvPr id="6" name="pattern bg"/>
          <p:cNvSpPr/>
          <p:nvPr/>
        </p:nvSpPr>
        <p:spPr>
          <a:xfrm>
            <a:off x="548640" y="1371600"/>
            <a:ext cx="11064240" cy="777240"/>
          </a:xfrm>
          <a:prstGeom prst="roundRect">
            <a:avLst>
              <a:gd name="adj" fmla="val 5882"/>
            </a:avLst>
          </a:prstGeom>
          <a:solidFill>
            <a:srgbClr val="F4F6F8"/>
          </a:solidFill>
          <a:ln w="9525">
            <a:solidFill>
              <a:srgbClr val="C9D1D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pattern"/>
          <p:cNvSpPr txBox="1"/>
          <p:nvPr/>
        </p:nvSpPr>
        <p:spPr>
          <a:xfrm>
            <a:off x="640080" y="1435608"/>
            <a:ext cx="10881360" cy="649224"/>
          </a:xfrm>
          <a:prstGeom prst="rect">
            <a:avLst/>
          </a:prstGeom>
          <a:noFill/>
        </p:spPr>
        <p:txBody>
          <a:bodyPr wrap="square" lIns="45720" rIns="45720" tIns="27432" bIns="27432" anchor="t">
            <a:spAutoFit/>
          </a:bodyPr>
          <a:lstStyle/>
          <a:p>
            <a:pPr algn="l">
              <a:spcAft>
                <a:spcPts val="0"/>
              </a:spcAft>
            </a:pPr>
            <a:r>
              <a:rPr sz="1800" b="0" i="0">
                <a:solidFill>
                  <a:srgbClr val="1F2937"/>
                </a:solidFill>
                <a:latin typeface="Courier New"/>
              </a:rPr>
              <a:t>(r:MeetingRoom {id: 'MP163'})  -[:HOSTS]-&gt;  (l:Lecture {index: 'n26'})</a:t>
            </a:r>
          </a:p>
        </p:txBody>
      </p:sp>
      <p:graphicFrame>
        <p:nvGraphicFramePr>
          <p:cNvPr id="8" name="pattern table"/>
          <p:cNvGraphicFramePr>
            <a:graphicFrameLocks noGrp="1"/>
          </p:cNvGraphicFramePr>
          <p:nvPr/>
        </p:nvGraphicFramePr>
        <p:xfrm>
          <a:off x="548640" y="2377440"/>
          <a:ext cx="8778240" cy="3511296"/>
        </p:xfrm>
        <a:graphic>
          <a:graphicData uri="http://schemas.openxmlformats.org/drawingml/2006/table">
            <a:tbl>
              <a:tblPr firstRow="0" bandRow="0">
                <a:tableStyleId>{5C22544A-7EE6-4342-B048-85BDC9FD1C3A}</a:tableStyleId>
              </a:tblPr>
              <a:tblGrid>
                <a:gridCol w="4206240"/>
                <a:gridCol w="4572000"/>
              </a:tblGrid>
              <a:tr h="365760">
                <a:tc>
                  <a:txBody>
                    <a:bodyPr wrap="square"/>
                    <a:lstStyle/>
                    <a:p>
                      <a:r>
                        <a:rPr sz="1400" b="1" i="0">
                          <a:solidFill>
                            <a:srgbClr val="FFFFFF"/>
                          </a:solidFill>
                        </a:rPr>
                        <a:t>pattern</a:t>
                      </a:r>
                    </a:p>
                  </a:txBody>
                  <a:tcPr marL="73152" marR="73152" marT="36576" marB="36576" anchor="ctr">
                    <a:solidFill>
                      <a:srgbClr val="0E2841"/>
                    </a:solidFill>
                  </a:tcPr>
                </a:tc>
                <a:tc>
                  <a:txBody>
                    <a:bodyPr wrap="square"/>
                    <a:lstStyle/>
                    <a:p>
                      <a:r>
                        <a:rPr sz="1400" b="1" i="0">
                          <a:solidFill>
                            <a:srgbClr val="FFFFFF"/>
                          </a:solidFill>
                        </a:rPr>
                        <a:t>meaning</a:t>
                      </a:r>
                    </a:p>
                  </a:txBody>
                  <a:tcPr marL="73152" marR="73152" marT="36576" marB="36576" anchor="ctr">
                    <a:solidFill>
                      <a:srgbClr val="0E2841"/>
                    </a:solidFill>
                  </a:tcPr>
                </a:tc>
              </a:tr>
              <a:tr h="393192">
                <a:tc>
                  <a:txBody>
                    <a:bodyPr wrap="square"/>
                    <a:lstStyle/>
                    <a:p>
                      <a:r>
                        <a:rPr sz="1400" b="0" i="0">
                          <a:solidFill>
                            <a:srgbClr val="156082"/>
                          </a:solidFill>
                          <a:latin typeface="Courier New"/>
                        </a:rPr>
                        <a:t>()</a:t>
                      </a:r>
                    </a:p>
                  </a:txBody>
                  <a:tcPr marL="73152" marR="73152" marT="36576" marB="36576" anchor="ctr">
                    <a:solidFill>
                      <a:srgbClr val="FFFFFF"/>
                    </a:solidFill>
                  </a:tcPr>
                </a:tc>
                <a:tc>
                  <a:txBody>
                    <a:bodyPr wrap="square"/>
                    <a:lstStyle/>
                    <a:p>
                      <a:r>
                        <a:rPr sz="1400" b="0" i="0">
                          <a:solidFill>
                            <a:srgbClr val="0E2841"/>
                          </a:solidFill>
                        </a:rPr>
                        <a:t>any node</a:t>
                      </a:r>
                    </a:p>
                  </a:txBody>
                  <a:tcPr marL="73152" marR="73152" marT="36576" marB="36576" anchor="ctr">
                    <a:solidFill>
                      <a:srgbClr val="FFFFFF"/>
                    </a:solidFill>
                  </a:tcPr>
                </a:tc>
              </a:tr>
              <a:tr h="393192">
                <a:tc>
                  <a:txBody>
                    <a:bodyPr wrap="square"/>
                    <a:lstStyle/>
                    <a:p>
                      <a:r>
                        <a:rPr sz="1400" b="0" i="0">
                          <a:solidFill>
                            <a:srgbClr val="156082"/>
                          </a:solidFill>
                          <a:latin typeface="Courier New"/>
                        </a:rPr>
                        <a:t>(n)</a:t>
                      </a:r>
                    </a:p>
                  </a:txBody>
                  <a:tcPr marL="73152" marR="73152" marT="36576" marB="36576" anchor="ctr">
                    <a:solidFill>
                      <a:srgbClr val="F2F5F9"/>
                    </a:solidFill>
                  </a:tcPr>
                </a:tc>
                <a:tc>
                  <a:txBody>
                    <a:bodyPr wrap="square"/>
                    <a:lstStyle/>
                    <a:p>
                      <a:r>
                        <a:rPr sz="1400" b="0" i="0">
                          <a:solidFill>
                            <a:srgbClr val="0E2841"/>
                          </a:solidFill>
                        </a:rPr>
                        <a:t>any node, called </a:t>
                      </a:r>
                      <a:r>
                        <a:rPr sz="1400" b="0" i="0">
                          <a:solidFill>
                            <a:srgbClr val="156082"/>
                          </a:solidFill>
                          <a:latin typeface="Courier New"/>
                        </a:rPr>
                        <a:t>n</a:t>
                      </a:r>
                    </a:p>
                  </a:txBody>
                  <a:tcPr marL="73152" marR="73152" marT="36576" marB="36576" anchor="ctr">
                    <a:solidFill>
                      <a:srgbClr val="F2F5F9"/>
                    </a:solidFill>
                  </a:tcPr>
                </a:tc>
              </a:tr>
              <a:tr h="393192">
                <a:tc>
                  <a:txBody>
                    <a:bodyPr wrap="square"/>
                    <a:lstStyle/>
                    <a:p>
                      <a:r>
                        <a:rPr sz="1400" b="0" i="0">
                          <a:solidFill>
                            <a:srgbClr val="156082"/>
                          </a:solidFill>
                          <a:latin typeface="Courier New"/>
                        </a:rPr>
                        <a:t>(:Lecture)</a:t>
                      </a:r>
                    </a:p>
                  </a:txBody>
                  <a:tcPr marL="73152" marR="73152" marT="36576" marB="36576" anchor="ctr">
                    <a:solidFill>
                      <a:srgbClr val="FFFFFF"/>
                    </a:solidFill>
                  </a:tcPr>
                </a:tc>
                <a:tc>
                  <a:txBody>
                    <a:bodyPr wrap="square"/>
                    <a:lstStyle/>
                    <a:p>
                      <a:r>
                        <a:rPr sz="1400" b="0" i="0">
                          <a:solidFill>
                            <a:srgbClr val="0E2841"/>
                          </a:solidFill>
                        </a:rPr>
                        <a:t>a node with label </a:t>
                      </a:r>
                      <a:r>
                        <a:rPr sz="1400" b="0" i="0">
                          <a:solidFill>
                            <a:srgbClr val="156082"/>
                          </a:solidFill>
                          <a:latin typeface="Courier New"/>
                        </a:rPr>
                        <a:t>Lecture</a:t>
                      </a:r>
                    </a:p>
                  </a:txBody>
                  <a:tcPr marL="73152" marR="73152" marT="36576" marB="36576" anchor="ctr">
                    <a:solidFill>
                      <a:srgbClr val="FFFFFF"/>
                    </a:solidFill>
                  </a:tcPr>
                </a:tc>
              </a:tr>
              <a:tr h="393192">
                <a:tc>
                  <a:txBody>
                    <a:bodyPr wrap="square"/>
                    <a:lstStyle/>
                    <a:p>
                      <a:r>
                        <a:rPr sz="1400" b="0" i="0">
                          <a:solidFill>
                            <a:srgbClr val="156082"/>
                          </a:solidFill>
                          <a:latin typeface="Courier New"/>
                        </a:rPr>
                        <a:t>(l:Lecture {index: 'n26'})</a:t>
                      </a:r>
                    </a:p>
                  </a:txBody>
                  <a:tcPr marL="73152" marR="73152" marT="36576" marB="36576" anchor="ctr">
                    <a:solidFill>
                      <a:srgbClr val="F2F5F9"/>
                    </a:solidFill>
                  </a:tcPr>
                </a:tc>
                <a:tc>
                  <a:txBody>
                    <a:bodyPr wrap="square"/>
                    <a:lstStyle/>
                    <a:p>
                      <a:r>
                        <a:rPr sz="1400" b="0" i="0">
                          <a:solidFill>
                            <a:srgbClr val="0E2841"/>
                          </a:solidFill>
                        </a:rPr>
                        <a:t>a </a:t>
                      </a:r>
                      <a:r>
                        <a:rPr sz="1400" b="0" i="0">
                          <a:solidFill>
                            <a:srgbClr val="156082"/>
                          </a:solidFill>
                          <a:latin typeface="Courier New"/>
                        </a:rPr>
                        <a:t>Lecture</a:t>
                      </a:r>
                      <a:r>
                        <a:rPr sz="1400" b="0" i="0">
                          <a:solidFill>
                            <a:srgbClr val="0E2841"/>
                          </a:solidFill>
                        </a:rPr>
                        <a:t> whose property </a:t>
                      </a:r>
                      <a:r>
                        <a:rPr sz="1400" b="0" i="0">
                          <a:solidFill>
                            <a:srgbClr val="156082"/>
                          </a:solidFill>
                          <a:latin typeface="Courier New"/>
                        </a:rPr>
                        <a:t>index</a:t>
                      </a:r>
                      <a:r>
                        <a:rPr sz="1400" b="0" i="0">
                          <a:solidFill>
                            <a:srgbClr val="0E2841"/>
                          </a:solidFill>
                        </a:rPr>
                        <a:t> is </a:t>
                      </a:r>
                      <a:r>
                        <a:rPr sz="1400" b="0" i="0">
                          <a:solidFill>
                            <a:srgbClr val="156082"/>
                          </a:solidFill>
                          <a:latin typeface="Courier New"/>
                        </a:rPr>
                        <a:t>'n26'</a:t>
                      </a:r>
                    </a:p>
                  </a:txBody>
                  <a:tcPr marL="73152" marR="73152" marT="36576" marB="36576" anchor="ctr">
                    <a:solidFill>
                      <a:srgbClr val="F2F5F9"/>
                    </a:solidFill>
                  </a:tcPr>
                </a:tc>
              </a:tr>
              <a:tr h="393192">
                <a:tc>
                  <a:txBody>
                    <a:bodyPr wrap="square"/>
                    <a:lstStyle/>
                    <a:p>
                      <a:r>
                        <a:rPr sz="1400" b="0" i="0">
                          <a:solidFill>
                            <a:srgbClr val="156082"/>
                          </a:solidFill>
                          <a:latin typeface="Courier New"/>
                        </a:rPr>
                        <a:t>--&gt;</a:t>
                      </a:r>
                      <a:r>
                        <a:rPr sz="1400" b="0" i="0">
                          <a:solidFill>
                            <a:srgbClr val="0E2841"/>
                          </a:solidFill>
                        </a:rPr>
                        <a:t> or </a:t>
                      </a:r>
                      <a:r>
                        <a:rPr sz="1400" b="0" i="0">
                          <a:solidFill>
                            <a:srgbClr val="156082"/>
                          </a:solidFill>
                          <a:latin typeface="Courier New"/>
                        </a:rPr>
                        <a:t>-[]-&gt;</a:t>
                      </a:r>
                    </a:p>
                  </a:txBody>
                  <a:tcPr marL="73152" marR="73152" marT="36576" marB="36576" anchor="ctr">
                    <a:solidFill>
                      <a:srgbClr val="FFFFFF"/>
                    </a:solidFill>
                  </a:tcPr>
                </a:tc>
                <a:tc>
                  <a:txBody>
                    <a:bodyPr wrap="square"/>
                    <a:lstStyle/>
                    <a:p>
                      <a:r>
                        <a:rPr sz="1400" b="0" i="0">
                          <a:solidFill>
                            <a:srgbClr val="0E2841"/>
                          </a:solidFill>
                        </a:rPr>
                        <a:t>a relationship, any type, pointing right</a:t>
                      </a:r>
                    </a:p>
                  </a:txBody>
                  <a:tcPr marL="73152" marR="73152" marT="36576" marB="36576" anchor="ctr">
                    <a:solidFill>
                      <a:srgbClr val="FFFFFF"/>
                    </a:solidFill>
                  </a:tcPr>
                </a:tc>
              </a:tr>
              <a:tr h="393192">
                <a:tc>
                  <a:txBody>
                    <a:bodyPr wrap="square"/>
                    <a:lstStyle/>
                    <a:p>
                      <a:r>
                        <a:rPr sz="1400" b="0" i="0">
                          <a:solidFill>
                            <a:srgbClr val="156082"/>
                          </a:solidFill>
                          <a:latin typeface="Courier New"/>
                        </a:rPr>
                        <a:t>-[:HOSTS]-&gt;</a:t>
                      </a:r>
                    </a:p>
                  </a:txBody>
                  <a:tcPr marL="73152" marR="73152" marT="36576" marB="36576" anchor="ctr">
                    <a:solidFill>
                      <a:srgbClr val="F2F5F9"/>
                    </a:solidFill>
                  </a:tcPr>
                </a:tc>
                <a:tc>
                  <a:txBody>
                    <a:bodyPr wrap="square"/>
                    <a:lstStyle/>
                    <a:p>
                      <a:r>
                        <a:rPr sz="1400" b="0" i="0">
                          <a:solidFill>
                            <a:srgbClr val="0E2841"/>
                          </a:solidFill>
                        </a:rPr>
                        <a:t>a relationship of type </a:t>
                      </a:r>
                      <a:r>
                        <a:rPr sz="1400" b="0" i="0">
                          <a:solidFill>
                            <a:srgbClr val="156082"/>
                          </a:solidFill>
                          <a:latin typeface="Courier New"/>
                        </a:rPr>
                        <a:t>HOSTS</a:t>
                      </a:r>
                    </a:p>
                  </a:txBody>
                  <a:tcPr marL="73152" marR="73152" marT="36576" marB="36576" anchor="ctr">
                    <a:solidFill>
                      <a:srgbClr val="F2F5F9"/>
                    </a:solidFill>
                  </a:tcPr>
                </a:tc>
              </a:tr>
              <a:tr h="393192">
                <a:tc>
                  <a:txBody>
                    <a:bodyPr wrap="square"/>
                    <a:lstStyle/>
                    <a:p>
                      <a:r>
                        <a:rPr sz="1400" b="0" i="0">
                          <a:solidFill>
                            <a:srgbClr val="156082"/>
                          </a:solidFill>
                          <a:latin typeface="Courier New"/>
                        </a:rPr>
                        <a:t>-[r:HOSTS {since: 2021}]-&gt;</a:t>
                      </a:r>
                    </a:p>
                  </a:txBody>
                  <a:tcPr marL="73152" marR="73152" marT="36576" marB="36576" anchor="ctr">
                    <a:solidFill>
                      <a:srgbClr val="FFFFFF"/>
                    </a:solidFill>
                  </a:tcPr>
                </a:tc>
                <a:tc>
                  <a:txBody>
                    <a:bodyPr wrap="square"/>
                    <a:lstStyle/>
                    <a:p>
                      <a:r>
                        <a:rPr sz="1400" b="0" i="0">
                          <a:solidFill>
                            <a:srgbClr val="0E2841"/>
                          </a:solidFill>
                        </a:rPr>
                        <a:t>…named </a:t>
                      </a:r>
                      <a:r>
                        <a:rPr sz="1400" b="0" i="0">
                          <a:solidFill>
                            <a:srgbClr val="156082"/>
                          </a:solidFill>
                          <a:latin typeface="Courier New"/>
                        </a:rPr>
                        <a:t>r</a:t>
                      </a:r>
                      <a:r>
                        <a:rPr sz="1400" b="0" i="0">
                          <a:solidFill>
                            <a:srgbClr val="0E2841"/>
                          </a:solidFill>
                        </a:rPr>
                        <a:t>, with a property</a:t>
                      </a:r>
                    </a:p>
                  </a:txBody>
                  <a:tcPr marL="73152" marR="73152" marT="36576" marB="36576" anchor="ctr">
                    <a:solidFill>
                      <a:srgbClr val="FFFFFF"/>
                    </a:solidFill>
                  </a:tcPr>
                </a:tc>
              </a:tr>
              <a:tr h="393192">
                <a:tc>
                  <a:txBody>
                    <a:bodyPr wrap="square"/>
                    <a:lstStyle/>
                    <a:p>
                      <a:r>
                        <a:rPr sz="1400" b="0" i="0">
                          <a:solidFill>
                            <a:srgbClr val="156082"/>
                          </a:solidFill>
                          <a:latin typeface="Courier New"/>
                        </a:rPr>
                        <a:t>--</a:t>
                      </a:r>
                    </a:p>
                  </a:txBody>
                  <a:tcPr marL="73152" marR="73152" marT="36576" marB="36576" anchor="ctr">
                    <a:solidFill>
                      <a:srgbClr val="F2F5F9"/>
                    </a:solidFill>
                  </a:tcPr>
                </a:tc>
                <a:tc>
                  <a:txBody>
                    <a:bodyPr wrap="square"/>
                    <a:lstStyle/>
                    <a:p>
                      <a:r>
                        <a:rPr sz="1400" b="0" i="0">
                          <a:solidFill>
                            <a:srgbClr val="0E2841"/>
                          </a:solidFill>
                        </a:rPr>
                        <a:t>a relationship in </a:t>
                      </a:r>
                      <a:r>
                        <a:rPr sz="1400" b="1" i="0">
                          <a:solidFill>
                            <a:srgbClr val="0E2841"/>
                          </a:solidFill>
                        </a:rPr>
                        <a:t>either</a:t>
                      </a:r>
                      <a:r>
                        <a:rPr sz="1400" b="0" i="0">
                          <a:solidFill>
                            <a:srgbClr val="0E2841"/>
                          </a:solidFill>
                        </a:rPr>
                        <a:t> direction</a:t>
                      </a:r>
                    </a:p>
                  </a:txBody>
                  <a:tcPr marL="73152" marR="73152" marT="36576" marB="36576" anchor="ctr">
                    <a:solidFill>
                      <a:srgbClr val="F2F5F9"/>
                    </a:solidFill>
                  </a:tcPr>
                </a:tc>
              </a:tr>
            </a:tbl>
          </a:graphicData>
        </a:graphic>
      </p:graphicFrame>
      <p:sp>
        <p:nvSpPr>
          <p:cNvPr id="9" name="legend bg"/>
          <p:cNvSpPr/>
          <p:nvPr/>
        </p:nvSpPr>
        <p:spPr>
          <a:xfrm>
            <a:off x="9509760" y="2377440"/>
            <a:ext cx="2103120" cy="3520440"/>
          </a:xfrm>
          <a:prstGeom prst="roundRect">
            <a:avLst>
              <a:gd name="adj" fmla="val 2608"/>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legend"/>
          <p:cNvSpPr txBox="1"/>
          <p:nvPr/>
        </p:nvSpPr>
        <p:spPr>
          <a:xfrm>
            <a:off x="9601200" y="2423160"/>
            <a:ext cx="1920240" cy="3429000"/>
          </a:xfrm>
          <a:prstGeom prst="rect">
            <a:avLst/>
          </a:prstGeom>
          <a:noFill/>
        </p:spPr>
        <p:txBody>
          <a:bodyPr wrap="square" lIns="45720" rIns="45720" tIns="27432" bIns="27432" anchor="t">
            <a:spAutoFit/>
          </a:bodyPr>
          <a:lstStyle/>
          <a:p>
            <a:pPr algn="l">
              <a:spcAft>
                <a:spcPts val="1000"/>
              </a:spcAft>
            </a:pPr>
            <a:r>
              <a:rPr sz="1400" b="0" i="0">
                <a:solidFill>
                  <a:srgbClr val="156082"/>
                </a:solidFill>
                <a:latin typeface="Courier New"/>
              </a:rPr>
              <a:t>( )</a:t>
            </a:r>
            <a:r>
              <a:rPr sz="1400" b="0" i="0">
                <a:solidFill>
                  <a:srgbClr val="0E2841"/>
                </a:solidFill>
              </a:rPr>
              <a:t> = circle on the whiteboard</a:t>
            </a:r>
          </a:p>
          <a:p>
            <a:pPr algn="l">
              <a:spcAft>
                <a:spcPts val="1000"/>
              </a:spcAft>
            </a:pPr>
            <a:r>
              <a:rPr sz="1400" b="0" i="0">
                <a:solidFill>
                  <a:srgbClr val="156082"/>
                </a:solidFill>
                <a:latin typeface="Courier New"/>
              </a:rPr>
              <a:t>:</a:t>
            </a:r>
            <a:r>
              <a:rPr sz="1400" b="0" i="0">
                <a:solidFill>
                  <a:srgbClr val="0E2841"/>
                </a:solidFill>
              </a:rPr>
              <a:t> = “is a”</a:t>
            </a:r>
          </a:p>
          <a:p>
            <a:pPr algn="l">
              <a:spcAft>
                <a:spcPts val="1000"/>
              </a:spcAft>
            </a:pPr>
            <a:r>
              <a:rPr sz="1400" b="0" i="0">
                <a:solidFill>
                  <a:srgbClr val="156082"/>
                </a:solidFill>
                <a:latin typeface="Courier New"/>
              </a:rPr>
              <a:t>{ }</a:t>
            </a:r>
            <a:r>
              <a:rPr sz="1400" b="0" i="0">
                <a:solidFill>
                  <a:srgbClr val="0E2841"/>
                </a:solidFill>
              </a:rPr>
              <a:t> = properties</a:t>
            </a:r>
          </a:p>
          <a:p>
            <a:pPr algn="l">
              <a:spcAft>
                <a:spcPts val="1000"/>
              </a:spcAft>
            </a:pPr>
            <a:r>
              <a:rPr sz="1400" b="0" i="0">
                <a:solidFill>
                  <a:srgbClr val="156082"/>
                </a:solidFill>
                <a:latin typeface="Courier New"/>
              </a:rPr>
              <a:t>-&gt;</a:t>
            </a:r>
            <a:r>
              <a:rPr sz="1400" b="0" i="0">
                <a:solidFill>
                  <a:srgbClr val="0E2841"/>
                </a:solidFill>
              </a:rPr>
              <a:t> = direction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74320"/>
            <a:ext cx="9509760" cy="777240"/>
          </a:xfrm>
        </p:spPr>
        <p:txBody>
          <a:bodyPr wrap="square" anchor="ctr"/>
          <a:lstStyle/>
          <a:p>
            <a:pPr algn="l"/>
            <a:r>
              <a:rPr sz="3000" b="1" i="0">
                <a:solidFill>
                  <a:srgbClr val="0E2841"/>
                </a:solidFill>
              </a:rPr>
              <a:t>CREATE vs MERGE</a:t>
            </a:r>
          </a:p>
        </p:txBody>
      </p:sp>
      <p:sp>
        <p:nvSpPr>
          <p:cNvPr id="3" name="footer"/>
          <p:cNvSpPr txBox="1"/>
          <p:nvPr/>
        </p:nvSpPr>
        <p:spPr>
          <a:xfrm>
            <a:off x="548640" y="6455664"/>
            <a:ext cx="8686800" cy="274320"/>
          </a:xfrm>
          <a:prstGeom prst="rect">
            <a:avLst/>
          </a:prstGeom>
          <a:noFill/>
        </p:spPr>
        <p:txBody>
          <a:bodyPr wrap="square" lIns="45720" rIns="45720" tIns="27432" bIns="27432" anchor="t">
            <a:spAutoFit/>
          </a:bodyPr>
          <a:lstStyle/>
          <a:p>
            <a:pPr algn="l">
              <a:spcAft>
                <a:spcPts val="600"/>
              </a:spcAft>
            </a:pPr>
            <a:r>
              <a:rPr sz="1000" b="0" i="0">
                <a:solidFill>
                  <a:srgbClr val="595959"/>
                </a:solidFill>
              </a:rPr>
              <a:t>NoSQL Databases for Bioinformatics  ·  Lecture 26  ·  Graph database basics</a:t>
            </a:r>
          </a:p>
        </p:txBody>
      </p:sp>
      <p:sp>
        <p:nvSpPr>
          <p:cNvPr id="4" name="slide number"/>
          <p:cNvSpPr txBox="1"/>
          <p:nvPr/>
        </p:nvSpPr>
        <p:spPr>
          <a:xfrm>
            <a:off x="10698480" y="6455664"/>
            <a:ext cx="914400" cy="274320"/>
          </a:xfrm>
          <a:prstGeom prst="rect">
            <a:avLst/>
          </a:prstGeom>
          <a:noFill/>
        </p:spPr>
        <p:txBody>
          <a:bodyPr wrap="square" lIns="45720" rIns="45720" tIns="27432" bIns="27432" anchor="t">
            <a:spAutoFit/>
          </a:bodyPr>
          <a:lstStyle/>
          <a:p>
            <a:pPr algn="r">
              <a:spcAft>
                <a:spcPts val="600"/>
              </a:spcAft>
            </a:pPr>
            <a:fld id="{B6F15528-21DE-4FAA-801E-634DDDAF4B2B}" type="slidenum">
              <a:rPr lang="en-US" sz="1000">
                <a:solidFill>
                  <a:srgbClr val="595959"/>
                </a:solidFill>
              </a:rPr>
              <a:t>‹#›</a:t>
            </a:fld>
          </a:p>
        </p:txBody>
      </p:sp>
      <p:sp>
        <p:nvSpPr>
          <p:cNvPr id="5" name="step tag"/>
          <p:cNvSpPr/>
          <p:nvPr/>
        </p:nvSpPr>
        <p:spPr>
          <a:xfrm>
            <a:off x="10195560" y="411480"/>
            <a:ext cx="1417320" cy="329184"/>
          </a:xfrm>
          <a:prstGeom prst="roundRect">
            <a:avLst>
              <a:gd name="adj" fmla="val 50000"/>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i="0">
                <a:solidFill>
                  <a:srgbClr val="FFFFFF"/>
                </a:solidFill>
              </a:rPr>
              <a:t>HANDS-ON</a:t>
            </a:r>
          </a:p>
        </p:txBody>
      </p:sp>
      <p:sp>
        <p:nvSpPr>
          <p:cNvPr id="6" name="create head"/>
          <p:cNvSpPr txBox="1"/>
          <p:nvPr/>
        </p:nvSpPr>
        <p:spPr>
          <a:xfrm>
            <a:off x="548640" y="1280160"/>
            <a:ext cx="5440680" cy="411480"/>
          </a:xfrm>
          <a:prstGeom prst="rect">
            <a:avLst/>
          </a:prstGeom>
          <a:noFill/>
        </p:spPr>
        <p:txBody>
          <a:bodyPr wrap="square" lIns="45720" rIns="45720" tIns="27432" bIns="27432" anchor="t">
            <a:spAutoFit/>
          </a:bodyPr>
          <a:lstStyle/>
          <a:p>
            <a:pPr algn="l">
              <a:spcAft>
                <a:spcPts val="600"/>
              </a:spcAft>
            </a:pPr>
            <a:r>
              <a:rPr sz="2000" b="1" i="0">
                <a:solidFill>
                  <a:srgbClr val="D41348"/>
                </a:solidFill>
              </a:rPr>
              <a:t>CREATE: always creates</a:t>
            </a:r>
          </a:p>
        </p:txBody>
      </p:sp>
      <p:sp>
        <p:nvSpPr>
          <p:cNvPr id="7" name="create code bg"/>
          <p:cNvSpPr/>
          <p:nvPr/>
        </p:nvSpPr>
        <p:spPr>
          <a:xfrm>
            <a:off x="548640" y="1737360"/>
            <a:ext cx="5440680" cy="1645920"/>
          </a:xfrm>
          <a:prstGeom prst="roundRect">
            <a:avLst>
              <a:gd name="adj" fmla="val 2777"/>
            </a:avLst>
          </a:prstGeom>
          <a:solidFill>
            <a:srgbClr val="F4F6F8"/>
          </a:solidFill>
          <a:ln w="9525">
            <a:solidFill>
              <a:srgbClr val="C9D1D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create code"/>
          <p:cNvSpPr txBox="1"/>
          <p:nvPr/>
        </p:nvSpPr>
        <p:spPr>
          <a:xfrm>
            <a:off x="640080" y="1801368"/>
            <a:ext cx="5257800" cy="1517904"/>
          </a:xfrm>
          <a:prstGeom prst="rect">
            <a:avLst/>
          </a:prstGeom>
          <a:noFill/>
        </p:spPr>
        <p:txBody>
          <a:bodyPr wrap="square" lIns="45720" rIns="45720" tIns="27432" bIns="27432" anchor="t">
            <a:spAutoFit/>
          </a:bodyPr>
          <a:lstStyle/>
          <a:p>
            <a:pPr algn="l">
              <a:spcAft>
                <a:spcPts val="0"/>
              </a:spcAft>
            </a:pPr>
            <a:r>
              <a:rPr sz="1300" b="0" i="0">
                <a:solidFill>
                  <a:srgbClr val="1F2937"/>
                </a:solidFill>
                <a:latin typeface="Courier New"/>
              </a:rPr>
              <a:t>CREATE (:MeetingRoom {id: 'MP163'})</a:t>
            </a:r>
          </a:p>
          <a:p>
            <a:pPr algn="l">
              <a:spcAft>
                <a:spcPts val="0"/>
              </a:spcAft>
            </a:pPr>
            <a:r>
              <a:rPr sz="1300" b="0" i="0">
                <a:solidFill>
                  <a:srgbClr val="1F2937"/>
                </a:solidFill>
                <a:latin typeface="Courier New"/>
              </a:rPr>
              <a:t>CREATE (:MeetingRoom {id: 'MP163'})  // twice!</a:t>
            </a:r>
          </a:p>
          <a:p>
            <a:pPr algn="l">
              <a:spcAft>
                <a:spcPts val="0"/>
              </a:spcAft>
            </a:pPr>
          </a:p>
          <a:p>
            <a:pPr algn="l">
              <a:spcAft>
                <a:spcPts val="0"/>
              </a:spcAft>
            </a:pPr>
            <a:r>
              <a:rPr sz="1300" b="0" i="0">
                <a:solidFill>
                  <a:srgbClr val="1F2937"/>
                </a:solidFill>
                <a:latin typeface="Courier New"/>
              </a:rPr>
              <a:t>MATCH (m:MeetingRoom) RETURN m.id</a:t>
            </a:r>
          </a:p>
        </p:txBody>
      </p:sp>
      <p:sp>
        <p:nvSpPr>
          <p:cNvPr id="9" name="merge head"/>
          <p:cNvSpPr txBox="1"/>
          <p:nvPr/>
        </p:nvSpPr>
        <p:spPr>
          <a:xfrm>
            <a:off x="6172200" y="1280160"/>
            <a:ext cx="5440680" cy="411480"/>
          </a:xfrm>
          <a:prstGeom prst="rect">
            <a:avLst/>
          </a:prstGeom>
          <a:noFill/>
        </p:spPr>
        <p:txBody>
          <a:bodyPr wrap="square" lIns="45720" rIns="45720" tIns="27432" bIns="27432" anchor="t">
            <a:spAutoFit/>
          </a:bodyPr>
          <a:lstStyle/>
          <a:p>
            <a:pPr algn="l">
              <a:spcAft>
                <a:spcPts val="600"/>
              </a:spcAft>
            </a:pPr>
            <a:r>
              <a:rPr sz="2000" b="1" i="0">
                <a:solidFill>
                  <a:srgbClr val="2E8B3E"/>
                </a:solidFill>
              </a:rPr>
              <a:t>MERGE: get-or-create</a:t>
            </a:r>
          </a:p>
        </p:txBody>
      </p:sp>
      <p:sp>
        <p:nvSpPr>
          <p:cNvPr id="10" name="merge code bg"/>
          <p:cNvSpPr/>
          <p:nvPr/>
        </p:nvSpPr>
        <p:spPr>
          <a:xfrm>
            <a:off x="6172200" y="1737360"/>
            <a:ext cx="5440680" cy="1645920"/>
          </a:xfrm>
          <a:prstGeom prst="roundRect">
            <a:avLst>
              <a:gd name="adj" fmla="val 2777"/>
            </a:avLst>
          </a:prstGeom>
          <a:solidFill>
            <a:srgbClr val="F4F6F8"/>
          </a:solidFill>
          <a:ln w="9525">
            <a:solidFill>
              <a:srgbClr val="C9D1D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merge code"/>
          <p:cNvSpPr txBox="1"/>
          <p:nvPr/>
        </p:nvSpPr>
        <p:spPr>
          <a:xfrm>
            <a:off x="6263640" y="1801368"/>
            <a:ext cx="5257800" cy="1517904"/>
          </a:xfrm>
          <a:prstGeom prst="rect">
            <a:avLst/>
          </a:prstGeom>
          <a:noFill/>
        </p:spPr>
        <p:txBody>
          <a:bodyPr wrap="square" lIns="45720" rIns="45720" tIns="27432" bIns="27432" anchor="t">
            <a:spAutoFit/>
          </a:bodyPr>
          <a:lstStyle/>
          <a:p>
            <a:pPr algn="l">
              <a:spcAft>
                <a:spcPts val="0"/>
              </a:spcAft>
            </a:pPr>
            <a:r>
              <a:rPr sz="1300" b="0" i="0">
                <a:solidFill>
                  <a:srgbClr val="1F2937"/>
                </a:solidFill>
                <a:latin typeface="Courier New"/>
              </a:rPr>
              <a:t>MERGE (:MeetingRoom {id: 'MP163'})</a:t>
            </a:r>
          </a:p>
          <a:p>
            <a:pPr algn="l">
              <a:spcAft>
                <a:spcPts val="0"/>
              </a:spcAft>
            </a:pPr>
            <a:r>
              <a:rPr sz="1300" b="0" i="0">
                <a:solidFill>
                  <a:srgbClr val="1F2937"/>
                </a:solidFill>
                <a:latin typeface="Courier New"/>
              </a:rPr>
              <a:t>MERGE (:MeetingRoom {id: 'MP163'})   // safe</a:t>
            </a:r>
          </a:p>
          <a:p>
            <a:pPr algn="l">
              <a:spcAft>
                <a:spcPts val="0"/>
              </a:spcAft>
            </a:pPr>
          </a:p>
          <a:p>
            <a:pPr algn="l">
              <a:spcAft>
                <a:spcPts val="0"/>
              </a:spcAft>
            </a:pPr>
            <a:r>
              <a:rPr sz="1300" b="0" i="0">
                <a:solidFill>
                  <a:srgbClr val="1F2937"/>
                </a:solidFill>
                <a:latin typeface="Courier New"/>
              </a:rPr>
              <a:t>MATCH (m:MeetingRoom) RETURN m.id</a:t>
            </a:r>
          </a:p>
        </p:txBody>
      </p:sp>
      <p:sp>
        <p:nvSpPr>
          <p:cNvPr id="12" name="create result"/>
          <p:cNvSpPr/>
          <p:nvPr/>
        </p:nvSpPr>
        <p:spPr>
          <a:xfrm>
            <a:off x="548640" y="3566160"/>
            <a:ext cx="5440680" cy="1371600"/>
          </a:xfrm>
          <a:prstGeom prst="roundRect">
            <a:avLst>
              <a:gd name="adj" fmla="val 4000"/>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wo"/>
          <p:cNvSpPr txBox="1"/>
          <p:nvPr/>
        </p:nvSpPr>
        <p:spPr>
          <a:xfrm>
            <a:off x="731520" y="3611880"/>
            <a:ext cx="1828800" cy="1280160"/>
          </a:xfrm>
          <a:prstGeom prst="rect">
            <a:avLst/>
          </a:prstGeom>
          <a:noFill/>
        </p:spPr>
        <p:txBody>
          <a:bodyPr wrap="square" lIns="45720" rIns="45720" tIns="27432" bIns="27432" anchor="ctr">
            <a:spAutoFit/>
          </a:bodyPr>
          <a:lstStyle/>
          <a:p>
            <a:pPr algn="l">
              <a:spcAft>
                <a:spcPts val="600"/>
              </a:spcAft>
            </a:pPr>
            <a:r>
              <a:rPr sz="6000" b="1" i="0">
                <a:solidFill>
                  <a:srgbClr val="D41348"/>
                </a:solidFill>
              </a:rPr>
              <a:t>2</a:t>
            </a:r>
          </a:p>
        </p:txBody>
      </p:sp>
      <p:sp>
        <p:nvSpPr>
          <p:cNvPr id="14" name="two text"/>
          <p:cNvSpPr txBox="1"/>
          <p:nvPr/>
        </p:nvSpPr>
        <p:spPr>
          <a:xfrm>
            <a:off x="2194560" y="3611880"/>
            <a:ext cx="3657600" cy="1280160"/>
          </a:xfrm>
          <a:prstGeom prst="rect">
            <a:avLst/>
          </a:prstGeom>
          <a:noFill/>
        </p:spPr>
        <p:txBody>
          <a:bodyPr wrap="square" lIns="45720" rIns="45720" tIns="27432" bIns="27432" anchor="ctr">
            <a:spAutoFit/>
          </a:bodyPr>
          <a:lstStyle/>
          <a:p>
            <a:pPr algn="l">
              <a:spcAft>
                <a:spcPts val="600"/>
              </a:spcAft>
            </a:pPr>
            <a:r>
              <a:rPr sz="1800" b="0" i="0">
                <a:solidFill>
                  <a:srgbClr val="0E2841"/>
                </a:solidFill>
              </a:rPr>
              <a:t>nodes with the same id: </a:t>
            </a:r>
            <a:r>
              <a:rPr sz="1800" b="1" i="0">
                <a:solidFill>
                  <a:srgbClr val="0E2841"/>
                </a:solidFill>
              </a:rPr>
              <a:t>duplicates</a:t>
            </a:r>
          </a:p>
        </p:txBody>
      </p:sp>
      <p:sp>
        <p:nvSpPr>
          <p:cNvPr id="15" name="merge result"/>
          <p:cNvSpPr/>
          <p:nvPr/>
        </p:nvSpPr>
        <p:spPr>
          <a:xfrm>
            <a:off x="6172200" y="3566160"/>
            <a:ext cx="5440680" cy="1371600"/>
          </a:xfrm>
          <a:prstGeom prst="roundRect">
            <a:avLst>
              <a:gd name="adj" fmla="val 4000"/>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one"/>
          <p:cNvSpPr txBox="1"/>
          <p:nvPr/>
        </p:nvSpPr>
        <p:spPr>
          <a:xfrm>
            <a:off x="6355080" y="3611880"/>
            <a:ext cx="1828800" cy="1280160"/>
          </a:xfrm>
          <a:prstGeom prst="rect">
            <a:avLst/>
          </a:prstGeom>
          <a:noFill/>
        </p:spPr>
        <p:txBody>
          <a:bodyPr wrap="square" lIns="45720" rIns="45720" tIns="27432" bIns="27432" anchor="ctr">
            <a:spAutoFit/>
          </a:bodyPr>
          <a:lstStyle/>
          <a:p>
            <a:pPr algn="l">
              <a:spcAft>
                <a:spcPts val="600"/>
              </a:spcAft>
            </a:pPr>
            <a:r>
              <a:rPr sz="6000" b="1" i="0">
                <a:solidFill>
                  <a:srgbClr val="2E8B3E"/>
                </a:solidFill>
              </a:rPr>
              <a:t>1</a:t>
            </a:r>
          </a:p>
        </p:txBody>
      </p:sp>
      <p:sp>
        <p:nvSpPr>
          <p:cNvPr id="17" name="one text"/>
          <p:cNvSpPr txBox="1"/>
          <p:nvPr/>
        </p:nvSpPr>
        <p:spPr>
          <a:xfrm>
            <a:off x="7818120" y="3611880"/>
            <a:ext cx="3657600" cy="1280160"/>
          </a:xfrm>
          <a:prstGeom prst="rect">
            <a:avLst/>
          </a:prstGeom>
          <a:noFill/>
        </p:spPr>
        <p:txBody>
          <a:bodyPr wrap="square" lIns="45720" rIns="45720" tIns="27432" bIns="27432" anchor="ctr">
            <a:spAutoFit/>
          </a:bodyPr>
          <a:lstStyle/>
          <a:p>
            <a:pPr algn="l">
              <a:spcAft>
                <a:spcPts val="600"/>
              </a:spcAft>
            </a:pPr>
            <a:r>
              <a:rPr sz="1800" b="0" i="0">
                <a:solidFill>
                  <a:srgbClr val="0E2841"/>
                </a:solidFill>
              </a:rPr>
              <a:t>node: </a:t>
            </a:r>
            <a:r>
              <a:rPr sz="1800" b="1" i="0">
                <a:solidFill>
                  <a:srgbClr val="0E2841"/>
                </a:solidFill>
              </a:rPr>
              <a:t>idempotent</a:t>
            </a:r>
            <a:r>
              <a:rPr sz="1800" b="0" i="0">
                <a:solidFill>
                  <a:srgbClr val="0E2841"/>
                </a:solidFill>
              </a:rPr>
              <a:t>, safe to re-run</a:t>
            </a:r>
          </a:p>
        </p:txBody>
      </p:sp>
      <p:sp>
        <p:nvSpPr>
          <p:cNvPr id="18" name="rule bg"/>
          <p:cNvSpPr/>
          <p:nvPr/>
        </p:nvSpPr>
        <p:spPr>
          <a:xfrm>
            <a:off x="548640" y="5166360"/>
            <a:ext cx="11064240" cy="1097280"/>
          </a:xfrm>
          <a:prstGeom prst="roundRect">
            <a:avLst>
              <a:gd name="adj" fmla="val 5000"/>
            </a:avLst>
          </a:prstGeom>
          <a:solidFill>
            <a:srgbClr val="0E28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ule text"/>
          <p:cNvSpPr txBox="1"/>
          <p:nvPr/>
        </p:nvSpPr>
        <p:spPr>
          <a:xfrm>
            <a:off x="731520" y="5212080"/>
            <a:ext cx="10698480" cy="1005840"/>
          </a:xfrm>
          <a:prstGeom prst="rect">
            <a:avLst/>
          </a:prstGeom>
          <a:noFill/>
        </p:spPr>
        <p:txBody>
          <a:bodyPr wrap="square" lIns="45720" rIns="45720" tIns="27432" bIns="27432" anchor="ctr">
            <a:spAutoFit/>
          </a:bodyPr>
          <a:lstStyle/>
          <a:p>
            <a:pPr algn="l">
              <a:spcAft>
                <a:spcPts val="600"/>
              </a:spcAft>
            </a:pPr>
            <a:r>
              <a:rPr sz="1800" b="0" i="0">
                <a:solidFill>
                  <a:srgbClr val="FFFFFF"/>
                </a:solidFill>
              </a:rPr>
              <a:t>Rule of thumb: </a:t>
            </a:r>
            <a:r>
              <a:rPr sz="1800" b="1" i="0">
                <a:solidFill>
                  <a:srgbClr val="FFFFFF"/>
                </a:solidFill>
              </a:rPr>
              <a:t>MERGE to load data</a:t>
            </a:r>
            <a:r>
              <a:rPr sz="1800" b="0" i="0">
                <a:solidFill>
                  <a:srgbClr val="FFFFFF"/>
                </a:solidFill>
              </a:rPr>
              <a:t>, CREATE only when you are sure it is new. Put only the </a:t>
            </a:r>
            <a:r>
              <a:rPr sz="1800" b="1" i="0">
                <a:solidFill>
                  <a:srgbClr val="FFFFFF"/>
                </a:solidFill>
              </a:rPr>
              <a:t>identifying</a:t>
            </a:r>
            <a:r>
              <a:rPr sz="1800" b="0" i="0">
                <a:solidFill>
                  <a:srgbClr val="FFFFFF"/>
                </a:solidFill>
              </a:rPr>
              <a:t> properties in the </a:t>
            </a:r>
            <a:r>
              <a:rPr sz="1800" b="0" i="0">
                <a:solidFill>
                  <a:srgbClr val="FFFFFF"/>
                </a:solidFill>
                <a:latin typeface="Courier New"/>
              </a:rPr>
              <a:t>MERGE { }</a:t>
            </a:r>
            <a:r>
              <a:rPr sz="1800" b="0" i="0">
                <a:solidFill>
                  <a:srgbClr val="FFFFFF"/>
                </a:solidFill>
              </a:rPr>
              <a:t> braces and use </a:t>
            </a:r>
            <a:r>
              <a:rPr sz="1800" b="0" i="0">
                <a:solidFill>
                  <a:srgbClr val="FFFFFF"/>
                </a:solidFill>
                <a:latin typeface="Courier New"/>
              </a:rPr>
              <a:t>SET</a:t>
            </a:r>
            <a:r>
              <a:rPr sz="1800" b="0" i="0">
                <a:solidFill>
                  <a:srgbClr val="FFFFFF"/>
                </a:solidFill>
              </a:rPr>
              <a:t> for the rest.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74320"/>
            <a:ext cx="9509760" cy="777240"/>
          </a:xfrm>
        </p:spPr>
        <p:txBody>
          <a:bodyPr wrap="square" anchor="ctr"/>
          <a:lstStyle/>
          <a:p>
            <a:pPr algn="l"/>
            <a:r>
              <a:rPr sz="3000" b="1" i="0">
                <a:solidFill>
                  <a:srgbClr val="0E2841"/>
                </a:solidFill>
              </a:rPr>
              <a:t>Build the course graph</a:t>
            </a:r>
          </a:p>
        </p:txBody>
      </p:sp>
      <p:sp>
        <p:nvSpPr>
          <p:cNvPr id="3" name="footer"/>
          <p:cNvSpPr txBox="1"/>
          <p:nvPr/>
        </p:nvSpPr>
        <p:spPr>
          <a:xfrm>
            <a:off x="548640" y="6455664"/>
            <a:ext cx="8686800" cy="274320"/>
          </a:xfrm>
          <a:prstGeom prst="rect">
            <a:avLst/>
          </a:prstGeom>
          <a:noFill/>
        </p:spPr>
        <p:txBody>
          <a:bodyPr wrap="square" lIns="45720" rIns="45720" tIns="27432" bIns="27432" anchor="t">
            <a:spAutoFit/>
          </a:bodyPr>
          <a:lstStyle/>
          <a:p>
            <a:pPr algn="l">
              <a:spcAft>
                <a:spcPts val="600"/>
              </a:spcAft>
            </a:pPr>
            <a:r>
              <a:rPr sz="1000" b="0" i="0">
                <a:solidFill>
                  <a:srgbClr val="595959"/>
                </a:solidFill>
              </a:rPr>
              <a:t>NoSQL Databases for Bioinformatics  ·  Lecture 26  ·  Graph database basics</a:t>
            </a:r>
          </a:p>
        </p:txBody>
      </p:sp>
      <p:sp>
        <p:nvSpPr>
          <p:cNvPr id="4" name="slide number"/>
          <p:cNvSpPr txBox="1"/>
          <p:nvPr/>
        </p:nvSpPr>
        <p:spPr>
          <a:xfrm>
            <a:off x="10698480" y="6455664"/>
            <a:ext cx="914400" cy="274320"/>
          </a:xfrm>
          <a:prstGeom prst="rect">
            <a:avLst/>
          </a:prstGeom>
          <a:noFill/>
        </p:spPr>
        <p:txBody>
          <a:bodyPr wrap="square" lIns="45720" rIns="45720" tIns="27432" bIns="27432" anchor="t">
            <a:spAutoFit/>
          </a:bodyPr>
          <a:lstStyle/>
          <a:p>
            <a:pPr algn="r">
              <a:spcAft>
                <a:spcPts val="600"/>
              </a:spcAft>
            </a:pPr>
            <a:fld id="{B6F15528-21DE-4FAA-801E-634DDDAF4B2B}" type="slidenum">
              <a:rPr lang="en-US" sz="1000">
                <a:solidFill>
                  <a:srgbClr val="595959"/>
                </a:solidFill>
              </a:rPr>
              <a:t>‹#›</a:t>
            </a:fld>
          </a:p>
        </p:txBody>
      </p:sp>
      <p:sp>
        <p:nvSpPr>
          <p:cNvPr id="5" name="step tag"/>
          <p:cNvSpPr/>
          <p:nvPr/>
        </p:nvSpPr>
        <p:spPr>
          <a:xfrm>
            <a:off x="10195560" y="411480"/>
            <a:ext cx="1417320" cy="329184"/>
          </a:xfrm>
          <a:prstGeom prst="roundRect">
            <a:avLst>
              <a:gd name="adj" fmla="val 50000"/>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i="0">
                <a:solidFill>
                  <a:srgbClr val="FFFFFF"/>
                </a:solidFill>
              </a:rPr>
              <a:t>HANDS-ON</a:t>
            </a:r>
          </a:p>
        </p:txBody>
      </p:sp>
      <p:sp>
        <p:nvSpPr>
          <p:cNvPr id="6" name="node MeetingRoom"/>
          <p:cNvSpPr/>
          <p:nvPr/>
        </p:nvSpPr>
        <p:spPr>
          <a:xfrm>
            <a:off x="822960" y="2423160"/>
            <a:ext cx="2377440" cy="822960"/>
          </a:xfrm>
          <a:prstGeom prst="ellipse">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500" b="1" i="0">
                <a:solidFill>
                  <a:srgbClr val="FFFFFF"/>
                </a:solidFill>
              </a:rPr>
              <a:t>MeetingRoom</a:t>
            </a:r>
          </a:p>
          <a:p>
            <a:pPr algn="ctr"/>
            <a:r>
              <a:rPr sz="1500" b="0" i="0">
                <a:solidFill>
                  <a:srgbClr val="FFFFFF"/>
                </a:solidFill>
              </a:rPr>
              <a:t>MP163</a:t>
            </a:r>
          </a:p>
        </p:txBody>
      </p:sp>
      <p:sp>
        <p:nvSpPr>
          <p:cNvPr id="7" name="node Lecture"/>
          <p:cNvSpPr/>
          <p:nvPr/>
        </p:nvSpPr>
        <p:spPr>
          <a:xfrm>
            <a:off x="4206240" y="2423160"/>
            <a:ext cx="2560320" cy="822960"/>
          </a:xfrm>
          <a:prstGeom prst="ellipse">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500" b="1" i="0">
                <a:solidFill>
                  <a:srgbClr val="FFFFFF"/>
                </a:solidFill>
              </a:rPr>
              <a:t>Lecture</a:t>
            </a:r>
          </a:p>
          <a:p>
            <a:pPr algn="ctr"/>
            <a:r>
              <a:rPr sz="1500" b="0" i="0">
                <a:solidFill>
                  <a:srgbClr val="FFFFFF"/>
                </a:solidFill>
              </a:rPr>
              <a:t>n24 n25 n26 n27</a:t>
            </a:r>
          </a:p>
        </p:txBody>
      </p:sp>
      <p:sp>
        <p:nvSpPr>
          <p:cNvPr id="8" name="node Lecturer"/>
          <p:cNvSpPr/>
          <p:nvPr/>
        </p:nvSpPr>
        <p:spPr>
          <a:xfrm>
            <a:off x="4297680" y="4526280"/>
            <a:ext cx="2377440" cy="822960"/>
          </a:xfrm>
          <a:prstGeom prst="ellipse">
            <a:avLst/>
          </a:prstGeom>
          <a:solidFill>
            <a:srgbClr val="A02B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500" b="1" i="0">
                <a:solidFill>
                  <a:srgbClr val="FFFFFF"/>
                </a:solidFill>
              </a:rPr>
              <a:t>Lecturer</a:t>
            </a:r>
          </a:p>
          <a:p>
            <a:pPr algn="ctr"/>
            <a:r>
              <a:rPr sz="1500" b="0" i="0">
                <a:solidFill>
                  <a:srgbClr val="FFFFFF"/>
                </a:solidFill>
              </a:rPr>
              <a:t>zziang · yhui</a:t>
            </a:r>
          </a:p>
        </p:txBody>
      </p:sp>
      <p:cxnSp>
        <p:nvCxnSpPr>
          <p:cNvPr id="9" name="edge"/>
          <p:cNvCxnSpPr/>
          <p:nvPr/>
        </p:nvCxnSpPr>
        <p:spPr>
          <a:xfrm>
            <a:off x="3200400" y="2834640"/>
            <a:ext cx="1005840" cy="0"/>
          </a:xfrm>
          <a:prstGeom prst="line">
            <a:avLst/>
          </a:prstGeom>
          <a:ln w="31750">
            <a:solidFill>
              <a:srgbClr val="0E2841"/>
            </a:solidFill>
            <a:tailEnd type="triangle"/>
          </a:ln>
        </p:spPr>
        <p:style>
          <a:lnRef idx="2">
            <a:schemeClr val="accent1"/>
          </a:lnRef>
          <a:fillRef idx="0">
            <a:schemeClr val="accent1"/>
          </a:fillRef>
          <a:effectRef idx="1">
            <a:schemeClr val="accent1"/>
          </a:effectRef>
          <a:fontRef idx="minor">
            <a:schemeClr val="tx1"/>
          </a:fontRef>
        </p:style>
      </p:cxnSp>
      <p:sp>
        <p:nvSpPr>
          <p:cNvPr id="10" name="edge label"/>
          <p:cNvSpPr txBox="1"/>
          <p:nvPr/>
        </p:nvSpPr>
        <p:spPr>
          <a:xfrm>
            <a:off x="3154679" y="2423160"/>
            <a:ext cx="1097280" cy="320040"/>
          </a:xfrm>
          <a:prstGeom prst="rect">
            <a:avLst/>
          </a:prstGeom>
          <a:noFill/>
        </p:spPr>
        <p:txBody>
          <a:bodyPr wrap="square" lIns="9144" rIns="9144" tIns="27432" bIns="27432" anchor="t">
            <a:spAutoFit/>
          </a:bodyPr>
          <a:lstStyle/>
          <a:p>
            <a:pPr algn="ctr">
              <a:spcAft>
                <a:spcPts val="0"/>
              </a:spcAft>
            </a:pPr>
            <a:r>
              <a:rPr sz="1400" b="1" i="0">
                <a:solidFill>
                  <a:srgbClr val="0E2841"/>
                </a:solidFill>
              </a:rPr>
              <a:t>HOSTS</a:t>
            </a:r>
          </a:p>
        </p:txBody>
      </p:sp>
      <p:cxnSp>
        <p:nvCxnSpPr>
          <p:cNvPr id="11" name="edge"/>
          <p:cNvCxnSpPr/>
          <p:nvPr/>
        </p:nvCxnSpPr>
        <p:spPr>
          <a:xfrm flipV="1">
            <a:off x="5486400" y="3246120"/>
            <a:ext cx="0" cy="1280160"/>
          </a:xfrm>
          <a:prstGeom prst="line">
            <a:avLst/>
          </a:prstGeom>
          <a:ln w="31750">
            <a:solidFill>
              <a:srgbClr val="0E2841"/>
            </a:solidFill>
            <a:tailEnd type="triangle"/>
          </a:ln>
        </p:spPr>
        <p:style>
          <a:lnRef idx="2">
            <a:schemeClr val="accent1"/>
          </a:lnRef>
          <a:fillRef idx="0">
            <a:schemeClr val="accent1"/>
          </a:fillRef>
          <a:effectRef idx="1">
            <a:schemeClr val="accent1"/>
          </a:effectRef>
          <a:fontRef idx="minor">
            <a:schemeClr val="tx1"/>
          </a:fontRef>
        </p:style>
      </p:cxnSp>
      <p:sp>
        <p:nvSpPr>
          <p:cNvPr id="12" name="edge label"/>
          <p:cNvSpPr txBox="1"/>
          <p:nvPr/>
        </p:nvSpPr>
        <p:spPr>
          <a:xfrm>
            <a:off x="5669280" y="3749039"/>
            <a:ext cx="1097280" cy="320040"/>
          </a:xfrm>
          <a:prstGeom prst="rect">
            <a:avLst/>
          </a:prstGeom>
          <a:noFill/>
        </p:spPr>
        <p:txBody>
          <a:bodyPr wrap="square" lIns="9144" rIns="9144" tIns="27432" bIns="27432" anchor="t">
            <a:spAutoFit/>
          </a:bodyPr>
          <a:lstStyle/>
          <a:p>
            <a:pPr algn="ctr">
              <a:spcAft>
                <a:spcPts val="0"/>
              </a:spcAft>
            </a:pPr>
            <a:r>
              <a:rPr sz="1400" b="1" i="0">
                <a:solidFill>
                  <a:srgbClr val="0E2841"/>
                </a:solidFill>
              </a:rPr>
              <a:t>GIVES</a:t>
            </a:r>
          </a:p>
        </p:txBody>
      </p:sp>
      <p:sp>
        <p:nvSpPr>
          <p:cNvPr id="13" name="counts"/>
          <p:cNvSpPr txBox="1"/>
          <p:nvPr/>
        </p:nvSpPr>
        <p:spPr>
          <a:xfrm>
            <a:off x="548640" y="3840480"/>
            <a:ext cx="3566160" cy="1371600"/>
          </a:xfrm>
          <a:prstGeom prst="rect">
            <a:avLst/>
          </a:prstGeom>
          <a:noFill/>
        </p:spPr>
        <p:txBody>
          <a:bodyPr wrap="square" lIns="45720" rIns="45720" tIns="27432" bIns="27432" anchor="t">
            <a:spAutoFit/>
          </a:bodyPr>
          <a:lstStyle/>
          <a:p>
            <a:pPr algn="l" marL="256032" indent="-256032">
              <a:spcAft>
                <a:spcPts val="500"/>
              </a:spcAft>
              <a:buFont typeface="Arial"/>
              <a:buChar char="•"/>
            </a:pPr>
            <a:r>
              <a:rPr sz="1400" b="1" i="0">
                <a:solidFill>
                  <a:srgbClr val="0E2841"/>
                </a:solidFill>
              </a:rPr>
              <a:t>7 nodes</a:t>
            </a:r>
            <a:r>
              <a:rPr sz="1400" b="0" i="0">
                <a:solidFill>
                  <a:srgbClr val="0E2841"/>
                </a:solidFill>
              </a:rPr>
              <a:t> (1 room, 2 lecturers, 4 lectures)</a:t>
            </a:r>
          </a:p>
          <a:p>
            <a:pPr algn="l" marL="256032" indent="-256032">
              <a:spcAft>
                <a:spcPts val="500"/>
              </a:spcAft>
              <a:buFont typeface="Arial"/>
              <a:buChar char="•"/>
            </a:pPr>
            <a:r>
              <a:rPr sz="1400" b="1" i="0">
                <a:solidFill>
                  <a:srgbClr val="0E2841"/>
                </a:solidFill>
              </a:rPr>
              <a:t>12 relationships</a:t>
            </a:r>
            <a:r>
              <a:rPr sz="1400" b="0" i="0">
                <a:solidFill>
                  <a:srgbClr val="0E2841"/>
                </a:solidFill>
              </a:rPr>
              <a:t> (4 HOSTS + 8 GIVES)</a:t>
            </a:r>
          </a:p>
        </p:txBody>
      </p:sp>
      <p:sp>
        <p:nvSpPr>
          <p:cNvPr id="14" name="course code bg"/>
          <p:cNvSpPr/>
          <p:nvPr/>
        </p:nvSpPr>
        <p:spPr>
          <a:xfrm>
            <a:off x="7040880" y="1371600"/>
            <a:ext cx="4572000" cy="4206240"/>
          </a:xfrm>
          <a:prstGeom prst="roundRect">
            <a:avLst>
              <a:gd name="adj" fmla="val 1086"/>
            </a:avLst>
          </a:prstGeom>
          <a:solidFill>
            <a:srgbClr val="F4F6F8"/>
          </a:solidFill>
          <a:ln w="9525">
            <a:solidFill>
              <a:srgbClr val="C9D1D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course code"/>
          <p:cNvSpPr txBox="1"/>
          <p:nvPr/>
        </p:nvSpPr>
        <p:spPr>
          <a:xfrm>
            <a:off x="7132320" y="1435608"/>
            <a:ext cx="4389120" cy="4078224"/>
          </a:xfrm>
          <a:prstGeom prst="rect">
            <a:avLst/>
          </a:prstGeom>
          <a:noFill/>
        </p:spPr>
        <p:txBody>
          <a:bodyPr wrap="square" lIns="45720" rIns="45720" tIns="27432" bIns="27432" anchor="t">
            <a:spAutoFit/>
          </a:bodyPr>
          <a:lstStyle/>
          <a:p>
            <a:pPr algn="l">
              <a:spcAft>
                <a:spcPts val="0"/>
              </a:spcAft>
            </a:pPr>
            <a:r>
              <a:rPr sz="1150" b="0" i="0">
                <a:solidFill>
                  <a:srgbClr val="1F2937"/>
                </a:solidFill>
                <a:latin typeface="Courier New"/>
              </a:rPr>
              <a:t>MERGE (room:MeetingRoom {id: 'MP163'})</a:t>
            </a:r>
          </a:p>
          <a:p>
            <a:pPr algn="l">
              <a:spcAft>
                <a:spcPts val="0"/>
              </a:spcAft>
            </a:pPr>
            <a:r>
              <a:rPr sz="1150" b="0" i="0">
                <a:solidFill>
                  <a:srgbClr val="1F2937"/>
                </a:solidFill>
                <a:latin typeface="Courier New"/>
              </a:rPr>
              <a:t>  SET room.name = 'MP163',</a:t>
            </a:r>
          </a:p>
          <a:p>
            <a:pPr algn="l">
              <a:spcAft>
                <a:spcPts val="0"/>
              </a:spcAft>
            </a:pPr>
            <a:r>
              <a:rPr sz="1150" b="0" i="0">
                <a:solidFill>
                  <a:srgbClr val="1F2937"/>
                </a:solidFill>
                <a:latin typeface="Courier New"/>
              </a:rPr>
              <a:t>      room.building = 'ARC'</a:t>
            </a:r>
          </a:p>
          <a:p>
            <a:pPr algn="l">
              <a:spcAft>
                <a:spcPts val="0"/>
              </a:spcAft>
            </a:pPr>
          </a:p>
          <a:p>
            <a:pPr algn="l">
              <a:spcAft>
                <a:spcPts val="0"/>
              </a:spcAft>
            </a:pPr>
            <a:r>
              <a:rPr sz="1150" b="0" i="0">
                <a:solidFill>
                  <a:srgbClr val="1F2937"/>
                </a:solidFill>
                <a:latin typeface="Courier New"/>
              </a:rPr>
              <a:t>MERGE (zz:Lecturer {uid: 'zziang'})</a:t>
            </a:r>
          </a:p>
          <a:p>
            <a:pPr algn="l">
              <a:spcAft>
                <a:spcPts val="0"/>
              </a:spcAft>
            </a:pPr>
            <a:r>
              <a:rPr sz="1150" b="0" i="0">
                <a:solidFill>
                  <a:srgbClr val="1F2937"/>
                </a:solidFill>
                <a:latin typeface="Courier New"/>
              </a:rPr>
              <a:t>  SET zz.name = 'Ziang Zhang'</a:t>
            </a:r>
          </a:p>
          <a:p>
            <a:pPr algn="l">
              <a:spcAft>
                <a:spcPts val="0"/>
              </a:spcAft>
            </a:pPr>
          </a:p>
          <a:p>
            <a:pPr algn="l">
              <a:spcAft>
                <a:spcPts val="0"/>
              </a:spcAft>
            </a:pPr>
            <a:r>
              <a:rPr sz="1150" b="0" i="0">
                <a:solidFill>
                  <a:srgbClr val="1F2937"/>
                </a:solidFill>
                <a:latin typeface="Courier New"/>
              </a:rPr>
              <a:t>MERGE (l26:Lecture {series: 'DataWrangling',</a:t>
            </a:r>
          </a:p>
          <a:p>
            <a:pPr algn="l">
              <a:spcAft>
                <a:spcPts val="0"/>
              </a:spcAft>
            </a:pPr>
            <a:r>
              <a:rPr sz="1150" b="0" i="0">
                <a:solidFill>
                  <a:srgbClr val="1F2937"/>
                </a:solidFill>
                <a:latin typeface="Courier New"/>
              </a:rPr>
              <a:t>                    index: 'n26'})</a:t>
            </a:r>
          </a:p>
          <a:p>
            <a:pPr algn="l">
              <a:spcAft>
                <a:spcPts val="0"/>
              </a:spcAft>
            </a:pPr>
            <a:r>
              <a:rPr sz="1150" b="0" i="0">
                <a:solidFill>
                  <a:srgbClr val="1F2937"/>
                </a:solidFill>
                <a:latin typeface="Courier New"/>
              </a:rPr>
              <a:t>  SET l26.name = 'n26 GraphDB basics',</a:t>
            </a:r>
          </a:p>
          <a:p>
            <a:pPr algn="l">
              <a:spcAft>
                <a:spcPts val="0"/>
              </a:spcAft>
            </a:pPr>
            <a:r>
              <a:rPr sz="1150" b="0" i="0">
                <a:solidFill>
                  <a:srgbClr val="1F2937"/>
                </a:solidFill>
                <a:latin typeface="Courier New"/>
              </a:rPr>
              <a:t>      l26.startTime = '2025-10-22T09:00'</a:t>
            </a:r>
          </a:p>
          <a:p>
            <a:pPr algn="l">
              <a:spcAft>
                <a:spcPts val="0"/>
              </a:spcAft>
            </a:pPr>
          </a:p>
          <a:p>
            <a:pPr algn="l">
              <a:spcAft>
                <a:spcPts val="0"/>
              </a:spcAft>
            </a:pPr>
            <a:r>
              <a:rPr sz="1150" b="0" i="0">
                <a:solidFill>
                  <a:srgbClr val="1F2937"/>
                </a:solidFill>
                <a:latin typeface="Courier New"/>
              </a:rPr>
              <a:t>MERGE (room)-[:HOSTS]-&gt;(l26)</a:t>
            </a:r>
          </a:p>
          <a:p>
            <a:pPr algn="l">
              <a:spcAft>
                <a:spcPts val="0"/>
              </a:spcAft>
            </a:pPr>
            <a:r>
              <a:rPr sz="1150" b="0" i="0">
                <a:solidFill>
                  <a:srgbClr val="1F2937"/>
                </a:solidFill>
                <a:latin typeface="Courier New"/>
              </a:rPr>
              <a:t>MERGE (zz)-[:GIVES]-&gt;(l26)</a:t>
            </a:r>
          </a:p>
          <a:p>
            <a:pPr algn="l">
              <a:spcAft>
                <a:spcPts val="0"/>
              </a:spcAft>
            </a:pPr>
            <a:r>
              <a:rPr sz="1150" b="0" i="0">
                <a:solidFill>
                  <a:srgbClr val="1F2937"/>
                </a:solidFill>
                <a:latin typeface="Courier New"/>
              </a:rPr>
              <a:t>// … the same for n24, n25, n27</a:t>
            </a:r>
          </a:p>
          <a:p>
            <a:pPr algn="l">
              <a:spcAft>
                <a:spcPts val="0"/>
              </a:spcAft>
            </a:pPr>
            <a:r>
              <a:rPr sz="1150" b="0" i="0">
                <a:solidFill>
                  <a:srgbClr val="1F2937"/>
                </a:solidFill>
                <a:latin typeface="Courier New"/>
              </a:rPr>
              <a:t>//   and the second lecturer</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74320"/>
            <a:ext cx="9509760" cy="777240"/>
          </a:xfrm>
        </p:spPr>
        <p:txBody>
          <a:bodyPr wrap="square" anchor="ctr"/>
          <a:lstStyle/>
          <a:p>
            <a:pPr algn="l"/>
            <a:r>
              <a:rPr sz="3000" b="1" i="0">
                <a:solidFill>
                  <a:srgbClr val="0E2841"/>
                </a:solidFill>
              </a:rPr>
              <a:t>Exercise: check in to the course</a:t>
            </a:r>
          </a:p>
        </p:txBody>
      </p:sp>
      <p:sp>
        <p:nvSpPr>
          <p:cNvPr id="3" name="footer"/>
          <p:cNvSpPr txBox="1"/>
          <p:nvPr/>
        </p:nvSpPr>
        <p:spPr>
          <a:xfrm>
            <a:off x="548640" y="6455664"/>
            <a:ext cx="8686800" cy="274320"/>
          </a:xfrm>
          <a:prstGeom prst="rect">
            <a:avLst/>
          </a:prstGeom>
          <a:noFill/>
        </p:spPr>
        <p:txBody>
          <a:bodyPr wrap="square" lIns="45720" rIns="45720" tIns="27432" bIns="27432" anchor="t">
            <a:spAutoFit/>
          </a:bodyPr>
          <a:lstStyle/>
          <a:p>
            <a:pPr algn="l">
              <a:spcAft>
                <a:spcPts val="600"/>
              </a:spcAft>
            </a:pPr>
            <a:r>
              <a:rPr sz="1000" b="0" i="0">
                <a:solidFill>
                  <a:srgbClr val="595959"/>
                </a:solidFill>
              </a:rPr>
              <a:t>NoSQL Databases for Bioinformatics  ·  Lecture 26  ·  Graph database basics</a:t>
            </a:r>
          </a:p>
        </p:txBody>
      </p:sp>
      <p:sp>
        <p:nvSpPr>
          <p:cNvPr id="4" name="slide number"/>
          <p:cNvSpPr txBox="1"/>
          <p:nvPr/>
        </p:nvSpPr>
        <p:spPr>
          <a:xfrm>
            <a:off x="10698480" y="6455664"/>
            <a:ext cx="914400" cy="274320"/>
          </a:xfrm>
          <a:prstGeom prst="rect">
            <a:avLst/>
          </a:prstGeom>
          <a:noFill/>
        </p:spPr>
        <p:txBody>
          <a:bodyPr wrap="square" lIns="45720" rIns="45720" tIns="27432" bIns="27432" anchor="t">
            <a:spAutoFit/>
          </a:bodyPr>
          <a:lstStyle/>
          <a:p>
            <a:pPr algn="r">
              <a:spcAft>
                <a:spcPts val="600"/>
              </a:spcAft>
            </a:pPr>
            <a:fld id="{B6F15528-21DE-4FAA-801E-634DDDAF4B2B}" type="slidenum">
              <a:rPr lang="en-US" sz="1000">
                <a:solidFill>
                  <a:srgbClr val="595959"/>
                </a:solidFill>
              </a:rPr>
              <a:t>‹#›</a:t>
            </a:fld>
          </a:p>
        </p:txBody>
      </p:sp>
      <p:sp>
        <p:nvSpPr>
          <p:cNvPr id="5" name="step tag"/>
          <p:cNvSpPr/>
          <p:nvPr/>
        </p:nvSpPr>
        <p:spPr>
          <a:xfrm>
            <a:off x="10195560" y="411480"/>
            <a:ext cx="1417320" cy="329184"/>
          </a:xfrm>
          <a:prstGeom prst="roundRect">
            <a:avLst>
              <a:gd name="adj" fmla="val 50000"/>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i="0">
                <a:solidFill>
                  <a:srgbClr val="FFFFFF"/>
                </a:solidFill>
              </a:rPr>
              <a:t>HANDS-ON</a:t>
            </a:r>
          </a:p>
        </p:txBody>
      </p:sp>
      <p:sp>
        <p:nvSpPr>
          <p:cNvPr id="6" name="ex1 bg"/>
          <p:cNvSpPr/>
          <p:nvPr/>
        </p:nvSpPr>
        <p:spPr>
          <a:xfrm>
            <a:off x="548640" y="1371600"/>
            <a:ext cx="5440680" cy="1920240"/>
          </a:xfrm>
          <a:prstGeom prst="roundRect">
            <a:avLst>
              <a:gd name="adj" fmla="val 2857"/>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ex1 title"/>
          <p:cNvSpPr txBox="1"/>
          <p:nvPr/>
        </p:nvSpPr>
        <p:spPr>
          <a:xfrm>
            <a:off x="658368" y="1444752"/>
            <a:ext cx="5221224" cy="411480"/>
          </a:xfrm>
          <a:prstGeom prst="rect">
            <a:avLst/>
          </a:prstGeom>
          <a:noFill/>
        </p:spPr>
        <p:txBody>
          <a:bodyPr wrap="square" lIns="45720" rIns="45720" tIns="27432" bIns="27432" anchor="t">
            <a:spAutoFit/>
          </a:bodyPr>
          <a:lstStyle/>
          <a:p>
            <a:pPr algn="l">
              <a:spcAft>
                <a:spcPts val="600"/>
              </a:spcAft>
            </a:pPr>
            <a:r>
              <a:rPr sz="2000" b="1" i="0">
                <a:solidFill>
                  <a:srgbClr val="2E8B3E"/>
                </a:solidFill>
              </a:rPr>
              <a:t>1 · Create your node</a:t>
            </a:r>
          </a:p>
        </p:txBody>
      </p:sp>
      <p:sp>
        <p:nvSpPr>
          <p:cNvPr id="8" name="ex1 body"/>
          <p:cNvSpPr txBox="1"/>
          <p:nvPr/>
        </p:nvSpPr>
        <p:spPr>
          <a:xfrm>
            <a:off x="658368" y="1859280"/>
            <a:ext cx="5221224" cy="1341120"/>
          </a:xfrm>
          <a:prstGeom prst="rect">
            <a:avLst/>
          </a:prstGeom>
          <a:noFill/>
        </p:spPr>
        <p:txBody>
          <a:bodyPr wrap="square" lIns="45720" rIns="45720" tIns="27432" bIns="27432" anchor="t">
            <a:spAutoFit/>
          </a:bodyPr>
          <a:lstStyle/>
          <a:p>
            <a:pPr algn="l">
              <a:spcAft>
                <a:spcPts val="400"/>
              </a:spcAft>
            </a:pPr>
            <a:r>
              <a:rPr sz="1600" b="0" i="0">
                <a:solidFill>
                  <a:srgbClr val="0E2841"/>
                </a:solidFill>
              </a:rPr>
              <a:t>A </a:t>
            </a:r>
            <a:r>
              <a:rPr sz="1600" b="0" i="0">
                <a:solidFill>
                  <a:srgbClr val="156082"/>
                </a:solidFill>
                <a:latin typeface="Courier New"/>
              </a:rPr>
              <a:t>Student</a:t>
            </a:r>
            <a:r>
              <a:rPr sz="1600" b="0" i="0">
                <a:solidFill>
                  <a:srgbClr val="0E2841"/>
                </a:solidFill>
              </a:rPr>
              <a:t> node with your own </a:t>
            </a:r>
            <a:r>
              <a:rPr sz="1600" b="0" i="0">
                <a:solidFill>
                  <a:srgbClr val="156082"/>
                </a:solidFill>
                <a:latin typeface="Courier New"/>
              </a:rPr>
              <a:t>uid</a:t>
            </a:r>
            <a:r>
              <a:rPr sz="1600" b="0" i="0">
                <a:solidFill>
                  <a:srgbClr val="0E2841"/>
                </a:solidFill>
              </a:rPr>
              <a:t>.</a:t>
            </a:r>
          </a:p>
        </p:txBody>
      </p:sp>
      <p:sp>
        <p:nvSpPr>
          <p:cNvPr id="9" name="ex2 bg"/>
          <p:cNvSpPr/>
          <p:nvPr/>
        </p:nvSpPr>
        <p:spPr>
          <a:xfrm>
            <a:off x="6172200" y="1371600"/>
            <a:ext cx="5440680" cy="1920240"/>
          </a:xfrm>
          <a:prstGeom prst="roundRect">
            <a:avLst>
              <a:gd name="adj" fmla="val 2857"/>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ex2 title"/>
          <p:cNvSpPr txBox="1"/>
          <p:nvPr/>
        </p:nvSpPr>
        <p:spPr>
          <a:xfrm>
            <a:off x="6281928" y="1444752"/>
            <a:ext cx="5221224" cy="411480"/>
          </a:xfrm>
          <a:prstGeom prst="rect">
            <a:avLst/>
          </a:prstGeom>
          <a:noFill/>
        </p:spPr>
        <p:txBody>
          <a:bodyPr wrap="square" lIns="45720" rIns="45720" tIns="27432" bIns="27432" anchor="t">
            <a:spAutoFit/>
          </a:bodyPr>
          <a:lstStyle/>
          <a:p>
            <a:pPr algn="l">
              <a:spcAft>
                <a:spcPts val="600"/>
              </a:spcAft>
            </a:pPr>
            <a:r>
              <a:rPr sz="2000" b="1" i="0">
                <a:solidFill>
                  <a:srgbClr val="2E8B3E"/>
                </a:solidFill>
              </a:rPr>
              <a:t>2 · Connect it</a:t>
            </a:r>
          </a:p>
        </p:txBody>
      </p:sp>
      <p:sp>
        <p:nvSpPr>
          <p:cNvPr id="11" name="ex2 body"/>
          <p:cNvSpPr txBox="1"/>
          <p:nvPr/>
        </p:nvSpPr>
        <p:spPr>
          <a:xfrm>
            <a:off x="6281928" y="1859280"/>
            <a:ext cx="5221224" cy="1341120"/>
          </a:xfrm>
          <a:prstGeom prst="rect">
            <a:avLst/>
          </a:prstGeom>
          <a:noFill/>
        </p:spPr>
        <p:txBody>
          <a:bodyPr wrap="square" lIns="45720" rIns="45720" tIns="27432" bIns="27432" anchor="t">
            <a:spAutoFit/>
          </a:bodyPr>
          <a:lstStyle/>
          <a:p>
            <a:pPr algn="l">
              <a:spcAft>
                <a:spcPts val="400"/>
              </a:spcAft>
            </a:pPr>
            <a:r>
              <a:rPr sz="1600" b="0" i="0">
                <a:solidFill>
                  <a:srgbClr val="0E2841"/>
                </a:solidFill>
              </a:rPr>
              <a:t>An </a:t>
            </a:r>
            <a:r>
              <a:rPr sz="1600" b="0" i="0">
                <a:solidFill>
                  <a:srgbClr val="156082"/>
                </a:solidFill>
                <a:latin typeface="Courier New"/>
              </a:rPr>
              <a:t>ATTENDS</a:t>
            </a:r>
            <a:r>
              <a:rPr sz="1600" b="0" i="0">
                <a:solidFill>
                  <a:srgbClr val="0E2841"/>
                </a:solidFill>
              </a:rPr>
              <a:t> relationship from you to lecture </a:t>
            </a:r>
            <a:r>
              <a:rPr sz="1600" b="0" i="0">
                <a:solidFill>
                  <a:srgbClr val="156082"/>
                </a:solidFill>
                <a:latin typeface="Courier New"/>
              </a:rPr>
              <a:t>n26</a:t>
            </a:r>
            <a:r>
              <a:rPr sz="1600" b="0" i="0">
                <a:solidFill>
                  <a:srgbClr val="0E2841"/>
                </a:solidFill>
              </a:rPr>
              <a:t>, </a:t>
            </a:r>
            <a:r>
              <a:rPr sz="1600" b="1" i="0">
                <a:solidFill>
                  <a:srgbClr val="0E2841"/>
                </a:solidFill>
              </a:rPr>
              <a:t>with a property</a:t>
            </a:r>
            <a:r>
              <a:rPr sz="1600" b="0" i="0">
                <a:solidFill>
                  <a:srgbClr val="0E2841"/>
                </a:solidFill>
              </a:rPr>
              <a:t> (e.g. </a:t>
            </a:r>
            <a:r>
              <a:rPr sz="1600" b="0" i="0">
                <a:solidFill>
                  <a:srgbClr val="156082"/>
                </a:solidFill>
                <a:latin typeface="Courier New"/>
              </a:rPr>
              <a:t>checked_in</a:t>
            </a:r>
            <a:r>
              <a:rPr sz="1600" b="0" i="0">
                <a:solidFill>
                  <a:srgbClr val="0E2841"/>
                </a:solidFill>
              </a:rPr>
              <a:t>).</a:t>
            </a:r>
          </a:p>
        </p:txBody>
      </p:sp>
      <p:sp>
        <p:nvSpPr>
          <p:cNvPr id="12" name="sol head"/>
          <p:cNvSpPr txBox="1"/>
          <p:nvPr/>
        </p:nvSpPr>
        <p:spPr>
          <a:xfrm>
            <a:off x="548640" y="3520440"/>
            <a:ext cx="11064240" cy="411480"/>
          </a:xfrm>
          <a:prstGeom prst="rect">
            <a:avLst/>
          </a:prstGeom>
          <a:noFill/>
        </p:spPr>
        <p:txBody>
          <a:bodyPr wrap="square" lIns="45720" rIns="45720" tIns="27432" bIns="27432" anchor="t">
            <a:spAutoFit/>
          </a:bodyPr>
          <a:lstStyle/>
          <a:p>
            <a:pPr algn="l">
              <a:spcAft>
                <a:spcPts val="600"/>
              </a:spcAft>
            </a:pPr>
            <a:r>
              <a:rPr sz="1800" b="1" i="0">
                <a:solidFill>
                  <a:srgbClr val="595959"/>
                </a:solidFill>
              </a:rPr>
              <a:t>Solution (try first!)</a:t>
            </a:r>
          </a:p>
        </p:txBody>
      </p:sp>
      <p:sp>
        <p:nvSpPr>
          <p:cNvPr id="13" name="solution bg"/>
          <p:cNvSpPr/>
          <p:nvPr/>
        </p:nvSpPr>
        <p:spPr>
          <a:xfrm>
            <a:off x="548640" y="3977639"/>
            <a:ext cx="11064240" cy="2240280"/>
          </a:xfrm>
          <a:prstGeom prst="roundRect">
            <a:avLst>
              <a:gd name="adj" fmla="val 2040"/>
            </a:avLst>
          </a:prstGeom>
          <a:solidFill>
            <a:srgbClr val="F4F6F8"/>
          </a:solidFill>
          <a:ln w="9525">
            <a:solidFill>
              <a:srgbClr val="C9D1D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solution"/>
          <p:cNvSpPr txBox="1"/>
          <p:nvPr/>
        </p:nvSpPr>
        <p:spPr>
          <a:xfrm>
            <a:off x="640080" y="4041648"/>
            <a:ext cx="10881360" cy="2112264"/>
          </a:xfrm>
          <a:prstGeom prst="rect">
            <a:avLst/>
          </a:prstGeom>
          <a:noFill/>
        </p:spPr>
        <p:txBody>
          <a:bodyPr wrap="square" lIns="45720" rIns="45720" tIns="27432" bIns="27432" anchor="t">
            <a:spAutoFit/>
          </a:bodyPr>
          <a:lstStyle/>
          <a:p>
            <a:pPr algn="l">
              <a:spcAft>
                <a:spcPts val="0"/>
              </a:spcAft>
            </a:pPr>
            <a:r>
              <a:rPr sz="1400" b="0" i="0">
                <a:solidFill>
                  <a:srgbClr val="1F2937"/>
                </a:solidFill>
                <a:latin typeface="Courier New"/>
              </a:rPr>
              <a:t>MERGE (s:Student {uid: 'your_name'})  SET s.name = 'your_name'</a:t>
            </a:r>
          </a:p>
          <a:p>
            <a:pPr algn="l">
              <a:spcAft>
                <a:spcPts val="0"/>
              </a:spcAft>
            </a:pPr>
          </a:p>
          <a:p>
            <a:pPr algn="l">
              <a:spcAft>
                <a:spcPts val="0"/>
              </a:spcAft>
            </a:pPr>
            <a:r>
              <a:rPr sz="1400" b="0" i="0">
                <a:solidFill>
                  <a:srgbClr val="1F2937"/>
                </a:solidFill>
                <a:latin typeface="Courier New"/>
              </a:rPr>
              <a:t>MATCH (s:Student {uid: 'your_name'}),</a:t>
            </a:r>
          </a:p>
          <a:p>
            <a:pPr algn="l">
              <a:spcAft>
                <a:spcPts val="0"/>
              </a:spcAft>
            </a:pPr>
            <a:r>
              <a:rPr sz="1400" b="0" i="0">
                <a:solidFill>
                  <a:srgbClr val="1F2937"/>
                </a:solidFill>
                <a:latin typeface="Courier New"/>
              </a:rPr>
              <a:t>      (l:Lecture {series: 'DataWrangling', index: 'n26'})</a:t>
            </a:r>
          </a:p>
          <a:p>
            <a:pPr algn="l">
              <a:spcAft>
                <a:spcPts val="0"/>
              </a:spcAft>
            </a:pPr>
            <a:r>
              <a:rPr sz="1400" b="0" i="0">
                <a:solidFill>
                  <a:srgbClr val="1F2937"/>
                </a:solidFill>
                <a:latin typeface="Courier New"/>
              </a:rPr>
              <a:t>MERGE (s)-[a:ATTENDS]-&gt;(l)</a:t>
            </a:r>
          </a:p>
          <a:p>
            <a:pPr algn="l">
              <a:spcAft>
                <a:spcPts val="0"/>
              </a:spcAft>
            </a:pPr>
            <a:r>
              <a:rPr sz="1400" b="0" i="0">
                <a:solidFill>
                  <a:srgbClr val="1F2937"/>
                </a:solidFill>
                <a:latin typeface="Courier New"/>
              </a:rPr>
              <a:t>  ON CREATE SET a.checked_in = toString(datetime())   // only when new</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74320"/>
            <a:ext cx="9509760" cy="777240"/>
          </a:xfrm>
        </p:spPr>
        <p:txBody>
          <a:bodyPr wrap="square" anchor="ctr"/>
          <a:lstStyle/>
          <a:p>
            <a:pPr algn="l"/>
            <a:r>
              <a:rPr sz="3000" b="1" i="0">
                <a:solidFill>
                  <a:srgbClr val="0E2841"/>
                </a:solidFill>
              </a:rPr>
              <a:t>Read: MATCH, WHERE, RETURN and aggregation</a:t>
            </a:r>
          </a:p>
        </p:txBody>
      </p:sp>
      <p:sp>
        <p:nvSpPr>
          <p:cNvPr id="3" name="footer"/>
          <p:cNvSpPr txBox="1"/>
          <p:nvPr/>
        </p:nvSpPr>
        <p:spPr>
          <a:xfrm>
            <a:off x="548640" y="6455664"/>
            <a:ext cx="8686800" cy="274320"/>
          </a:xfrm>
          <a:prstGeom prst="rect">
            <a:avLst/>
          </a:prstGeom>
          <a:noFill/>
        </p:spPr>
        <p:txBody>
          <a:bodyPr wrap="square" lIns="45720" rIns="45720" tIns="27432" bIns="27432" anchor="t">
            <a:spAutoFit/>
          </a:bodyPr>
          <a:lstStyle/>
          <a:p>
            <a:pPr algn="l">
              <a:spcAft>
                <a:spcPts val="600"/>
              </a:spcAft>
            </a:pPr>
            <a:r>
              <a:rPr sz="1000" b="0" i="0">
                <a:solidFill>
                  <a:srgbClr val="595959"/>
                </a:solidFill>
              </a:rPr>
              <a:t>NoSQL Databases for Bioinformatics  ·  Lecture 26  ·  Graph database basics</a:t>
            </a:r>
          </a:p>
        </p:txBody>
      </p:sp>
      <p:sp>
        <p:nvSpPr>
          <p:cNvPr id="4" name="slide number"/>
          <p:cNvSpPr txBox="1"/>
          <p:nvPr/>
        </p:nvSpPr>
        <p:spPr>
          <a:xfrm>
            <a:off x="10698480" y="6455664"/>
            <a:ext cx="914400" cy="274320"/>
          </a:xfrm>
          <a:prstGeom prst="rect">
            <a:avLst/>
          </a:prstGeom>
          <a:noFill/>
        </p:spPr>
        <p:txBody>
          <a:bodyPr wrap="square" lIns="45720" rIns="45720" tIns="27432" bIns="27432" anchor="t">
            <a:spAutoFit/>
          </a:bodyPr>
          <a:lstStyle/>
          <a:p>
            <a:pPr algn="r">
              <a:spcAft>
                <a:spcPts val="600"/>
              </a:spcAft>
            </a:pPr>
            <a:fld id="{B6F15528-21DE-4FAA-801E-634DDDAF4B2B}" type="slidenum">
              <a:rPr lang="en-US" sz="1000">
                <a:solidFill>
                  <a:srgbClr val="595959"/>
                </a:solidFill>
              </a:rPr>
              <a:t>‹#›</a:t>
            </a:fld>
          </a:p>
        </p:txBody>
      </p:sp>
      <p:sp>
        <p:nvSpPr>
          <p:cNvPr id="5" name="step tag"/>
          <p:cNvSpPr/>
          <p:nvPr/>
        </p:nvSpPr>
        <p:spPr>
          <a:xfrm>
            <a:off x="10195560" y="411480"/>
            <a:ext cx="1417320" cy="329184"/>
          </a:xfrm>
          <a:prstGeom prst="roundRect">
            <a:avLst>
              <a:gd name="adj" fmla="val 50000"/>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i="0">
                <a:solidFill>
                  <a:srgbClr val="FFFFFF"/>
                </a:solidFill>
              </a:rPr>
              <a:t>HANDS-ON</a:t>
            </a:r>
          </a:p>
        </p:txBody>
      </p:sp>
      <p:sp>
        <p:nvSpPr>
          <p:cNvPr id="6" name="p0 head"/>
          <p:cNvSpPr txBox="1"/>
          <p:nvPr/>
        </p:nvSpPr>
        <p:spPr>
          <a:xfrm>
            <a:off x="548640" y="1325880"/>
            <a:ext cx="5440680" cy="365760"/>
          </a:xfrm>
          <a:prstGeom prst="rect">
            <a:avLst/>
          </a:prstGeom>
          <a:noFill/>
        </p:spPr>
        <p:txBody>
          <a:bodyPr wrap="square" lIns="45720" rIns="45720" tIns="27432" bIns="27432" anchor="t">
            <a:spAutoFit/>
          </a:bodyPr>
          <a:lstStyle/>
          <a:p>
            <a:pPr algn="l">
              <a:spcAft>
                <a:spcPts val="600"/>
              </a:spcAft>
            </a:pPr>
            <a:r>
              <a:rPr sz="1700" b="1" i="0">
                <a:solidFill>
                  <a:srgbClr val="156082"/>
                </a:solidFill>
              </a:rPr>
              <a:t>Filter by property</a:t>
            </a:r>
          </a:p>
        </p:txBody>
      </p:sp>
      <p:sp>
        <p:nvSpPr>
          <p:cNvPr id="7" name="p0 code bg"/>
          <p:cNvSpPr/>
          <p:nvPr/>
        </p:nvSpPr>
        <p:spPr>
          <a:xfrm>
            <a:off x="548640" y="1709928"/>
            <a:ext cx="5440680" cy="1417320"/>
          </a:xfrm>
          <a:prstGeom prst="roundRect">
            <a:avLst>
              <a:gd name="adj" fmla="val 3225"/>
            </a:avLst>
          </a:prstGeom>
          <a:solidFill>
            <a:srgbClr val="F4F6F8"/>
          </a:solidFill>
          <a:ln w="9525">
            <a:solidFill>
              <a:srgbClr val="C9D1D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p0 code"/>
          <p:cNvSpPr txBox="1"/>
          <p:nvPr/>
        </p:nvSpPr>
        <p:spPr>
          <a:xfrm>
            <a:off x="640080" y="1773936"/>
            <a:ext cx="5257800" cy="1289304"/>
          </a:xfrm>
          <a:prstGeom prst="rect">
            <a:avLst/>
          </a:prstGeom>
          <a:noFill/>
        </p:spPr>
        <p:txBody>
          <a:bodyPr wrap="square" lIns="45720" rIns="45720" tIns="27432" bIns="27432" anchor="t">
            <a:spAutoFit/>
          </a:bodyPr>
          <a:lstStyle/>
          <a:p>
            <a:pPr algn="l">
              <a:spcAft>
                <a:spcPts val="0"/>
              </a:spcAft>
            </a:pPr>
            <a:r>
              <a:rPr sz="1200" b="0" i="0">
                <a:solidFill>
                  <a:srgbClr val="1F2937"/>
                </a:solidFill>
                <a:latin typeface="Courier New"/>
              </a:rPr>
              <a:t>MATCH (l:Lecture {index: 'n26'})</a:t>
            </a:r>
          </a:p>
          <a:p>
            <a:pPr algn="l">
              <a:spcAft>
                <a:spcPts val="0"/>
              </a:spcAft>
            </a:pPr>
            <a:r>
              <a:rPr sz="1200" b="0" i="0">
                <a:solidFill>
                  <a:srgbClr val="1F2937"/>
                </a:solidFill>
                <a:latin typeface="Courier New"/>
              </a:rPr>
              <a:t>RETURN l.title</a:t>
            </a:r>
          </a:p>
        </p:txBody>
      </p:sp>
      <p:sp>
        <p:nvSpPr>
          <p:cNvPr id="9" name="p0 result bg"/>
          <p:cNvSpPr/>
          <p:nvPr/>
        </p:nvSpPr>
        <p:spPr>
          <a:xfrm>
            <a:off x="548640" y="3172968"/>
            <a:ext cx="5440680" cy="457200"/>
          </a:xfrm>
          <a:prstGeom prst="roundRect">
            <a:avLst>
              <a:gd name="adj" fmla="val 12000"/>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p0 result"/>
          <p:cNvSpPr txBox="1"/>
          <p:nvPr/>
        </p:nvSpPr>
        <p:spPr>
          <a:xfrm>
            <a:off x="640080" y="3172968"/>
            <a:ext cx="5257800" cy="457200"/>
          </a:xfrm>
          <a:prstGeom prst="rect">
            <a:avLst/>
          </a:prstGeom>
          <a:noFill/>
        </p:spPr>
        <p:txBody>
          <a:bodyPr wrap="square" lIns="45720" rIns="45720" tIns="27432" bIns="27432" anchor="ctr">
            <a:spAutoFit/>
          </a:bodyPr>
          <a:lstStyle/>
          <a:p>
            <a:pPr algn="l">
              <a:spcAft>
                <a:spcPts val="600"/>
              </a:spcAft>
            </a:pPr>
            <a:r>
              <a:rPr sz="1400" b="1" i="0">
                <a:solidFill>
                  <a:srgbClr val="0E2841"/>
                </a:solidFill>
              </a:rPr>
              <a:t>→ GraphDB basics</a:t>
            </a:r>
          </a:p>
        </p:txBody>
      </p:sp>
      <p:sp>
        <p:nvSpPr>
          <p:cNvPr id="11" name="p1 head"/>
          <p:cNvSpPr txBox="1"/>
          <p:nvPr/>
        </p:nvSpPr>
        <p:spPr>
          <a:xfrm>
            <a:off x="6172200" y="1325880"/>
            <a:ext cx="5440680" cy="365760"/>
          </a:xfrm>
          <a:prstGeom prst="rect">
            <a:avLst/>
          </a:prstGeom>
          <a:noFill/>
        </p:spPr>
        <p:txBody>
          <a:bodyPr wrap="square" lIns="45720" rIns="45720" tIns="27432" bIns="27432" anchor="t">
            <a:spAutoFit/>
          </a:bodyPr>
          <a:lstStyle/>
          <a:p>
            <a:pPr algn="l">
              <a:spcAft>
                <a:spcPts val="600"/>
              </a:spcAft>
            </a:pPr>
            <a:r>
              <a:rPr sz="1700" b="1" i="0">
                <a:solidFill>
                  <a:srgbClr val="156082"/>
                </a:solidFill>
              </a:rPr>
              <a:t>Filter with WHERE</a:t>
            </a:r>
          </a:p>
        </p:txBody>
      </p:sp>
      <p:sp>
        <p:nvSpPr>
          <p:cNvPr id="12" name="p1 code bg"/>
          <p:cNvSpPr/>
          <p:nvPr/>
        </p:nvSpPr>
        <p:spPr>
          <a:xfrm>
            <a:off x="6172200" y="1709928"/>
            <a:ext cx="5440680" cy="1417320"/>
          </a:xfrm>
          <a:prstGeom prst="roundRect">
            <a:avLst>
              <a:gd name="adj" fmla="val 3225"/>
            </a:avLst>
          </a:prstGeom>
          <a:solidFill>
            <a:srgbClr val="F4F6F8"/>
          </a:solidFill>
          <a:ln w="9525">
            <a:solidFill>
              <a:srgbClr val="C9D1D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p1 code"/>
          <p:cNvSpPr txBox="1"/>
          <p:nvPr/>
        </p:nvSpPr>
        <p:spPr>
          <a:xfrm>
            <a:off x="6263640" y="1773936"/>
            <a:ext cx="5257800" cy="1289304"/>
          </a:xfrm>
          <a:prstGeom prst="rect">
            <a:avLst/>
          </a:prstGeom>
          <a:noFill/>
        </p:spPr>
        <p:txBody>
          <a:bodyPr wrap="square" lIns="45720" rIns="45720" tIns="27432" bIns="27432" anchor="t">
            <a:spAutoFit/>
          </a:bodyPr>
          <a:lstStyle/>
          <a:p>
            <a:pPr algn="l">
              <a:spcAft>
                <a:spcPts val="0"/>
              </a:spcAft>
            </a:pPr>
            <a:r>
              <a:rPr sz="1200" b="0" i="0">
                <a:solidFill>
                  <a:srgbClr val="1F2937"/>
                </a:solidFill>
                <a:latin typeface="Courier New"/>
              </a:rPr>
              <a:t>MATCH (l:Lecture)</a:t>
            </a:r>
          </a:p>
          <a:p>
            <a:pPr algn="l">
              <a:spcAft>
                <a:spcPts val="0"/>
              </a:spcAft>
            </a:pPr>
            <a:r>
              <a:rPr sz="1200" b="0" i="0">
                <a:solidFill>
                  <a:srgbClr val="1F2937"/>
                </a:solidFill>
                <a:latin typeface="Courier New"/>
              </a:rPr>
              <a:t>WHERE l.startTime &gt;= '2025-10-22'</a:t>
            </a:r>
          </a:p>
          <a:p>
            <a:pPr algn="l">
              <a:spcAft>
                <a:spcPts val="0"/>
              </a:spcAft>
            </a:pPr>
            <a:r>
              <a:rPr sz="1200" b="0" i="0">
                <a:solidFill>
                  <a:srgbClr val="1F2937"/>
                </a:solidFill>
                <a:latin typeface="Courier New"/>
              </a:rPr>
              <a:t>  AND l.title CONTAINS 'workshop'</a:t>
            </a:r>
          </a:p>
          <a:p>
            <a:pPr algn="l">
              <a:spcAft>
                <a:spcPts val="0"/>
              </a:spcAft>
            </a:pPr>
            <a:r>
              <a:rPr sz="1200" b="0" i="0">
                <a:solidFill>
                  <a:srgbClr val="1F2937"/>
                </a:solidFill>
                <a:latin typeface="Courier New"/>
              </a:rPr>
              <a:t>RETURN l.index, l.title</a:t>
            </a:r>
          </a:p>
        </p:txBody>
      </p:sp>
      <p:sp>
        <p:nvSpPr>
          <p:cNvPr id="14" name="p1 result bg"/>
          <p:cNvSpPr/>
          <p:nvPr/>
        </p:nvSpPr>
        <p:spPr>
          <a:xfrm>
            <a:off x="6172200" y="3172968"/>
            <a:ext cx="5440680" cy="457200"/>
          </a:xfrm>
          <a:prstGeom prst="roundRect">
            <a:avLst>
              <a:gd name="adj" fmla="val 12000"/>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p1 result"/>
          <p:cNvSpPr txBox="1"/>
          <p:nvPr/>
        </p:nvSpPr>
        <p:spPr>
          <a:xfrm>
            <a:off x="6263640" y="3172968"/>
            <a:ext cx="5257800" cy="457200"/>
          </a:xfrm>
          <a:prstGeom prst="rect">
            <a:avLst/>
          </a:prstGeom>
          <a:noFill/>
        </p:spPr>
        <p:txBody>
          <a:bodyPr wrap="square" lIns="45720" rIns="45720" tIns="27432" bIns="27432" anchor="ctr">
            <a:spAutoFit/>
          </a:bodyPr>
          <a:lstStyle/>
          <a:p>
            <a:pPr algn="l">
              <a:spcAft>
                <a:spcPts val="600"/>
              </a:spcAft>
            </a:pPr>
            <a:r>
              <a:rPr sz="1400" b="1" i="0">
                <a:solidFill>
                  <a:srgbClr val="0E2841"/>
                </a:solidFill>
              </a:rPr>
              <a:t>→ n27 · Neo4j genome workshop</a:t>
            </a:r>
          </a:p>
        </p:txBody>
      </p:sp>
      <p:sp>
        <p:nvSpPr>
          <p:cNvPr id="16" name="p2 head"/>
          <p:cNvSpPr txBox="1"/>
          <p:nvPr/>
        </p:nvSpPr>
        <p:spPr>
          <a:xfrm>
            <a:off x="548640" y="3840480"/>
            <a:ext cx="5440680" cy="365760"/>
          </a:xfrm>
          <a:prstGeom prst="rect">
            <a:avLst/>
          </a:prstGeom>
          <a:noFill/>
        </p:spPr>
        <p:txBody>
          <a:bodyPr wrap="square" lIns="45720" rIns="45720" tIns="27432" bIns="27432" anchor="t">
            <a:spAutoFit/>
          </a:bodyPr>
          <a:lstStyle/>
          <a:p>
            <a:pPr algn="l">
              <a:spcAft>
                <a:spcPts val="600"/>
              </a:spcAft>
            </a:pPr>
            <a:r>
              <a:rPr sz="1700" b="1" i="0">
                <a:solidFill>
                  <a:srgbClr val="156082"/>
                </a:solidFill>
              </a:rPr>
              <a:t>Two hops</a:t>
            </a:r>
          </a:p>
        </p:txBody>
      </p:sp>
      <p:sp>
        <p:nvSpPr>
          <p:cNvPr id="17" name="p2 code bg"/>
          <p:cNvSpPr/>
          <p:nvPr/>
        </p:nvSpPr>
        <p:spPr>
          <a:xfrm>
            <a:off x="548640" y="4224528"/>
            <a:ext cx="5440680" cy="1417320"/>
          </a:xfrm>
          <a:prstGeom prst="roundRect">
            <a:avLst>
              <a:gd name="adj" fmla="val 3225"/>
            </a:avLst>
          </a:prstGeom>
          <a:solidFill>
            <a:srgbClr val="F4F6F8"/>
          </a:solidFill>
          <a:ln w="9525">
            <a:solidFill>
              <a:srgbClr val="C9D1D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p2 code"/>
          <p:cNvSpPr txBox="1"/>
          <p:nvPr/>
        </p:nvSpPr>
        <p:spPr>
          <a:xfrm>
            <a:off x="640080" y="4288536"/>
            <a:ext cx="5257800" cy="1289304"/>
          </a:xfrm>
          <a:prstGeom prst="rect">
            <a:avLst/>
          </a:prstGeom>
          <a:noFill/>
        </p:spPr>
        <p:txBody>
          <a:bodyPr wrap="square" lIns="45720" rIns="45720" tIns="27432" bIns="27432" anchor="t">
            <a:spAutoFit/>
          </a:bodyPr>
          <a:lstStyle/>
          <a:p>
            <a:pPr algn="l">
              <a:spcAft>
                <a:spcPts val="0"/>
              </a:spcAft>
            </a:pPr>
            <a:r>
              <a:rPr sz="1200" b="0" i="0">
                <a:solidFill>
                  <a:srgbClr val="1F2937"/>
                </a:solidFill>
                <a:latin typeface="Courier New"/>
              </a:rPr>
              <a:t>MATCH (m:MeetingRoom {id: 'MP163'})</a:t>
            </a:r>
          </a:p>
          <a:p>
            <a:pPr algn="l">
              <a:spcAft>
                <a:spcPts val="0"/>
              </a:spcAft>
            </a:pPr>
            <a:r>
              <a:rPr sz="1200" b="0" i="0">
                <a:solidFill>
                  <a:srgbClr val="1F2937"/>
                </a:solidFill>
                <a:latin typeface="Courier New"/>
              </a:rPr>
              <a:t>      -[:HOSTS]-&gt;(l:Lecture)</a:t>
            </a:r>
          </a:p>
          <a:p>
            <a:pPr algn="l">
              <a:spcAft>
                <a:spcPts val="0"/>
              </a:spcAft>
            </a:pPr>
            <a:r>
              <a:rPr sz="1200" b="0" i="0">
                <a:solidFill>
                  <a:srgbClr val="1F2937"/>
                </a:solidFill>
                <a:latin typeface="Courier New"/>
              </a:rPr>
              <a:t>      &lt;-[:GIVES]-(p:Lecturer)</a:t>
            </a:r>
          </a:p>
          <a:p>
            <a:pPr algn="l">
              <a:spcAft>
                <a:spcPts val="0"/>
              </a:spcAft>
            </a:pPr>
            <a:r>
              <a:rPr sz="1200" b="0" i="0">
                <a:solidFill>
                  <a:srgbClr val="1F2937"/>
                </a:solidFill>
                <a:latin typeface="Courier New"/>
              </a:rPr>
              <a:t>RETURN DISTINCT p.name</a:t>
            </a:r>
          </a:p>
        </p:txBody>
      </p:sp>
      <p:sp>
        <p:nvSpPr>
          <p:cNvPr id="19" name="p2 result bg"/>
          <p:cNvSpPr/>
          <p:nvPr/>
        </p:nvSpPr>
        <p:spPr>
          <a:xfrm>
            <a:off x="548640" y="5687568"/>
            <a:ext cx="5440680" cy="457200"/>
          </a:xfrm>
          <a:prstGeom prst="roundRect">
            <a:avLst>
              <a:gd name="adj" fmla="val 12000"/>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p2 result"/>
          <p:cNvSpPr txBox="1"/>
          <p:nvPr/>
        </p:nvSpPr>
        <p:spPr>
          <a:xfrm>
            <a:off x="640080" y="5687568"/>
            <a:ext cx="5257800" cy="457200"/>
          </a:xfrm>
          <a:prstGeom prst="rect">
            <a:avLst/>
          </a:prstGeom>
          <a:noFill/>
        </p:spPr>
        <p:txBody>
          <a:bodyPr wrap="square" lIns="45720" rIns="45720" tIns="27432" bIns="27432" anchor="ctr">
            <a:spAutoFit/>
          </a:bodyPr>
          <a:lstStyle/>
          <a:p>
            <a:pPr algn="l">
              <a:spcAft>
                <a:spcPts val="600"/>
              </a:spcAft>
            </a:pPr>
            <a:r>
              <a:rPr sz="1400" b="1" i="0">
                <a:solidFill>
                  <a:srgbClr val="0E2841"/>
                </a:solidFill>
              </a:rPr>
              <a:t>→ Ziang Zhang · Yawei Hui</a:t>
            </a:r>
          </a:p>
        </p:txBody>
      </p:sp>
      <p:sp>
        <p:nvSpPr>
          <p:cNvPr id="21" name="p3 head"/>
          <p:cNvSpPr txBox="1"/>
          <p:nvPr/>
        </p:nvSpPr>
        <p:spPr>
          <a:xfrm>
            <a:off x="6172200" y="3840480"/>
            <a:ext cx="5440680" cy="365760"/>
          </a:xfrm>
          <a:prstGeom prst="rect">
            <a:avLst/>
          </a:prstGeom>
          <a:noFill/>
        </p:spPr>
        <p:txBody>
          <a:bodyPr wrap="square" lIns="45720" rIns="45720" tIns="27432" bIns="27432" anchor="t">
            <a:spAutoFit/>
          </a:bodyPr>
          <a:lstStyle/>
          <a:p>
            <a:pPr algn="l">
              <a:spcAft>
                <a:spcPts val="600"/>
              </a:spcAft>
            </a:pPr>
            <a:r>
              <a:rPr sz="1700" b="1" i="0">
                <a:solidFill>
                  <a:srgbClr val="156082"/>
                </a:solidFill>
              </a:rPr>
              <a:t>Aggregate (no GROUP BY)</a:t>
            </a:r>
          </a:p>
        </p:txBody>
      </p:sp>
      <p:sp>
        <p:nvSpPr>
          <p:cNvPr id="22" name="p3 code bg"/>
          <p:cNvSpPr/>
          <p:nvPr/>
        </p:nvSpPr>
        <p:spPr>
          <a:xfrm>
            <a:off x="6172200" y="4224528"/>
            <a:ext cx="5440680" cy="1417320"/>
          </a:xfrm>
          <a:prstGeom prst="roundRect">
            <a:avLst>
              <a:gd name="adj" fmla="val 3225"/>
            </a:avLst>
          </a:prstGeom>
          <a:solidFill>
            <a:srgbClr val="F4F6F8"/>
          </a:solidFill>
          <a:ln w="9525">
            <a:solidFill>
              <a:srgbClr val="C9D1D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p3 code"/>
          <p:cNvSpPr txBox="1"/>
          <p:nvPr/>
        </p:nvSpPr>
        <p:spPr>
          <a:xfrm>
            <a:off x="6263640" y="4288536"/>
            <a:ext cx="5257800" cy="1289304"/>
          </a:xfrm>
          <a:prstGeom prst="rect">
            <a:avLst/>
          </a:prstGeom>
          <a:noFill/>
        </p:spPr>
        <p:txBody>
          <a:bodyPr wrap="square" lIns="45720" rIns="45720" tIns="27432" bIns="27432" anchor="t">
            <a:spAutoFit/>
          </a:bodyPr>
          <a:lstStyle/>
          <a:p>
            <a:pPr algn="l">
              <a:spcAft>
                <a:spcPts val="0"/>
              </a:spcAft>
            </a:pPr>
            <a:r>
              <a:rPr sz="1200" b="0" i="0">
                <a:solidFill>
                  <a:srgbClr val="1F2937"/>
                </a:solidFill>
                <a:latin typeface="Courier New"/>
              </a:rPr>
              <a:t>MATCH (p:Lecturer)-[:GIVES]-&gt;(l:Lecture)</a:t>
            </a:r>
          </a:p>
          <a:p>
            <a:pPr algn="l">
              <a:spcAft>
                <a:spcPts val="0"/>
              </a:spcAft>
            </a:pPr>
            <a:r>
              <a:rPr sz="1200" b="0" i="0">
                <a:solidFill>
                  <a:srgbClr val="1F2937"/>
                </a:solidFill>
                <a:latin typeface="Courier New"/>
              </a:rPr>
              <a:t>RETURN p.name,</a:t>
            </a:r>
          </a:p>
          <a:p>
            <a:pPr algn="l">
              <a:spcAft>
                <a:spcPts val="0"/>
              </a:spcAft>
            </a:pPr>
            <a:r>
              <a:rPr sz="1200" b="0" i="0">
                <a:solidFill>
                  <a:srgbClr val="1F2937"/>
                </a:solidFill>
                <a:latin typeface="Courier New"/>
              </a:rPr>
              <a:t>       count(l)  AS n_lectures,</a:t>
            </a:r>
          </a:p>
          <a:p>
            <a:pPr algn="l">
              <a:spcAft>
                <a:spcPts val="0"/>
              </a:spcAft>
            </a:pPr>
            <a:r>
              <a:rPr sz="1200" b="0" i="0">
                <a:solidFill>
                  <a:srgbClr val="1F2937"/>
                </a:solidFill>
                <a:latin typeface="Courier New"/>
              </a:rPr>
              <a:t>       collect(l.index) AS lectures</a:t>
            </a:r>
          </a:p>
        </p:txBody>
      </p:sp>
      <p:sp>
        <p:nvSpPr>
          <p:cNvPr id="24" name="p3 result bg"/>
          <p:cNvSpPr/>
          <p:nvPr/>
        </p:nvSpPr>
        <p:spPr>
          <a:xfrm>
            <a:off x="6172200" y="5687568"/>
            <a:ext cx="5440680" cy="457200"/>
          </a:xfrm>
          <a:prstGeom prst="roundRect">
            <a:avLst>
              <a:gd name="adj" fmla="val 12000"/>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p3 result"/>
          <p:cNvSpPr txBox="1"/>
          <p:nvPr/>
        </p:nvSpPr>
        <p:spPr>
          <a:xfrm>
            <a:off x="6263640" y="5687568"/>
            <a:ext cx="5257800" cy="457200"/>
          </a:xfrm>
          <a:prstGeom prst="rect">
            <a:avLst/>
          </a:prstGeom>
          <a:noFill/>
        </p:spPr>
        <p:txBody>
          <a:bodyPr wrap="square" lIns="45720" rIns="45720" tIns="27432" bIns="27432" anchor="ctr">
            <a:spAutoFit/>
          </a:bodyPr>
          <a:lstStyle/>
          <a:p>
            <a:pPr algn="l">
              <a:spcAft>
                <a:spcPts val="600"/>
              </a:spcAft>
            </a:pPr>
            <a:r>
              <a:rPr sz="1400" b="1" i="0">
                <a:solidFill>
                  <a:srgbClr val="0E2841"/>
                </a:solidFill>
              </a:rPr>
              <a:t>→ each lecturer: 4 · [n24 n25 n26 n27]</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74320"/>
            <a:ext cx="9509760" cy="777240"/>
          </a:xfrm>
        </p:spPr>
        <p:txBody>
          <a:bodyPr wrap="square" anchor="ctr"/>
          <a:lstStyle/>
          <a:p>
            <a:pPr algn="l"/>
            <a:r>
              <a:rPr sz="3000" b="1" i="0">
                <a:solidFill>
                  <a:srgbClr val="0E2841"/>
                </a:solidFill>
              </a:rPr>
              <a:t>Traversal: classmates = shared neighbours</a:t>
            </a:r>
          </a:p>
        </p:txBody>
      </p:sp>
      <p:sp>
        <p:nvSpPr>
          <p:cNvPr id="3" name="footer"/>
          <p:cNvSpPr txBox="1"/>
          <p:nvPr/>
        </p:nvSpPr>
        <p:spPr>
          <a:xfrm>
            <a:off x="548640" y="6455664"/>
            <a:ext cx="8686800" cy="274320"/>
          </a:xfrm>
          <a:prstGeom prst="rect">
            <a:avLst/>
          </a:prstGeom>
          <a:noFill/>
        </p:spPr>
        <p:txBody>
          <a:bodyPr wrap="square" lIns="45720" rIns="45720" tIns="27432" bIns="27432" anchor="t">
            <a:spAutoFit/>
          </a:bodyPr>
          <a:lstStyle/>
          <a:p>
            <a:pPr algn="l">
              <a:spcAft>
                <a:spcPts val="600"/>
              </a:spcAft>
            </a:pPr>
            <a:r>
              <a:rPr sz="1000" b="0" i="0">
                <a:solidFill>
                  <a:srgbClr val="595959"/>
                </a:solidFill>
              </a:rPr>
              <a:t>NoSQL Databases for Bioinformatics  ·  Lecture 26  ·  Graph database basics</a:t>
            </a:r>
          </a:p>
        </p:txBody>
      </p:sp>
      <p:sp>
        <p:nvSpPr>
          <p:cNvPr id="4" name="slide number"/>
          <p:cNvSpPr txBox="1"/>
          <p:nvPr/>
        </p:nvSpPr>
        <p:spPr>
          <a:xfrm>
            <a:off x="10698480" y="6455664"/>
            <a:ext cx="914400" cy="274320"/>
          </a:xfrm>
          <a:prstGeom prst="rect">
            <a:avLst/>
          </a:prstGeom>
          <a:noFill/>
        </p:spPr>
        <p:txBody>
          <a:bodyPr wrap="square" lIns="45720" rIns="45720" tIns="27432" bIns="27432" anchor="t">
            <a:spAutoFit/>
          </a:bodyPr>
          <a:lstStyle/>
          <a:p>
            <a:pPr algn="r">
              <a:spcAft>
                <a:spcPts val="600"/>
              </a:spcAft>
            </a:pPr>
            <a:fld id="{B6F15528-21DE-4FAA-801E-634DDDAF4B2B}" type="slidenum">
              <a:rPr lang="en-US" sz="1000">
                <a:solidFill>
                  <a:srgbClr val="595959"/>
                </a:solidFill>
              </a:rPr>
              <a:t>‹#›</a:t>
            </a:fld>
          </a:p>
        </p:txBody>
      </p:sp>
      <p:sp>
        <p:nvSpPr>
          <p:cNvPr id="5" name="step tag"/>
          <p:cNvSpPr/>
          <p:nvPr/>
        </p:nvSpPr>
        <p:spPr>
          <a:xfrm>
            <a:off x="10195560" y="411480"/>
            <a:ext cx="1417320" cy="329184"/>
          </a:xfrm>
          <a:prstGeom prst="roundRect">
            <a:avLst>
              <a:gd name="adj" fmla="val 50000"/>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i="0">
                <a:solidFill>
                  <a:srgbClr val="FFFFFF"/>
                </a:solidFill>
              </a:rPr>
              <a:t>HANDS-ON</a:t>
            </a:r>
          </a:p>
        </p:txBody>
      </p:sp>
      <p:sp>
        <p:nvSpPr>
          <p:cNvPr id="6" name="node me"/>
          <p:cNvSpPr/>
          <p:nvPr/>
        </p:nvSpPr>
        <p:spPr>
          <a:xfrm>
            <a:off x="731520" y="2788920"/>
            <a:ext cx="1463040" cy="640080"/>
          </a:xfrm>
          <a:prstGeom prst="ellipse">
            <a:avLst/>
          </a:prstGeom>
          <a:solidFill>
            <a:srgbClr val="2E8B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600" b="1" i="0">
                <a:solidFill>
                  <a:srgbClr val="FFFFFF"/>
                </a:solidFill>
              </a:rPr>
              <a:t>me</a:t>
            </a:r>
          </a:p>
        </p:txBody>
      </p:sp>
      <p:sp>
        <p:nvSpPr>
          <p:cNvPr id="7" name="node carol"/>
          <p:cNvSpPr/>
          <p:nvPr/>
        </p:nvSpPr>
        <p:spPr>
          <a:xfrm>
            <a:off x="731520" y="4434840"/>
            <a:ext cx="1463040" cy="640080"/>
          </a:xfrm>
          <a:prstGeom prst="ellipse">
            <a:avLst/>
          </a:prstGeom>
          <a:solidFill>
            <a:srgbClr val="2E8B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600" b="1" i="0">
                <a:solidFill>
                  <a:srgbClr val="FFFFFF"/>
                </a:solidFill>
              </a:rPr>
              <a:t>carol</a:t>
            </a:r>
          </a:p>
        </p:txBody>
      </p:sp>
      <p:sp>
        <p:nvSpPr>
          <p:cNvPr id="8" name="node alice"/>
          <p:cNvSpPr/>
          <p:nvPr/>
        </p:nvSpPr>
        <p:spPr>
          <a:xfrm>
            <a:off x="731520" y="1325880"/>
            <a:ext cx="1463040" cy="640080"/>
          </a:xfrm>
          <a:prstGeom prst="ellipse">
            <a:avLst/>
          </a:prstGeom>
          <a:solidFill>
            <a:srgbClr val="2E8B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600" b="1" i="0">
                <a:solidFill>
                  <a:srgbClr val="FFFFFF"/>
                </a:solidFill>
              </a:rPr>
              <a:t>alice</a:t>
            </a:r>
          </a:p>
        </p:txBody>
      </p:sp>
      <p:sp>
        <p:nvSpPr>
          <p:cNvPr id="9" name="node n26"/>
          <p:cNvSpPr/>
          <p:nvPr/>
        </p:nvSpPr>
        <p:spPr>
          <a:xfrm>
            <a:off x="4023360" y="2788920"/>
            <a:ext cx="1463040" cy="640080"/>
          </a:xfrm>
          <a:prstGeom prst="roundRect">
            <a:avLst>
              <a:gd name="adj" fmla="val 17142"/>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600" b="1" i="0">
                <a:solidFill>
                  <a:srgbClr val="FFFFFF"/>
                </a:solidFill>
              </a:rPr>
              <a:t>n26</a:t>
            </a:r>
          </a:p>
        </p:txBody>
      </p:sp>
      <p:sp>
        <p:nvSpPr>
          <p:cNvPr id="10" name="node n27"/>
          <p:cNvSpPr/>
          <p:nvPr/>
        </p:nvSpPr>
        <p:spPr>
          <a:xfrm>
            <a:off x="4023360" y="3977640"/>
            <a:ext cx="1463040" cy="640080"/>
          </a:xfrm>
          <a:prstGeom prst="roundRect">
            <a:avLst>
              <a:gd name="adj" fmla="val 17142"/>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600" b="1" i="0">
                <a:solidFill>
                  <a:srgbClr val="FFFFFF"/>
                </a:solidFill>
              </a:rPr>
              <a:t>n27</a:t>
            </a:r>
          </a:p>
        </p:txBody>
      </p:sp>
      <p:sp>
        <p:nvSpPr>
          <p:cNvPr id="11" name="node n24"/>
          <p:cNvSpPr/>
          <p:nvPr/>
        </p:nvSpPr>
        <p:spPr>
          <a:xfrm>
            <a:off x="4023360" y="1600200"/>
            <a:ext cx="1463040" cy="640080"/>
          </a:xfrm>
          <a:prstGeom prst="roundRect">
            <a:avLst>
              <a:gd name="adj" fmla="val 17142"/>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600" b="1" i="0">
                <a:solidFill>
                  <a:srgbClr val="FFFFFF"/>
                </a:solidFill>
              </a:rPr>
              <a:t>n24</a:t>
            </a:r>
          </a:p>
        </p:txBody>
      </p:sp>
      <p:cxnSp>
        <p:nvCxnSpPr>
          <p:cNvPr id="12" name="edge"/>
          <p:cNvCxnSpPr/>
          <p:nvPr/>
        </p:nvCxnSpPr>
        <p:spPr>
          <a:xfrm>
            <a:off x="2194560" y="3108960"/>
            <a:ext cx="1828800" cy="0"/>
          </a:xfrm>
          <a:prstGeom prst="line">
            <a:avLst/>
          </a:prstGeom>
          <a:ln w="25400">
            <a:solidFill>
              <a:srgbClr val="595959"/>
            </a:solidFill>
            <a:tailEnd type="triangle"/>
          </a:ln>
        </p:spPr>
        <p:style>
          <a:lnRef idx="2">
            <a:schemeClr val="accent1"/>
          </a:lnRef>
          <a:fillRef idx="0">
            <a:schemeClr val="accent1"/>
          </a:fillRef>
          <a:effectRef idx="1">
            <a:schemeClr val="accent1"/>
          </a:effectRef>
          <a:fontRef idx="minor">
            <a:schemeClr val="tx1"/>
          </a:fontRef>
        </p:style>
      </p:cxnSp>
      <p:cxnSp>
        <p:nvCxnSpPr>
          <p:cNvPr id="13" name="edge"/>
          <p:cNvCxnSpPr/>
          <p:nvPr/>
        </p:nvCxnSpPr>
        <p:spPr>
          <a:xfrm>
            <a:off x="2027205" y="3312686"/>
            <a:ext cx="1996155" cy="720834"/>
          </a:xfrm>
          <a:prstGeom prst="line">
            <a:avLst/>
          </a:prstGeom>
          <a:ln w="25400">
            <a:solidFill>
              <a:srgbClr val="595959"/>
            </a:solidFill>
            <a:tailEnd type="triangle"/>
          </a:ln>
        </p:spPr>
        <p:style>
          <a:lnRef idx="2">
            <a:schemeClr val="accent1"/>
          </a:lnRef>
          <a:fillRef idx="0">
            <a:schemeClr val="accent1"/>
          </a:fillRef>
          <a:effectRef idx="1">
            <a:schemeClr val="accent1"/>
          </a:effectRef>
          <a:fontRef idx="minor">
            <a:schemeClr val="tx1"/>
          </a:fontRef>
        </p:style>
      </p:cxnSp>
      <p:cxnSp>
        <p:nvCxnSpPr>
          <p:cNvPr id="14" name="edge"/>
          <p:cNvCxnSpPr/>
          <p:nvPr/>
        </p:nvCxnSpPr>
        <p:spPr>
          <a:xfrm flipV="1">
            <a:off x="1944749" y="3429000"/>
            <a:ext cx="2170051" cy="1085025"/>
          </a:xfrm>
          <a:prstGeom prst="line">
            <a:avLst/>
          </a:prstGeom>
          <a:ln w="25400">
            <a:solidFill>
              <a:srgbClr val="595959"/>
            </a:solidFill>
            <a:tailEnd type="triangle"/>
          </a:ln>
        </p:spPr>
        <p:style>
          <a:lnRef idx="2">
            <a:schemeClr val="accent1"/>
          </a:lnRef>
          <a:fillRef idx="0">
            <a:schemeClr val="accent1"/>
          </a:fillRef>
          <a:effectRef idx="1">
            <a:schemeClr val="accent1"/>
          </a:effectRef>
          <a:fontRef idx="minor">
            <a:schemeClr val="tx1"/>
          </a:fontRef>
        </p:style>
      </p:cxnSp>
      <p:cxnSp>
        <p:nvCxnSpPr>
          <p:cNvPr id="15" name="edge"/>
          <p:cNvCxnSpPr/>
          <p:nvPr/>
        </p:nvCxnSpPr>
        <p:spPr>
          <a:xfrm flipV="1">
            <a:off x="2160269" y="4399280"/>
            <a:ext cx="1863091" cy="258762"/>
          </a:xfrm>
          <a:prstGeom prst="line">
            <a:avLst/>
          </a:prstGeom>
          <a:ln w="25400">
            <a:solidFill>
              <a:srgbClr val="595959"/>
            </a:solidFill>
            <a:tailEnd type="triangle"/>
          </a:ln>
        </p:spPr>
        <p:style>
          <a:lnRef idx="2">
            <a:schemeClr val="accent1"/>
          </a:lnRef>
          <a:fillRef idx="0">
            <a:schemeClr val="accent1"/>
          </a:fillRef>
          <a:effectRef idx="1">
            <a:schemeClr val="accent1"/>
          </a:effectRef>
          <a:fontRef idx="minor">
            <a:schemeClr val="tx1"/>
          </a:fontRef>
        </p:style>
      </p:cxnSp>
      <p:cxnSp>
        <p:nvCxnSpPr>
          <p:cNvPr id="16" name="edge"/>
          <p:cNvCxnSpPr/>
          <p:nvPr/>
        </p:nvCxnSpPr>
        <p:spPr>
          <a:xfrm>
            <a:off x="1976213" y="1873997"/>
            <a:ext cx="2058577" cy="914923"/>
          </a:xfrm>
          <a:prstGeom prst="line">
            <a:avLst/>
          </a:prstGeom>
          <a:ln w="25400">
            <a:solidFill>
              <a:srgbClr val="595959"/>
            </a:solidFill>
            <a:tailEnd type="triangle"/>
          </a:ln>
        </p:spPr>
        <p:style>
          <a:lnRef idx="2">
            <a:schemeClr val="accent1"/>
          </a:lnRef>
          <a:fillRef idx="0">
            <a:schemeClr val="accent1"/>
          </a:fillRef>
          <a:effectRef idx="1">
            <a:schemeClr val="accent1"/>
          </a:effectRef>
          <a:fontRef idx="minor">
            <a:schemeClr val="tx1"/>
          </a:fontRef>
        </p:style>
      </p:cxnSp>
      <p:cxnSp>
        <p:nvCxnSpPr>
          <p:cNvPr id="17" name="edge"/>
          <p:cNvCxnSpPr/>
          <p:nvPr/>
        </p:nvCxnSpPr>
        <p:spPr>
          <a:xfrm>
            <a:off x="2181640" y="1705803"/>
            <a:ext cx="1841720" cy="153477"/>
          </a:xfrm>
          <a:prstGeom prst="line">
            <a:avLst/>
          </a:prstGeom>
          <a:ln w="25400">
            <a:solidFill>
              <a:srgbClr val="595959"/>
            </a:solidFill>
            <a:tailEnd type="triangle"/>
          </a:ln>
        </p:spPr>
        <p:style>
          <a:lnRef idx="2">
            <a:schemeClr val="accent1"/>
          </a:lnRef>
          <a:fillRef idx="0">
            <a:schemeClr val="accent1"/>
          </a:fillRef>
          <a:effectRef idx="1">
            <a:schemeClr val="accent1"/>
          </a:effectRef>
          <a:fontRef idx="minor">
            <a:schemeClr val="tx1"/>
          </a:fontRef>
        </p:style>
      </p:cxnSp>
      <p:sp>
        <p:nvSpPr>
          <p:cNvPr id="18" name="diagram note"/>
          <p:cNvSpPr txBox="1"/>
          <p:nvPr/>
        </p:nvSpPr>
        <p:spPr>
          <a:xfrm>
            <a:off x="548640" y="5349240"/>
            <a:ext cx="5486400" cy="822960"/>
          </a:xfrm>
          <a:prstGeom prst="rect">
            <a:avLst/>
          </a:prstGeom>
          <a:noFill/>
        </p:spPr>
        <p:txBody>
          <a:bodyPr wrap="square" lIns="45720" rIns="45720" tIns="27432" bIns="27432" anchor="t">
            <a:spAutoFit/>
          </a:bodyPr>
          <a:lstStyle/>
          <a:p>
            <a:pPr algn="ctr">
              <a:spcAft>
                <a:spcPts val="600"/>
              </a:spcAft>
            </a:pPr>
            <a:r>
              <a:rPr sz="1600" b="0" i="0">
                <a:solidFill>
                  <a:srgbClr val="156082"/>
                </a:solidFill>
                <a:latin typeface="Courier New"/>
              </a:rPr>
              <a:t>ATTENDS</a:t>
            </a:r>
            <a:r>
              <a:rPr sz="1600" b="0" i="0">
                <a:solidFill>
                  <a:srgbClr val="0E2841"/>
                </a:solidFill>
              </a:rPr>
              <a:t> →  shared lectures: carol </a:t>
            </a:r>
            <a:r>
              <a:rPr sz="1600" b="1" i="0">
                <a:solidFill>
                  <a:srgbClr val="0E2841"/>
                </a:solidFill>
              </a:rPr>
              <a:t>2</a:t>
            </a:r>
            <a:r>
              <a:rPr sz="1600" b="0" i="0">
                <a:solidFill>
                  <a:srgbClr val="0E2841"/>
                </a:solidFill>
              </a:rPr>
              <a:t>, alice </a:t>
            </a:r>
            <a:r>
              <a:rPr sz="1600" b="1" i="0">
                <a:solidFill>
                  <a:srgbClr val="0E2841"/>
                </a:solidFill>
              </a:rPr>
              <a:t>1</a:t>
            </a:r>
          </a:p>
        </p:txBody>
      </p:sp>
      <p:sp>
        <p:nvSpPr>
          <p:cNvPr id="19" name="classmates code bg"/>
          <p:cNvSpPr/>
          <p:nvPr/>
        </p:nvSpPr>
        <p:spPr>
          <a:xfrm>
            <a:off x="6309360" y="1371600"/>
            <a:ext cx="5303520" cy="2377440"/>
          </a:xfrm>
          <a:prstGeom prst="roundRect">
            <a:avLst>
              <a:gd name="adj" fmla="val 1923"/>
            </a:avLst>
          </a:prstGeom>
          <a:solidFill>
            <a:srgbClr val="F4F6F8"/>
          </a:solidFill>
          <a:ln w="9525">
            <a:solidFill>
              <a:srgbClr val="C9D1D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classmates code"/>
          <p:cNvSpPr txBox="1"/>
          <p:nvPr/>
        </p:nvSpPr>
        <p:spPr>
          <a:xfrm>
            <a:off x="6400800" y="1435608"/>
            <a:ext cx="5120640" cy="2249424"/>
          </a:xfrm>
          <a:prstGeom prst="rect">
            <a:avLst/>
          </a:prstGeom>
          <a:noFill/>
        </p:spPr>
        <p:txBody>
          <a:bodyPr wrap="square" lIns="45720" rIns="45720" tIns="27432" bIns="27432" anchor="t">
            <a:spAutoFit/>
          </a:bodyPr>
          <a:lstStyle/>
          <a:p>
            <a:pPr algn="l">
              <a:spcAft>
                <a:spcPts val="0"/>
              </a:spcAft>
            </a:pPr>
            <a:r>
              <a:rPr sz="1300" b="0" i="0">
                <a:solidFill>
                  <a:srgbClr val="1F2937"/>
                </a:solidFill>
                <a:latin typeface="Courier New"/>
              </a:rPr>
              <a:t>MATCH (me:Student {uid: $uid})</a:t>
            </a:r>
          </a:p>
          <a:p>
            <a:pPr algn="l">
              <a:spcAft>
                <a:spcPts val="0"/>
              </a:spcAft>
            </a:pPr>
            <a:r>
              <a:rPr sz="1300" b="0" i="0">
                <a:solidFill>
                  <a:srgbClr val="1F2937"/>
                </a:solidFill>
                <a:latin typeface="Courier New"/>
              </a:rPr>
              <a:t>      -[:ATTENDS]-&gt;(l:Lecture)</a:t>
            </a:r>
          </a:p>
          <a:p>
            <a:pPr algn="l">
              <a:spcAft>
                <a:spcPts val="0"/>
              </a:spcAft>
            </a:pPr>
            <a:r>
              <a:rPr sz="1300" b="0" i="0">
                <a:solidFill>
                  <a:srgbClr val="1F2937"/>
                </a:solidFill>
                <a:latin typeface="Courier New"/>
              </a:rPr>
              <a:t>      &lt;-[:ATTENDS]-(classmate:Student)</a:t>
            </a:r>
          </a:p>
          <a:p>
            <a:pPr algn="l">
              <a:spcAft>
                <a:spcPts val="0"/>
              </a:spcAft>
            </a:pPr>
            <a:r>
              <a:rPr sz="1300" b="0" i="0">
                <a:solidFill>
                  <a:srgbClr val="1F2937"/>
                </a:solidFill>
                <a:latin typeface="Courier New"/>
              </a:rPr>
              <a:t>WHERE classmate &lt;&gt; me</a:t>
            </a:r>
          </a:p>
          <a:p>
            <a:pPr algn="l">
              <a:spcAft>
                <a:spcPts val="0"/>
              </a:spcAft>
            </a:pPr>
            <a:r>
              <a:rPr sz="1300" b="0" i="0">
                <a:solidFill>
                  <a:srgbClr val="1F2937"/>
                </a:solidFill>
                <a:latin typeface="Courier New"/>
              </a:rPr>
              <a:t>RETURN classmate.uid,</a:t>
            </a:r>
          </a:p>
          <a:p>
            <a:pPr algn="l">
              <a:spcAft>
                <a:spcPts val="0"/>
              </a:spcAft>
            </a:pPr>
            <a:r>
              <a:rPr sz="1300" b="0" i="0">
                <a:solidFill>
                  <a:srgbClr val="1F2937"/>
                </a:solidFill>
                <a:latin typeface="Courier New"/>
              </a:rPr>
              <a:t>       count(l) AS shared_lectures,</a:t>
            </a:r>
          </a:p>
          <a:p>
            <a:pPr algn="l">
              <a:spcAft>
                <a:spcPts val="0"/>
              </a:spcAft>
            </a:pPr>
            <a:r>
              <a:rPr sz="1300" b="0" i="0">
                <a:solidFill>
                  <a:srgbClr val="1F2937"/>
                </a:solidFill>
                <a:latin typeface="Courier New"/>
              </a:rPr>
              <a:t>       collect(l.index) AS which</a:t>
            </a:r>
          </a:p>
        </p:txBody>
      </p:sp>
      <p:graphicFrame>
        <p:nvGraphicFramePr>
          <p:cNvPr id="21" name="classmates table"/>
          <p:cNvGraphicFramePr>
            <a:graphicFrameLocks noGrp="1"/>
          </p:cNvGraphicFramePr>
          <p:nvPr/>
        </p:nvGraphicFramePr>
        <p:xfrm>
          <a:off x="6309360" y="3977639"/>
          <a:ext cx="5303520" cy="1234440"/>
        </p:xfrm>
        <a:graphic>
          <a:graphicData uri="http://schemas.openxmlformats.org/drawingml/2006/table">
            <a:tbl>
              <a:tblPr firstRow="0" bandRow="0">
                <a:tableStyleId>{5C22544A-7EE6-4342-B048-85BDC9FD1C3A}</a:tableStyleId>
              </a:tblPr>
              <a:tblGrid>
                <a:gridCol w="1554480"/>
                <a:gridCol w="1920240"/>
                <a:gridCol w="1828800"/>
              </a:tblGrid>
              <a:tr h="411480">
                <a:tc>
                  <a:txBody>
                    <a:bodyPr wrap="square"/>
                    <a:lstStyle/>
                    <a:p>
                      <a:r>
                        <a:rPr sz="1400" b="1" i="0">
                          <a:solidFill>
                            <a:srgbClr val="FFFFFF"/>
                          </a:solidFill>
                        </a:rPr>
                        <a:t>classmate</a:t>
                      </a:r>
                    </a:p>
                  </a:txBody>
                  <a:tcPr marL="73152" marR="73152" marT="36576" marB="36576" anchor="ctr">
                    <a:solidFill>
                      <a:srgbClr val="0E2841"/>
                    </a:solidFill>
                  </a:tcPr>
                </a:tc>
                <a:tc>
                  <a:txBody>
                    <a:bodyPr wrap="square"/>
                    <a:lstStyle/>
                    <a:p>
                      <a:r>
                        <a:rPr sz="1400" b="1" i="0">
                          <a:solidFill>
                            <a:srgbClr val="FFFFFF"/>
                          </a:solidFill>
                        </a:rPr>
                        <a:t>shared_lectures</a:t>
                      </a:r>
                    </a:p>
                  </a:txBody>
                  <a:tcPr marL="73152" marR="73152" marT="36576" marB="36576" anchor="ctr">
                    <a:solidFill>
                      <a:srgbClr val="0E2841"/>
                    </a:solidFill>
                  </a:tcPr>
                </a:tc>
                <a:tc>
                  <a:txBody>
                    <a:bodyPr wrap="square"/>
                    <a:lstStyle/>
                    <a:p>
                      <a:r>
                        <a:rPr sz="1400" b="1" i="0">
                          <a:solidFill>
                            <a:srgbClr val="FFFFFF"/>
                          </a:solidFill>
                        </a:rPr>
                        <a:t>which</a:t>
                      </a:r>
                    </a:p>
                  </a:txBody>
                  <a:tcPr marL="73152" marR="73152" marT="36576" marB="36576" anchor="ctr">
                    <a:solidFill>
                      <a:srgbClr val="0E2841"/>
                    </a:solidFill>
                  </a:tcPr>
                </a:tc>
              </a:tr>
              <a:tr h="411480">
                <a:tc>
                  <a:txBody>
                    <a:bodyPr wrap="square"/>
                    <a:lstStyle/>
                    <a:p>
                      <a:r>
                        <a:rPr sz="1400" b="0" i="0">
                          <a:solidFill>
                            <a:srgbClr val="0E2841"/>
                          </a:solidFill>
                        </a:rPr>
                        <a:t>carol</a:t>
                      </a:r>
                    </a:p>
                  </a:txBody>
                  <a:tcPr marL="73152" marR="73152" marT="36576" marB="36576" anchor="ctr">
                    <a:solidFill>
                      <a:srgbClr val="FFFFFF"/>
                    </a:solidFill>
                  </a:tcPr>
                </a:tc>
                <a:tc>
                  <a:txBody>
                    <a:bodyPr wrap="square"/>
                    <a:lstStyle/>
                    <a:p>
                      <a:r>
                        <a:rPr sz="1400" b="0" i="0">
                          <a:solidFill>
                            <a:srgbClr val="0E2841"/>
                          </a:solidFill>
                        </a:rPr>
                        <a:t>2</a:t>
                      </a:r>
                    </a:p>
                  </a:txBody>
                  <a:tcPr marL="73152" marR="73152" marT="36576" marB="36576" anchor="ctr">
                    <a:solidFill>
                      <a:srgbClr val="FFFFFF"/>
                    </a:solidFill>
                  </a:tcPr>
                </a:tc>
                <a:tc>
                  <a:txBody>
                    <a:bodyPr wrap="square"/>
                    <a:lstStyle/>
                    <a:p>
                      <a:r>
                        <a:rPr sz="1400" b="0" i="0">
                          <a:solidFill>
                            <a:srgbClr val="0E2841"/>
                          </a:solidFill>
                        </a:rPr>
                        <a:t>[n27, n26]</a:t>
                      </a:r>
                    </a:p>
                  </a:txBody>
                  <a:tcPr marL="73152" marR="73152" marT="36576" marB="36576" anchor="ctr">
                    <a:solidFill>
                      <a:srgbClr val="FFFFFF"/>
                    </a:solidFill>
                  </a:tcPr>
                </a:tc>
              </a:tr>
              <a:tr h="411480">
                <a:tc>
                  <a:txBody>
                    <a:bodyPr wrap="square"/>
                    <a:lstStyle/>
                    <a:p>
                      <a:r>
                        <a:rPr sz="1400" b="0" i="0">
                          <a:solidFill>
                            <a:srgbClr val="0E2841"/>
                          </a:solidFill>
                        </a:rPr>
                        <a:t>alice</a:t>
                      </a:r>
                    </a:p>
                  </a:txBody>
                  <a:tcPr marL="73152" marR="73152" marT="36576" marB="36576" anchor="ctr">
                    <a:solidFill>
                      <a:srgbClr val="F2F5F9"/>
                    </a:solidFill>
                  </a:tcPr>
                </a:tc>
                <a:tc>
                  <a:txBody>
                    <a:bodyPr wrap="square"/>
                    <a:lstStyle/>
                    <a:p>
                      <a:r>
                        <a:rPr sz="1400" b="0" i="0">
                          <a:solidFill>
                            <a:srgbClr val="0E2841"/>
                          </a:solidFill>
                        </a:rPr>
                        <a:t>1</a:t>
                      </a:r>
                    </a:p>
                  </a:txBody>
                  <a:tcPr marL="73152" marR="73152" marT="36576" marB="36576" anchor="ctr">
                    <a:solidFill>
                      <a:srgbClr val="F2F5F9"/>
                    </a:solidFill>
                  </a:tcPr>
                </a:tc>
                <a:tc>
                  <a:txBody>
                    <a:bodyPr wrap="square"/>
                    <a:lstStyle/>
                    <a:p>
                      <a:r>
                        <a:rPr sz="1400" b="0" i="0">
                          <a:solidFill>
                            <a:srgbClr val="0E2841"/>
                          </a:solidFill>
                        </a:rPr>
                        <a:t>[n26]</a:t>
                      </a:r>
                    </a:p>
                  </a:txBody>
                  <a:tcPr marL="73152" marR="73152" marT="36576" marB="36576" anchor="ctr">
                    <a:solidFill>
                      <a:srgbClr val="F2F5F9"/>
                    </a:solidFill>
                  </a:tcPr>
                </a:tc>
              </a:tr>
            </a:tbl>
          </a:graphicData>
        </a:graphic>
      </p:graphicFrame>
      <p:sp>
        <p:nvSpPr>
          <p:cNvPr id="22" name="remember bg"/>
          <p:cNvSpPr/>
          <p:nvPr/>
        </p:nvSpPr>
        <p:spPr>
          <a:xfrm>
            <a:off x="6309360" y="5349240"/>
            <a:ext cx="5303520" cy="914400"/>
          </a:xfrm>
          <a:prstGeom prst="roundRect">
            <a:avLst>
              <a:gd name="adj" fmla="val 6000"/>
            </a:avLst>
          </a:prstGeom>
          <a:solidFill>
            <a:srgbClr val="0E28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member"/>
          <p:cNvSpPr txBox="1"/>
          <p:nvPr/>
        </p:nvSpPr>
        <p:spPr>
          <a:xfrm>
            <a:off x="6446520" y="5394960"/>
            <a:ext cx="5029200" cy="822960"/>
          </a:xfrm>
          <a:prstGeom prst="rect">
            <a:avLst/>
          </a:prstGeom>
          <a:noFill/>
        </p:spPr>
        <p:txBody>
          <a:bodyPr wrap="square" lIns="45720" rIns="45720" tIns="27432" bIns="27432" anchor="ctr">
            <a:spAutoFit/>
          </a:bodyPr>
          <a:lstStyle/>
          <a:p>
            <a:pPr algn="l">
              <a:spcAft>
                <a:spcPts val="600"/>
              </a:spcAft>
            </a:pPr>
            <a:r>
              <a:rPr sz="1500" b="0" i="0">
                <a:solidFill>
                  <a:srgbClr val="FFFFFF"/>
                </a:solidFill>
              </a:rPr>
              <a:t>🔑 Remember: </a:t>
            </a:r>
            <a:r>
              <a:rPr sz="1500" b="1" i="0">
                <a:solidFill>
                  <a:srgbClr val="FFFFFF"/>
                </a:solidFill>
              </a:rPr>
              <a:t>person → shared thing ← person</a:t>
            </a:r>
            <a:r>
              <a:rPr sz="1500" b="0" i="0">
                <a:solidFill>
                  <a:srgbClr val="FFFFFF"/>
                </a:solidFill>
              </a:rPr>
              <a:t> finds </a:t>
            </a:r>
            <a:r>
              <a:rPr sz="1500" b="0" i="1">
                <a:solidFill>
                  <a:srgbClr val="FFFFFF"/>
                </a:solidFill>
              </a:rPr>
              <a:t>similar</a:t>
            </a:r>
            <a:r>
              <a:rPr sz="1500" b="0" i="0">
                <a:solidFill>
                  <a:srgbClr val="FFFFFF"/>
                </a:solidFill>
              </a:rPr>
              <a:t> entities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74320"/>
            <a:ext cx="9509760" cy="777240"/>
          </a:xfrm>
        </p:spPr>
        <p:txBody>
          <a:bodyPr wrap="square" anchor="ctr"/>
          <a:lstStyle/>
          <a:p>
            <a:pPr algn="l"/>
            <a:r>
              <a:rPr sz="3000" b="1" i="0">
                <a:solidFill>
                  <a:srgbClr val="0E2841"/>
                </a:solidFill>
              </a:rPr>
              <a:t>Update and delete</a:t>
            </a:r>
          </a:p>
        </p:txBody>
      </p:sp>
      <p:sp>
        <p:nvSpPr>
          <p:cNvPr id="3" name="footer"/>
          <p:cNvSpPr txBox="1"/>
          <p:nvPr/>
        </p:nvSpPr>
        <p:spPr>
          <a:xfrm>
            <a:off x="548640" y="6455664"/>
            <a:ext cx="8686800" cy="274320"/>
          </a:xfrm>
          <a:prstGeom prst="rect">
            <a:avLst/>
          </a:prstGeom>
          <a:noFill/>
        </p:spPr>
        <p:txBody>
          <a:bodyPr wrap="square" lIns="45720" rIns="45720" tIns="27432" bIns="27432" anchor="t">
            <a:spAutoFit/>
          </a:bodyPr>
          <a:lstStyle/>
          <a:p>
            <a:pPr algn="l">
              <a:spcAft>
                <a:spcPts val="600"/>
              </a:spcAft>
            </a:pPr>
            <a:r>
              <a:rPr sz="1000" b="0" i="0">
                <a:solidFill>
                  <a:srgbClr val="595959"/>
                </a:solidFill>
              </a:rPr>
              <a:t>NoSQL Databases for Bioinformatics  ·  Lecture 26  ·  Graph database basics</a:t>
            </a:r>
          </a:p>
        </p:txBody>
      </p:sp>
      <p:sp>
        <p:nvSpPr>
          <p:cNvPr id="4" name="slide number"/>
          <p:cNvSpPr txBox="1"/>
          <p:nvPr/>
        </p:nvSpPr>
        <p:spPr>
          <a:xfrm>
            <a:off x="10698480" y="6455664"/>
            <a:ext cx="914400" cy="274320"/>
          </a:xfrm>
          <a:prstGeom prst="rect">
            <a:avLst/>
          </a:prstGeom>
          <a:noFill/>
        </p:spPr>
        <p:txBody>
          <a:bodyPr wrap="square" lIns="45720" rIns="45720" tIns="27432" bIns="27432" anchor="t">
            <a:spAutoFit/>
          </a:bodyPr>
          <a:lstStyle/>
          <a:p>
            <a:pPr algn="r">
              <a:spcAft>
                <a:spcPts val="600"/>
              </a:spcAft>
            </a:pPr>
            <a:fld id="{B6F15528-21DE-4FAA-801E-634DDDAF4B2B}" type="slidenum">
              <a:rPr lang="en-US" sz="1000">
                <a:solidFill>
                  <a:srgbClr val="595959"/>
                </a:solidFill>
              </a:rPr>
              <a:t>‹#›</a:t>
            </a:fld>
          </a:p>
        </p:txBody>
      </p:sp>
      <p:sp>
        <p:nvSpPr>
          <p:cNvPr id="5" name="step tag"/>
          <p:cNvSpPr/>
          <p:nvPr/>
        </p:nvSpPr>
        <p:spPr>
          <a:xfrm>
            <a:off x="10195560" y="411480"/>
            <a:ext cx="1417320" cy="329184"/>
          </a:xfrm>
          <a:prstGeom prst="roundRect">
            <a:avLst>
              <a:gd name="adj" fmla="val 50000"/>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i="0">
                <a:solidFill>
                  <a:srgbClr val="FFFFFF"/>
                </a:solidFill>
              </a:rPr>
              <a:t>HANDS-ON</a:t>
            </a:r>
          </a:p>
        </p:txBody>
      </p:sp>
      <p:graphicFrame>
        <p:nvGraphicFramePr>
          <p:cNvPr id="6" name="update table"/>
          <p:cNvGraphicFramePr>
            <a:graphicFrameLocks noGrp="1"/>
          </p:cNvGraphicFramePr>
          <p:nvPr/>
        </p:nvGraphicFramePr>
        <p:xfrm>
          <a:off x="548640" y="1371600"/>
          <a:ext cx="11064240" cy="3154680"/>
        </p:xfrm>
        <a:graphic>
          <a:graphicData uri="http://schemas.openxmlformats.org/drawingml/2006/table">
            <a:tbl>
              <a:tblPr firstRow="0" bandRow="0">
                <a:tableStyleId>{5C22544A-7EE6-4342-B048-85BDC9FD1C3A}</a:tableStyleId>
              </a:tblPr>
              <a:tblGrid>
                <a:gridCol w="4023360"/>
                <a:gridCol w="7040880"/>
              </a:tblGrid>
              <a:tr h="411480">
                <a:tc>
                  <a:txBody>
                    <a:bodyPr wrap="square"/>
                    <a:lstStyle/>
                    <a:p>
                      <a:r>
                        <a:rPr sz="1500" b="1" i="0">
                          <a:solidFill>
                            <a:srgbClr val="FFFFFF"/>
                          </a:solidFill>
                        </a:rPr>
                        <a:t>task</a:t>
                      </a:r>
                    </a:p>
                  </a:txBody>
                  <a:tcPr marL="73152" marR="73152" marT="36576" marB="36576" anchor="ctr">
                    <a:solidFill>
                      <a:srgbClr val="0E2841"/>
                    </a:solidFill>
                  </a:tcPr>
                </a:tc>
                <a:tc>
                  <a:txBody>
                    <a:bodyPr wrap="square"/>
                    <a:lstStyle/>
                    <a:p>
                      <a:r>
                        <a:rPr sz="1500" b="1" i="0">
                          <a:solidFill>
                            <a:srgbClr val="FFFFFF"/>
                          </a:solidFill>
                        </a:rPr>
                        <a:t>Cypher</a:t>
                      </a:r>
                    </a:p>
                  </a:txBody>
                  <a:tcPr marL="73152" marR="73152" marT="36576" marB="36576" anchor="ctr">
                    <a:solidFill>
                      <a:srgbClr val="0E2841"/>
                    </a:solidFill>
                  </a:tcPr>
                </a:tc>
              </a:tr>
              <a:tr h="457200">
                <a:tc>
                  <a:txBody>
                    <a:bodyPr wrap="square"/>
                    <a:lstStyle/>
                    <a:p>
                      <a:r>
                        <a:rPr sz="1500" b="0" i="0">
                          <a:solidFill>
                            <a:srgbClr val="0E2841"/>
                          </a:solidFill>
                        </a:rPr>
                        <a:t>change / add a property</a:t>
                      </a:r>
                    </a:p>
                  </a:txBody>
                  <a:tcPr marL="73152" marR="73152" marT="36576" marB="36576" anchor="ctr">
                    <a:solidFill>
                      <a:srgbClr val="FFFFFF"/>
                    </a:solidFill>
                  </a:tcPr>
                </a:tc>
                <a:tc>
                  <a:txBody>
                    <a:bodyPr wrap="square"/>
                    <a:lstStyle/>
                    <a:p>
                      <a:r>
                        <a:rPr sz="1500" b="0" i="0">
                          <a:solidFill>
                            <a:srgbClr val="156082"/>
                          </a:solidFill>
                          <a:latin typeface="Courier New"/>
                        </a:rPr>
                        <a:t>SET n.prop = value</a:t>
                      </a:r>
                    </a:p>
                  </a:txBody>
                  <a:tcPr marL="73152" marR="73152" marT="36576" marB="36576" anchor="ctr">
                    <a:solidFill>
                      <a:srgbClr val="FFFFFF"/>
                    </a:solidFill>
                  </a:tcPr>
                </a:tc>
              </a:tr>
              <a:tr h="457200">
                <a:tc>
                  <a:txBody>
                    <a:bodyPr wrap="square"/>
                    <a:lstStyle/>
                    <a:p>
                      <a:r>
                        <a:rPr sz="1500" b="0" i="0">
                          <a:solidFill>
                            <a:srgbClr val="0E2841"/>
                          </a:solidFill>
                        </a:rPr>
                        <a:t>several at once</a:t>
                      </a:r>
                    </a:p>
                  </a:txBody>
                  <a:tcPr marL="73152" marR="73152" marT="36576" marB="36576" anchor="ctr">
                    <a:solidFill>
                      <a:srgbClr val="F2F5F9"/>
                    </a:solidFill>
                  </a:tcPr>
                </a:tc>
                <a:tc>
                  <a:txBody>
                    <a:bodyPr wrap="square"/>
                    <a:lstStyle/>
                    <a:p>
                      <a:r>
                        <a:rPr sz="1500" b="0" i="0">
                          <a:solidFill>
                            <a:srgbClr val="156082"/>
                          </a:solidFill>
                          <a:latin typeface="Courier New"/>
                        </a:rPr>
                        <a:t>SET n += {a: 1, b: 2}</a:t>
                      </a:r>
                    </a:p>
                  </a:txBody>
                  <a:tcPr marL="73152" marR="73152" marT="36576" marB="36576" anchor="ctr">
                    <a:solidFill>
                      <a:srgbClr val="F2F5F9"/>
                    </a:solidFill>
                  </a:tcPr>
                </a:tc>
              </a:tr>
              <a:tr h="457200">
                <a:tc>
                  <a:txBody>
                    <a:bodyPr wrap="square"/>
                    <a:lstStyle/>
                    <a:p>
                      <a:r>
                        <a:rPr sz="1500" b="0" i="0">
                          <a:solidFill>
                            <a:srgbClr val="0E2841"/>
                          </a:solidFill>
                        </a:rPr>
                        <a:t>remove a property</a:t>
                      </a:r>
                    </a:p>
                  </a:txBody>
                  <a:tcPr marL="73152" marR="73152" marT="36576" marB="36576" anchor="ctr">
                    <a:solidFill>
                      <a:srgbClr val="FFFFFF"/>
                    </a:solidFill>
                  </a:tcPr>
                </a:tc>
                <a:tc>
                  <a:txBody>
                    <a:bodyPr wrap="square"/>
                    <a:lstStyle/>
                    <a:p>
                      <a:r>
                        <a:rPr sz="1500" b="0" i="0">
                          <a:solidFill>
                            <a:srgbClr val="156082"/>
                          </a:solidFill>
                          <a:latin typeface="Courier New"/>
                        </a:rPr>
                        <a:t>REMOVE n.prop</a:t>
                      </a:r>
                    </a:p>
                  </a:txBody>
                  <a:tcPr marL="73152" marR="73152" marT="36576" marB="36576" anchor="ctr">
                    <a:solidFill>
                      <a:srgbClr val="FFFFFF"/>
                    </a:solidFill>
                  </a:tcPr>
                </a:tc>
              </a:tr>
              <a:tr h="457200">
                <a:tc>
                  <a:txBody>
                    <a:bodyPr wrap="square"/>
                    <a:lstStyle/>
                    <a:p>
                      <a:r>
                        <a:rPr sz="1500" b="0" i="0">
                          <a:solidFill>
                            <a:srgbClr val="0E2841"/>
                          </a:solidFill>
                        </a:rPr>
                        <a:t>add a label</a:t>
                      </a:r>
                    </a:p>
                  </a:txBody>
                  <a:tcPr marL="73152" marR="73152" marT="36576" marB="36576" anchor="ctr">
                    <a:solidFill>
                      <a:srgbClr val="F2F5F9"/>
                    </a:solidFill>
                  </a:tcPr>
                </a:tc>
                <a:tc>
                  <a:txBody>
                    <a:bodyPr wrap="square"/>
                    <a:lstStyle/>
                    <a:p>
                      <a:r>
                        <a:rPr sz="1500" b="0" i="0">
                          <a:solidFill>
                            <a:srgbClr val="156082"/>
                          </a:solidFill>
                          <a:latin typeface="Courier New"/>
                        </a:rPr>
                        <a:t>SET n:Visitor</a:t>
                      </a:r>
                    </a:p>
                  </a:txBody>
                  <a:tcPr marL="73152" marR="73152" marT="36576" marB="36576" anchor="ctr">
                    <a:solidFill>
                      <a:srgbClr val="F2F5F9"/>
                    </a:solidFill>
                  </a:tcPr>
                </a:tc>
              </a:tr>
              <a:tr h="457200">
                <a:tc>
                  <a:txBody>
                    <a:bodyPr wrap="square"/>
                    <a:lstStyle/>
                    <a:p>
                      <a:r>
                        <a:rPr sz="1500" b="0" i="0">
                          <a:solidFill>
                            <a:srgbClr val="0E2841"/>
                          </a:solidFill>
                        </a:rPr>
                        <a:t>delete a relationship</a:t>
                      </a:r>
                    </a:p>
                  </a:txBody>
                  <a:tcPr marL="73152" marR="73152" marT="36576" marB="36576" anchor="ctr">
                    <a:solidFill>
                      <a:srgbClr val="FFFFFF"/>
                    </a:solidFill>
                  </a:tcPr>
                </a:tc>
                <a:tc>
                  <a:txBody>
                    <a:bodyPr wrap="square"/>
                    <a:lstStyle/>
                    <a:p>
                      <a:r>
                        <a:rPr sz="1500" b="0" i="0">
                          <a:solidFill>
                            <a:srgbClr val="156082"/>
                          </a:solidFill>
                          <a:latin typeface="Courier New"/>
                        </a:rPr>
                        <a:t>MATCH ()-[r:ATTENDS]-&gt;() DELETE r</a:t>
                      </a:r>
                    </a:p>
                  </a:txBody>
                  <a:tcPr marL="73152" marR="73152" marT="36576" marB="36576" anchor="ctr">
                    <a:solidFill>
                      <a:srgbClr val="FFFFFF"/>
                    </a:solidFill>
                  </a:tcPr>
                </a:tc>
              </a:tr>
              <a:tr h="457200">
                <a:tc>
                  <a:txBody>
                    <a:bodyPr wrap="square"/>
                    <a:lstStyle/>
                    <a:p>
                      <a:r>
                        <a:rPr sz="1500" b="0" i="0">
                          <a:solidFill>
                            <a:srgbClr val="0E2841"/>
                          </a:solidFill>
                        </a:rPr>
                        <a:t>delete a node </a:t>
                      </a:r>
                      <a:r>
                        <a:rPr sz="1500" b="1" i="0">
                          <a:solidFill>
                            <a:srgbClr val="0E2841"/>
                          </a:solidFill>
                        </a:rPr>
                        <a:t>and</a:t>
                      </a:r>
                      <a:r>
                        <a:rPr sz="1500" b="0" i="0">
                          <a:solidFill>
                            <a:srgbClr val="0E2841"/>
                          </a:solidFill>
                        </a:rPr>
                        <a:t> its relationships</a:t>
                      </a:r>
                    </a:p>
                  </a:txBody>
                  <a:tcPr marL="73152" marR="73152" marT="36576" marB="36576" anchor="ctr">
                    <a:solidFill>
                      <a:srgbClr val="F2F5F9"/>
                    </a:solidFill>
                  </a:tcPr>
                </a:tc>
                <a:tc>
                  <a:txBody>
                    <a:bodyPr wrap="square"/>
                    <a:lstStyle/>
                    <a:p>
                      <a:r>
                        <a:rPr sz="1500" b="0" i="0">
                          <a:solidFill>
                            <a:srgbClr val="156082"/>
                          </a:solidFill>
                          <a:latin typeface="Courier New"/>
                        </a:rPr>
                        <a:t>DETACH DELETE n</a:t>
                      </a:r>
                    </a:p>
                  </a:txBody>
                  <a:tcPr marL="73152" marR="73152" marT="36576" marB="36576" anchor="ctr">
                    <a:solidFill>
                      <a:srgbClr val="F2F5F9"/>
                    </a:solidFill>
                  </a:tcPr>
                </a:tc>
              </a:tr>
            </a:tbl>
          </a:graphicData>
        </a:graphic>
      </p:graphicFrame>
      <p:sp>
        <p:nvSpPr>
          <p:cNvPr id="7" name="delete code bg"/>
          <p:cNvSpPr/>
          <p:nvPr/>
        </p:nvSpPr>
        <p:spPr>
          <a:xfrm>
            <a:off x="548640" y="4754880"/>
            <a:ext cx="6400800" cy="1508760"/>
          </a:xfrm>
          <a:prstGeom prst="roundRect">
            <a:avLst>
              <a:gd name="adj" fmla="val 3030"/>
            </a:avLst>
          </a:prstGeom>
          <a:solidFill>
            <a:srgbClr val="F4F6F8"/>
          </a:solidFill>
          <a:ln w="9525">
            <a:solidFill>
              <a:srgbClr val="C9D1D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delete code"/>
          <p:cNvSpPr txBox="1"/>
          <p:nvPr/>
        </p:nvSpPr>
        <p:spPr>
          <a:xfrm>
            <a:off x="640080" y="4818888"/>
            <a:ext cx="6217920" cy="1380743"/>
          </a:xfrm>
          <a:prstGeom prst="rect">
            <a:avLst/>
          </a:prstGeom>
          <a:noFill/>
        </p:spPr>
        <p:txBody>
          <a:bodyPr wrap="square" lIns="45720" rIns="45720" tIns="27432" bIns="27432" anchor="t">
            <a:spAutoFit/>
          </a:bodyPr>
          <a:lstStyle/>
          <a:p>
            <a:pPr algn="l">
              <a:spcAft>
                <a:spcPts val="0"/>
              </a:spcAft>
            </a:pPr>
            <a:r>
              <a:rPr sz="1200" b="0" i="0">
                <a:solidFill>
                  <a:srgbClr val="1F2937"/>
                </a:solidFill>
                <a:latin typeface="Courier New"/>
              </a:rPr>
              <a:t>MATCH (s:Student {uid: 'bob'}) DELETE s</a:t>
            </a:r>
          </a:p>
          <a:p>
            <a:pPr algn="l">
              <a:spcAft>
                <a:spcPts val="0"/>
              </a:spcAft>
            </a:pPr>
            <a:r>
              <a:rPr sz="1200" b="0" i="0">
                <a:solidFill>
                  <a:srgbClr val="1F2937"/>
                </a:solidFill>
                <a:latin typeface="Courier New"/>
              </a:rPr>
              <a:t>// ✗ Cannot delete node, because it still has relationships</a:t>
            </a:r>
          </a:p>
          <a:p>
            <a:pPr algn="l">
              <a:spcAft>
                <a:spcPts val="0"/>
              </a:spcAft>
            </a:pPr>
          </a:p>
          <a:p>
            <a:pPr algn="l">
              <a:spcAft>
                <a:spcPts val="0"/>
              </a:spcAft>
            </a:pPr>
            <a:r>
              <a:rPr sz="1200" b="0" i="0">
                <a:solidFill>
                  <a:srgbClr val="1F2937"/>
                </a:solidFill>
                <a:latin typeface="Courier New"/>
              </a:rPr>
              <a:t>MATCH (s:Student {uid: 'bob'}) DETACH DELETE s   // ✓</a:t>
            </a:r>
          </a:p>
        </p:txBody>
      </p:sp>
      <p:sp>
        <p:nvSpPr>
          <p:cNvPr id="9" name="safety bg"/>
          <p:cNvSpPr/>
          <p:nvPr/>
        </p:nvSpPr>
        <p:spPr>
          <a:xfrm>
            <a:off x="7132320" y="4754880"/>
            <a:ext cx="4480560" cy="1508760"/>
          </a:xfrm>
          <a:prstGeom prst="roundRect">
            <a:avLst>
              <a:gd name="adj" fmla="val 3636"/>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safety title"/>
          <p:cNvSpPr txBox="1"/>
          <p:nvPr/>
        </p:nvSpPr>
        <p:spPr>
          <a:xfrm>
            <a:off x="7242048" y="4828032"/>
            <a:ext cx="4261104" cy="411480"/>
          </a:xfrm>
          <a:prstGeom prst="rect">
            <a:avLst/>
          </a:prstGeom>
          <a:noFill/>
        </p:spPr>
        <p:txBody>
          <a:bodyPr wrap="square" lIns="45720" rIns="45720" tIns="27432" bIns="27432" anchor="t">
            <a:spAutoFit/>
          </a:bodyPr>
          <a:lstStyle/>
          <a:p>
            <a:pPr algn="l">
              <a:spcAft>
                <a:spcPts val="600"/>
              </a:spcAft>
            </a:pPr>
            <a:r>
              <a:rPr sz="1500" b="1" i="0">
                <a:solidFill>
                  <a:srgbClr val="D41348"/>
                </a:solidFill>
              </a:rPr>
              <a:t>Safety net</a:t>
            </a:r>
          </a:p>
        </p:txBody>
      </p:sp>
      <p:sp>
        <p:nvSpPr>
          <p:cNvPr id="11" name="safety body"/>
          <p:cNvSpPr txBox="1"/>
          <p:nvPr/>
        </p:nvSpPr>
        <p:spPr>
          <a:xfrm>
            <a:off x="7242048" y="5212080"/>
            <a:ext cx="4261104" cy="960119"/>
          </a:xfrm>
          <a:prstGeom prst="rect">
            <a:avLst/>
          </a:prstGeom>
          <a:noFill/>
        </p:spPr>
        <p:txBody>
          <a:bodyPr wrap="square" lIns="45720" rIns="45720" tIns="27432" bIns="27432" anchor="t">
            <a:spAutoFit/>
          </a:bodyPr>
          <a:lstStyle/>
          <a:p>
            <a:pPr algn="l">
              <a:spcAft>
                <a:spcPts val="400"/>
              </a:spcAft>
            </a:pPr>
            <a:r>
              <a:rPr sz="1300" b="0" i="0">
                <a:solidFill>
                  <a:srgbClr val="0E2841"/>
                </a:solidFill>
              </a:rPr>
              <a:t>Plain </a:t>
            </a:r>
            <a:r>
              <a:rPr sz="1300" b="0" i="0">
                <a:solidFill>
                  <a:srgbClr val="156082"/>
                </a:solidFill>
                <a:latin typeface="Courier New"/>
              </a:rPr>
              <a:t>DELETE</a:t>
            </a:r>
            <a:r>
              <a:rPr sz="1300" b="0" i="0">
                <a:solidFill>
                  <a:srgbClr val="0E2841"/>
                </a:solidFill>
              </a:rPr>
              <a:t> refuses to leave dangling relationships. </a:t>
            </a:r>
            <a:r>
              <a:rPr sz="1300" b="0" i="0">
                <a:solidFill>
                  <a:srgbClr val="156082"/>
                </a:solidFill>
                <a:latin typeface="Courier New"/>
              </a:rPr>
              <a:t>DETACH DELETE</a:t>
            </a:r>
            <a:r>
              <a:rPr sz="1300" b="0" i="0">
                <a:solidFill>
                  <a:srgbClr val="0E2841"/>
                </a:solidFill>
              </a:rPr>
              <a:t> is the explicit “yes, remove everything”.</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10B375B9-ABE8-83AF-3EC5-6B363C4F465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03201F3-309B-7C39-D33B-EE9A905D9968}"/>
              </a:ext>
            </a:extLst>
          </p:cNvPr>
          <p:cNvSpPr>
            <a:spLocks noGrp="1"/>
          </p:cNvSpPr>
          <p:nvPr>
            <p:ph type="title"/>
          </p:nvPr>
        </p:nvSpPr>
        <p:spPr>
          <a:xfrm>
            <a:off x="838199" y="365125"/>
            <a:ext cx="12431233" cy="1325563"/>
          </a:xfrm>
        </p:spPr>
        <p:txBody>
          <a:bodyPr>
            <a:normAutofit/>
          </a:bodyPr>
          <a:lstStyle/>
          <a:p>
            <a:r>
              <a:rPr lang="en-US" sz="4000" dirty="0"/>
              <a:t>Who can use graph? – Retail</a:t>
            </a:r>
          </a:p>
        </p:txBody>
      </p:sp>
      <p:sp>
        <p:nvSpPr>
          <p:cNvPr id="7" name="TextBox 6">
            <a:extLst>
              <a:ext uri="{FF2B5EF4-FFF2-40B4-BE49-F238E27FC236}">
                <a16:creationId xmlns:a16="http://schemas.microsoft.com/office/drawing/2014/main" id="{91BC419F-C9EE-4F90-70D9-9C61C01D8969}"/>
              </a:ext>
            </a:extLst>
          </p:cNvPr>
          <p:cNvSpPr txBox="1"/>
          <p:nvPr/>
        </p:nvSpPr>
        <p:spPr>
          <a:xfrm>
            <a:off x="3317358" y="3249650"/>
            <a:ext cx="6634716" cy="369332"/>
          </a:xfrm>
          <a:prstGeom prst="rect">
            <a:avLst/>
          </a:prstGeom>
          <a:noFill/>
        </p:spPr>
        <p:txBody>
          <a:bodyPr wrap="square">
            <a:spAutoFit/>
          </a:bodyPr>
          <a:lstStyle/>
          <a:p>
            <a:r>
              <a:rPr lang="en-US" b="0" dirty="0">
                <a:effectLst/>
              </a:rPr>
              <a:t> </a:t>
            </a:r>
            <a:endParaRPr lang="en-US" dirty="0"/>
          </a:p>
        </p:txBody>
      </p:sp>
      <p:sp>
        <p:nvSpPr>
          <p:cNvPr id="10" name="TextBox 9">
            <a:extLst>
              <a:ext uri="{FF2B5EF4-FFF2-40B4-BE49-F238E27FC236}">
                <a16:creationId xmlns:a16="http://schemas.microsoft.com/office/drawing/2014/main" id="{5F23BF0F-00AA-4367-DB8B-895FAA9FD6DF}"/>
              </a:ext>
            </a:extLst>
          </p:cNvPr>
          <p:cNvSpPr txBox="1"/>
          <p:nvPr/>
        </p:nvSpPr>
        <p:spPr>
          <a:xfrm>
            <a:off x="3317358" y="3249650"/>
            <a:ext cx="6634716" cy="369332"/>
          </a:xfrm>
          <a:prstGeom prst="rect">
            <a:avLst/>
          </a:prstGeom>
          <a:noFill/>
        </p:spPr>
        <p:txBody>
          <a:bodyPr wrap="square">
            <a:spAutoFit/>
          </a:bodyPr>
          <a:lstStyle/>
          <a:p>
            <a:r>
              <a:rPr lang="en-US" b="0" dirty="0">
                <a:effectLst/>
              </a:rPr>
              <a:t> </a:t>
            </a:r>
            <a:endParaRPr lang="en-US" dirty="0"/>
          </a:p>
        </p:txBody>
      </p:sp>
      <p:pic>
        <p:nvPicPr>
          <p:cNvPr id="3074" name="Picture 2">
            <a:extLst>
              <a:ext uri="{FF2B5EF4-FFF2-40B4-BE49-F238E27FC236}">
                <a16:creationId xmlns:a16="http://schemas.microsoft.com/office/drawing/2014/main" id="{301FA1FB-A2CB-DB6D-4170-927AD582F4A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354138"/>
            <a:ext cx="12192000" cy="41497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324095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5B21EA94-2EF5-0D79-90E9-2CB541CD527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76E1416-5ECA-05B3-6A65-75F2283A4676}"/>
              </a:ext>
            </a:extLst>
          </p:cNvPr>
          <p:cNvSpPr>
            <a:spLocks noGrp="1"/>
          </p:cNvSpPr>
          <p:nvPr>
            <p:ph type="title"/>
          </p:nvPr>
        </p:nvSpPr>
        <p:spPr>
          <a:xfrm>
            <a:off x="838199" y="365125"/>
            <a:ext cx="12431233" cy="1325563"/>
          </a:xfrm>
        </p:spPr>
        <p:txBody>
          <a:bodyPr>
            <a:normAutofit/>
          </a:bodyPr>
          <a:lstStyle/>
          <a:p>
            <a:r>
              <a:rPr lang="en-US" sz="4000" dirty="0"/>
              <a:t>Who can use graph? – Public Transportation</a:t>
            </a:r>
          </a:p>
        </p:txBody>
      </p:sp>
      <p:sp>
        <p:nvSpPr>
          <p:cNvPr id="7" name="TextBox 6">
            <a:extLst>
              <a:ext uri="{FF2B5EF4-FFF2-40B4-BE49-F238E27FC236}">
                <a16:creationId xmlns:a16="http://schemas.microsoft.com/office/drawing/2014/main" id="{7D6C2C5A-A42E-975B-C63F-F894F21E0E57}"/>
              </a:ext>
            </a:extLst>
          </p:cNvPr>
          <p:cNvSpPr txBox="1"/>
          <p:nvPr/>
        </p:nvSpPr>
        <p:spPr>
          <a:xfrm>
            <a:off x="3317358" y="3249650"/>
            <a:ext cx="6634716" cy="369332"/>
          </a:xfrm>
          <a:prstGeom prst="rect">
            <a:avLst/>
          </a:prstGeom>
          <a:noFill/>
        </p:spPr>
        <p:txBody>
          <a:bodyPr wrap="square">
            <a:spAutoFit/>
          </a:bodyPr>
          <a:lstStyle/>
          <a:p>
            <a:r>
              <a:rPr lang="en-US" b="0" dirty="0">
                <a:effectLst/>
              </a:rPr>
              <a:t> </a:t>
            </a:r>
            <a:endParaRPr lang="en-US" dirty="0"/>
          </a:p>
        </p:txBody>
      </p:sp>
      <p:sp>
        <p:nvSpPr>
          <p:cNvPr id="10" name="TextBox 9">
            <a:extLst>
              <a:ext uri="{FF2B5EF4-FFF2-40B4-BE49-F238E27FC236}">
                <a16:creationId xmlns:a16="http://schemas.microsoft.com/office/drawing/2014/main" id="{F3450D28-64FE-CAD2-CE35-32D11F54683C}"/>
              </a:ext>
            </a:extLst>
          </p:cNvPr>
          <p:cNvSpPr txBox="1"/>
          <p:nvPr/>
        </p:nvSpPr>
        <p:spPr>
          <a:xfrm>
            <a:off x="3317358" y="3249650"/>
            <a:ext cx="6634716" cy="369332"/>
          </a:xfrm>
          <a:prstGeom prst="rect">
            <a:avLst/>
          </a:prstGeom>
          <a:noFill/>
        </p:spPr>
        <p:txBody>
          <a:bodyPr wrap="square">
            <a:spAutoFit/>
          </a:bodyPr>
          <a:lstStyle/>
          <a:p>
            <a:r>
              <a:rPr lang="en-US" b="0" dirty="0">
                <a:effectLst/>
              </a:rPr>
              <a:t> </a:t>
            </a:r>
            <a:endParaRPr lang="en-US" dirty="0"/>
          </a:p>
        </p:txBody>
      </p:sp>
      <p:pic>
        <p:nvPicPr>
          <p:cNvPr id="5122" name="Picture 2">
            <a:extLst>
              <a:ext uri="{FF2B5EF4-FFF2-40B4-BE49-F238E27FC236}">
                <a16:creationId xmlns:a16="http://schemas.microsoft.com/office/drawing/2014/main" id="{11E57C8F-11F1-0EC6-9FC9-92E5286D6AF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84645" y="1391191"/>
            <a:ext cx="9222710" cy="546680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3718961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5B8738A3-1F9E-235D-4E96-4112D2885CE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29C7FB5-D872-96A2-D66A-A2FBBF55B3DE}"/>
              </a:ext>
            </a:extLst>
          </p:cNvPr>
          <p:cNvSpPr>
            <a:spLocks noGrp="1"/>
          </p:cNvSpPr>
          <p:nvPr>
            <p:ph type="title"/>
          </p:nvPr>
        </p:nvSpPr>
        <p:spPr>
          <a:xfrm>
            <a:off x="838199" y="365125"/>
            <a:ext cx="12431233" cy="1325563"/>
          </a:xfrm>
        </p:spPr>
        <p:txBody>
          <a:bodyPr>
            <a:normAutofit/>
          </a:bodyPr>
          <a:lstStyle/>
          <a:p>
            <a:r>
              <a:rPr lang="en-US" sz="4000" dirty="0"/>
              <a:t>Who can use graph? – Engineer</a:t>
            </a:r>
          </a:p>
        </p:txBody>
      </p:sp>
      <p:sp>
        <p:nvSpPr>
          <p:cNvPr id="7" name="TextBox 6">
            <a:extLst>
              <a:ext uri="{FF2B5EF4-FFF2-40B4-BE49-F238E27FC236}">
                <a16:creationId xmlns:a16="http://schemas.microsoft.com/office/drawing/2014/main" id="{F86D1FF8-A880-8219-282F-49650D8371DD}"/>
              </a:ext>
            </a:extLst>
          </p:cNvPr>
          <p:cNvSpPr txBox="1"/>
          <p:nvPr/>
        </p:nvSpPr>
        <p:spPr>
          <a:xfrm>
            <a:off x="3317358" y="3249650"/>
            <a:ext cx="6634716" cy="369332"/>
          </a:xfrm>
          <a:prstGeom prst="rect">
            <a:avLst/>
          </a:prstGeom>
          <a:noFill/>
        </p:spPr>
        <p:txBody>
          <a:bodyPr wrap="square">
            <a:spAutoFit/>
          </a:bodyPr>
          <a:lstStyle/>
          <a:p>
            <a:r>
              <a:rPr lang="en-US" b="0" dirty="0">
                <a:effectLst/>
              </a:rPr>
              <a:t> </a:t>
            </a:r>
            <a:endParaRPr lang="en-US" dirty="0"/>
          </a:p>
        </p:txBody>
      </p:sp>
      <p:sp>
        <p:nvSpPr>
          <p:cNvPr id="10" name="TextBox 9">
            <a:extLst>
              <a:ext uri="{FF2B5EF4-FFF2-40B4-BE49-F238E27FC236}">
                <a16:creationId xmlns:a16="http://schemas.microsoft.com/office/drawing/2014/main" id="{55CEA708-4519-DFD5-DEAE-0E42477CC2CC}"/>
              </a:ext>
            </a:extLst>
          </p:cNvPr>
          <p:cNvSpPr txBox="1"/>
          <p:nvPr/>
        </p:nvSpPr>
        <p:spPr>
          <a:xfrm>
            <a:off x="3317358" y="3249650"/>
            <a:ext cx="6634716" cy="369332"/>
          </a:xfrm>
          <a:prstGeom prst="rect">
            <a:avLst/>
          </a:prstGeom>
          <a:noFill/>
        </p:spPr>
        <p:txBody>
          <a:bodyPr wrap="square">
            <a:spAutoFit/>
          </a:bodyPr>
          <a:lstStyle/>
          <a:p>
            <a:r>
              <a:rPr lang="en-US" b="0" dirty="0">
                <a:effectLst/>
              </a:rPr>
              <a:t> </a:t>
            </a:r>
            <a:endParaRPr lang="en-US" dirty="0"/>
          </a:p>
        </p:txBody>
      </p:sp>
      <p:pic>
        <p:nvPicPr>
          <p:cNvPr id="4" name="Picture 3" descr="A diagram of a computer network&#10;&#10;AI-generated content may be incorrect.">
            <a:extLst>
              <a:ext uri="{FF2B5EF4-FFF2-40B4-BE49-F238E27FC236}">
                <a16:creationId xmlns:a16="http://schemas.microsoft.com/office/drawing/2014/main" id="{6EE44C20-292F-460A-F068-4E23EE28BB55}"/>
              </a:ext>
            </a:extLst>
          </p:cNvPr>
          <p:cNvPicPr>
            <a:picLocks noChangeAspect="1"/>
          </p:cNvPicPr>
          <p:nvPr/>
        </p:nvPicPr>
        <p:blipFill>
          <a:blip r:embed="rId2"/>
          <a:stretch>
            <a:fillRect/>
          </a:stretch>
        </p:blipFill>
        <p:spPr>
          <a:xfrm>
            <a:off x="1285358" y="1690687"/>
            <a:ext cx="8967480" cy="4802187"/>
          </a:xfrm>
          <a:prstGeom prst="rect">
            <a:avLst/>
          </a:prstGeom>
        </p:spPr>
      </p:pic>
    </p:spTree>
    <p:extLst>
      <p:ext uri="{BB962C8B-B14F-4D97-AF65-F5344CB8AC3E}">
        <p14:creationId xmlns:p14="http://schemas.microsoft.com/office/powerpoint/2010/main" val="328069230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68248D-DCF5-3FF6-193C-71B6556F8E47}"/>
              </a:ext>
            </a:extLst>
          </p:cNvPr>
          <p:cNvSpPr>
            <a:spLocks noGrp="1"/>
          </p:cNvSpPr>
          <p:nvPr>
            <p:ph type="title"/>
          </p:nvPr>
        </p:nvSpPr>
        <p:spPr>
          <a:xfrm>
            <a:off x="838199" y="365125"/>
            <a:ext cx="12431233" cy="1325563"/>
          </a:xfrm>
        </p:spPr>
        <p:txBody>
          <a:bodyPr>
            <a:normAutofit/>
          </a:bodyPr>
          <a:lstStyle/>
          <a:p>
            <a:r>
              <a:rPr lang="en-US" sz="4000" dirty="0"/>
              <a:t>Where can graph be used? -- </a:t>
            </a:r>
            <a:r>
              <a:rPr lang="en-US" sz="4000" dirty="0" err="1"/>
              <a:t>BioScience</a:t>
            </a:r>
            <a:endParaRPr lang="en-US" sz="4000" dirty="0"/>
          </a:p>
        </p:txBody>
      </p:sp>
      <p:sp>
        <p:nvSpPr>
          <p:cNvPr id="7" name="TextBox 6">
            <a:extLst>
              <a:ext uri="{FF2B5EF4-FFF2-40B4-BE49-F238E27FC236}">
                <a16:creationId xmlns:a16="http://schemas.microsoft.com/office/drawing/2014/main" id="{DE2730DF-A654-430B-B93E-E1200C023D4F}"/>
              </a:ext>
            </a:extLst>
          </p:cNvPr>
          <p:cNvSpPr txBox="1"/>
          <p:nvPr/>
        </p:nvSpPr>
        <p:spPr>
          <a:xfrm>
            <a:off x="3317358" y="3249650"/>
            <a:ext cx="6634716" cy="369332"/>
          </a:xfrm>
          <a:prstGeom prst="rect">
            <a:avLst/>
          </a:prstGeom>
          <a:noFill/>
        </p:spPr>
        <p:txBody>
          <a:bodyPr wrap="square">
            <a:spAutoFit/>
          </a:bodyPr>
          <a:lstStyle/>
          <a:p>
            <a:r>
              <a:rPr lang="en-US" b="0" dirty="0">
                <a:effectLst/>
              </a:rPr>
              <a:t> </a:t>
            </a:r>
            <a:endParaRPr lang="en-US" dirty="0"/>
          </a:p>
        </p:txBody>
      </p:sp>
      <p:sp>
        <p:nvSpPr>
          <p:cNvPr id="10" name="TextBox 9">
            <a:extLst>
              <a:ext uri="{FF2B5EF4-FFF2-40B4-BE49-F238E27FC236}">
                <a16:creationId xmlns:a16="http://schemas.microsoft.com/office/drawing/2014/main" id="{CFA2C989-78F2-0B3C-E4EA-83F4C495AEFE}"/>
              </a:ext>
            </a:extLst>
          </p:cNvPr>
          <p:cNvSpPr txBox="1"/>
          <p:nvPr/>
        </p:nvSpPr>
        <p:spPr>
          <a:xfrm>
            <a:off x="3317358" y="3249650"/>
            <a:ext cx="6634716" cy="369332"/>
          </a:xfrm>
          <a:prstGeom prst="rect">
            <a:avLst/>
          </a:prstGeom>
          <a:noFill/>
        </p:spPr>
        <p:txBody>
          <a:bodyPr wrap="square">
            <a:spAutoFit/>
          </a:bodyPr>
          <a:lstStyle/>
          <a:p>
            <a:r>
              <a:rPr lang="en-US" b="0" dirty="0">
                <a:effectLst/>
              </a:rPr>
              <a:t> </a:t>
            </a:r>
            <a:endParaRPr lang="en-US" dirty="0"/>
          </a:p>
        </p:txBody>
      </p:sp>
      <p:pic>
        <p:nvPicPr>
          <p:cNvPr id="11" name="Picture 2" descr="Watch Daniel Himmelstein's presentation on the heterogeneous biomedical network Hetionet">
            <a:extLst>
              <a:ext uri="{FF2B5EF4-FFF2-40B4-BE49-F238E27FC236}">
                <a16:creationId xmlns:a16="http://schemas.microsoft.com/office/drawing/2014/main" id="{17829058-CF46-DA83-BDC2-ADC96A27324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0813" y="1690688"/>
            <a:ext cx="5946858" cy="4345781"/>
          </a:xfrm>
          <a:prstGeom prst="rect">
            <a:avLst/>
          </a:prstGeom>
          <a:noFill/>
          <a:extLst>
            <a:ext uri="{909E8E84-426E-40DD-AFC4-6F175D3DCCD1}">
              <a14:hiddenFill xmlns:a14="http://schemas.microsoft.com/office/drawing/2010/main">
                <a:solidFill>
                  <a:srgbClr val="FFFFFF"/>
                </a:solidFill>
              </a14:hiddenFill>
            </a:ext>
          </a:extLst>
        </p:spPr>
      </p:pic>
      <p:pic>
        <p:nvPicPr>
          <p:cNvPr id="12" name="Content Placeholder 13" descr="A diagram of lung cancer&#10;&#10;AI-generated content may be incorrect.">
            <a:extLst>
              <a:ext uri="{FF2B5EF4-FFF2-40B4-BE49-F238E27FC236}">
                <a16:creationId xmlns:a16="http://schemas.microsoft.com/office/drawing/2014/main" id="{8AB49373-6E0F-71C6-4EA5-BE0B95FEB7DD}"/>
              </a:ext>
            </a:extLst>
          </p:cNvPr>
          <p:cNvPicPr>
            <a:picLocks noChangeAspect="1"/>
          </p:cNvPicPr>
          <p:nvPr/>
        </p:nvPicPr>
        <p:blipFill>
          <a:blip r:embed="rId3"/>
          <a:stretch>
            <a:fillRect/>
          </a:stretch>
        </p:blipFill>
        <p:spPr>
          <a:xfrm>
            <a:off x="6634716" y="1836926"/>
            <a:ext cx="4527278" cy="4053303"/>
          </a:xfrm>
          <a:prstGeom prst="rect">
            <a:avLst/>
          </a:prstGeom>
        </p:spPr>
      </p:pic>
    </p:spTree>
    <p:extLst>
      <p:ext uri="{BB962C8B-B14F-4D97-AF65-F5344CB8AC3E}">
        <p14:creationId xmlns:p14="http://schemas.microsoft.com/office/powerpoint/2010/main" val="454728193"/>
      </p:ext>
    </p:extLst>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74320"/>
            <a:ext cx="9509760" cy="777240"/>
          </a:xfrm>
        </p:spPr>
        <p:txBody>
          <a:bodyPr wrap="square" anchor="ctr"/>
          <a:lstStyle/>
          <a:p>
            <a:pPr algn="l"/>
            <a:r>
              <a:rPr sz="3000" b="1" i="0">
                <a:solidFill>
                  <a:srgbClr val="0E2841"/>
                </a:solidFill>
              </a:rPr>
              <a:t>From classmates to genomes</a:t>
            </a:r>
          </a:p>
        </p:txBody>
      </p:sp>
      <p:sp>
        <p:nvSpPr>
          <p:cNvPr id="3" name="footer"/>
          <p:cNvSpPr txBox="1"/>
          <p:nvPr/>
        </p:nvSpPr>
        <p:spPr>
          <a:xfrm>
            <a:off x="548640" y="6455664"/>
            <a:ext cx="8686800" cy="274320"/>
          </a:xfrm>
          <a:prstGeom prst="rect">
            <a:avLst/>
          </a:prstGeom>
          <a:noFill/>
        </p:spPr>
        <p:txBody>
          <a:bodyPr wrap="square" lIns="45720" rIns="45720" tIns="27432" bIns="27432" anchor="t">
            <a:spAutoFit/>
          </a:bodyPr>
          <a:lstStyle/>
          <a:p>
            <a:pPr algn="l">
              <a:spcAft>
                <a:spcPts val="600"/>
              </a:spcAft>
            </a:pPr>
            <a:r>
              <a:rPr sz="1000" b="0" i="0">
                <a:solidFill>
                  <a:srgbClr val="595959"/>
                </a:solidFill>
              </a:rPr>
              <a:t>NoSQL Databases for Bioinformatics  ·  Lecture 26  ·  Graph database basics</a:t>
            </a:r>
          </a:p>
        </p:txBody>
      </p:sp>
      <p:sp>
        <p:nvSpPr>
          <p:cNvPr id="4" name="slide number"/>
          <p:cNvSpPr txBox="1"/>
          <p:nvPr/>
        </p:nvSpPr>
        <p:spPr>
          <a:xfrm>
            <a:off x="10698480" y="6455664"/>
            <a:ext cx="914400" cy="274320"/>
          </a:xfrm>
          <a:prstGeom prst="rect">
            <a:avLst/>
          </a:prstGeom>
          <a:noFill/>
        </p:spPr>
        <p:txBody>
          <a:bodyPr wrap="square" lIns="45720" rIns="45720" tIns="27432" bIns="27432" anchor="t">
            <a:spAutoFit/>
          </a:bodyPr>
          <a:lstStyle/>
          <a:p>
            <a:pPr algn="r">
              <a:spcAft>
                <a:spcPts val="600"/>
              </a:spcAft>
            </a:pPr>
            <a:fld id="{B6F15528-21DE-4FAA-801E-634DDDAF4B2B}" type="slidenum">
              <a:rPr lang="en-US" sz="1000">
                <a:solidFill>
                  <a:srgbClr val="595959"/>
                </a:solidFill>
              </a:rPr>
              <a:t>‹#›</a:t>
            </a:fld>
          </a:p>
        </p:txBody>
      </p:sp>
      <p:sp>
        <p:nvSpPr>
          <p:cNvPr id="5" name="step tag"/>
          <p:cNvSpPr/>
          <p:nvPr/>
        </p:nvSpPr>
        <p:spPr>
          <a:xfrm>
            <a:off x="10195560" y="411480"/>
            <a:ext cx="1417320" cy="329184"/>
          </a:xfrm>
          <a:prstGeom prst="roundRect">
            <a:avLst>
              <a:gd name="adj" fmla="val 50000"/>
            </a:avLst>
          </a:prstGeom>
          <a:solidFill>
            <a:srgbClr val="D4134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i="0">
                <a:solidFill>
                  <a:srgbClr val="FFFFFF"/>
                </a:solidFill>
              </a:rPr>
              <a:t>BRIDGE</a:t>
            </a:r>
          </a:p>
        </p:txBody>
      </p:sp>
      <p:graphicFrame>
        <p:nvGraphicFramePr>
          <p:cNvPr id="6" name="bridge table"/>
          <p:cNvGraphicFramePr>
            <a:graphicFrameLocks noGrp="1"/>
          </p:cNvGraphicFramePr>
          <p:nvPr/>
        </p:nvGraphicFramePr>
        <p:xfrm>
          <a:off x="548640" y="1325880"/>
          <a:ext cx="11064240" cy="2304288"/>
        </p:xfrm>
        <a:graphic>
          <a:graphicData uri="http://schemas.openxmlformats.org/drawingml/2006/table">
            <a:tbl>
              <a:tblPr firstRow="0" bandRow="0">
                <a:tableStyleId>{5C22544A-7EE6-4342-B048-85BDC9FD1C3A}</a:tableStyleId>
              </a:tblPr>
              <a:tblGrid>
                <a:gridCol w="4389120"/>
                <a:gridCol w="6675120"/>
              </a:tblGrid>
              <a:tr h="384048">
                <a:tc>
                  <a:txBody>
                    <a:bodyPr wrap="square"/>
                    <a:lstStyle/>
                    <a:p>
                      <a:r>
                        <a:rPr sz="1400" b="1" i="0">
                          <a:solidFill>
                            <a:srgbClr val="FFFFFF"/>
                          </a:solidFill>
                        </a:rPr>
                        <a:t>Course graph</a:t>
                      </a:r>
                    </a:p>
                  </a:txBody>
                  <a:tcPr marL="73152" marR="73152" marT="36576" marB="36576" anchor="ctr">
                    <a:solidFill>
                      <a:srgbClr val="0E2841"/>
                    </a:solidFill>
                  </a:tcPr>
                </a:tc>
                <a:tc>
                  <a:txBody>
                    <a:bodyPr wrap="square"/>
                    <a:lstStyle/>
                    <a:p>
                      <a:r>
                        <a:rPr sz="1400" b="1" i="0">
                          <a:solidFill>
                            <a:srgbClr val="FFFFFF"/>
                          </a:solidFill>
                        </a:rPr>
                        <a:t>Genome graph (Lecture 27)</a:t>
                      </a:r>
                    </a:p>
                  </a:txBody>
                  <a:tcPr marL="73152" marR="73152" marT="36576" marB="36576" anchor="ctr">
                    <a:solidFill>
                      <a:srgbClr val="0E2841"/>
                    </a:solidFill>
                  </a:tcPr>
                </a:tc>
              </a:tr>
              <a:tr h="384048">
                <a:tc>
                  <a:txBody>
                    <a:bodyPr wrap="square"/>
                    <a:lstStyle/>
                    <a:p>
                      <a:r>
                        <a:rPr sz="1400" b="0" i="0">
                          <a:solidFill>
                            <a:srgbClr val="156082"/>
                          </a:solidFill>
                          <a:latin typeface="Courier New"/>
                        </a:rPr>
                        <a:t>(:Student)</a:t>
                      </a:r>
                    </a:p>
                  </a:txBody>
                  <a:tcPr marL="73152" marR="73152" marT="36576" marB="36576" anchor="ctr">
                    <a:solidFill>
                      <a:srgbClr val="FFFFFF"/>
                    </a:solidFill>
                  </a:tcPr>
                </a:tc>
                <a:tc>
                  <a:txBody>
                    <a:bodyPr wrap="square"/>
                    <a:lstStyle/>
                    <a:p>
                      <a:r>
                        <a:rPr sz="1400" b="0" i="0">
                          <a:solidFill>
                            <a:srgbClr val="156082"/>
                          </a:solidFill>
                          <a:latin typeface="Courier New"/>
                        </a:rPr>
                        <a:t>(:Genome)</a:t>
                      </a:r>
                    </a:p>
                  </a:txBody>
                  <a:tcPr marL="73152" marR="73152" marT="36576" marB="36576" anchor="ctr">
                    <a:solidFill>
                      <a:srgbClr val="FFFFFF"/>
                    </a:solidFill>
                  </a:tcPr>
                </a:tc>
              </a:tr>
              <a:tr h="384048">
                <a:tc>
                  <a:txBody>
                    <a:bodyPr wrap="square"/>
                    <a:lstStyle/>
                    <a:p>
                      <a:r>
                        <a:rPr sz="1400" b="0" i="0">
                          <a:solidFill>
                            <a:srgbClr val="156082"/>
                          </a:solidFill>
                          <a:latin typeface="Courier New"/>
                        </a:rPr>
                        <a:t>(:Lecture)</a:t>
                      </a:r>
                    </a:p>
                  </a:txBody>
                  <a:tcPr marL="73152" marR="73152" marT="36576" marB="36576" anchor="ctr">
                    <a:solidFill>
                      <a:srgbClr val="F2F5F9"/>
                    </a:solidFill>
                  </a:tcPr>
                </a:tc>
                <a:tc>
                  <a:txBody>
                    <a:bodyPr wrap="square"/>
                    <a:lstStyle/>
                    <a:p>
                      <a:r>
                        <a:rPr sz="1400" b="0" i="0">
                          <a:solidFill>
                            <a:srgbClr val="156082"/>
                          </a:solidFill>
                          <a:latin typeface="Courier New"/>
                        </a:rPr>
                        <a:t>(:KO)</a:t>
                      </a:r>
                      <a:r>
                        <a:rPr sz="1400" b="0" i="0">
                          <a:solidFill>
                            <a:srgbClr val="0E2841"/>
                          </a:solidFill>
                        </a:rPr>
                        <a:t>: a gene </a:t>
                      </a:r>
                      <a:r>
                        <a:rPr sz="1400" b="1" i="0">
                          <a:solidFill>
                            <a:srgbClr val="0E2841"/>
                          </a:solidFill>
                        </a:rPr>
                        <a:t>function</a:t>
                      </a:r>
                      <a:r>
                        <a:rPr sz="1400" b="0" i="0">
                          <a:solidFill>
                            <a:srgbClr val="0E2841"/>
                          </a:solidFill>
                        </a:rPr>
                        <a:t> (e.g. </a:t>
                      </a:r>
                      <a:r>
                        <a:rPr sz="1400" b="0" i="0">
                          <a:solidFill>
                            <a:srgbClr val="156082"/>
                          </a:solidFill>
                          <a:latin typeface="Courier New"/>
                        </a:rPr>
                        <a:t>K04077</a:t>
                      </a:r>
                      <a:r>
                        <a:rPr sz="1400" b="0" i="0">
                          <a:solidFill>
                            <a:srgbClr val="0E2841"/>
                          </a:solidFill>
                        </a:rPr>
                        <a:t> = chaperonin GroEL)</a:t>
                      </a:r>
                    </a:p>
                  </a:txBody>
                  <a:tcPr marL="73152" marR="73152" marT="36576" marB="36576" anchor="ctr">
                    <a:solidFill>
                      <a:srgbClr val="F2F5F9"/>
                    </a:solidFill>
                  </a:tcPr>
                </a:tc>
              </a:tr>
              <a:tr h="384048">
                <a:tc>
                  <a:txBody>
                    <a:bodyPr wrap="square"/>
                    <a:lstStyle/>
                    <a:p>
                      <a:r>
                        <a:rPr sz="1400" b="0" i="0">
                          <a:solidFill>
                            <a:srgbClr val="156082"/>
                          </a:solidFill>
                          <a:latin typeface="Courier New"/>
                        </a:rPr>
                        <a:t>-[:ATTENDS]-&gt;</a:t>
                      </a:r>
                    </a:p>
                  </a:txBody>
                  <a:tcPr marL="73152" marR="73152" marT="36576" marB="36576" anchor="ctr">
                    <a:solidFill>
                      <a:srgbClr val="FFFFFF"/>
                    </a:solidFill>
                  </a:tcPr>
                </a:tc>
                <a:tc>
                  <a:txBody>
                    <a:bodyPr wrap="square"/>
                    <a:lstStyle/>
                    <a:p>
                      <a:r>
                        <a:rPr sz="1400" b="0" i="0">
                          <a:solidFill>
                            <a:srgbClr val="156082"/>
                          </a:solidFill>
                          <a:latin typeface="Courier New"/>
                        </a:rPr>
                        <a:t>-[:CONTAINS_KO]-&gt;</a:t>
                      </a:r>
                    </a:p>
                  </a:txBody>
                  <a:tcPr marL="73152" marR="73152" marT="36576" marB="36576" anchor="ctr">
                    <a:solidFill>
                      <a:srgbClr val="FFFFFF"/>
                    </a:solidFill>
                  </a:tcPr>
                </a:tc>
              </a:tr>
              <a:tr h="384048">
                <a:tc>
                  <a:txBody>
                    <a:bodyPr wrap="square"/>
                    <a:lstStyle/>
                    <a:p>
                      <a:r>
                        <a:rPr sz="1400" b="0" i="1">
                          <a:solidFill>
                            <a:srgbClr val="0E2841"/>
                          </a:solidFill>
                        </a:rPr>
                        <a:t>classmates</a:t>
                      </a:r>
                      <a:r>
                        <a:rPr sz="1400" b="0" i="0">
                          <a:solidFill>
                            <a:srgbClr val="0E2841"/>
                          </a:solidFill>
                        </a:rPr>
                        <a:t>: students who share lectures</a:t>
                      </a:r>
                    </a:p>
                  </a:txBody>
                  <a:tcPr marL="73152" marR="73152" marT="36576" marB="36576" anchor="ctr">
                    <a:solidFill>
                      <a:srgbClr val="F2F5F9"/>
                    </a:solidFill>
                  </a:tcPr>
                </a:tc>
                <a:tc>
                  <a:txBody>
                    <a:bodyPr wrap="square"/>
                    <a:lstStyle/>
                    <a:p>
                      <a:r>
                        <a:rPr sz="1400" b="1" i="0">
                          <a:solidFill>
                            <a:srgbClr val="0E2841"/>
                          </a:solidFill>
                        </a:rPr>
                        <a:t>similar genomes</a:t>
                      </a:r>
                      <a:r>
                        <a:rPr sz="1400" b="0" i="0">
                          <a:solidFill>
                            <a:srgbClr val="0E2841"/>
                          </a:solidFill>
                        </a:rPr>
                        <a:t>: genomes that share KOs</a:t>
                      </a:r>
                    </a:p>
                  </a:txBody>
                  <a:tcPr marL="73152" marR="73152" marT="36576" marB="36576" anchor="ctr">
                    <a:solidFill>
                      <a:srgbClr val="F2F5F9"/>
                    </a:solidFill>
                  </a:tcPr>
                </a:tc>
              </a:tr>
              <a:tr h="384048">
                <a:tc>
                  <a:txBody>
                    <a:bodyPr wrap="square"/>
                    <a:lstStyle/>
                    <a:p>
                      <a:r>
                        <a:rPr sz="1400" b="0" i="0">
                          <a:solidFill>
                            <a:srgbClr val="0E2841"/>
                          </a:solidFill>
                        </a:rPr>
                        <a:t>a lecture belongs to a series</a:t>
                      </a:r>
                    </a:p>
                  </a:txBody>
                  <a:tcPr marL="73152" marR="73152" marT="36576" marB="36576" anchor="ctr">
                    <a:solidFill>
                      <a:srgbClr val="FFFFFF"/>
                    </a:solidFill>
                  </a:tcPr>
                </a:tc>
                <a:tc>
                  <a:txBody>
                    <a:bodyPr wrap="square"/>
                    <a:lstStyle/>
                    <a:p>
                      <a:r>
                        <a:rPr sz="1400" b="0" i="0">
                          <a:solidFill>
                            <a:srgbClr val="0E2841"/>
                          </a:solidFill>
                        </a:rPr>
                        <a:t>a taxon is a child of a taxon: </a:t>
                      </a:r>
                      <a:r>
                        <a:rPr sz="1400" b="1" i="0">
                          <a:solidFill>
                            <a:srgbClr val="0E2841"/>
                          </a:solidFill>
                        </a:rPr>
                        <a:t>the tree of life</a:t>
                      </a:r>
                    </a:p>
                  </a:txBody>
                  <a:tcPr marL="73152" marR="73152" marT="36576" marB="36576" anchor="ctr">
                    <a:solidFill>
                      <a:srgbClr val="FFFFFF"/>
                    </a:solidFill>
                  </a:tcPr>
                </a:tc>
              </a:tr>
            </a:tbl>
          </a:graphicData>
        </a:graphic>
      </p:graphicFrame>
      <p:sp>
        <p:nvSpPr>
          <p:cNvPr id="7" name="node E. coli"/>
          <p:cNvSpPr/>
          <p:nvPr/>
        </p:nvSpPr>
        <p:spPr>
          <a:xfrm>
            <a:off x="777240" y="4663440"/>
            <a:ext cx="1371600" cy="548640"/>
          </a:xfrm>
          <a:prstGeom prst="ellipse">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500" b="1" i="0">
                <a:solidFill>
                  <a:srgbClr val="FFFFFF"/>
                </a:solidFill>
              </a:rPr>
              <a:t>E. coli</a:t>
            </a:r>
          </a:p>
        </p:txBody>
      </p:sp>
      <p:sp>
        <p:nvSpPr>
          <p:cNvPr id="8" name="node B. subtilis"/>
          <p:cNvSpPr/>
          <p:nvPr/>
        </p:nvSpPr>
        <p:spPr>
          <a:xfrm>
            <a:off x="777240" y="5486400"/>
            <a:ext cx="1371600" cy="548640"/>
          </a:xfrm>
          <a:prstGeom prst="ellipse">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500" b="1" i="0">
                <a:solidFill>
                  <a:srgbClr val="FFFFFF"/>
                </a:solidFill>
              </a:rPr>
              <a:t>B. subtilis</a:t>
            </a:r>
          </a:p>
        </p:txBody>
      </p:sp>
      <p:sp>
        <p:nvSpPr>
          <p:cNvPr id="9" name="node Synechocystis"/>
          <p:cNvSpPr/>
          <p:nvPr/>
        </p:nvSpPr>
        <p:spPr>
          <a:xfrm>
            <a:off x="777240" y="3840480"/>
            <a:ext cx="1371600" cy="548640"/>
          </a:xfrm>
          <a:prstGeom prst="ellipse">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300" b="1" i="0">
                <a:solidFill>
                  <a:srgbClr val="FFFFFF"/>
                </a:solidFill>
              </a:rPr>
              <a:t>Synechocystis</a:t>
            </a:r>
          </a:p>
        </p:txBody>
      </p:sp>
      <p:sp>
        <p:nvSpPr>
          <p:cNvPr id="10" name="node groEL"/>
          <p:cNvSpPr/>
          <p:nvPr/>
        </p:nvSpPr>
        <p:spPr>
          <a:xfrm>
            <a:off x="3566160" y="4686300"/>
            <a:ext cx="1645920" cy="502920"/>
          </a:xfrm>
          <a:prstGeom prst="roundRect">
            <a:avLst>
              <a:gd name="adj" fmla="val 21818"/>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500" b="1" i="0">
                <a:solidFill>
                  <a:srgbClr val="FFFFFF"/>
                </a:solidFill>
              </a:rPr>
              <a:t>groEL</a:t>
            </a:r>
          </a:p>
        </p:txBody>
      </p:sp>
      <p:sp>
        <p:nvSpPr>
          <p:cNvPr id="11" name="node fliC"/>
          <p:cNvSpPr/>
          <p:nvPr/>
        </p:nvSpPr>
        <p:spPr>
          <a:xfrm>
            <a:off x="3566160" y="5509259"/>
            <a:ext cx="1645920" cy="502920"/>
          </a:xfrm>
          <a:prstGeom prst="roundRect">
            <a:avLst>
              <a:gd name="adj" fmla="val 21818"/>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500" b="1" i="0">
                <a:solidFill>
                  <a:srgbClr val="FFFFFF"/>
                </a:solidFill>
              </a:rPr>
              <a:t>fliC</a:t>
            </a:r>
          </a:p>
        </p:txBody>
      </p:sp>
      <p:sp>
        <p:nvSpPr>
          <p:cNvPr id="12" name="node psbA"/>
          <p:cNvSpPr/>
          <p:nvPr/>
        </p:nvSpPr>
        <p:spPr>
          <a:xfrm>
            <a:off x="3566160" y="3863339"/>
            <a:ext cx="1645920" cy="502920"/>
          </a:xfrm>
          <a:prstGeom prst="roundRect">
            <a:avLst>
              <a:gd name="adj" fmla="val 21818"/>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500" b="1" i="0">
                <a:solidFill>
                  <a:srgbClr val="FFFFFF"/>
                </a:solidFill>
              </a:rPr>
              <a:t>psbA</a:t>
            </a:r>
          </a:p>
        </p:txBody>
      </p:sp>
      <p:cxnSp>
        <p:nvCxnSpPr>
          <p:cNvPr id="13" name="edge"/>
          <p:cNvCxnSpPr/>
          <p:nvPr/>
        </p:nvCxnSpPr>
        <p:spPr>
          <a:xfrm>
            <a:off x="2148840" y="4937760"/>
            <a:ext cx="1417319" cy="0"/>
          </a:xfrm>
          <a:prstGeom prst="line">
            <a:avLst/>
          </a:prstGeom>
          <a:ln w="19050">
            <a:solidFill>
              <a:srgbClr val="595959"/>
            </a:solidFill>
            <a:tailEnd type="triangle"/>
          </a:ln>
        </p:spPr>
        <p:style>
          <a:lnRef idx="2">
            <a:schemeClr val="accent1"/>
          </a:lnRef>
          <a:fillRef idx="0">
            <a:schemeClr val="accent1"/>
          </a:fillRef>
          <a:effectRef idx="1">
            <a:schemeClr val="accent1"/>
          </a:effectRef>
          <a:fontRef idx="minor">
            <a:schemeClr val="tx1"/>
          </a:fontRef>
        </p:style>
      </p:cxnSp>
      <p:cxnSp>
        <p:nvCxnSpPr>
          <p:cNvPr id="14" name="edge"/>
          <p:cNvCxnSpPr/>
          <p:nvPr/>
        </p:nvCxnSpPr>
        <p:spPr>
          <a:xfrm>
            <a:off x="2024044" y="5095542"/>
            <a:ext cx="1542115" cy="433720"/>
          </a:xfrm>
          <a:prstGeom prst="line">
            <a:avLst/>
          </a:prstGeom>
          <a:ln w="19050">
            <a:solidFill>
              <a:srgbClr val="595959"/>
            </a:solidFill>
            <a:tailEnd type="triangle"/>
          </a:ln>
        </p:spPr>
        <p:style>
          <a:lnRef idx="2">
            <a:schemeClr val="accent1"/>
          </a:lnRef>
          <a:fillRef idx="0">
            <a:schemeClr val="accent1"/>
          </a:fillRef>
          <a:effectRef idx="1">
            <a:schemeClr val="accent1"/>
          </a:effectRef>
          <a:fontRef idx="minor">
            <a:schemeClr val="tx1"/>
          </a:fontRef>
        </p:style>
      </p:cxnSp>
      <p:cxnSp>
        <p:nvCxnSpPr>
          <p:cNvPr id="15" name="edge"/>
          <p:cNvCxnSpPr/>
          <p:nvPr/>
        </p:nvCxnSpPr>
        <p:spPr>
          <a:xfrm flipV="1">
            <a:off x="2024044" y="5169217"/>
            <a:ext cx="1542115" cy="433720"/>
          </a:xfrm>
          <a:prstGeom prst="line">
            <a:avLst/>
          </a:prstGeom>
          <a:ln w="19050">
            <a:solidFill>
              <a:srgbClr val="595959"/>
            </a:solidFill>
            <a:tailEnd type="triangle"/>
          </a:ln>
        </p:spPr>
        <p:style>
          <a:lnRef idx="2">
            <a:schemeClr val="accent1"/>
          </a:lnRef>
          <a:fillRef idx="0">
            <a:schemeClr val="accent1"/>
          </a:fillRef>
          <a:effectRef idx="1">
            <a:schemeClr val="accent1"/>
          </a:effectRef>
          <a:fontRef idx="minor">
            <a:schemeClr val="tx1"/>
          </a:fontRef>
        </p:style>
      </p:cxnSp>
      <p:cxnSp>
        <p:nvCxnSpPr>
          <p:cNvPr id="16" name="edge"/>
          <p:cNvCxnSpPr/>
          <p:nvPr/>
        </p:nvCxnSpPr>
        <p:spPr>
          <a:xfrm>
            <a:off x="2148840" y="5760720"/>
            <a:ext cx="1417319" cy="0"/>
          </a:xfrm>
          <a:prstGeom prst="line">
            <a:avLst/>
          </a:prstGeom>
          <a:ln w="19050">
            <a:solidFill>
              <a:srgbClr val="595959"/>
            </a:solidFill>
            <a:tailEnd type="triangle"/>
          </a:ln>
        </p:spPr>
        <p:style>
          <a:lnRef idx="2">
            <a:schemeClr val="accent1"/>
          </a:lnRef>
          <a:fillRef idx="0">
            <a:schemeClr val="accent1"/>
          </a:fillRef>
          <a:effectRef idx="1">
            <a:schemeClr val="accent1"/>
          </a:effectRef>
          <a:fontRef idx="minor">
            <a:schemeClr val="tx1"/>
          </a:fontRef>
        </p:style>
      </p:cxnSp>
      <p:cxnSp>
        <p:nvCxnSpPr>
          <p:cNvPr id="17" name="edge"/>
          <p:cNvCxnSpPr/>
          <p:nvPr/>
        </p:nvCxnSpPr>
        <p:spPr>
          <a:xfrm>
            <a:off x="2024044" y="4272582"/>
            <a:ext cx="1542115" cy="433720"/>
          </a:xfrm>
          <a:prstGeom prst="line">
            <a:avLst/>
          </a:prstGeom>
          <a:ln w="19050">
            <a:solidFill>
              <a:srgbClr val="595959"/>
            </a:solidFill>
            <a:tailEnd type="triangle"/>
          </a:ln>
        </p:spPr>
        <p:style>
          <a:lnRef idx="2">
            <a:schemeClr val="accent1"/>
          </a:lnRef>
          <a:fillRef idx="0">
            <a:schemeClr val="accent1"/>
          </a:fillRef>
          <a:effectRef idx="1">
            <a:schemeClr val="accent1"/>
          </a:effectRef>
          <a:fontRef idx="minor">
            <a:schemeClr val="tx1"/>
          </a:fontRef>
        </p:style>
      </p:cxnSp>
      <p:cxnSp>
        <p:nvCxnSpPr>
          <p:cNvPr id="18" name="edge"/>
          <p:cNvCxnSpPr/>
          <p:nvPr/>
        </p:nvCxnSpPr>
        <p:spPr>
          <a:xfrm>
            <a:off x="2148840" y="4114800"/>
            <a:ext cx="1417319" cy="0"/>
          </a:xfrm>
          <a:prstGeom prst="line">
            <a:avLst/>
          </a:prstGeom>
          <a:ln w="19050">
            <a:solidFill>
              <a:srgbClr val="595959"/>
            </a:solidFill>
            <a:tailEnd type="triangle"/>
          </a:ln>
        </p:spPr>
        <p:style>
          <a:lnRef idx="2">
            <a:schemeClr val="accent1"/>
          </a:lnRef>
          <a:fillRef idx="0">
            <a:schemeClr val="accent1"/>
          </a:fillRef>
          <a:effectRef idx="1">
            <a:schemeClr val="accent1"/>
          </a:effectRef>
          <a:fontRef idx="minor">
            <a:schemeClr val="tx1"/>
          </a:fontRef>
        </p:style>
      </p:cxnSp>
      <p:sp>
        <p:nvSpPr>
          <p:cNvPr id="19" name="toy result"/>
          <p:cNvSpPr/>
          <p:nvPr/>
        </p:nvSpPr>
        <p:spPr>
          <a:xfrm>
            <a:off x="6583680" y="3886200"/>
            <a:ext cx="5029200" cy="2377440"/>
          </a:xfrm>
          <a:prstGeom prst="roundRect">
            <a:avLst>
              <a:gd name="adj" fmla="val 2307"/>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oy head"/>
          <p:cNvSpPr txBox="1"/>
          <p:nvPr/>
        </p:nvSpPr>
        <p:spPr>
          <a:xfrm>
            <a:off x="6720840" y="3931920"/>
            <a:ext cx="4754880" cy="365760"/>
          </a:xfrm>
          <a:prstGeom prst="rect">
            <a:avLst/>
          </a:prstGeom>
          <a:noFill/>
        </p:spPr>
        <p:txBody>
          <a:bodyPr wrap="square" lIns="45720" rIns="45720" tIns="27432" bIns="27432" anchor="t">
            <a:spAutoFit/>
          </a:bodyPr>
          <a:lstStyle/>
          <a:p>
            <a:pPr algn="l">
              <a:spcAft>
                <a:spcPts val="600"/>
              </a:spcAft>
            </a:pPr>
            <a:r>
              <a:rPr sz="1700" b="1" i="0">
                <a:solidFill>
                  <a:srgbClr val="156082"/>
                </a:solidFill>
              </a:rPr>
              <a:t>Similar to </a:t>
            </a:r>
            <a:r>
              <a:rPr sz="1700" b="1" i="1">
                <a:solidFill>
                  <a:srgbClr val="156082"/>
                </a:solidFill>
              </a:rPr>
              <a:t>E. coli</a:t>
            </a:r>
            <a:r>
              <a:rPr sz="1700" b="1" i="0">
                <a:solidFill>
                  <a:srgbClr val="156082"/>
                </a:solidFill>
              </a:rPr>
              <a:t>?</a:t>
            </a:r>
          </a:p>
        </p:txBody>
      </p:sp>
      <p:graphicFrame>
        <p:nvGraphicFramePr>
          <p:cNvPr id="21" name="toy table"/>
          <p:cNvGraphicFramePr>
            <a:graphicFrameLocks noGrp="1"/>
          </p:cNvGraphicFramePr>
          <p:nvPr/>
        </p:nvGraphicFramePr>
        <p:xfrm>
          <a:off x="6720840" y="4389120"/>
          <a:ext cx="4754880" cy="1152144"/>
        </p:xfrm>
        <a:graphic>
          <a:graphicData uri="http://schemas.openxmlformats.org/drawingml/2006/table">
            <a:tbl>
              <a:tblPr firstRow="0" bandRow="0">
                <a:tableStyleId>{5C22544A-7EE6-4342-B048-85BDC9FD1C3A}</a:tableStyleId>
              </a:tblPr>
              <a:tblGrid>
                <a:gridCol w="2377440"/>
                <a:gridCol w="2377440"/>
              </a:tblGrid>
              <a:tr h="384048">
                <a:tc>
                  <a:txBody>
                    <a:bodyPr wrap="square"/>
                    <a:lstStyle/>
                    <a:p>
                      <a:r>
                        <a:rPr sz="1400" b="1" i="0">
                          <a:solidFill>
                            <a:srgbClr val="FFFFFF"/>
                          </a:solidFill>
                        </a:rPr>
                        <a:t>genome</a:t>
                      </a:r>
                    </a:p>
                  </a:txBody>
                  <a:tcPr marL="73152" marR="73152" marT="36576" marB="36576" anchor="ctr">
                    <a:solidFill>
                      <a:srgbClr val="0E2841"/>
                    </a:solidFill>
                  </a:tcPr>
                </a:tc>
                <a:tc>
                  <a:txBody>
                    <a:bodyPr wrap="square"/>
                    <a:lstStyle/>
                    <a:p>
                      <a:r>
                        <a:rPr sz="1400" b="1" i="0">
                          <a:solidFill>
                            <a:srgbClr val="FFFFFF"/>
                          </a:solidFill>
                        </a:rPr>
                        <a:t>shared KOs</a:t>
                      </a:r>
                    </a:p>
                  </a:txBody>
                  <a:tcPr marL="73152" marR="73152" marT="36576" marB="36576" anchor="ctr">
                    <a:solidFill>
                      <a:srgbClr val="0E2841"/>
                    </a:solidFill>
                  </a:tcPr>
                </a:tc>
              </a:tr>
              <a:tr h="384048">
                <a:tc>
                  <a:txBody>
                    <a:bodyPr wrap="square"/>
                    <a:lstStyle/>
                    <a:p>
                      <a:r>
                        <a:rPr sz="1400" b="0" i="1">
                          <a:solidFill>
                            <a:srgbClr val="0E2841"/>
                          </a:solidFill>
                        </a:rPr>
                        <a:t>B. subtilis</a:t>
                      </a:r>
                    </a:p>
                  </a:txBody>
                  <a:tcPr marL="73152" marR="73152" marT="36576" marB="36576" anchor="ctr">
                    <a:solidFill>
                      <a:srgbClr val="FFFFFF"/>
                    </a:solidFill>
                  </a:tcPr>
                </a:tc>
                <a:tc>
                  <a:txBody>
                    <a:bodyPr wrap="square"/>
                    <a:lstStyle/>
                    <a:p>
                      <a:r>
                        <a:rPr sz="1400" b="0" i="0">
                          <a:solidFill>
                            <a:srgbClr val="0E2841"/>
                          </a:solidFill>
                        </a:rPr>
                        <a:t>2  (groEL, fliC)</a:t>
                      </a:r>
                    </a:p>
                  </a:txBody>
                  <a:tcPr marL="73152" marR="73152" marT="36576" marB="36576" anchor="ctr">
                    <a:solidFill>
                      <a:srgbClr val="FFFFFF"/>
                    </a:solidFill>
                  </a:tcPr>
                </a:tc>
              </a:tr>
              <a:tr h="384048">
                <a:tc>
                  <a:txBody>
                    <a:bodyPr wrap="square"/>
                    <a:lstStyle/>
                    <a:p>
                      <a:r>
                        <a:rPr sz="1400" b="0" i="1">
                          <a:solidFill>
                            <a:srgbClr val="0E2841"/>
                          </a:solidFill>
                        </a:rPr>
                        <a:t>Synechocystis</a:t>
                      </a:r>
                    </a:p>
                  </a:txBody>
                  <a:tcPr marL="73152" marR="73152" marT="36576" marB="36576" anchor="ctr">
                    <a:solidFill>
                      <a:srgbClr val="F2F5F9"/>
                    </a:solidFill>
                  </a:tcPr>
                </a:tc>
                <a:tc>
                  <a:txBody>
                    <a:bodyPr wrap="square"/>
                    <a:lstStyle/>
                    <a:p>
                      <a:r>
                        <a:rPr sz="1400" b="0" i="0">
                          <a:solidFill>
                            <a:srgbClr val="0E2841"/>
                          </a:solidFill>
                        </a:rPr>
                        <a:t>1  (groEL)</a:t>
                      </a:r>
                    </a:p>
                  </a:txBody>
                  <a:tcPr marL="73152" marR="73152" marT="36576" marB="36576" anchor="ctr">
                    <a:solidFill>
                      <a:srgbClr val="F2F5F9"/>
                    </a:solidFill>
                  </a:tcPr>
                </a:tc>
              </a:tr>
            </a:tbl>
          </a:graphicData>
        </a:graphic>
      </p:graphicFrame>
      <p:sp>
        <p:nvSpPr>
          <p:cNvPr id="22" name="toy note"/>
          <p:cNvSpPr txBox="1"/>
          <p:nvPr/>
        </p:nvSpPr>
        <p:spPr>
          <a:xfrm>
            <a:off x="6720840" y="5669280"/>
            <a:ext cx="4754880" cy="548640"/>
          </a:xfrm>
          <a:prstGeom prst="rect">
            <a:avLst/>
          </a:prstGeom>
          <a:noFill/>
        </p:spPr>
        <p:txBody>
          <a:bodyPr wrap="square" lIns="45720" rIns="45720" tIns="27432" bIns="27432" anchor="t">
            <a:spAutoFit/>
          </a:bodyPr>
          <a:lstStyle/>
          <a:p>
            <a:pPr algn="l">
              <a:spcAft>
                <a:spcPts val="600"/>
              </a:spcAft>
            </a:pPr>
            <a:r>
              <a:rPr sz="1400" b="0" i="0">
                <a:solidFill>
                  <a:srgbClr val="595959"/>
                </a:solidFill>
              </a:rPr>
              <a:t>Same two-hop pattern, new data: </a:t>
            </a:r>
            <a:r>
              <a:rPr sz="1400" b="1" i="0">
                <a:solidFill>
                  <a:srgbClr val="595959"/>
                </a:solidFill>
              </a:rPr>
              <a:t>Lecture 27</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74320"/>
            <a:ext cx="11064240" cy="777240"/>
          </a:xfrm>
        </p:spPr>
        <p:txBody>
          <a:bodyPr wrap="square" anchor="ctr"/>
          <a:lstStyle/>
          <a:p>
            <a:pPr algn="l"/>
            <a:r>
              <a:rPr sz="3000" b="1" i="0">
                <a:solidFill>
                  <a:srgbClr val="0E2841"/>
                </a:solidFill>
              </a:rPr>
              <a:t>Recap and what comes next</a:t>
            </a:r>
          </a:p>
        </p:txBody>
      </p:sp>
      <p:sp>
        <p:nvSpPr>
          <p:cNvPr id="3" name="footer"/>
          <p:cNvSpPr txBox="1"/>
          <p:nvPr/>
        </p:nvSpPr>
        <p:spPr>
          <a:xfrm>
            <a:off x="548640" y="6455664"/>
            <a:ext cx="8686800" cy="274320"/>
          </a:xfrm>
          <a:prstGeom prst="rect">
            <a:avLst/>
          </a:prstGeom>
          <a:noFill/>
        </p:spPr>
        <p:txBody>
          <a:bodyPr wrap="square" lIns="45720" rIns="45720" tIns="27432" bIns="27432" anchor="t">
            <a:spAutoFit/>
          </a:bodyPr>
          <a:lstStyle/>
          <a:p>
            <a:pPr algn="l">
              <a:spcAft>
                <a:spcPts val="600"/>
              </a:spcAft>
            </a:pPr>
            <a:r>
              <a:rPr sz="1000" b="0" i="0">
                <a:solidFill>
                  <a:srgbClr val="595959"/>
                </a:solidFill>
              </a:rPr>
              <a:t>NoSQL Databases for Bioinformatics  ·  Lecture 26  ·  Graph database basics</a:t>
            </a:r>
          </a:p>
        </p:txBody>
      </p:sp>
      <p:sp>
        <p:nvSpPr>
          <p:cNvPr id="4" name="slide number"/>
          <p:cNvSpPr txBox="1"/>
          <p:nvPr/>
        </p:nvSpPr>
        <p:spPr>
          <a:xfrm>
            <a:off x="10698480" y="6455664"/>
            <a:ext cx="914400" cy="274320"/>
          </a:xfrm>
          <a:prstGeom prst="rect">
            <a:avLst/>
          </a:prstGeom>
          <a:noFill/>
        </p:spPr>
        <p:txBody>
          <a:bodyPr wrap="square" lIns="45720" rIns="45720" tIns="27432" bIns="27432" anchor="t">
            <a:spAutoFit/>
          </a:bodyPr>
          <a:lstStyle/>
          <a:p>
            <a:pPr algn="r">
              <a:spcAft>
                <a:spcPts val="600"/>
              </a:spcAft>
            </a:pPr>
            <a:fld id="{B6F15528-21DE-4FAA-801E-634DDDAF4B2B}" type="slidenum">
              <a:rPr lang="en-US" sz="1000">
                <a:solidFill>
                  <a:srgbClr val="595959"/>
                </a:solidFill>
              </a:rPr>
              <a:t>‹#›</a:t>
            </a:fld>
          </a:p>
        </p:txBody>
      </p:sp>
      <p:graphicFrame>
        <p:nvGraphicFramePr>
          <p:cNvPr id="5" name="recap table"/>
          <p:cNvGraphicFramePr>
            <a:graphicFrameLocks noGrp="1"/>
          </p:cNvGraphicFramePr>
          <p:nvPr/>
        </p:nvGraphicFramePr>
        <p:xfrm>
          <a:off x="548640" y="1325880"/>
          <a:ext cx="11064240" cy="3593592"/>
        </p:xfrm>
        <a:graphic>
          <a:graphicData uri="http://schemas.openxmlformats.org/drawingml/2006/table">
            <a:tbl>
              <a:tblPr firstRow="0" bandRow="0">
                <a:tableStyleId>{5C22544A-7EE6-4342-B048-85BDC9FD1C3A}</a:tableStyleId>
              </a:tblPr>
              <a:tblGrid>
                <a:gridCol w="2926080"/>
                <a:gridCol w="8138160"/>
              </a:tblGrid>
              <a:tr h="411480">
                <a:tc>
                  <a:txBody>
                    <a:bodyPr wrap="square"/>
                    <a:lstStyle/>
                    <a:p>
                      <a:r>
                        <a:rPr sz="1600" b="1" i="0">
                          <a:solidFill>
                            <a:srgbClr val="FFFFFF"/>
                          </a:solidFill>
                        </a:rPr>
                        <a:t>Concept</a:t>
                      </a:r>
                    </a:p>
                  </a:txBody>
                  <a:tcPr marL="73152" marR="73152" marT="36576" marB="36576" anchor="ctr">
                    <a:solidFill>
                      <a:srgbClr val="0E2841"/>
                    </a:solidFill>
                  </a:tcPr>
                </a:tc>
                <a:tc>
                  <a:txBody>
                    <a:bodyPr wrap="square"/>
                    <a:lstStyle/>
                    <a:p>
                      <a:r>
                        <a:rPr sz="1600" b="1" i="0">
                          <a:solidFill>
                            <a:srgbClr val="FFFFFF"/>
                          </a:solidFill>
                        </a:rPr>
                        <a:t>Remember</a:t>
                      </a:r>
                    </a:p>
                  </a:txBody>
                  <a:tcPr marL="73152" marR="73152" marT="36576" marB="36576" anchor="ctr">
                    <a:solidFill>
                      <a:srgbClr val="0E2841"/>
                    </a:solidFill>
                  </a:tcPr>
                </a:tc>
              </a:tr>
              <a:tr h="530352">
                <a:tc>
                  <a:txBody>
                    <a:bodyPr wrap="square"/>
                    <a:lstStyle/>
                    <a:p>
                      <a:r>
                        <a:rPr sz="1600" b="1" i="0">
                          <a:solidFill>
                            <a:srgbClr val="0E2841"/>
                          </a:solidFill>
                        </a:rPr>
                        <a:t>Node</a:t>
                      </a:r>
                    </a:p>
                  </a:txBody>
                  <a:tcPr marL="73152" marR="73152" marT="36576" marB="36576" anchor="ctr">
                    <a:solidFill>
                      <a:srgbClr val="FFFFFF"/>
                    </a:solidFill>
                  </a:tcPr>
                </a:tc>
                <a:tc>
                  <a:txBody>
                    <a:bodyPr wrap="square"/>
                    <a:lstStyle/>
                    <a:p>
                      <a:r>
                        <a:rPr sz="1600" b="0" i="0">
                          <a:solidFill>
                            <a:srgbClr val="0E2841"/>
                          </a:solidFill>
                        </a:rPr>
                        <a:t>an entity; 0+ </a:t>
                      </a:r>
                      <a:r>
                        <a:rPr sz="1600" b="1" i="0">
                          <a:solidFill>
                            <a:srgbClr val="0E2841"/>
                          </a:solidFill>
                        </a:rPr>
                        <a:t>labels</a:t>
                      </a:r>
                      <a:r>
                        <a:rPr sz="1600" b="0" i="0">
                          <a:solidFill>
                            <a:srgbClr val="0E2841"/>
                          </a:solidFill>
                        </a:rPr>
                        <a:t>, </a:t>
                      </a:r>
                      <a:r>
                        <a:rPr sz="1600" b="1" i="0">
                          <a:solidFill>
                            <a:srgbClr val="0E2841"/>
                          </a:solidFill>
                        </a:rPr>
                        <a:t>properties</a:t>
                      </a:r>
                    </a:p>
                  </a:txBody>
                  <a:tcPr marL="73152" marR="73152" marT="36576" marB="36576" anchor="ctr">
                    <a:solidFill>
                      <a:srgbClr val="FFFFFF"/>
                    </a:solidFill>
                  </a:tcPr>
                </a:tc>
              </a:tr>
              <a:tr h="530352">
                <a:tc>
                  <a:txBody>
                    <a:bodyPr wrap="square"/>
                    <a:lstStyle/>
                    <a:p>
                      <a:r>
                        <a:rPr sz="1600" b="1" i="0">
                          <a:solidFill>
                            <a:srgbClr val="0E2841"/>
                          </a:solidFill>
                        </a:rPr>
                        <a:t>Relationship</a:t>
                      </a:r>
                    </a:p>
                  </a:txBody>
                  <a:tcPr marL="73152" marR="73152" marT="36576" marB="36576" anchor="ctr">
                    <a:solidFill>
                      <a:srgbClr val="F2F5F9"/>
                    </a:solidFill>
                  </a:tcPr>
                </a:tc>
                <a:tc>
                  <a:txBody>
                    <a:bodyPr wrap="square"/>
                    <a:lstStyle/>
                    <a:p>
                      <a:r>
                        <a:rPr sz="1600" b="0" i="0">
                          <a:solidFill>
                            <a:srgbClr val="0E2841"/>
                          </a:solidFill>
                        </a:rPr>
                        <a:t>directed, exactly one </a:t>
                      </a:r>
                      <a:r>
                        <a:rPr sz="1600" b="1" i="0">
                          <a:solidFill>
                            <a:srgbClr val="0E2841"/>
                          </a:solidFill>
                        </a:rPr>
                        <a:t>type</a:t>
                      </a:r>
                      <a:r>
                        <a:rPr sz="1600" b="0" i="0">
                          <a:solidFill>
                            <a:srgbClr val="0E2841"/>
                          </a:solidFill>
                        </a:rPr>
                        <a:t>, may have </a:t>
                      </a:r>
                      <a:r>
                        <a:rPr sz="1600" b="1" i="0">
                          <a:solidFill>
                            <a:srgbClr val="0E2841"/>
                          </a:solidFill>
                        </a:rPr>
                        <a:t>properties</a:t>
                      </a:r>
                    </a:p>
                  </a:txBody>
                  <a:tcPr marL="73152" marR="73152" marT="36576" marB="36576" anchor="ctr">
                    <a:solidFill>
                      <a:srgbClr val="F2F5F9"/>
                    </a:solidFill>
                  </a:tcPr>
                </a:tc>
              </a:tr>
              <a:tr h="530352">
                <a:tc>
                  <a:txBody>
                    <a:bodyPr wrap="square"/>
                    <a:lstStyle/>
                    <a:p>
                      <a:r>
                        <a:rPr sz="1600" b="1" i="0">
                          <a:solidFill>
                            <a:srgbClr val="0E2841"/>
                          </a:solidFill>
                        </a:rPr>
                        <a:t>Pattern</a:t>
                      </a:r>
                    </a:p>
                  </a:txBody>
                  <a:tcPr marL="73152" marR="73152" marT="36576" marB="36576" anchor="ctr">
                    <a:solidFill>
                      <a:srgbClr val="FFFFFF"/>
                    </a:solidFill>
                  </a:tcPr>
                </a:tc>
                <a:tc>
                  <a:txBody>
                    <a:bodyPr wrap="square"/>
                    <a:lstStyle/>
                    <a:p>
                      <a:r>
                        <a:rPr sz="1600" b="0" i="0">
                          <a:solidFill>
                            <a:srgbClr val="156082"/>
                          </a:solidFill>
                          <a:latin typeface="Courier New"/>
                        </a:rPr>
                        <a:t>(a:Label {prop: x})-[:TYPE]-&gt;(b)</a:t>
                      </a:r>
                      <a:r>
                        <a:rPr sz="1600" b="0" i="0">
                          <a:solidFill>
                            <a:srgbClr val="0E2841"/>
                          </a:solidFill>
                        </a:rPr>
                        <a:t>: </a:t>
                      </a:r>
                      <a:r>
                        <a:rPr sz="1600" b="0" i="1">
                          <a:solidFill>
                            <a:srgbClr val="0E2841"/>
                          </a:solidFill>
                        </a:rPr>
                        <a:t>draw</a:t>
                      </a:r>
                      <a:r>
                        <a:rPr sz="1600" b="0" i="0">
                          <a:solidFill>
                            <a:srgbClr val="0E2841"/>
                          </a:solidFill>
                        </a:rPr>
                        <a:t> what you look for</a:t>
                      </a:r>
                    </a:p>
                  </a:txBody>
                  <a:tcPr marL="73152" marR="73152" marT="36576" marB="36576" anchor="ctr">
                    <a:solidFill>
                      <a:srgbClr val="FFFFFF"/>
                    </a:solidFill>
                  </a:tcPr>
                </a:tc>
              </a:tr>
              <a:tr h="530352">
                <a:tc>
                  <a:txBody>
                    <a:bodyPr wrap="square"/>
                    <a:lstStyle/>
                    <a:p>
                      <a:r>
                        <a:rPr sz="1600" b="1" i="0">
                          <a:solidFill>
                            <a:srgbClr val="0E2841"/>
                          </a:solidFill>
                        </a:rPr>
                        <a:t>CREATE vs MERGE</a:t>
                      </a:r>
                    </a:p>
                  </a:txBody>
                  <a:tcPr marL="73152" marR="73152" marT="36576" marB="36576" anchor="ctr">
                    <a:solidFill>
                      <a:srgbClr val="F2F5F9"/>
                    </a:solidFill>
                  </a:tcPr>
                </a:tc>
                <a:tc>
                  <a:txBody>
                    <a:bodyPr wrap="square"/>
                    <a:lstStyle/>
                    <a:p>
                      <a:r>
                        <a:rPr sz="1600" b="0" i="0">
                          <a:solidFill>
                            <a:srgbClr val="0E2841"/>
                          </a:solidFill>
                        </a:rPr>
                        <a:t>always create vs get-or-create: use </a:t>
                      </a:r>
                      <a:r>
                        <a:rPr sz="1600" b="0" i="0">
                          <a:solidFill>
                            <a:srgbClr val="156082"/>
                          </a:solidFill>
                          <a:latin typeface="Courier New"/>
                        </a:rPr>
                        <a:t>MERGE</a:t>
                      </a:r>
                      <a:r>
                        <a:rPr sz="1600" b="0" i="0">
                          <a:solidFill>
                            <a:srgbClr val="0E2841"/>
                          </a:solidFill>
                        </a:rPr>
                        <a:t> for loading data</a:t>
                      </a:r>
                    </a:p>
                  </a:txBody>
                  <a:tcPr marL="73152" marR="73152" marT="36576" marB="36576" anchor="ctr">
                    <a:solidFill>
                      <a:srgbClr val="F2F5F9"/>
                    </a:solidFill>
                  </a:tcPr>
                </a:tc>
              </a:tr>
              <a:tr h="530352">
                <a:tc>
                  <a:txBody>
                    <a:bodyPr wrap="square"/>
                    <a:lstStyle/>
                    <a:p>
                      <a:r>
                        <a:rPr sz="1600" b="1" i="0">
                          <a:solidFill>
                            <a:srgbClr val="0E2841"/>
                          </a:solidFill>
                        </a:rPr>
                        <a:t>Traversal</a:t>
                      </a:r>
                    </a:p>
                  </a:txBody>
                  <a:tcPr marL="73152" marR="73152" marT="36576" marB="36576" anchor="ctr">
                    <a:solidFill>
                      <a:srgbClr val="FFFFFF"/>
                    </a:solidFill>
                  </a:tcPr>
                </a:tc>
                <a:tc>
                  <a:txBody>
                    <a:bodyPr wrap="square"/>
                    <a:lstStyle/>
                    <a:p>
                      <a:r>
                        <a:rPr sz="1600" b="0" i="0">
                          <a:solidFill>
                            <a:srgbClr val="0E2841"/>
                          </a:solidFill>
                        </a:rPr>
                        <a:t>follow relationships; </a:t>
                      </a:r>
                      <a:r>
                        <a:rPr sz="1600" b="1" i="0">
                          <a:solidFill>
                            <a:srgbClr val="0E2841"/>
                          </a:solidFill>
                        </a:rPr>
                        <a:t>shared-neighbour</a:t>
                      </a:r>
                      <a:r>
                        <a:rPr sz="1600" b="0" i="0">
                          <a:solidFill>
                            <a:srgbClr val="0E2841"/>
                          </a:solidFill>
                        </a:rPr>
                        <a:t> patterns find similar things</a:t>
                      </a:r>
                    </a:p>
                  </a:txBody>
                  <a:tcPr marL="73152" marR="73152" marT="36576" marB="36576" anchor="ctr">
                    <a:solidFill>
                      <a:srgbClr val="FFFFFF"/>
                    </a:solidFill>
                  </a:tcPr>
                </a:tc>
              </a:tr>
              <a:tr h="530352">
                <a:tc>
                  <a:txBody>
                    <a:bodyPr wrap="square"/>
                    <a:lstStyle/>
                    <a:p>
                      <a:r>
                        <a:rPr sz="1600" b="1" i="0">
                          <a:solidFill>
                            <a:srgbClr val="0E2841"/>
                          </a:solidFill>
                        </a:rPr>
                        <a:t>Aggregation</a:t>
                      </a:r>
                    </a:p>
                  </a:txBody>
                  <a:tcPr marL="73152" marR="73152" marT="36576" marB="36576" anchor="ctr">
                    <a:solidFill>
                      <a:srgbClr val="F2F5F9"/>
                    </a:solidFill>
                  </a:tcPr>
                </a:tc>
                <a:tc>
                  <a:txBody>
                    <a:bodyPr wrap="square"/>
                    <a:lstStyle/>
                    <a:p>
                      <a:r>
                        <a:rPr sz="1600" b="0" i="0">
                          <a:solidFill>
                            <a:srgbClr val="156082"/>
                          </a:solidFill>
                          <a:latin typeface="Courier New"/>
                        </a:rPr>
                        <a:t>count</a:t>
                      </a:r>
                      <a:r>
                        <a:rPr sz="1600" b="0" i="0">
                          <a:solidFill>
                            <a:srgbClr val="0E2841"/>
                          </a:solidFill>
                        </a:rPr>
                        <a:t>, </a:t>
                      </a:r>
                      <a:r>
                        <a:rPr sz="1600" b="0" i="0">
                          <a:solidFill>
                            <a:srgbClr val="156082"/>
                          </a:solidFill>
                          <a:latin typeface="Courier New"/>
                        </a:rPr>
                        <a:t>collect</a:t>
                      </a:r>
                      <a:r>
                        <a:rPr sz="1600" b="0" i="0">
                          <a:solidFill>
                            <a:srgbClr val="0E2841"/>
                          </a:solidFill>
                        </a:rPr>
                        <a:t>: non-aggregated columns are the grouping key</a:t>
                      </a:r>
                    </a:p>
                  </a:txBody>
                  <a:tcPr marL="73152" marR="73152" marT="36576" marB="36576" anchor="ctr">
                    <a:solidFill>
                      <a:srgbClr val="F2F5F9"/>
                    </a:solidFill>
                  </a:tcPr>
                </a:tc>
              </a:tr>
            </a:tbl>
          </a:graphicData>
        </a:graphic>
      </p:graphicFrame>
      <p:sp>
        <p:nvSpPr>
          <p:cNvPr id="6" name="next bg"/>
          <p:cNvSpPr/>
          <p:nvPr/>
        </p:nvSpPr>
        <p:spPr>
          <a:xfrm>
            <a:off x="548640" y="5349240"/>
            <a:ext cx="11064240" cy="914400"/>
          </a:xfrm>
          <a:prstGeom prst="roundRect">
            <a:avLst>
              <a:gd name="adj" fmla="val 6000"/>
            </a:avLst>
          </a:prstGeom>
          <a:solidFill>
            <a:srgbClr val="0E28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next text"/>
          <p:cNvSpPr txBox="1"/>
          <p:nvPr/>
        </p:nvSpPr>
        <p:spPr>
          <a:xfrm>
            <a:off x="731520" y="5394960"/>
            <a:ext cx="10698480" cy="822960"/>
          </a:xfrm>
          <a:prstGeom prst="rect">
            <a:avLst/>
          </a:prstGeom>
          <a:noFill/>
        </p:spPr>
        <p:txBody>
          <a:bodyPr wrap="square" lIns="45720" rIns="45720" tIns="27432" bIns="27432" anchor="ctr">
            <a:spAutoFit/>
          </a:bodyPr>
          <a:lstStyle/>
          <a:p>
            <a:pPr algn="l">
              <a:spcAft>
                <a:spcPts val="600"/>
              </a:spcAft>
            </a:pPr>
            <a:r>
              <a:rPr sz="1900" b="0" i="0">
                <a:solidFill>
                  <a:srgbClr val="FFFFFF"/>
                </a:solidFill>
              </a:rPr>
              <a:t>Next (Lecture 27): the same patterns on </a:t>
            </a:r>
            <a:r>
              <a:rPr sz="1900" b="1" i="0">
                <a:solidFill>
                  <a:srgbClr val="FFFFFF"/>
                </a:solidFill>
              </a:rPr>
              <a:t>65 genomes</a:t>
            </a:r>
            <a:r>
              <a:rPr sz="1900" b="0" i="0">
                <a:solidFill>
                  <a:srgbClr val="FFFFFF"/>
                </a:solidFill>
              </a:rPr>
              <a:t>, </a:t>
            </a:r>
            <a:r>
              <a:rPr sz="1900" b="1" i="0">
                <a:solidFill>
                  <a:srgbClr val="FFFFFF"/>
                </a:solidFill>
              </a:rPr>
              <a:t>9,000 KOs</a:t>
            </a:r>
            <a:r>
              <a:rPr sz="1900" b="0" i="0">
                <a:solidFill>
                  <a:srgbClr val="FFFFFF"/>
                </a:solidFill>
              </a:rPr>
              <a:t> and the </a:t>
            </a:r>
            <a:r>
              <a:rPr sz="1900" b="1" i="0">
                <a:solidFill>
                  <a:srgbClr val="FFFFFF"/>
                </a:solidFill>
              </a:rPr>
              <a:t>tree of life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65ce1208-e929-4ec4-be64-9138d78922c0}" enabled="1" method="Standard" siteId="{22340fa8-9226-4871-b677-d3b3e377af72}" removed="0"/>
</clbl:labelList>
</file>

<file path=docProps/app.xml><?xml version="1.0" encoding="utf-8"?>
<Properties xmlns="http://schemas.openxmlformats.org/officeDocument/2006/extended-properties" xmlns:vt="http://schemas.openxmlformats.org/officeDocument/2006/docPropsVTypes">
  <TotalTime>8387</TotalTime>
  <Words>581</Words>
  <Application>Microsoft Macintosh PowerPoint</Application>
  <PresentationFormat>Widescreen</PresentationFormat>
  <Paragraphs>111</Paragraphs>
  <Slides>16</Slides>
  <Notes>7</Notes>
  <HiddenSlides>4</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16</vt:i4>
      </vt:variant>
    </vt:vector>
  </HeadingPairs>
  <TitlesOfParts>
    <vt:vector size="24" baseType="lpstr">
      <vt:lpstr>-apple-system</vt:lpstr>
      <vt:lpstr>SFMono-Regular</vt:lpstr>
      <vt:lpstr>Aptos</vt:lpstr>
      <vt:lpstr>Aptos Display</vt:lpstr>
      <vt:lpstr>Arial</vt:lpstr>
      <vt:lpstr>Times New Roman</vt:lpstr>
      <vt:lpstr>Wingdings</vt:lpstr>
      <vt:lpstr>Office Theme</vt:lpstr>
      <vt:lpstr>NoSQL Databases for Bioinformatics </vt:lpstr>
      <vt:lpstr>Learning Objectives </vt:lpstr>
      <vt:lpstr>What is a graph?</vt:lpstr>
      <vt:lpstr>Graph Components</vt:lpstr>
      <vt:lpstr>Example Graph - Movie</vt:lpstr>
      <vt:lpstr>Example: Molecular and RNA Graph</vt:lpstr>
      <vt:lpstr>Example: Protein Graph Analytics</vt:lpstr>
      <vt:lpstr>A graph is…</vt:lpstr>
      <vt:lpstr>Graph Database</vt:lpstr>
      <vt:lpstr>Example: pangenome visualization with pgv</vt:lpstr>
      <vt:lpstr>Example: Create Lecturer</vt:lpstr>
      <vt:lpstr>Who can use graph? – Retail</vt:lpstr>
      <vt:lpstr>Who can use graph? – Public Transportation</vt:lpstr>
      <vt:lpstr>Who can use graph? – Engineer</vt:lpstr>
      <vt:lpstr>Where can graph be used? -- BioScience</vt:lpstr>
      <vt:lpstr>GraphDB explore: https://neo4j.het.io/browser/</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Zhang, Ziang</dc:creator>
  <cp:lastModifiedBy>Zhang, Ziang</cp:lastModifiedBy>
  <cp:revision>5</cp:revision>
  <dcterms:created xsi:type="dcterms:W3CDTF">2025-07-25T02:03:29Z</dcterms:created>
  <dcterms:modified xsi:type="dcterms:W3CDTF">2025-10-22T14:36:57Z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lassificationContentMarkingFooterLocations">
    <vt:lpwstr>Office Theme:8</vt:lpwstr>
  </property>
  <property fmtid="{D5CDD505-2E9C-101B-9397-08002B2CF9AE}" pid="3" name="ClassificationContentMarkingFooterText">
    <vt:lpwstr>St. Jude - Confidential</vt:lpwstr>
  </property>
</Properties>
</file>