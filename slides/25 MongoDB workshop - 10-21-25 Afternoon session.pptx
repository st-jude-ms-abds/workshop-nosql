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9" r:id="rId3"/>
    <p:sldId id="266" r:id="rId4"/>
    <p:sldId id="267" r:id="rId5"/>
    <p:sldId id="269" r:id="rId6"/>
    <p:sldId id="270" r:id="rId7"/>
    <p:sldId id="271" r:id="rId9"/>
    <p:sldId id="272" r:id="rId8"/>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13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D3AC03-F226-6D46-AEC0-BB6264A0D4C5}" v="19" dt="2025-10-21T00:43:04.8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74"/>
    <p:restoredTop sz="87606"/>
  </p:normalViewPr>
  <p:slideViewPr>
    <p:cSldViewPr snapToGrid="0">
      <p:cViewPr varScale="1">
        <p:scale>
          <a:sx n="107" d="100"/>
          <a:sy n="107" d="100"/>
        </p:scale>
        <p:origin x="5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7.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Ziang" userId="86022b89-3620-4733-abee-95d8d72b2d97" providerId="ADAL" clId="{48F4A9CE-C642-5EFE-B34D-78AF252C9260}"/>
    <pc:docChg chg="undo custSel mod addSld delSld modSld sldOrd modMainMaster">
      <pc:chgData name="Zhang, Ziang" userId="86022b89-3620-4733-abee-95d8d72b2d97" providerId="ADAL" clId="{48F4A9CE-C642-5EFE-B34D-78AF252C9260}" dt="2025-10-21T02:22:03.159" v="8190" actId="20577"/>
      <pc:docMkLst>
        <pc:docMk/>
      </pc:docMkLst>
      <pc:sldChg chg="addSp delSp modSp mod ord modClrScheme delDesignElem chgLayout">
        <pc:chgData name="Zhang, Ziang" userId="86022b89-3620-4733-abee-95d8d72b2d97" providerId="ADAL" clId="{48F4A9CE-C642-5EFE-B34D-78AF252C9260}" dt="2025-10-21T02:22:03.159" v="8190" actId="20577"/>
        <pc:sldMkLst>
          <pc:docMk/>
          <pc:sldMk cId="2173016959" sldId="257"/>
        </pc:sldMkLst>
        <pc:spChg chg="mod ord">
          <ac:chgData name="Zhang, Ziang" userId="86022b89-3620-4733-abee-95d8d72b2d97" providerId="ADAL" clId="{48F4A9CE-C642-5EFE-B34D-78AF252C9260}" dt="2025-10-20T20:23:22.041" v="6323" actId="1076"/>
          <ac:spMkLst>
            <pc:docMk/>
            <pc:sldMk cId="2173016959" sldId="257"/>
            <ac:spMk id="2" creationId="{F79E5056-7918-E440-5492-EA15E12B396F}"/>
          </ac:spMkLst>
        </pc:spChg>
        <pc:spChg chg="mod ord">
          <ac:chgData name="Zhang, Ziang" userId="86022b89-3620-4733-abee-95d8d72b2d97" providerId="ADAL" clId="{48F4A9CE-C642-5EFE-B34D-78AF252C9260}" dt="2025-10-21T00:43:53.439" v="8160" actId="1036"/>
          <ac:spMkLst>
            <pc:docMk/>
            <pc:sldMk cId="2173016959" sldId="257"/>
            <ac:spMk id="3" creationId="{96638B36-3651-D61F-F18E-D3F55C4488CC}"/>
          </ac:spMkLst>
        </pc:spChg>
        <pc:spChg chg="add del mod ord">
          <ac:chgData name="Zhang, Ziang" userId="86022b89-3620-4733-abee-95d8d72b2d97" providerId="ADAL" clId="{48F4A9CE-C642-5EFE-B34D-78AF252C9260}" dt="2025-10-20T20:17:05.325" v="5744" actId="700"/>
          <ac:spMkLst>
            <pc:docMk/>
            <pc:sldMk cId="2173016959" sldId="257"/>
            <ac:spMk id="4" creationId="{F8FE0498-2081-3D37-784C-E8244939B5E1}"/>
          </ac:spMkLst>
        </pc:spChg>
        <pc:spChg chg="add mod ord">
          <ac:chgData name="Zhang, Ziang" userId="86022b89-3620-4733-abee-95d8d72b2d97" providerId="ADAL" clId="{48F4A9CE-C642-5EFE-B34D-78AF252C9260}" dt="2025-10-21T00:43:53.439" v="8160" actId="1036"/>
          <ac:spMkLst>
            <pc:docMk/>
            <pc:sldMk cId="2173016959" sldId="257"/>
            <ac:spMk id="5" creationId="{ED74E13A-72D3-22A5-1502-194260722306}"/>
          </ac:spMkLst>
        </pc:spChg>
        <pc:spChg chg="add del mod ord">
          <ac:chgData name="Zhang, Ziang" userId="86022b89-3620-4733-abee-95d8d72b2d97" providerId="ADAL" clId="{48F4A9CE-C642-5EFE-B34D-78AF252C9260}" dt="2025-10-20T21:12:33.661" v="6566" actId="21"/>
          <ac:spMkLst>
            <pc:docMk/>
            <pc:sldMk cId="2173016959" sldId="257"/>
            <ac:spMk id="6" creationId="{99DAC41F-E2C0-465F-DB24-C2CF5F8306C8}"/>
          </ac:spMkLst>
        </pc:spChg>
        <pc:spChg chg="add del mod ord">
          <ac:chgData name="Zhang, Ziang" userId="86022b89-3620-4733-abee-95d8d72b2d97" providerId="ADAL" clId="{48F4A9CE-C642-5EFE-B34D-78AF252C9260}" dt="2025-10-20T21:12:33.661" v="6566" actId="21"/>
          <ac:spMkLst>
            <pc:docMk/>
            <pc:sldMk cId="2173016959" sldId="257"/>
            <ac:spMk id="7" creationId="{9D502CBB-702E-7A88-FBE1-A0D9BFE1C019}"/>
          </ac:spMkLst>
        </pc:spChg>
        <pc:spChg chg="add del mod">
          <ac:chgData name="Zhang, Ziang" userId="86022b89-3620-4733-abee-95d8d72b2d97" providerId="ADAL" clId="{48F4A9CE-C642-5EFE-B34D-78AF252C9260}" dt="2025-10-20T21:12:39.319" v="6568" actId="478"/>
          <ac:spMkLst>
            <pc:docMk/>
            <pc:sldMk cId="2173016959" sldId="257"/>
            <ac:spMk id="14" creationId="{EF7DC93E-DF2A-074B-1931-F9D050CBE27F}"/>
          </ac:spMkLst>
        </pc:spChg>
        <pc:spChg chg="add del mod">
          <ac:chgData name="Zhang, Ziang" userId="86022b89-3620-4733-abee-95d8d72b2d97" providerId="ADAL" clId="{48F4A9CE-C642-5EFE-B34D-78AF252C9260}" dt="2025-10-20T21:12:39.319" v="6568" actId="478"/>
          <ac:spMkLst>
            <pc:docMk/>
            <pc:sldMk cId="2173016959" sldId="257"/>
            <ac:spMk id="16" creationId="{6E83318D-4857-56A6-2A7A-A5C7B1B25D9F}"/>
          </ac:spMkLst>
        </pc:spChg>
        <pc:spChg chg="add mod">
          <ac:chgData name="Zhang, Ziang" userId="86022b89-3620-4733-abee-95d8d72b2d97" providerId="ADAL" clId="{48F4A9CE-C642-5EFE-B34D-78AF252C9260}" dt="2025-10-21T00:43:39.485" v="8141" actId="1076"/>
          <ac:spMkLst>
            <pc:docMk/>
            <pc:sldMk cId="2173016959" sldId="257"/>
            <ac:spMk id="17" creationId="{7000C166-8B14-40F3-F223-9AF1337F75B5}"/>
          </ac:spMkLst>
        </pc:spChg>
        <pc:spChg chg="add mod">
          <ac:chgData name="Zhang, Ziang" userId="86022b89-3620-4733-abee-95d8d72b2d97" providerId="ADAL" clId="{48F4A9CE-C642-5EFE-B34D-78AF252C9260}" dt="2025-10-21T00:43:44.689" v="8152" actId="1036"/>
          <ac:spMkLst>
            <pc:docMk/>
            <pc:sldMk cId="2173016959" sldId="257"/>
            <ac:spMk id="18" creationId="{792276B1-99C2-F463-ABF5-5220C447B4F4}"/>
          </ac:spMkLst>
        </pc:spChg>
        <pc:spChg chg="add mod">
          <ac:chgData name="Zhang, Ziang" userId="86022b89-3620-4733-abee-95d8d72b2d97" providerId="ADAL" clId="{48F4A9CE-C642-5EFE-B34D-78AF252C9260}" dt="2025-10-21T02:22:03.159" v="8190" actId="20577"/>
          <ac:spMkLst>
            <pc:docMk/>
            <pc:sldMk cId="2173016959" sldId="257"/>
            <ac:spMk id="19" creationId="{149AAD3F-C1A2-CF04-DBC9-68BCC0BF6C27}"/>
          </ac:spMkLst>
        </pc:spChg>
        <pc:spChg chg="add del">
          <ac:chgData name="Zhang, Ziang" userId="86022b89-3620-4733-abee-95d8d72b2d97" providerId="ADAL" clId="{48F4A9CE-C642-5EFE-B34D-78AF252C9260}" dt="2025-10-20T20:17:32.992" v="5747" actId="700"/>
          <ac:spMkLst>
            <pc:docMk/>
            <pc:sldMk cId="2173016959" sldId="257"/>
            <ac:spMk id="27" creationId="{4BC99CB9-DDAD-44A2-8A1C-E3AF4E72DF5C}"/>
          </ac:spMkLst>
        </pc:spChg>
        <pc:spChg chg="add del">
          <ac:chgData name="Zhang, Ziang" userId="86022b89-3620-4733-abee-95d8d72b2d97" providerId="ADAL" clId="{48F4A9CE-C642-5EFE-B34D-78AF252C9260}" dt="2025-10-20T20:17:32.992" v="5747" actId="700"/>
          <ac:spMkLst>
            <pc:docMk/>
            <pc:sldMk cId="2173016959" sldId="257"/>
            <ac:spMk id="29" creationId="{64053CBF-3932-45FF-8285-EE5146085F3A}"/>
          </ac:spMkLst>
        </pc:spChg>
        <pc:grpChg chg="add del">
          <ac:chgData name="Zhang, Ziang" userId="86022b89-3620-4733-abee-95d8d72b2d97" providerId="ADAL" clId="{48F4A9CE-C642-5EFE-B34D-78AF252C9260}" dt="2025-10-20T20:17:32.992" v="5747" actId="700"/>
          <ac:grpSpMkLst>
            <pc:docMk/>
            <pc:sldMk cId="2173016959" sldId="257"/>
            <ac:grpSpMk id="31" creationId="{2E751C04-BEA6-446B-A678-9C74819EBD4C}"/>
          </ac:grpSpMkLst>
        </pc:grpChg>
        <pc:grpChg chg="add del">
          <ac:chgData name="Zhang, Ziang" userId="86022b89-3620-4733-abee-95d8d72b2d97" providerId="ADAL" clId="{48F4A9CE-C642-5EFE-B34D-78AF252C9260}" dt="2025-10-20T20:17:32.992" v="5747" actId="700"/>
          <ac:grpSpMkLst>
            <pc:docMk/>
            <pc:sldMk cId="2173016959" sldId="257"/>
            <ac:grpSpMk id="37" creationId="{B63ACBA3-DEFD-4C6D-BBA0-64468FA99C2D}"/>
          </ac:grpSpMkLst>
        </pc:grpChg>
        <pc:picChg chg="add del mod">
          <ac:chgData name="Zhang, Ziang" userId="86022b89-3620-4733-abee-95d8d72b2d97" providerId="ADAL" clId="{48F4A9CE-C642-5EFE-B34D-78AF252C9260}" dt="2025-10-20T20:26:11.585" v="6462" actId="21"/>
          <ac:picMkLst>
            <pc:docMk/>
            <pc:sldMk cId="2173016959" sldId="257"/>
            <ac:picMk id="9" creationId="{4926F040-1158-66F4-BE5C-399B947B9491}"/>
          </ac:picMkLst>
        </pc:picChg>
        <pc:picChg chg="add del mod">
          <ac:chgData name="Zhang, Ziang" userId="86022b89-3620-4733-abee-95d8d72b2d97" providerId="ADAL" clId="{48F4A9CE-C642-5EFE-B34D-78AF252C9260}" dt="2025-10-20T20:27:37.425" v="6485" actId="21"/>
          <ac:picMkLst>
            <pc:docMk/>
            <pc:sldMk cId="2173016959" sldId="257"/>
            <ac:picMk id="11" creationId="{24E76CE4-A99B-6EC8-5C19-C0AD7B899539}"/>
          </ac:picMkLst>
        </pc:picChg>
        <pc:picChg chg="add mod">
          <ac:chgData name="Zhang, Ziang" userId="86022b89-3620-4733-abee-95d8d72b2d97" providerId="ADAL" clId="{48F4A9CE-C642-5EFE-B34D-78AF252C9260}" dt="2025-10-20T21:13:14.772" v="6573" actId="167"/>
          <ac:picMkLst>
            <pc:docMk/>
            <pc:sldMk cId="2173016959" sldId="257"/>
            <ac:picMk id="12" creationId="{A045806B-7A85-9D7A-2FC9-656B09CACB8F}"/>
          </ac:picMkLst>
        </pc:picChg>
      </pc:sldChg>
      <pc:sldChg chg="addSp delSp modSp new del mod ord">
        <pc:chgData name="Zhang, Ziang" userId="86022b89-3620-4733-abee-95d8d72b2d97" providerId="ADAL" clId="{48F4A9CE-C642-5EFE-B34D-78AF252C9260}" dt="2025-10-21T01:08:26.891" v="8161" actId="2696"/>
        <pc:sldMkLst>
          <pc:docMk/>
          <pc:sldMk cId="336631864" sldId="271"/>
        </pc:sldMkLst>
        <pc:spChg chg="del">
          <ac:chgData name="Zhang, Ziang" userId="86022b89-3620-4733-abee-95d8d72b2d97" providerId="ADAL" clId="{48F4A9CE-C642-5EFE-B34D-78AF252C9260}" dt="2025-10-20T21:11:43.810" v="6557" actId="478"/>
          <ac:spMkLst>
            <pc:docMk/>
            <pc:sldMk cId="336631864" sldId="271"/>
            <ac:spMk id="2" creationId="{AA7AA814-5D76-FCA2-5402-4E66307A1CFE}"/>
          </ac:spMkLst>
        </pc:spChg>
        <pc:spChg chg="del">
          <ac:chgData name="Zhang, Ziang" userId="86022b89-3620-4733-abee-95d8d72b2d97" providerId="ADAL" clId="{48F4A9CE-C642-5EFE-B34D-78AF252C9260}" dt="2025-10-20T21:11:43.810" v="6557" actId="478"/>
          <ac:spMkLst>
            <pc:docMk/>
            <pc:sldMk cId="336631864" sldId="271"/>
            <ac:spMk id="3" creationId="{437194D6-6D09-453B-A999-D83B5E68740D}"/>
          </ac:spMkLst>
        </pc:spChg>
        <pc:spChg chg="del">
          <ac:chgData name="Zhang, Ziang" userId="86022b89-3620-4733-abee-95d8d72b2d97" providerId="ADAL" clId="{48F4A9CE-C642-5EFE-B34D-78AF252C9260}" dt="2025-10-20T20:26:24.948" v="6481"/>
          <ac:spMkLst>
            <pc:docMk/>
            <pc:sldMk cId="336631864" sldId="271"/>
            <ac:spMk id="4" creationId="{EB52A646-D4E0-5175-D591-35140BF6FDDC}"/>
          </ac:spMkLst>
        </pc:spChg>
        <pc:spChg chg="del">
          <ac:chgData name="Zhang, Ziang" userId="86022b89-3620-4733-abee-95d8d72b2d97" providerId="ADAL" clId="{48F4A9CE-C642-5EFE-B34D-78AF252C9260}" dt="2025-10-20T21:11:41.374" v="6556" actId="478"/>
          <ac:spMkLst>
            <pc:docMk/>
            <pc:sldMk cId="336631864" sldId="271"/>
            <ac:spMk id="5" creationId="{A6CCAFD3-D4B0-7B68-F7DC-6EAB57416B11}"/>
          </ac:spMkLst>
        </pc:spChg>
        <pc:spChg chg="del">
          <ac:chgData name="Zhang, Ziang" userId="86022b89-3620-4733-abee-95d8d72b2d97" providerId="ADAL" clId="{48F4A9CE-C642-5EFE-B34D-78AF252C9260}" dt="2025-10-20T21:11:41.374" v="6556" actId="478"/>
          <ac:spMkLst>
            <pc:docMk/>
            <pc:sldMk cId="336631864" sldId="271"/>
            <ac:spMk id="6" creationId="{C0922486-FA02-D236-DE96-B5097D18C698}"/>
          </ac:spMkLst>
        </pc:spChg>
        <pc:picChg chg="add mod">
          <ac:chgData name="Zhang, Ziang" userId="86022b89-3620-4733-abee-95d8d72b2d97" providerId="ADAL" clId="{48F4A9CE-C642-5EFE-B34D-78AF252C9260}" dt="2025-10-20T21:11:48.394" v="6558" actId="14100"/>
          <ac:picMkLst>
            <pc:docMk/>
            <pc:sldMk cId="336631864" sldId="271"/>
            <ac:picMk id="7" creationId="{714E8E50-C30E-BA24-250B-A0BAB0D181EE}"/>
          </ac:picMkLst>
        </pc:picChg>
      </pc:sldChg>
      <pc:sldChg chg="new del">
        <pc:chgData name="Zhang, Ziang" userId="86022b89-3620-4733-abee-95d8d72b2d97" providerId="ADAL" clId="{48F4A9CE-C642-5EFE-B34D-78AF252C9260}" dt="2025-10-20T20:28:05.022" v="6493" actId="2696"/>
        <pc:sldMkLst>
          <pc:docMk/>
          <pc:sldMk cId="3468426521" sldId="272"/>
        </pc:sldMkLst>
      </pc:sldChg>
      <pc:sldChg chg="addSp delSp modSp new del mod">
        <pc:chgData name="Zhang, Ziang" userId="86022b89-3620-4733-abee-95d8d72b2d97" providerId="ADAL" clId="{48F4A9CE-C642-5EFE-B34D-78AF252C9260}" dt="2025-10-21T01:08:32.248" v="8163" actId="2696"/>
        <pc:sldMkLst>
          <pc:docMk/>
          <pc:sldMk cId="4255607294" sldId="273"/>
        </pc:sldMkLst>
        <pc:spChg chg="del">
          <ac:chgData name="Zhang, Ziang" userId="86022b89-3620-4733-abee-95d8d72b2d97" providerId="ADAL" clId="{48F4A9CE-C642-5EFE-B34D-78AF252C9260}" dt="2025-10-20T20:27:51.310" v="6489" actId="478"/>
          <ac:spMkLst>
            <pc:docMk/>
            <pc:sldMk cId="4255607294" sldId="273"/>
            <ac:spMk id="2" creationId="{7A663B2C-BFB0-F7CE-8527-E1B022AF5CB0}"/>
          </ac:spMkLst>
        </pc:spChg>
        <pc:spChg chg="del">
          <ac:chgData name="Zhang, Ziang" userId="86022b89-3620-4733-abee-95d8d72b2d97" providerId="ADAL" clId="{48F4A9CE-C642-5EFE-B34D-78AF252C9260}" dt="2025-10-20T20:27:44.657" v="6488"/>
          <ac:spMkLst>
            <pc:docMk/>
            <pc:sldMk cId="4255607294" sldId="273"/>
            <ac:spMk id="3" creationId="{5A044F3D-AF6D-65A3-0044-F5D3A7CE4CDF}"/>
          </ac:spMkLst>
        </pc:spChg>
        <pc:picChg chg="add mod">
          <ac:chgData name="Zhang, Ziang" userId="86022b89-3620-4733-abee-95d8d72b2d97" providerId="ADAL" clId="{48F4A9CE-C642-5EFE-B34D-78AF252C9260}" dt="2025-10-20T20:27:58.842" v="6492" actId="14100"/>
          <ac:picMkLst>
            <pc:docMk/>
            <pc:sldMk cId="4255607294" sldId="273"/>
            <ac:picMk id="4" creationId="{CC96366F-A67F-F006-C2CC-9E0368ECD973}"/>
          </ac:picMkLst>
        </pc:picChg>
      </pc:sldChg>
      <pc:sldChg chg="addSp delSp modSp add del mod ord">
        <pc:chgData name="Zhang, Ziang" userId="86022b89-3620-4733-abee-95d8d72b2d97" providerId="ADAL" clId="{48F4A9CE-C642-5EFE-B34D-78AF252C9260}" dt="2025-10-21T01:08:29.836" v="8162" actId="2696"/>
        <pc:sldMkLst>
          <pc:docMk/>
          <pc:sldMk cId="1250452837" sldId="274"/>
        </pc:sldMkLst>
        <pc:spChg chg="add mod">
          <ac:chgData name="Zhang, Ziang" userId="86022b89-3620-4733-abee-95d8d72b2d97" providerId="ADAL" clId="{48F4A9CE-C642-5EFE-B34D-78AF252C9260}" dt="2025-10-20T21:12:09.997" v="6560" actId="21"/>
          <ac:spMkLst>
            <pc:docMk/>
            <pc:sldMk cId="1250452837" sldId="274"/>
            <ac:spMk id="3" creationId="{24C96327-D6B4-E9C8-712F-6AC659DF9D11}"/>
          </ac:spMkLst>
        </pc:spChg>
        <pc:spChg chg="add mod">
          <ac:chgData name="Zhang, Ziang" userId="86022b89-3620-4733-abee-95d8d72b2d97" providerId="ADAL" clId="{48F4A9CE-C642-5EFE-B34D-78AF252C9260}" dt="2025-10-20T21:12:35.286" v="6567"/>
          <ac:spMkLst>
            <pc:docMk/>
            <pc:sldMk cId="1250452837" sldId="274"/>
            <ac:spMk id="4" creationId="{3931074D-CCE1-5672-D1D2-7C63E0A5D2CD}"/>
          </ac:spMkLst>
        </pc:spChg>
        <pc:spChg chg="add mod">
          <ac:chgData name="Zhang, Ziang" userId="86022b89-3620-4733-abee-95d8d72b2d97" providerId="ADAL" clId="{48F4A9CE-C642-5EFE-B34D-78AF252C9260}" dt="2025-10-20T21:12:35.286" v="6567"/>
          <ac:spMkLst>
            <pc:docMk/>
            <pc:sldMk cId="1250452837" sldId="274"/>
            <ac:spMk id="5" creationId="{63C4A3B8-A51D-61B4-207E-2855B84803B6}"/>
          </ac:spMkLst>
        </pc:spChg>
        <pc:picChg chg="del">
          <ac:chgData name="Zhang, Ziang" userId="86022b89-3620-4733-abee-95d8d72b2d97" providerId="ADAL" clId="{48F4A9CE-C642-5EFE-B34D-78AF252C9260}" dt="2025-10-20T21:12:09.997" v="6560" actId="21"/>
          <ac:picMkLst>
            <pc:docMk/>
            <pc:sldMk cId="1250452837" sldId="274"/>
            <ac:picMk id="7" creationId="{404F8CED-E3E9-45D4-3308-A5B3F02893C9}"/>
          </ac:picMkLst>
        </pc:picChg>
      </pc:sldChg>
      <pc:sldMasterChg chg="addSp mod">
        <pc:chgData name="Zhang, Ziang" userId="86022b89-3620-4733-abee-95d8d72b2d97" providerId="ADAL" clId="{48F4A9CE-C642-5EFE-B34D-78AF252C9260}" dt="2025-10-20T20:16:34.961" v="5735" actId="33475"/>
        <pc:sldMasterMkLst>
          <pc:docMk/>
          <pc:sldMasterMk cId="4135623836" sldId="2147483648"/>
        </pc:sldMasterMkLst>
        <pc:spChg chg="add">
          <ac:chgData name="Zhang, Ziang" userId="86022b89-3620-4733-abee-95d8d72b2d97" providerId="ADAL" clId="{48F4A9CE-C642-5EFE-B34D-78AF252C9260}" dt="2025-10-20T20:16:34.961" v="5735" actId="33475"/>
          <ac:spMkLst>
            <pc:docMk/>
            <pc:sldMasterMk cId="4135623836" sldId="2147483648"/>
            <ac:spMk id="8" creationId="{A92928C8-D204-0FA6-42A5-9B567609628F}"/>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06857-204C-AC47-96FD-9722BEC647FD}" type="datetimeFigureOut">
              <a:rPr lang="en-US" smtClean="0"/>
              <a:t>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784608-109B-AB47-A93C-DEA587F8BA7F}" type="slidenum">
              <a:rPr lang="en-US" smtClean="0"/>
              <a:t>‹#›</a:t>
            </a:fld>
            <a:endParaRPr lang="en-US"/>
          </a:p>
        </p:txBody>
      </p:sp>
    </p:spTree>
    <p:extLst>
      <p:ext uri="{BB962C8B-B14F-4D97-AF65-F5344CB8AC3E}">
        <p14:creationId xmlns:p14="http://schemas.microsoft.com/office/powerpoint/2010/main" val="2432587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Greeting. This is the MongoDB hands-on session of the Data Bases and Data Wrangling series. Everybody works on their own laptop: MongoDB runs in Docker, the workbook is 2-mongodb-workshop/workbook.ipynb. Installation: SETUP.md in the repository.</a:t>
            </a:r>
          </a:p>
        </p:txBody>
      </p:sp>
      <p:sp>
        <p:nvSpPr>
          <p:cNvPr id="4" name="Slide Number Placeholder 3"/>
          <p:cNvSpPr>
            <a:spLocks noGrp="1"/>
          </p:cNvSpPr>
          <p:nvPr>
            <p:ph type="sldNum" sz="quarter" idx="5"/>
          </p:nvPr>
        </p:nvSpPr>
        <p:spPr/>
        <p:txBody>
          <a:bodyPr/>
          <a:lstStyle/>
          <a:p>
            <a:fld id="{5F784608-109B-AB47-A93C-DEA587F8BA7F}" type="slidenum">
              <a:rPr lang="en-US" smtClean="0"/>
              <a:t>1</a:t>
            </a:fld>
            <a:endParaRPr lang="en-US"/>
          </a:p>
        </p:txBody>
      </p:sp>
    </p:spTree>
    <p:extLst>
      <p:ext uri="{BB962C8B-B14F-4D97-AF65-F5344CB8AC3E}">
        <p14:creationId xmlns:p14="http://schemas.microsoft.com/office/powerpoint/2010/main" val="3688062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objectives: explain RBAC, understand CRUD, explore the schema with Python, query with Python, and explain how indexes and aggregation work. The workbook follows the same order. Time plan: about 3 hours; the slide 'The MongoDB data model' and the RBAC slide are about 25 minutes together, the exercises about two hours, and the aggregation block 35 minutes.</a:t>
            </a:r>
          </a:p>
        </p:txBody>
      </p:sp>
      <p:sp>
        <p:nvSpPr>
          <p:cNvPr id="4" name="Slide Number Placeholder 3"/>
          <p:cNvSpPr>
            <a:spLocks noGrp="1"/>
          </p:cNvSpPr>
          <p:nvPr>
            <p:ph type="sldNum" sz="quarter" idx="5"/>
          </p:nvPr>
        </p:nvSpPr>
        <p:spPr/>
        <p:txBody>
          <a:bodyPr/>
          <a:lstStyle/>
          <a:p>
            <a:fld id="{5F784608-109B-AB47-A93C-DEA587F8BA7F}" type="slidenum">
              <a:rPr lang="en-US" smtClean="0"/>
              <a:t>2</a:t>
            </a:fld>
            <a:endParaRPr lang="en-US"/>
          </a:p>
        </p:txBody>
      </p:sp>
    </p:spTree>
    <p:extLst>
      <p:ext uri="{BB962C8B-B14F-4D97-AF65-F5344CB8AC3E}">
        <p14:creationId xmlns:p14="http://schemas.microsoft.com/office/powerpoint/2010/main" val="4116216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come to the workshop, I would like to invite you to think …. Why do we need database? What’s a good database?</a:t>
            </a:r>
          </a:p>
          <a:p>
            <a:endParaRPr lang="en-US" dirty="0"/>
          </a:p>
          <a:p>
            <a:r>
              <a:rPr lang="en-US" dirty="0"/>
              <a:t>Any one can share the thoughts? We went over this in the morning. Totally open question no wrong answers</a:t>
            </a:r>
          </a:p>
          <a:p>
            <a:endParaRPr lang="en-US" dirty="0"/>
          </a:p>
          <a:p>
            <a:r>
              <a:rPr lang="en-US" dirty="0"/>
              <a:t>…..</a:t>
            </a:r>
          </a:p>
          <a:p>
            <a:endParaRPr lang="en-US" dirty="0"/>
          </a:p>
          <a:p>
            <a:r>
              <a:rPr lang="en-US" dirty="0"/>
              <a:t>My thoughts …</a:t>
            </a:r>
          </a:p>
        </p:txBody>
      </p:sp>
      <p:sp>
        <p:nvSpPr>
          <p:cNvPr id="4" name="Slide Number Placeholder 3"/>
          <p:cNvSpPr>
            <a:spLocks noGrp="1"/>
          </p:cNvSpPr>
          <p:nvPr>
            <p:ph type="sldNum" sz="quarter" idx="5"/>
          </p:nvPr>
        </p:nvSpPr>
        <p:spPr/>
        <p:txBody>
          <a:bodyPr/>
          <a:lstStyle/>
          <a:p>
            <a:fld id="{5F784608-109B-AB47-A93C-DEA587F8BA7F}" type="slidenum">
              <a:rPr lang="en-US" smtClean="0"/>
              <a:t>3</a:t>
            </a:fld>
            <a:endParaRPr lang="en-US"/>
          </a:p>
        </p:txBody>
      </p:sp>
    </p:spTree>
    <p:extLst>
      <p:ext uri="{BB962C8B-B14F-4D97-AF65-F5344CB8AC3E}">
        <p14:creationId xmlns:p14="http://schemas.microsoft.com/office/powerpoint/2010/main" val="3715963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using a database?</a:t>
            </a:r>
          </a:p>
          <a:p>
            <a:endParaRPr lang="en-US" dirty="0"/>
          </a:p>
          <a:p>
            <a:r>
              <a:rPr lang="en-US" dirty="0"/>
              <a:t>Access control gives you granular access control. It’s easy to specify who can visit in which mode, read only or read write. You can even specify the access expiration date in some systems</a:t>
            </a:r>
          </a:p>
          <a:p>
            <a:r>
              <a:rPr lang="en-US" dirty="0"/>
              <a:t>You get better performance in with database. If you work with network folders, you may have to download the whole file before processing it. For databases, the query runs remotely and only gives you the result you need.</a:t>
            </a:r>
          </a:p>
          <a:p>
            <a:r>
              <a:rPr lang="en-US" dirty="0"/>
              <a:t>Database provides the same standardized access protocol for all devices. Whether you are scripting in Python on a </a:t>
            </a:r>
            <a:r>
              <a:rPr lang="en-US" dirty="0" err="1"/>
              <a:t>linux</a:t>
            </a:r>
            <a:r>
              <a:rPr lang="en-US" dirty="0"/>
              <a:t> server, or using R on a mac, you connect to the database the same way. Same query, same result, very consistent</a:t>
            </a:r>
          </a:p>
        </p:txBody>
      </p:sp>
      <p:sp>
        <p:nvSpPr>
          <p:cNvPr id="4" name="Slide Number Placeholder 3"/>
          <p:cNvSpPr>
            <a:spLocks noGrp="1"/>
          </p:cNvSpPr>
          <p:nvPr>
            <p:ph type="sldNum" sz="quarter" idx="5"/>
          </p:nvPr>
        </p:nvSpPr>
        <p:spPr/>
        <p:txBody>
          <a:bodyPr/>
          <a:lstStyle/>
          <a:p>
            <a:fld id="{5F784608-109B-AB47-A93C-DEA587F8BA7F}" type="slidenum">
              <a:rPr lang="en-US" smtClean="0"/>
              <a:t>4</a:t>
            </a:fld>
            <a:endParaRPr lang="en-US"/>
          </a:p>
        </p:txBody>
      </p:sp>
    </p:spTree>
    <p:extLst>
      <p:ext uri="{BB962C8B-B14F-4D97-AF65-F5344CB8AC3E}">
        <p14:creationId xmlns:p14="http://schemas.microsoft.com/office/powerpoint/2010/main" val="4063091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a good database?</a:t>
            </a:r>
          </a:p>
          <a:p>
            <a:endParaRPr lang="en-US" dirty="0"/>
          </a:p>
          <a:p>
            <a:r>
              <a:rPr lang="en-US" dirty="0"/>
              <a:t>There might be hundreds of database products to choose on the Market. There are Oracle, MySQL, MongoDB, Amazon DynamoDB, Prometheus. What to choose for your application?</a:t>
            </a:r>
          </a:p>
          <a:p>
            <a:r>
              <a:rPr lang="en-US" dirty="0"/>
              <a:t>First quality I need for a good database is the community and support. A big community means higher chance to find solution to your issue, faster bug fixing and feature releasing. More importantly, You will find more open source projects depends on the database, so … You it’s easier for AI to write query for you. </a:t>
            </a:r>
          </a:p>
          <a:p>
            <a:r>
              <a:rPr lang="en-US" dirty="0"/>
              <a:t>Performance is another important factor. Modern database will have pretty good performance in general. In this context, you need to find the database works well with your data structure, and the ability to scale for your data size.</a:t>
            </a:r>
          </a:p>
          <a:p>
            <a:r>
              <a:rPr lang="en-US" dirty="0"/>
              <a:t>In real world development, you will consider the cost of licensing. Some database are super expensive so you will not consider them as an individual developer or small research group. Some databases provides the enterprise version and the community version. The community version means free of cost with some limits. You will make the decision by balancing the feature you need, and the budget you have.</a:t>
            </a:r>
          </a:p>
        </p:txBody>
      </p:sp>
      <p:sp>
        <p:nvSpPr>
          <p:cNvPr id="4" name="Slide Number Placeholder 3"/>
          <p:cNvSpPr>
            <a:spLocks noGrp="1"/>
          </p:cNvSpPr>
          <p:nvPr>
            <p:ph type="sldNum" sz="quarter" idx="5"/>
          </p:nvPr>
        </p:nvSpPr>
        <p:spPr/>
        <p:txBody>
          <a:bodyPr/>
          <a:lstStyle/>
          <a:p>
            <a:fld id="{5F784608-109B-AB47-A93C-DEA587F8BA7F}" type="slidenum">
              <a:rPr lang="en-US" smtClean="0"/>
              <a:t>5</a:t>
            </a:fld>
            <a:endParaRPr lang="en-US"/>
          </a:p>
        </p:txBody>
      </p:sp>
    </p:spTree>
    <p:extLst>
      <p:ext uri="{BB962C8B-B14F-4D97-AF65-F5344CB8AC3E}">
        <p14:creationId xmlns:p14="http://schemas.microsoft.com/office/powerpoint/2010/main" val="2076029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419DC-F023-B42B-0FBF-22062AC63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21FEE-9502-8FF5-93B8-929C9194A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058843-3A37-731A-D8E0-C008EE76DB45}"/>
              </a:ext>
            </a:extLst>
          </p:cNvPr>
          <p:cNvSpPr>
            <a:spLocks noGrp="1"/>
          </p:cNvSpPr>
          <p:nvPr>
            <p:ph type="body" idx="1"/>
          </p:nvPr>
        </p:nvSpPr>
        <p:spPr/>
        <p:txBody>
          <a:bodyPr/>
          <a:lstStyle/>
          <a:p>
            <a:r>
              <a:rPr lang="en-US" dirty="0"/>
              <a:t>What’s a good database?</a:t>
            </a:r>
          </a:p>
          <a:p>
            <a:endParaRPr lang="en-US" dirty="0"/>
          </a:p>
          <a:p>
            <a:r>
              <a:rPr lang="en-US" dirty="0"/>
              <a:t>There might be hundreds of database products to choose on the Market. There are Oracle, MySQL, MongoDB, Amazon DynamoDB, Prometheus. What to choose for your application?</a:t>
            </a:r>
          </a:p>
          <a:p>
            <a:r>
              <a:rPr lang="en-US" dirty="0"/>
              <a:t>First quality I need for a good database is the community and support. A big community means higher chance to find solution to your issue, faster bug fixing and feature releasing. More importantly, You will find more open source projects depends on the database, so … You it’s easier for AI to write query for you. </a:t>
            </a:r>
          </a:p>
          <a:p>
            <a:r>
              <a:rPr lang="en-US" dirty="0"/>
              <a:t>Performance is another important factor. Modern database will have pretty good performance in general. In this context, you need to find the database works well with your data structure, and the ability to scale for your data size.</a:t>
            </a:r>
          </a:p>
          <a:p>
            <a:r>
              <a:rPr lang="en-US" dirty="0"/>
              <a:t>In real world development, you will consider the cost of licensing. Some database are super expensive so you will not consider them as an individual developer or small research group. Some databases provides the enterprise version and the community version. The community version means free of cost with some limits. You will make the decision by balancing the feature you need, and the budget you have.</a:t>
            </a:r>
          </a:p>
        </p:txBody>
      </p:sp>
      <p:sp>
        <p:nvSpPr>
          <p:cNvPr id="4" name="Slide Number Placeholder 3">
            <a:extLst>
              <a:ext uri="{FF2B5EF4-FFF2-40B4-BE49-F238E27FC236}">
                <a16:creationId xmlns:a16="http://schemas.microsoft.com/office/drawing/2014/main" id="{3934D200-2EB0-B3B5-35B9-F5883DA794BD}"/>
              </a:ext>
            </a:extLst>
          </p:cNvPr>
          <p:cNvSpPr>
            <a:spLocks noGrp="1"/>
          </p:cNvSpPr>
          <p:nvPr>
            <p:ph type="sldNum" sz="quarter" idx="5"/>
          </p:nvPr>
        </p:nvSpPr>
        <p:spPr/>
        <p:txBody>
          <a:bodyPr/>
          <a:lstStyle/>
          <a:p>
            <a:fld id="{5F784608-109B-AB47-A93C-DEA587F8BA7F}" type="slidenum">
              <a:rPr lang="en-US" smtClean="0"/>
              <a:t>6</a:t>
            </a:fld>
            <a:endParaRPr lang="en-US"/>
          </a:p>
        </p:txBody>
      </p:sp>
    </p:spTree>
    <p:extLst>
      <p:ext uri="{BB962C8B-B14F-4D97-AF65-F5344CB8AC3E}">
        <p14:creationId xmlns:p14="http://schemas.microsoft.com/office/powerpoint/2010/main" val="2616403255"/>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previous version of this workshop everybody connected to a shared MongoDB Atlas cluster. Now every student has their own MongoDB, running in a Docker container on their laptop: no cloud account, no network dependency, and nobody can break anybody else's data.</a:t>
            </a:r>
          </a:p>
          <a:p>
            <a:r>
              <a:t>The docker-compose.yml in the docker/ folder starts MongoDB 7 and Neo4j 5 with one command. On the first start MongoDB also runs docker/mongo-init/01-create-users.js, which creates the restricted 'student' account. That reproduces the classroom permission model, so the RBAC demonstration works exactly as before: the student can read the shared 'public' database but only write into 'student_db'.</a:t>
            </a:r>
          </a:p>
          <a:p>
            <a:r>
              <a:t>Check the setup with python scripts/check_setup.py. If something fails, SETUP.md has a troubleshooting table: the most common problems are Docker not running, a port that is already in use (use MONGO_PORT=27018) and running Jupyter outside the virtual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connection string (URI) tells the driver where the server is and who you are. Read it from left to right: the scheme 'mongodb://', the user name, the password, the host, the port, and options after the question mark. authSource=admin means that the account is defined in the admin database.</a:t>
            </a:r>
          </a:p>
          <a:p>
            <a:r>
              <a:t>There are three flavours. A standard single-server string (what we use today); a standard replica-set string that lists several servers; and an SRV string (mongodb+srv://) used by MongoDB Atlas, where a DNS SRV record tells the driver where the servers are; this needs the dnspython package. If you want to inspect an SRV record: nslookup -type=SRV _mongodb._tcp.&lt;cluster&gt;.mongodb.net.</a:t>
            </a:r>
          </a:p>
          <a:p>
            <a:r>
              <a:t>Special characters in a password (@ : / ?) must be URL-encoded inside the URI (@ becomes %40). Our workshop passwords have none, on purpose. PyMongo keeps a connection pool: create one MongoClient per notebook and reuse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 stores data in a simple hierarchy: a server holds databases, a database holds collections, a collection holds documents, and a document holds fields. A collection is roughly a SQL table, a document a row, a field a column, but documents in the same collection do not need identical fields. Every document has an _id, unique in its collection; if you do not provide one MongoDB generates an ObjectId.</a:t>
            </a:r>
          </a:p>
          <a:p>
            <a:r>
              <a:t>A VCF record is the perfect example for documents: one line has variable parts, a list of ALT alleles, an INFO dictionary whose keys differ between callers, and a list of genotype calls, one per sample. In SQL this is three or four tables with joins. In MongoDB it is one document, shown on the right.</a:t>
            </a:r>
          </a:p>
          <a:p>
            <a:r>
              <a:t>In code: client['student_db'] gives a database, db['variants'] a collection, collection.find_one() a document.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RBAC stands for role-based access control. Instead of giving each person individual permissions, you give them roles; a role is a named bundle of privileges such as 'may find in database X' or 'may insert in database Y'. The server checks the privileges before every operation.</a:t>
            </a:r>
          </a:p>
          <a:p>
            <a:r>
              <a:t>In our Docker setup there are two accounts. The admin has the root role: everything. The student has role 'read' on the shared 'public' database and 'readWrite' plus 'dbAdmin' on its own 'student_db'. In the workbook we try eight operations and print whether MongoDB allowed them: reading public works; insert, delete, drop and create-index on public are denied with error code 13 (Unauthorized); the same operations in student_db work; reading the admin database is denied.</a:t>
            </a:r>
          </a:p>
          <a:p>
            <a:r>
              <a:t>Principle of least privilege: give every account the minimum it needs. A student cannot wreck shared data, even by accident, and a leaked student password exposes very little. Our Docker setup also binds the port to 127.0.0.1, so nobody else on the network can connect.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look around first: which collections exist, how big are they, what does a document look like, and which fields does every document have?</a:t>
            </a:r>
          </a:p>
          <a:p>
            <a:r>
              <a:t>The public database has three collections: example (the text of two VCF files, 2 documents), variant_catalog (50,000 parsed variants) and samples (6 sample records). find_one() returns one document; a projection such as {content: 0} hides a long field.</a:t>
            </a:r>
          </a:p>
          <a:p>
            <a:r>
              <a:t>MongoDB does not enforce a schema, but your data has one, and you need to discover it. The helper in the workbook draws a random sample of documents with the $sample aggregation stage and records, for every field path, its type(s) and the percentage of documents that contain it. A field present in 100% of documents is required in practice; a field with several types is a data-quality red flag. Nested documents are shown with dots (info.DP), lists as list[type].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VCF (Variant Call Format) is the standard text format for genetic variants. It has three kinds of lines. Lines starting with ## are meta-information: they define the fields that may appear in INFO, FORMAT and FILTER. The line starting with a single # is the column header. Every other line describes one variant.</a:t>
            </a:r>
          </a:p>
          <a:p>
            <a:r>
              <a:t>CHROM and POS give the location (position is 1-based). REF and ALT are the reference and alternative alleles; ALT is comma-separated if there are several. QUAL is a Phred-scaled confidence that the variant is real: 30 means a 1 in 1,000 chance of being wrong, 60 a 1 in 1,000,000. FILTER is PASS if all quality filters were passed, otherwise the names of the failed filters. INFO is key=value;key=value with annotations of the site. After FORMAT come the sample columns, each laid out as FORMAT says: GT genotype (0/1 heterozygous, 1/1 homozygous alternative, a vertical bar means phased), DP depth, GQ genotype quality.</a:t>
            </a:r>
          </a:p>
          <a:p>
            <a:r>
              <a:t>Our file sample.vcf is synthetic: random positions and bases with realistic statistics (see data/README.md).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inserting we make the modelling decisions; this is the most important MongoDB skill. Multiple ALT alleles: store them as an array, so one document still corresponds to one VCF line. INFO: a nested document, which keeps the site annotations together and keeps numeric types numeric. Per-sample genotypes: an array of sub-documents (embedded), because there are only three samples per variant and we always read them with the variant. Missing values: JSON null, not the text '.'. Derived facts such as the variant type (SNV, INS, DEL) and the zygosity (hom_ref, het, hom_alt, missing) are computed once at load time because that is cheaper and clearer than recomputing from strings at query time.</a:t>
            </a:r>
          </a:p>
          <a:p>
            <a:r>
              <a:t>The function record_to_doc in the workbook does the conversion with vcfpy: vcfpy.Reader(io.StringIO(text)) reads the VCF text that we fetched from public.example, so no temporary file is needed.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insert_one adds one document; insert_many adds a batch and is much faster than a loop of insert_one because it needs one network round trip. With ordered=False the server continues past a failing document. insert_many adds the generated _id to the dicts you pass, so do not reuse them.</a:t>
            </a:r>
          </a:p>
          <a:p>
            <a:r>
              <a:t>Every document needs an _id, unique within its collection. If you omit it the driver creates an ObjectId: 12 bytes made of a timestamp, a machine/process part and a counter, unique without asking the server. If you supply your own, a natural key such as chrom:pos:ref&gt;alt makes loads idempotent. The demo in the workbook loads the same 5 variants twice: with generated ids you get 10 documents (duplicates); with a natural key and UpdateOne(..., upsert=True) you get 5. An upsert means 'update this document, or insert it if it does not exist yet', like MERGE in Cypher.</a:t>
            </a:r>
          </a:p>
          <a:p>
            <a:r>
              <a:t>A second insert with an existing _id raises DuplicateKeyError (error code 11000).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an index MongoDB must read every document to answer a query: a collection scan (COLLSCAN). An index is a sorted side structure (a B-tree) that lets the server jump straight to the matching documents (IXSCAN), like the index at the back of a book.</a:t>
            </a:r>
          </a:p>
          <a:p>
            <a:r>
              <a:t>The student account cannot create indexes on the shared public database, so the workbook first copies the 50,000 catalogue variants into student_db.catalog. The query is 'variants on chromosome 17 between 10 Mb and 30 Mb', the same as bcftools view -r 17:10000000-30000000. explain with verbosity executionStats runs the query and reports what the server really did. Without an index the plan is COLLSCAN and the server examined all 50,000 documents to return 316. After creating the compound index on (chrom, pos) the plan is FETCH &gt; IXSCAN and only the 316 matching documents are examined. Time on the server dropped from about 10 ms to about 1 ms (your numbers will vary).</a:t>
            </a:r>
          </a:p>
          <a:p>
            <a:r>
              <a:t>Compound index order matters: put the equality field first (chrom) and the range field second (pos): the Equality, Sort, Range rule. An index on (chrom, pos) also serves queries on chrom alone, but not on pos alone. Indexes are not free: they use disk and RAM and slow down writes slightly, so index what you query.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recurring MongoDB design question: store related data inside the document (embed) or in another collection (reference)?</a:t>
            </a:r>
          </a:p>
          <a:p>
            <a:r>
              <a:t>Embed when the data is read together, is bounded in size and belongs to one parent: in our data the three genotype calls of a variant. One read, no join. Reference when the list is unbounded, shared, or changes independently: the sample metadata lives in its own collection (public.samples) and is linked by the sample name. A document can only grow to 16 MB.</a:t>
            </a:r>
          </a:p>
          <a:p>
            <a:r>
              <a:t>With 3 samples per variant embedding is perfect. In a cohort of 100,000 samples an embedded calls array would exceed 16 MB and make every update slow: there you would reference, for example with one document per (variant, sample). This is the same lesson as the quiz question about unbounded monthly samples per site.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find(filter, projection) returns a cursor, a lazy iterator over the matching documents. The filter says which documents (WHERE), the projection which fields (SELECT), sort orders them, skip and limit page the result. A filter with several field: condition pairs means AND.</a:t>
            </a:r>
          </a:p>
          <a:p>
            <a:r>
              <a:t>The operators: $eq and $ne, $gt $gte $lt $lte, $in and $nin, $and $or $nor $not, $exists. Arrays are matched directly: {alt: 'T'} matches if the array contains T, {alt: {$size: 2}} matches arrays of length 2. Nested fields use dot notation: info.DP, and array positions work too, info.AF.0 is the allele frequency of the first ALT allele.</a:t>
            </a:r>
          </a:p>
          <a:p>
            <a:r>
              <a:t>Our results on sample.vcf: 120 variants are PASS with QUAL &gt;= 50 and DP &gt;= 20; 64 variants have an ALT allele T; 12 are multi-allelic; 3 are rare (first-ALT population frequency below 1%); there are 219 SNVs, 14 insertions and 17 deletions. Always limit() when exploring so you never pull a million documents into notebook memory.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variants have SAMPLE_B homozygous for the ALT allele? Beginners write the obvious query with two dotted conditions: calls.sample = SAMPLE_B and calls.zygosity = hom_alt. MongoDB flattens arrays for dot-notation matching, so each condition may be satisfied by a different element of the array: a variant where SAMPLE_A is hom_alt and SAMPLE_B is het also matches. The result is 111 variants. $elemMatch requires that both conditions hold for the same element and returns the correct 69.</a:t>
            </a:r>
          </a:p>
          <a:p>
            <a:r>
              <a:t>This is one of the most common MongoDB mistakes with arrays of sub-documents, and it is silent: no error, just a wrong count. Whenever you need two conditions on the same array element, use $elemMatch (and arrayFilters when updating).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update_one changes the first match and update_many all matches. The update document uses operators: $set sets or adds a field, $unset removes one, $inc adds a number, $rename renames, $push and $addToSet append to an array, $pull removes elements. A bare {field: value} would be rejected.</a:t>
            </a:r>
          </a:p>
          <a:p>
            <a:r>
              <a:t>The result object tells you matched_count (found by the filter) and modified_count (really changed). They can differ: updating a field to the value it already has modifies nothing. In the workbook the first update matches and modifies 191 variants; running it a second time matches 191 and modifies 0, which is what makes updates safely repeatable. Good habit: count_documents with the same filter before you write.</a:t>
            </a:r>
          </a:p>
          <a:p>
            <a:r>
              <a:t>Passing a list instead of a dict makes the update an aggregation pipeline, which can compute a value from other fields of the same document: is_high_quality = qual &gt;= 30 and filter == PASS (191 true, 59 false), and af_bin with $switch (&lt;1%: 3, 1-5%: 39, 5-50%: 197, &gt;=50%: 11). arrayFilters update only matching array elements: 40 calls with GQ below 20 were flagged in 37 variants. Updates of a single document are atomic.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delete_one removes the first match, delete_many all matches, and delete_many({}) removes everything. There is no undo and no recycle bin, so follow four steps. 1: count with the exact same filter (59 of 250 variants would be removed). 2: look at a few examples of what would be deleted. 3: delete and compare deleted_count with step 1. 4: verify what remains (191 variants, none non-PASS).</a:t>
            </a:r>
          </a:p>
          <a:p>
            <a:r>
              <a:t>Safer alternatives: a soft delete, where you mark documents with deleted: true and add 'deleted: {$ne: true}' to your normal queries (easy to undo; the price is that you must remember the extra condition); archive first by copying the documents to another collection ($out or $merge); and least privilege: an account that cannot delete cannot delete by accident (RBAC again). drop() deletes a whole collection together with its indexes and is even more final.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returns documents. To summarise them (counts per chromosome, mean depth, histograms) use the aggregation pipeline: a list of stages where the output of each stage is the input of the next, like an assembly line or a Unix pipe.</a:t>
            </a:r>
          </a:p>
          <a:p>
            <a:r>
              <a:t>The most important stages: $match keeps documents matching a filter (put it first: it can use an index; WHERE in SQL); $group groups by a key and computes $sum, $avg, $min, $max or $push (GROUP BY); $sort, $limit and $skip order and cut; $project and $addFields choose or compute fields; $unwind produces one output document per array element; $bucket makes histogram bins; $lookup is a left outer join with another collection in the same database; $out and $merge write the result into a collection (CREATE TABLE AS).</a:t>
            </a:r>
          </a:p>
          <a:p>
            <a:r>
              <a:t>In an expression, '$field' means the value of this field. Aggregations run inside the database, so only the small result travels to Python.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per chromosome and per filter are the aggregation equivalent of bcftools query | sort | uniq -c. On sample.vcf: chromosome 2 has 67 variants, X 62, 1 has 61 and 17 has 60; 191 variants are PASS, 54 LowQual and 5 LowDP.</a:t>
            </a:r>
          </a:p>
          <a:p>
            <a:r>
              <a:t>The transition/transversion ratio (Ts/Tv) is a classic quality metric of a call set. Transitions (A&lt;-&gt;G, C&lt;-&gt;T) are chemically more likely than transversions; in real human data Ts/Tv is about 2.0-2.1 and a much lower value suggests many false positives. The pipeline: $match single-nucleotide variants; $unwind the alt array so that a multi-allelic site becomes one document per ALT allele; $addFields a string such as 'C&gt;T' with $concat; $group by that string and count. Then Python computes the ratio: 157 transitions and 74 transversions give Ts/Tv = 2.12.</a:t>
            </a:r>
          </a:p>
          <a:p>
            <a:r>
              <a:t>The QUAL histogram uses $bucket. It shows two populations: a bump of low-QUAL calls (noise) and a broad hump of high-QUAL calls, which is why QUAL &gt;= 30 is such a common filter.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genotype calls are embedded in each variant, $unwind turns each variant into three documents (one per sample), and grouping by sample and zygosity gives per-sample statistics, the equivalent of bcftools stats -s. No join is needed: that is the power of the embedded design. In sample.vcf, SAMPLE_A has 89 heterozygous and 73 homozygous-alt calls, a het/hom-alt ratio of 1.22.</a:t>
            </a:r>
          </a:p>
          <a:p>
            <a:r>
              <a:t>MongoDB has no JOIN keyword, but $lookup does a left outer join with another collection in the same database. Joins across databases are not allowed, so the workbook first copies public.samples (6 documents) into student_db; we are allowed to read it. We then attach each sample's population and coverage to its number of variant calls.</a:t>
            </a:r>
          </a:p>
          <a:p>
            <a:r>
              <a:t>End a pipeline with $out to store its result as a collection: a materialised summary that you can query instantly later even if the raw data are huge.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translation table. bcftools query extracts columns: find with a projection in MongoDB, SELECT in SQL. bcftools view -f PASS keeps PASS records: find({filter: 'PASS'}). A region: chrom equality plus a pos range, served by the compound index. SNVs only: the derived type field. Expressions: comparison operators in the filter. Counting records: count_documents. Counts per chromosome: $group, the same as GROUP BY.</a:t>
            </a:r>
          </a:p>
          <a:p>
            <a:r>
              <a:t>The right-hand column lists the CRUD operations of PyMongo.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assignment uses assignment.vcf, stored in public.example: 800 synthetic variants on chromosomes 7, 12, 19 and 22 with samples SAMPLE_D, SAMPLE_E and SAMPLE_F. Task 1 (2%): fetch the file, slice it (keep chromosomes 22 and 7, positions between 10 Mb and 60 Mb), parse it with parse_vcf and insert it into a collection called assignment_variants in student_db. Task 2 (3%): with aggregation pipelines compute (a) the number of variants per chromosome, (b) the QUAL distribution with $bucket, and (c) the distribution of the number of ALT alleles per variant ($size of the alt array); store each result in a DataFrame and draw one plot per result.</a:t>
            </a:r>
          </a:p>
          <a:p>
            <a:r>
              <a:t>The workbook has starter code and a self-check cell that prints a check mark or a cross for each task.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Tick off the learning objectives. RBAC: roles per database, least privilege, error code 13. CRUD: insert_many, find with operators, update with $set and pipeline updates, delete with guard-rails. Schema: explore with $sample, design the document deliberately, embed versus reference. Indexes: COLLSCAN to IXSCAN, compound index order. Aggregation: stages, Ts/Tv, histograms, per-sample statistics, $lookup and $out.</a:t>
            </a:r>
          </a:p>
          <a:p>
            <a:r>
              <a:t>Next lecture: graph databases, where the relationships between records, not the records themselves, are the focus. The same genome and variant questions look different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4D13-0AF5-47F0-2154-DEEE798AB6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D7F924-BF3D-5B36-5DC4-608CDB5A46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9B1FBE-3F45-CA79-D23B-8E5974315474}"/>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5" name="Footer Placeholder 4">
            <a:extLst>
              <a:ext uri="{FF2B5EF4-FFF2-40B4-BE49-F238E27FC236}">
                <a16:creationId xmlns:a16="http://schemas.microsoft.com/office/drawing/2014/main" id="{7423A7D1-9D94-05B0-4D46-AE1147C5E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0AB79-8B4E-5342-AEB8-44CF898470D5}"/>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775741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9940-A560-E2E7-DDD7-05BF82219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D9329C-8D59-1596-4134-12EA9B347B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29BAB-2993-0D65-BCA4-8DF00C8C88E9}"/>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5" name="Footer Placeholder 4">
            <a:extLst>
              <a:ext uri="{FF2B5EF4-FFF2-40B4-BE49-F238E27FC236}">
                <a16:creationId xmlns:a16="http://schemas.microsoft.com/office/drawing/2014/main" id="{DE3D3EF9-9A0A-DD9B-CB88-11AF441AFB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50B04C-643B-81F1-F377-8C2B89622C6D}"/>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54611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5B155-6E8E-376C-26CB-3D86558889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2015B3-E391-6D15-8A78-316E2F4D14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3EF4DC-101A-B984-05D7-DD1BAFEB4118}"/>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5" name="Footer Placeholder 4">
            <a:extLst>
              <a:ext uri="{FF2B5EF4-FFF2-40B4-BE49-F238E27FC236}">
                <a16:creationId xmlns:a16="http://schemas.microsoft.com/office/drawing/2014/main" id="{D45B6271-FF54-8C23-3A90-27D5FF9E9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36372-ECF6-3C7F-B309-F357A010C563}"/>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379249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3846-017D-106B-84B5-24D10B0B84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77E763-2A29-3D0E-842A-58B63DA132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94DA7A-DA73-8FE2-49B7-365AB47F89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4BF4BA-D9BF-6AC4-4A89-7B2C25AEB8EB}"/>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6" name="Footer Placeholder 5">
            <a:extLst>
              <a:ext uri="{FF2B5EF4-FFF2-40B4-BE49-F238E27FC236}">
                <a16:creationId xmlns:a16="http://schemas.microsoft.com/office/drawing/2014/main" id="{1E183F5F-AAC5-3E0E-B3AA-9C980FD1A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C5408D-10B3-6105-1D03-7A26B17860CF}"/>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618218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CC433-06F8-E695-0C23-87CC6D0D8C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AD5F79-D6C5-DDC9-0886-8A01B176E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B407BD-463E-F7FC-A36C-6586270DC9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390DBE-DDF1-FAA8-03D2-E38663C2D1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25112C-78C2-90D4-CA10-0777929D1E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460DEC-3586-CAE4-66A8-449CC374F6C6}"/>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8" name="Footer Placeholder 7">
            <a:extLst>
              <a:ext uri="{FF2B5EF4-FFF2-40B4-BE49-F238E27FC236}">
                <a16:creationId xmlns:a16="http://schemas.microsoft.com/office/drawing/2014/main" id="{BF12A016-B8A1-0DAF-D862-FC30046755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03DA9C-442F-83F5-C93D-7DE100E7F1F3}"/>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2718455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A5A5-98E1-60E5-E817-7C6DFC75D1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1AAD21-240E-4E28-8D8B-BD9B230D9DD6}"/>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4" name="Footer Placeholder 3">
            <a:extLst>
              <a:ext uri="{FF2B5EF4-FFF2-40B4-BE49-F238E27FC236}">
                <a16:creationId xmlns:a16="http://schemas.microsoft.com/office/drawing/2014/main" id="{C9D699FA-3E5E-9BD8-744C-66E8294B8C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2028DD-7A5E-9B20-D393-EE4E75E1BB70}"/>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2845853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AB1358-3613-13C9-C0B7-004C584EE157}"/>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3" name="Footer Placeholder 2">
            <a:extLst>
              <a:ext uri="{FF2B5EF4-FFF2-40B4-BE49-F238E27FC236}">
                <a16:creationId xmlns:a16="http://schemas.microsoft.com/office/drawing/2014/main" id="{05EBEEDD-FBF9-64FF-AB78-FEBF1B6485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18850-5319-D707-1354-A44DB7F170AD}"/>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03653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27E20-43D5-C764-70E7-119B8C126B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1AD1B9-29A7-66B6-5260-FE5B7EECC3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4B2D96-26C8-F12F-C61F-4C7224794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C8492-E391-D49F-DC61-DBDC541E8D4F}"/>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6" name="Footer Placeholder 5">
            <a:extLst>
              <a:ext uri="{FF2B5EF4-FFF2-40B4-BE49-F238E27FC236}">
                <a16:creationId xmlns:a16="http://schemas.microsoft.com/office/drawing/2014/main" id="{9C8040B7-491C-5862-8257-FF839B3F69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FE5F6-D920-CE6A-DF40-F3230961B0F7}"/>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108989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064CB-02D7-67C6-1187-217524B956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55BF9C-BFB1-7176-D5BD-1401A6A08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67268B-5579-224D-3C04-6D638C5B5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9A34E-CD93-4E68-66CE-72F31E91021B}"/>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6" name="Footer Placeholder 5">
            <a:extLst>
              <a:ext uri="{FF2B5EF4-FFF2-40B4-BE49-F238E27FC236}">
                <a16:creationId xmlns:a16="http://schemas.microsoft.com/office/drawing/2014/main" id="{EDD6924A-BD6C-86C4-11CF-0E15EAD5E6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76B134-9AA5-3BFD-CABD-21DADF99FA0A}"/>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653781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34A4-7FBC-300F-A6B2-9827080A75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CC1AF9-FA4C-4625-BA29-317CA723CA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EFA009-4915-B8F0-2B28-12C40C0969C8}"/>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5" name="Footer Placeholder 4">
            <a:extLst>
              <a:ext uri="{FF2B5EF4-FFF2-40B4-BE49-F238E27FC236}">
                <a16:creationId xmlns:a16="http://schemas.microsoft.com/office/drawing/2014/main" id="{886208DF-491D-B73A-6462-D7B50B4C2E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DC0A0-7C24-D6AC-3539-5456C8DC670E}"/>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145496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9FFA73-D82D-7E4D-01F0-3CB1E6EF84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CFF21-A84B-7FEC-A2D6-34627ADA61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3EE14-D5B7-B0D7-59FA-03CA58E2C519}"/>
              </a:ext>
            </a:extLst>
          </p:cNvPr>
          <p:cNvSpPr>
            <a:spLocks noGrp="1"/>
          </p:cNvSpPr>
          <p:nvPr>
            <p:ph type="dt" sz="half" idx="10"/>
          </p:nvPr>
        </p:nvSpPr>
        <p:spPr/>
        <p:txBody>
          <a:bodyPr/>
          <a:lstStyle/>
          <a:p>
            <a:fld id="{154F0F4B-3552-6348-A459-82F3827CA3A8}" type="datetimeFigureOut">
              <a:rPr lang="en-US" smtClean="0"/>
              <a:t>10/20/25</a:t>
            </a:fld>
            <a:endParaRPr lang="en-US"/>
          </a:p>
        </p:txBody>
      </p:sp>
      <p:sp>
        <p:nvSpPr>
          <p:cNvPr id="5" name="Footer Placeholder 4">
            <a:extLst>
              <a:ext uri="{FF2B5EF4-FFF2-40B4-BE49-F238E27FC236}">
                <a16:creationId xmlns:a16="http://schemas.microsoft.com/office/drawing/2014/main" id="{18284A9E-F68E-339E-54E7-4A1BA4A9E1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0ACD3-038C-7BAD-C0A3-AC45790649EF}"/>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8022225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E5405-6037-EE6E-D727-D6686B85FF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C2CAE8-BE39-4227-66CD-4396168819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125CE9-8491-BCBB-1709-1D87D69361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4F0F4B-3552-6348-A459-82F3827CA3A8}" type="datetimeFigureOut">
              <a:rPr lang="en-US" smtClean="0"/>
              <a:t>10/20/25</a:t>
            </a:fld>
            <a:endParaRPr lang="en-US"/>
          </a:p>
        </p:txBody>
      </p:sp>
      <p:sp>
        <p:nvSpPr>
          <p:cNvPr id="5" name="Footer Placeholder 4">
            <a:extLst>
              <a:ext uri="{FF2B5EF4-FFF2-40B4-BE49-F238E27FC236}">
                <a16:creationId xmlns:a16="http://schemas.microsoft.com/office/drawing/2014/main" id="{FCEA9951-2D4E-21B8-2877-E266D2AD42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F427C4-DC15-99A2-0E9E-75F25EF73E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BE4B7F-C25D-E74A-A11E-9EDAC9D4396D}" type="slidenum">
              <a:rPr lang="en-US" smtClean="0"/>
              <a:t>‹#›</a:t>
            </a:fld>
            <a:endParaRPr lang="en-US"/>
          </a:p>
        </p:txBody>
      </p:sp>
      <p:sp>
        <p:nvSpPr>
          <p:cNvPr id="8" name="TextBox 7">
            <a:extLst>
              <a:ext uri="{FF2B5EF4-FFF2-40B4-BE49-F238E27FC236}">
                <a16:creationId xmlns:a16="http://schemas.microsoft.com/office/drawing/2014/main" id="{A92928C8-D204-0FA6-42A5-9B567609628F}"/>
              </a:ext>
            </a:extLst>
          </p:cNvPr>
          <p:cNvSpPr txBox="1"/>
          <p:nvPr userDrawn="1">
            <p:extLst>
              <p:ext uri="{1162E1C5-73C7-4A58-AE30-91384D911F3F}">
                <p184:classification xmlns:p184="http://schemas.microsoft.com/office/powerpoint/2018/4/main" val="ftr"/>
              </p:ext>
            </p:extLst>
          </p:nvPr>
        </p:nvSpPr>
        <p:spPr>
          <a:xfrm>
            <a:off x="63500" y="6642100"/>
            <a:ext cx="1220788"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St. Jude - Confidential</a:t>
            </a:r>
          </a:p>
        </p:txBody>
      </p:sp>
    </p:spTree>
    <p:extLst>
      <p:ext uri="{BB962C8B-B14F-4D97-AF65-F5344CB8AC3E}">
        <p14:creationId xmlns:p14="http://schemas.microsoft.com/office/powerpoint/2010/main" val="4135623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2CCF75-A32F-6D3E-356A-4F6CF28F53AF}"/>
              </a:ext>
            </a:extLst>
          </p:cNvPr>
          <p:cNvSpPr>
            <a:spLocks noGrp="1"/>
          </p:cNvSpPr>
          <p:nvPr>
            <p:ph type="ctrTitle"/>
          </p:nvPr>
        </p:nvSpPr>
        <p:spPr>
          <a:xfrm>
            <a:off x="6574282" y="1100818"/>
            <a:ext cx="4805996" cy="1297115"/>
          </a:xfrm>
        </p:spPr>
        <p:txBody>
          <a:bodyPr anchor="t">
            <a:normAutofit/>
          </a:bodyPr>
          <a:lstStyle/>
          <a:p>
            <a:pPr algn="l"/>
            <a:r>
              <a:rPr lang="en-US" sz="4000" dirty="0">
                <a:solidFill>
                  <a:schemeClr val="tx2"/>
                </a:solidFill>
              </a:rPr>
              <a:t>NoSQL Databases for Bioinformatics</a:t>
            </a:r>
            <a:r>
              <a:rPr lang="en-US" sz="4000" dirty="0">
                <a:solidFill>
                  <a:schemeClr val="tx2"/>
                </a:solidFill>
                <a:effectLst/>
              </a:rPr>
              <a:t> </a:t>
            </a:r>
            <a:endParaRPr lang="en-US" sz="4000" dirty="0">
              <a:solidFill>
                <a:schemeClr val="tx2"/>
              </a:solidFill>
            </a:endParaRPr>
          </a:p>
        </p:txBody>
      </p:sp>
      <p:sp>
        <p:nvSpPr>
          <p:cNvPr id="4" name="Rectangle 3">
            <a:extLst>
              <a:ext uri="{FF2B5EF4-FFF2-40B4-BE49-F238E27FC236}">
                <a16:creationId xmlns:a16="http://schemas.microsoft.com/office/drawing/2014/main" id="{0F89DE96-BD63-5DF4-75A8-78E5DF718320}"/>
              </a:ext>
            </a:extLst>
          </p:cNvPr>
          <p:cNvSpPr/>
          <p:nvPr/>
        </p:nvSpPr>
        <p:spPr>
          <a:xfrm>
            <a:off x="132994" y="3965861"/>
            <a:ext cx="3608842" cy="1624237"/>
          </a:xfrm>
          <a:prstGeom prst="rect">
            <a:avLst/>
          </a:prstGeom>
          <a:solidFill>
            <a:srgbClr val="D413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4117F24-66B9-F755-8690-F8EDDD63AE17}"/>
              </a:ext>
            </a:extLst>
          </p:cNvPr>
          <p:cNvSpPr>
            <a:spLocks noGrp="1"/>
          </p:cNvSpPr>
          <p:nvPr>
            <p:ph type="subTitle" idx="1"/>
          </p:nvPr>
        </p:nvSpPr>
        <p:spPr>
          <a:xfrm>
            <a:off x="6604973" y="2283702"/>
            <a:ext cx="4805691" cy="838831"/>
          </a:xfrm>
        </p:spPr>
        <p:txBody>
          <a:bodyPr anchor="b">
            <a:noAutofit/>
          </a:bodyPr>
          <a:lstStyle/>
          <a:p>
            <a:pPr algn="l"/>
            <a:r>
              <a:rPr lang="en-US" dirty="0">
                <a:solidFill>
                  <a:schemeClr val="tx2"/>
                </a:solidFill>
              </a:rPr>
              <a:t>MongoDB Workshop</a:t>
            </a:r>
            <a:endParaRPr lang="en-US" dirty="0">
              <a:solidFill>
                <a:schemeClr val="tx2"/>
              </a:solidFill>
              <a:effectLst/>
            </a:endParaRPr>
          </a:p>
        </p:txBody>
      </p:sp>
      <p:pic>
        <p:nvPicPr>
          <p:cNvPr id="6" name="Picture 5">
            <a:extLst>
              <a:ext uri="{FF2B5EF4-FFF2-40B4-BE49-F238E27FC236}">
                <a16:creationId xmlns:a16="http://schemas.microsoft.com/office/drawing/2014/main" id="{0BCAC87D-BE74-14F2-47C6-B5516D0E5B4B}"/>
              </a:ext>
            </a:extLst>
          </p:cNvPr>
          <p:cNvPicPr>
            <a:picLocks noChangeAspect="1"/>
          </p:cNvPicPr>
          <p:nvPr/>
        </p:nvPicPr>
        <p:blipFill>
          <a:blip r:embed="rId3"/>
          <a:stretch>
            <a:fillRect/>
          </a:stretch>
        </p:blipFill>
        <p:spPr>
          <a:xfrm>
            <a:off x="276300" y="2117618"/>
            <a:ext cx="4141760" cy="145997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5"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603EC705-FED4-B532-631E-6EB9FDCD9F12}"/>
              </a:ext>
            </a:extLst>
          </p:cNvPr>
          <p:cNvSpPr txBox="1"/>
          <p:nvPr/>
        </p:nvSpPr>
        <p:spPr>
          <a:xfrm>
            <a:off x="-4253" y="6400800"/>
            <a:ext cx="12196253" cy="497111"/>
          </a:xfrm>
          <a:prstGeom prst="rect">
            <a:avLst/>
          </a:prstGeom>
          <a:solidFill>
            <a:srgbClr val="000000">
              <a:alpha val="50000"/>
            </a:srgbClr>
          </a:solidFill>
          <a:ln>
            <a:noFill/>
          </a:ln>
        </p:spPr>
        <p:txBody>
          <a:bodyPr wrap="square">
            <a:noAutofit/>
          </a:bodyPr>
          <a:lstStyle/>
          <a:p>
            <a:pPr algn="ctr">
              <a:spcAft>
                <a:spcPts val="600"/>
              </a:spcAft>
            </a:pPr>
            <a:r>
              <a:rPr lang="en-US" sz="2400" b="1" dirty="0">
                <a:solidFill>
                  <a:srgbClr val="FFFFFF"/>
                </a:solidFill>
              </a:rPr>
              <a:t>Data Bases and Data Wrangling Series.  Lecture#25</a:t>
            </a:r>
          </a:p>
        </p:txBody>
      </p:sp>
      <p:grpSp>
        <p:nvGrpSpPr>
          <p:cNvPr id="10" name="Group 9">
            <a:extLst>
              <a:ext uri="{FF2B5EF4-FFF2-40B4-BE49-F238E27FC236}">
                <a16:creationId xmlns:a16="http://schemas.microsoft.com/office/drawing/2014/main" id="{CA514136-51C1-DB95-EF15-31D96C91756B}"/>
              </a:ext>
            </a:extLst>
          </p:cNvPr>
          <p:cNvGrpSpPr/>
          <p:nvPr/>
        </p:nvGrpSpPr>
        <p:grpSpPr>
          <a:xfrm>
            <a:off x="6573977" y="5205034"/>
            <a:ext cx="2490469" cy="585398"/>
            <a:chOff x="6869852" y="4458043"/>
            <a:chExt cx="2490469" cy="585398"/>
          </a:xfrm>
        </p:grpSpPr>
        <p:pic>
          <p:nvPicPr>
            <p:cNvPr id="1026" name="Picture 2">
              <a:extLst>
                <a:ext uri="{FF2B5EF4-FFF2-40B4-BE49-F238E27FC236}">
                  <a16:creationId xmlns:a16="http://schemas.microsoft.com/office/drawing/2014/main" id="{A45DF704-9241-D370-D1C2-7757764ADB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9852" y="4494801"/>
              <a:ext cx="548640" cy="54864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7AD7D6A-0A13-9BA1-C7FE-AA069D576572}"/>
                </a:ext>
              </a:extLst>
            </p:cNvPr>
            <p:cNvSpPr txBox="1"/>
            <p:nvPr/>
          </p:nvSpPr>
          <p:spPr>
            <a:xfrm>
              <a:off x="7459288" y="4458043"/>
              <a:ext cx="1901033" cy="584775"/>
            </a:xfrm>
            <a:prstGeom prst="rect">
              <a:avLst/>
            </a:prstGeom>
            <a:noFill/>
          </p:spPr>
          <p:txBody>
            <a:bodyPr wrap="none" rtlCol="0">
              <a:spAutoFit/>
            </a:bodyPr>
            <a:lstStyle/>
            <a:p>
              <a:r>
                <a:rPr lang="en-US" sz="3200" dirty="0"/>
                <a:t>Yawei Hui</a:t>
              </a:r>
            </a:p>
          </p:txBody>
        </p:sp>
      </p:grpSp>
      <p:grpSp>
        <p:nvGrpSpPr>
          <p:cNvPr id="14" name="Group 13">
            <a:extLst>
              <a:ext uri="{FF2B5EF4-FFF2-40B4-BE49-F238E27FC236}">
                <a16:creationId xmlns:a16="http://schemas.microsoft.com/office/drawing/2014/main" id="{742227D3-F0DD-3D14-1B7F-15F4604223D0}"/>
              </a:ext>
            </a:extLst>
          </p:cNvPr>
          <p:cNvGrpSpPr/>
          <p:nvPr/>
        </p:nvGrpSpPr>
        <p:grpSpPr>
          <a:xfrm>
            <a:off x="9274424" y="5200075"/>
            <a:ext cx="2917271" cy="584775"/>
            <a:chOff x="9274424" y="5200075"/>
            <a:chExt cx="2917271" cy="584775"/>
          </a:xfrm>
        </p:grpSpPr>
        <p:pic>
          <p:nvPicPr>
            <p:cNvPr id="1028" name="Picture 4">
              <a:extLst>
                <a:ext uri="{FF2B5EF4-FFF2-40B4-BE49-F238E27FC236}">
                  <a16:creationId xmlns:a16="http://schemas.microsoft.com/office/drawing/2014/main" id="{03B96E4B-60E8-C395-D33B-7EEE67CF48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4424" y="5205034"/>
              <a:ext cx="548640" cy="54864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493716A-E960-4C7D-607F-DA4214854DDB}"/>
                </a:ext>
              </a:extLst>
            </p:cNvPr>
            <p:cNvSpPr txBox="1"/>
            <p:nvPr/>
          </p:nvSpPr>
          <p:spPr>
            <a:xfrm>
              <a:off x="9891065" y="5200075"/>
              <a:ext cx="2300630" cy="584775"/>
            </a:xfrm>
            <a:prstGeom prst="rect">
              <a:avLst/>
            </a:prstGeom>
            <a:noFill/>
          </p:spPr>
          <p:txBody>
            <a:bodyPr wrap="none" rtlCol="0">
              <a:spAutoFit/>
            </a:bodyPr>
            <a:lstStyle/>
            <a:p>
              <a:r>
                <a:rPr lang="en-US" sz="3200" dirty="0"/>
                <a:t>Ziang Zhang</a:t>
              </a:r>
            </a:p>
          </p:txBody>
        </p:sp>
      </p:grpSp>
      <p:sp>
        <p:nvSpPr>
          <p:cNvPr id="20" name="TextBox 19">
            <a:extLst>
              <a:ext uri="{FF2B5EF4-FFF2-40B4-BE49-F238E27FC236}">
                <a16:creationId xmlns:a16="http://schemas.microsoft.com/office/drawing/2014/main" id="{6381C003-B846-E9BF-C90E-F6CCB39663C4}"/>
              </a:ext>
            </a:extLst>
          </p:cNvPr>
          <p:cNvSpPr txBox="1"/>
          <p:nvPr/>
        </p:nvSpPr>
        <p:spPr>
          <a:xfrm>
            <a:off x="132994" y="5110709"/>
            <a:ext cx="3540841" cy="461665"/>
          </a:xfrm>
          <a:prstGeom prst="rect">
            <a:avLst/>
          </a:prstGeom>
          <a:noFill/>
        </p:spPr>
        <p:txBody>
          <a:bodyPr wrap="none" rtlCol="0">
            <a:spAutoFit/>
          </a:bodyPr>
          <a:lstStyle/>
          <a:p>
            <a:r>
              <a:rPr lang="en-US" sz="2400" i="1" dirty="0">
                <a:solidFill>
                  <a:schemeClr val="bg1"/>
                </a:solidFill>
              </a:rPr>
              <a:t>H</a:t>
            </a:r>
            <a:r>
              <a:rPr lang="en-US" sz="1400" i="1" dirty="0">
                <a:solidFill>
                  <a:schemeClr val="bg1"/>
                </a:solidFill>
              </a:rPr>
              <a:t>igh </a:t>
            </a:r>
            <a:r>
              <a:rPr lang="en-US" sz="2400" i="1" dirty="0">
                <a:solidFill>
                  <a:schemeClr val="bg1"/>
                </a:solidFill>
              </a:rPr>
              <a:t>P</a:t>
            </a:r>
            <a:r>
              <a:rPr lang="en-US" sz="1400" i="1" dirty="0">
                <a:solidFill>
                  <a:schemeClr val="bg1"/>
                </a:solidFill>
              </a:rPr>
              <a:t>erformance </a:t>
            </a:r>
            <a:r>
              <a:rPr lang="en-US" sz="2400" i="1" dirty="0">
                <a:solidFill>
                  <a:schemeClr val="bg1"/>
                </a:solidFill>
              </a:rPr>
              <a:t>C</a:t>
            </a:r>
            <a:r>
              <a:rPr lang="en-US" sz="1400" i="1" dirty="0">
                <a:solidFill>
                  <a:schemeClr val="bg1"/>
                </a:solidFill>
              </a:rPr>
              <a:t>omputing </a:t>
            </a:r>
            <a:r>
              <a:rPr lang="en-US" sz="2400" i="1" dirty="0">
                <a:solidFill>
                  <a:schemeClr val="bg1"/>
                </a:solidFill>
              </a:rPr>
              <a:t>S</a:t>
            </a:r>
            <a:r>
              <a:rPr lang="en-US" sz="1400" i="1" dirty="0">
                <a:solidFill>
                  <a:schemeClr val="bg1"/>
                </a:solidFill>
              </a:rPr>
              <a:t>upport</a:t>
            </a:r>
          </a:p>
        </p:txBody>
      </p:sp>
      <p:pic>
        <p:nvPicPr>
          <p:cNvPr id="8" name="Graphic 7">
            <a:extLst>
              <a:ext uri="{FF2B5EF4-FFF2-40B4-BE49-F238E27FC236}">
                <a16:creationId xmlns:a16="http://schemas.microsoft.com/office/drawing/2014/main" id="{386C0F30-25DA-EA4D-71A5-EE973ADB9E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7260" y="3959883"/>
            <a:ext cx="1012152" cy="1012152"/>
          </a:xfrm>
          <a:prstGeom prst="rect">
            <a:avLst/>
          </a:prstGeom>
        </p:spPr>
      </p:pic>
      <p:sp>
        <p:nvSpPr>
          <p:cNvPr id="21" name="TextBox 20">
            <a:extLst>
              <a:ext uri="{FF2B5EF4-FFF2-40B4-BE49-F238E27FC236}">
                <a16:creationId xmlns:a16="http://schemas.microsoft.com/office/drawing/2014/main" id="{86A84C94-EE15-E071-8D54-E70F1EF18F77}"/>
              </a:ext>
            </a:extLst>
          </p:cNvPr>
          <p:cNvSpPr txBox="1"/>
          <p:nvPr/>
        </p:nvSpPr>
        <p:spPr>
          <a:xfrm>
            <a:off x="230580" y="4737905"/>
            <a:ext cx="1415340" cy="430887"/>
          </a:xfrm>
          <a:prstGeom prst="rect">
            <a:avLst/>
          </a:prstGeom>
          <a:noFill/>
        </p:spPr>
        <p:txBody>
          <a:bodyPr wrap="square" rtlCol="0">
            <a:spAutoFit/>
          </a:bodyPr>
          <a:lstStyle/>
          <a:p>
            <a:r>
              <a:rPr lang="en-US" sz="1100" dirty="0">
                <a:solidFill>
                  <a:schemeClr val="bg1"/>
                </a:solidFill>
                <a:latin typeface="Times New Roman" panose="02020603050405020304" pitchFamily="18" charset="0"/>
                <a:cs typeface="Times New Roman" panose="02020603050405020304" pitchFamily="18" charset="0"/>
              </a:rPr>
              <a:t>St. Jude Children’s Research Hospital</a:t>
            </a:r>
          </a:p>
        </p:txBody>
      </p:sp>
      <p:sp>
        <p:nvSpPr>
          <p:cNvPr id="22" name="TextBox 21">
            <a:extLst>
              <a:ext uri="{FF2B5EF4-FFF2-40B4-BE49-F238E27FC236}">
                <a16:creationId xmlns:a16="http://schemas.microsoft.com/office/drawing/2014/main" id="{0146AEE2-38F9-1A41-DBA9-871A2EAC2D07}"/>
              </a:ext>
            </a:extLst>
          </p:cNvPr>
          <p:cNvSpPr txBox="1"/>
          <p:nvPr/>
        </p:nvSpPr>
        <p:spPr>
          <a:xfrm>
            <a:off x="1605369" y="4230266"/>
            <a:ext cx="2546371" cy="837665"/>
          </a:xfrm>
          <a:prstGeom prst="rect">
            <a:avLst/>
          </a:prstGeom>
          <a:noFill/>
        </p:spPr>
        <p:txBody>
          <a:bodyPr wrap="square" rtlCol="0">
            <a:spAutoFit/>
          </a:bodyPr>
          <a:lstStyle/>
          <a:p>
            <a:pPr>
              <a:spcAft>
                <a:spcPts val="600"/>
              </a:spcAft>
            </a:pPr>
            <a:r>
              <a:rPr lang="en-US" sz="2600" b="1" dirty="0">
                <a:solidFill>
                  <a:schemeClr val="bg1"/>
                </a:solidFill>
                <a:latin typeface="Arial" panose="020B0604020202020204" pitchFamily="34" charset="0"/>
                <a:ea typeface="Verdana" panose="020B0604030504040204" pitchFamily="34" charset="0"/>
                <a:cs typeface="Arial" panose="020B0604020202020204" pitchFamily="34" charset="0"/>
              </a:rPr>
              <a:t>Information </a:t>
            </a:r>
          </a:p>
          <a:p>
            <a:pPr>
              <a:lnSpc>
                <a:spcPts val="2020"/>
              </a:lnSpc>
              <a:spcAft>
                <a:spcPts val="600"/>
              </a:spcAft>
            </a:pPr>
            <a:r>
              <a:rPr lang="en-US" sz="2600" b="1" dirty="0">
                <a:solidFill>
                  <a:schemeClr val="bg1"/>
                </a:solidFill>
                <a:latin typeface="Arial" panose="020B0604020202020204" pitchFamily="34" charset="0"/>
                <a:ea typeface="Verdana" panose="020B0604030504040204" pitchFamily="34" charset="0"/>
                <a:cs typeface="Arial" panose="020B0604020202020204" pitchFamily="34" charset="0"/>
              </a:rPr>
              <a:t>Services</a:t>
            </a:r>
          </a:p>
        </p:txBody>
      </p:sp>
      <p:cxnSp>
        <p:nvCxnSpPr>
          <p:cNvPr id="25" name="Straight Connector 24">
            <a:extLst>
              <a:ext uri="{FF2B5EF4-FFF2-40B4-BE49-F238E27FC236}">
                <a16:creationId xmlns:a16="http://schemas.microsoft.com/office/drawing/2014/main" id="{F1D151AA-1106-8BFC-1C6D-BD7B569F8E53}"/>
              </a:ext>
            </a:extLst>
          </p:cNvPr>
          <p:cNvCxnSpPr/>
          <p:nvPr/>
        </p:nvCxnSpPr>
        <p:spPr>
          <a:xfrm flipV="1">
            <a:off x="1565329" y="4254285"/>
            <a:ext cx="0" cy="790413"/>
          </a:xfrm>
          <a:prstGeom prst="line">
            <a:avLst/>
          </a:prstGeom>
          <a:ln>
            <a:solidFill>
              <a:schemeClr val="bg1"/>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530847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2777C1-2C22-5788-A2AC-238F5FCA833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09A58A-BDE9-3576-8D56-65261A24286D}"/>
              </a:ext>
            </a:extLst>
          </p:cNvPr>
          <p:cNvSpPr>
            <a:spLocks noGrp="1"/>
          </p:cNvSpPr>
          <p:nvPr>
            <p:ph type="title"/>
          </p:nvPr>
        </p:nvSpPr>
        <p:spPr>
          <a:xfrm>
            <a:off x="6094105" y="802955"/>
            <a:ext cx="4977976" cy="1454051"/>
          </a:xfrm>
        </p:spPr>
        <p:txBody>
          <a:bodyPr>
            <a:normAutofit/>
          </a:bodyPr>
          <a:lstStyle/>
          <a:p>
            <a:r>
              <a:rPr lang="en-US" sz="3600" dirty="0">
                <a:solidFill>
                  <a:schemeClr val="tx2"/>
                </a:solidFill>
              </a:rPr>
              <a:t>Learning Objectives </a:t>
            </a:r>
          </a:p>
        </p:txBody>
      </p:sp>
      <p:pic>
        <p:nvPicPr>
          <p:cNvPr id="21" name="Graphic 20" descr="Database">
            <a:extLst>
              <a:ext uri="{FF2B5EF4-FFF2-40B4-BE49-F238E27FC236}">
                <a16:creationId xmlns:a16="http://schemas.microsoft.com/office/drawing/2014/main" id="{CBF2D29C-C293-65C1-A399-C3423462AA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9D541AE3-87E5-D467-9399-6EFE23CD1F5E}"/>
              </a:ext>
            </a:extLst>
          </p:cNvPr>
          <p:cNvSpPr>
            <a:spLocks noGrp="1"/>
          </p:cNvSpPr>
          <p:nvPr>
            <p:ph idx="1"/>
          </p:nvPr>
        </p:nvSpPr>
        <p:spPr>
          <a:xfrm>
            <a:off x="5931240" y="1793846"/>
            <a:ext cx="6413763" cy="4536348"/>
          </a:xfrm>
        </p:spPr>
        <p:txBody>
          <a:bodyPr anchor="ctr">
            <a:normAutofit/>
          </a:bodyPr>
          <a:lstStyle/>
          <a:p>
            <a:pPr marL="0" indent="0">
              <a:buNone/>
            </a:pPr>
            <a:r>
              <a:rPr lang="en-US" sz="2000" dirty="0">
                <a:solidFill>
                  <a:schemeClr val="tx2"/>
                </a:solidFill>
              </a:rPr>
              <a:t>At the end of the session, you will be able to:</a:t>
            </a:r>
          </a:p>
          <a:p>
            <a:pPr>
              <a:buFont typeface="Wingdings" pitchFamily="2" charset="2"/>
              <a:buChar char="q"/>
            </a:pPr>
            <a:r>
              <a:rPr lang="en-US" sz="2000" b="1" dirty="0">
                <a:solidFill>
                  <a:schemeClr val="tx2"/>
                </a:solidFill>
              </a:rPr>
              <a:t>Explain</a:t>
            </a:r>
            <a:r>
              <a:rPr lang="en-US" sz="2000" dirty="0">
                <a:solidFill>
                  <a:schemeClr val="tx2"/>
                </a:solidFill>
              </a:rPr>
              <a:t> RBAC model on MongoDB</a:t>
            </a:r>
          </a:p>
          <a:p>
            <a:pPr>
              <a:buFont typeface="Wingdings" pitchFamily="2" charset="2"/>
              <a:buChar char="q"/>
            </a:pPr>
            <a:r>
              <a:rPr lang="en-US" sz="2000" b="1" dirty="0">
                <a:solidFill>
                  <a:schemeClr val="tx2"/>
                </a:solidFill>
              </a:rPr>
              <a:t>Understand</a:t>
            </a:r>
            <a:r>
              <a:rPr lang="en-US" sz="2000" dirty="0">
                <a:solidFill>
                  <a:schemeClr val="tx2"/>
                </a:solidFill>
              </a:rPr>
              <a:t> MongoDB CRUD operations:</a:t>
            </a:r>
            <a:br>
              <a:rPr lang="en-US" sz="2000" dirty="0">
                <a:solidFill>
                  <a:schemeClr val="tx2"/>
                </a:solidFill>
              </a:rPr>
            </a:br>
            <a:r>
              <a:rPr lang="en-US" sz="2000" dirty="0">
                <a:solidFill>
                  <a:schemeClr val="tx2"/>
                </a:solidFill>
              </a:rPr>
              <a:t>    • Create</a:t>
            </a:r>
            <a:br>
              <a:rPr lang="en-US" sz="2000" dirty="0">
                <a:solidFill>
                  <a:schemeClr val="tx2"/>
                </a:solidFill>
              </a:rPr>
            </a:br>
            <a:r>
              <a:rPr lang="en-US" sz="2000" dirty="0">
                <a:solidFill>
                  <a:schemeClr val="tx2"/>
                </a:solidFill>
              </a:rPr>
              <a:t>    • Read</a:t>
            </a:r>
            <a:br>
              <a:rPr lang="en-US" sz="2000" dirty="0">
                <a:solidFill>
                  <a:schemeClr val="tx2"/>
                </a:solidFill>
              </a:rPr>
            </a:br>
            <a:r>
              <a:rPr lang="en-US" sz="2000" dirty="0">
                <a:solidFill>
                  <a:schemeClr val="tx2"/>
                </a:solidFill>
              </a:rPr>
              <a:t>    • Update</a:t>
            </a:r>
            <a:br>
              <a:rPr lang="en-US" sz="2000" dirty="0">
                <a:solidFill>
                  <a:schemeClr val="tx2"/>
                </a:solidFill>
              </a:rPr>
            </a:br>
            <a:r>
              <a:rPr lang="en-US" sz="2000" dirty="0">
                <a:solidFill>
                  <a:schemeClr val="tx2"/>
                </a:solidFill>
              </a:rPr>
              <a:t>    • Delete</a:t>
            </a:r>
          </a:p>
          <a:p>
            <a:pPr>
              <a:buFont typeface="Wingdings" pitchFamily="2" charset="2"/>
              <a:buChar char="q"/>
            </a:pPr>
            <a:r>
              <a:rPr lang="en-US" sz="2000" b="1" dirty="0">
                <a:solidFill>
                  <a:schemeClr val="tx2"/>
                </a:solidFill>
              </a:rPr>
              <a:t>Explore</a:t>
            </a:r>
            <a:r>
              <a:rPr lang="en-US" sz="2000" dirty="0">
                <a:solidFill>
                  <a:schemeClr val="tx2"/>
                </a:solidFill>
              </a:rPr>
              <a:t> the provided dataset schema with python</a:t>
            </a:r>
          </a:p>
          <a:p>
            <a:pPr>
              <a:buFont typeface="Wingdings" pitchFamily="2" charset="2"/>
              <a:buChar char="q"/>
            </a:pPr>
            <a:r>
              <a:rPr lang="en-US" sz="2000" b="1" dirty="0">
                <a:solidFill>
                  <a:schemeClr val="tx2"/>
                </a:solidFill>
              </a:rPr>
              <a:t>Perform</a:t>
            </a:r>
            <a:r>
              <a:rPr lang="en-US" sz="2000" dirty="0">
                <a:solidFill>
                  <a:schemeClr val="tx2"/>
                </a:solidFill>
              </a:rPr>
              <a:t> queries to the provided dataset with python</a:t>
            </a:r>
          </a:p>
          <a:p>
            <a:pPr>
              <a:buFont typeface="Wingdings" pitchFamily="2" charset="2"/>
              <a:buChar char="q"/>
            </a:pPr>
            <a:r>
              <a:rPr lang="en-US" sz="2000" b="1" dirty="0">
                <a:solidFill>
                  <a:schemeClr val="tx2"/>
                </a:solidFill>
              </a:rPr>
              <a:t>Explain</a:t>
            </a:r>
            <a:r>
              <a:rPr lang="en-US" sz="2000" dirty="0">
                <a:solidFill>
                  <a:schemeClr val="tx2"/>
                </a:solidFill>
              </a:rPr>
              <a:t> how indexes and aggregation work</a:t>
            </a:r>
          </a:p>
          <a:p>
            <a:pPr>
              <a:buFont typeface="Wingdings" pitchFamily="2" charset="2"/>
              <a:buChar char="q"/>
            </a:pPr>
            <a:endParaRPr lang="en-US" sz="2000" dirty="0">
              <a:solidFill>
                <a:schemeClr val="tx2"/>
              </a:solidFill>
            </a:endParaRPr>
          </a:p>
        </p:txBody>
      </p:sp>
      <p:grpSp>
        <p:nvGrpSpPr>
          <p:cNvPr id="28" name="Group 27">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29" name="Freeform: Shape 28">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75010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5918C9D-6192-F362-C563-A9766C32596C}"/>
              </a:ext>
            </a:extLst>
          </p:cNvPr>
          <p:cNvSpPr>
            <a:spLocks noGrp="1"/>
          </p:cNvSpPr>
          <p:nvPr>
            <p:ph type="title"/>
          </p:nvPr>
        </p:nvSpPr>
        <p:spPr>
          <a:xfrm>
            <a:off x="-503144" y="0"/>
            <a:ext cx="5754696" cy="1837349"/>
          </a:xfrm>
        </p:spPr>
        <p:txBody>
          <a:bodyPr>
            <a:normAutofit/>
          </a:bodyPr>
          <a:lstStyle/>
          <a:p>
            <a:pPr algn="ctr"/>
            <a:r>
              <a:rPr lang="en-US" sz="4800" dirty="0">
                <a:solidFill>
                  <a:schemeClr val="tx2"/>
                </a:solidFill>
              </a:rPr>
              <a:t>Before we go …</a:t>
            </a:r>
          </a:p>
        </p:txBody>
      </p:sp>
      <p:sp>
        <p:nvSpPr>
          <p:cNvPr id="3" name="Content Placeholder 2">
            <a:extLst>
              <a:ext uri="{FF2B5EF4-FFF2-40B4-BE49-F238E27FC236}">
                <a16:creationId xmlns:a16="http://schemas.microsoft.com/office/drawing/2014/main" id="{047474F6-19B0-2451-7749-975C67325B65}"/>
              </a:ext>
            </a:extLst>
          </p:cNvPr>
          <p:cNvSpPr>
            <a:spLocks noGrp="1"/>
          </p:cNvSpPr>
          <p:nvPr>
            <p:ph idx="1"/>
          </p:nvPr>
        </p:nvSpPr>
        <p:spPr>
          <a:xfrm>
            <a:off x="3050412" y="2979336"/>
            <a:ext cx="6858698" cy="2430864"/>
          </a:xfrm>
        </p:spPr>
        <p:txBody>
          <a:bodyPr anchor="t">
            <a:normAutofit/>
          </a:bodyPr>
          <a:lstStyle/>
          <a:p>
            <a:r>
              <a:rPr lang="en-US" sz="4000" dirty="0">
                <a:solidFill>
                  <a:schemeClr val="tx2"/>
                </a:solidFill>
              </a:rPr>
              <a:t>Why do we need database?</a:t>
            </a:r>
          </a:p>
          <a:p>
            <a:r>
              <a:rPr lang="en-US" sz="4000" dirty="0">
                <a:solidFill>
                  <a:schemeClr val="tx2"/>
                </a:solidFill>
              </a:rPr>
              <a:t>What’s a good database?</a:t>
            </a: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95824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12CF7-47BF-092D-BFEF-63524D6B1A90}"/>
              </a:ext>
            </a:extLst>
          </p:cNvPr>
          <p:cNvSpPr>
            <a:spLocks noGrp="1"/>
          </p:cNvSpPr>
          <p:nvPr>
            <p:ph type="title"/>
          </p:nvPr>
        </p:nvSpPr>
        <p:spPr/>
        <p:txBody>
          <a:bodyPr/>
          <a:lstStyle/>
          <a:p>
            <a:r>
              <a:rPr lang="en-US"/>
              <a:t>Why using a database?</a:t>
            </a:r>
            <a:endParaRPr lang="en-US" dirty="0"/>
          </a:p>
        </p:txBody>
      </p:sp>
      <p:grpSp>
        <p:nvGrpSpPr>
          <p:cNvPr id="21" name="Group 20">
            <a:extLst>
              <a:ext uri="{FF2B5EF4-FFF2-40B4-BE49-F238E27FC236}">
                <a16:creationId xmlns:a16="http://schemas.microsoft.com/office/drawing/2014/main" id="{D5EB5897-1CCD-85AF-2C92-AB33E43E5734}"/>
              </a:ext>
            </a:extLst>
          </p:cNvPr>
          <p:cNvGrpSpPr/>
          <p:nvPr/>
        </p:nvGrpSpPr>
        <p:grpSpPr>
          <a:xfrm>
            <a:off x="653141" y="1803400"/>
            <a:ext cx="3251200" cy="3620532"/>
            <a:chOff x="746449" y="1803400"/>
            <a:chExt cx="3251200" cy="3620532"/>
          </a:xfrm>
        </p:grpSpPr>
        <p:pic>
          <p:nvPicPr>
            <p:cNvPr id="8" name="Picture 7">
              <a:extLst>
                <a:ext uri="{FF2B5EF4-FFF2-40B4-BE49-F238E27FC236}">
                  <a16:creationId xmlns:a16="http://schemas.microsoft.com/office/drawing/2014/main" id="{07CB3B07-C0A7-76B7-87F3-1840E69BFAE1}"/>
                </a:ext>
              </a:extLst>
            </p:cNvPr>
            <p:cNvPicPr>
              <a:picLocks noChangeAspect="1"/>
            </p:cNvPicPr>
            <p:nvPr/>
          </p:nvPicPr>
          <p:blipFill>
            <a:blip r:embed="rId3"/>
            <a:stretch>
              <a:fillRect/>
            </a:stretch>
          </p:blipFill>
          <p:spPr>
            <a:xfrm>
              <a:off x="746449" y="1803400"/>
              <a:ext cx="3251200" cy="3251200"/>
            </a:xfrm>
            <a:prstGeom prst="rect">
              <a:avLst/>
            </a:prstGeom>
          </p:spPr>
        </p:pic>
        <p:sp>
          <p:nvSpPr>
            <p:cNvPr id="18" name="TextBox 17">
              <a:extLst>
                <a:ext uri="{FF2B5EF4-FFF2-40B4-BE49-F238E27FC236}">
                  <a16:creationId xmlns:a16="http://schemas.microsoft.com/office/drawing/2014/main" id="{9C5F452E-5FAD-D144-2D9A-2439755703DF}"/>
                </a:ext>
              </a:extLst>
            </p:cNvPr>
            <p:cNvSpPr txBox="1"/>
            <p:nvPr/>
          </p:nvSpPr>
          <p:spPr>
            <a:xfrm>
              <a:off x="1519059" y="5054600"/>
              <a:ext cx="1705980" cy="369332"/>
            </a:xfrm>
            <a:prstGeom prst="rect">
              <a:avLst/>
            </a:prstGeom>
            <a:noFill/>
          </p:spPr>
          <p:txBody>
            <a:bodyPr wrap="none" rtlCol="0">
              <a:spAutoFit/>
            </a:bodyPr>
            <a:lstStyle/>
            <a:p>
              <a:r>
                <a:rPr lang="en-US" dirty="0"/>
                <a:t>Access Control</a:t>
              </a:r>
            </a:p>
          </p:txBody>
        </p:sp>
      </p:grpSp>
      <p:grpSp>
        <p:nvGrpSpPr>
          <p:cNvPr id="23" name="Group 22">
            <a:extLst>
              <a:ext uri="{FF2B5EF4-FFF2-40B4-BE49-F238E27FC236}">
                <a16:creationId xmlns:a16="http://schemas.microsoft.com/office/drawing/2014/main" id="{8BBAC1B2-6D73-2126-40C4-9414F643FB95}"/>
              </a:ext>
            </a:extLst>
          </p:cNvPr>
          <p:cNvGrpSpPr/>
          <p:nvPr/>
        </p:nvGrpSpPr>
        <p:grpSpPr>
          <a:xfrm>
            <a:off x="4516278" y="1803400"/>
            <a:ext cx="3251200" cy="3620532"/>
            <a:chOff x="4777792" y="1803400"/>
            <a:chExt cx="3251200" cy="3620532"/>
          </a:xfrm>
        </p:grpSpPr>
        <p:pic>
          <p:nvPicPr>
            <p:cNvPr id="9" name="Picture 8">
              <a:extLst>
                <a:ext uri="{FF2B5EF4-FFF2-40B4-BE49-F238E27FC236}">
                  <a16:creationId xmlns:a16="http://schemas.microsoft.com/office/drawing/2014/main" id="{C166EC2F-7E1E-4DC2-7120-3657EF30ABA0}"/>
                </a:ext>
              </a:extLst>
            </p:cNvPr>
            <p:cNvPicPr>
              <a:picLocks noChangeAspect="1"/>
            </p:cNvPicPr>
            <p:nvPr/>
          </p:nvPicPr>
          <p:blipFill>
            <a:blip r:embed="rId4"/>
            <a:stretch>
              <a:fillRect/>
            </a:stretch>
          </p:blipFill>
          <p:spPr>
            <a:xfrm>
              <a:off x="4777792" y="1803400"/>
              <a:ext cx="3251200" cy="3251200"/>
            </a:xfrm>
            <a:prstGeom prst="rect">
              <a:avLst/>
            </a:prstGeom>
          </p:spPr>
        </p:pic>
        <p:sp>
          <p:nvSpPr>
            <p:cNvPr id="19" name="TextBox 18">
              <a:extLst>
                <a:ext uri="{FF2B5EF4-FFF2-40B4-BE49-F238E27FC236}">
                  <a16:creationId xmlns:a16="http://schemas.microsoft.com/office/drawing/2014/main" id="{CCAEA194-6E88-AB9F-315E-39A60C2C190C}"/>
                </a:ext>
              </a:extLst>
            </p:cNvPr>
            <p:cNvSpPr txBox="1"/>
            <p:nvPr/>
          </p:nvSpPr>
          <p:spPr>
            <a:xfrm>
              <a:off x="5669120" y="5054600"/>
              <a:ext cx="1468544" cy="369332"/>
            </a:xfrm>
            <a:prstGeom prst="rect">
              <a:avLst/>
            </a:prstGeom>
            <a:noFill/>
          </p:spPr>
          <p:txBody>
            <a:bodyPr wrap="none" rtlCol="0">
              <a:spAutoFit/>
            </a:bodyPr>
            <a:lstStyle/>
            <a:p>
              <a:r>
                <a:rPr lang="en-US" dirty="0"/>
                <a:t>Performance</a:t>
              </a:r>
            </a:p>
          </p:txBody>
        </p:sp>
      </p:grpSp>
      <p:grpSp>
        <p:nvGrpSpPr>
          <p:cNvPr id="24" name="Group 23">
            <a:extLst>
              <a:ext uri="{FF2B5EF4-FFF2-40B4-BE49-F238E27FC236}">
                <a16:creationId xmlns:a16="http://schemas.microsoft.com/office/drawing/2014/main" id="{B865778E-05E7-4A7B-E51B-BAB9030C9EEE}"/>
              </a:ext>
            </a:extLst>
          </p:cNvPr>
          <p:cNvGrpSpPr/>
          <p:nvPr/>
        </p:nvGrpSpPr>
        <p:grpSpPr>
          <a:xfrm>
            <a:off x="8379415" y="1690688"/>
            <a:ext cx="3251200" cy="3661290"/>
            <a:chOff x="8435910" y="1690688"/>
            <a:chExt cx="3251200" cy="3661290"/>
          </a:xfrm>
        </p:grpSpPr>
        <p:pic>
          <p:nvPicPr>
            <p:cNvPr id="17" name="Picture 16">
              <a:extLst>
                <a:ext uri="{FF2B5EF4-FFF2-40B4-BE49-F238E27FC236}">
                  <a16:creationId xmlns:a16="http://schemas.microsoft.com/office/drawing/2014/main" id="{13B2C336-F217-783B-58AD-C8B03D777DC8}"/>
                </a:ext>
              </a:extLst>
            </p:cNvPr>
            <p:cNvPicPr>
              <a:picLocks noChangeAspect="1"/>
            </p:cNvPicPr>
            <p:nvPr/>
          </p:nvPicPr>
          <p:blipFill>
            <a:blip r:embed="rId5"/>
            <a:stretch>
              <a:fillRect/>
            </a:stretch>
          </p:blipFill>
          <p:spPr>
            <a:xfrm>
              <a:off x="8435910" y="1690688"/>
              <a:ext cx="3251200" cy="3251200"/>
            </a:xfrm>
            <a:prstGeom prst="rect">
              <a:avLst/>
            </a:prstGeom>
          </p:spPr>
        </p:pic>
        <p:sp>
          <p:nvSpPr>
            <p:cNvPr id="20" name="TextBox 19">
              <a:extLst>
                <a:ext uri="{FF2B5EF4-FFF2-40B4-BE49-F238E27FC236}">
                  <a16:creationId xmlns:a16="http://schemas.microsoft.com/office/drawing/2014/main" id="{608ABF7E-0D74-BEF5-D535-A2142492D7E9}"/>
                </a:ext>
              </a:extLst>
            </p:cNvPr>
            <p:cNvSpPr txBox="1"/>
            <p:nvPr/>
          </p:nvSpPr>
          <p:spPr>
            <a:xfrm>
              <a:off x="9098073" y="4982646"/>
              <a:ext cx="1926874" cy="369332"/>
            </a:xfrm>
            <a:prstGeom prst="rect">
              <a:avLst/>
            </a:prstGeom>
            <a:noFill/>
          </p:spPr>
          <p:txBody>
            <a:bodyPr wrap="none" rtlCol="0">
              <a:spAutoFit/>
            </a:bodyPr>
            <a:lstStyle/>
            <a:p>
              <a:r>
                <a:rPr lang="en-US" dirty="0"/>
                <a:t>Uniform Interface</a:t>
              </a:r>
            </a:p>
          </p:txBody>
        </p:sp>
      </p:grpSp>
    </p:spTree>
    <p:extLst>
      <p:ext uri="{BB962C8B-B14F-4D97-AF65-F5344CB8AC3E}">
        <p14:creationId xmlns:p14="http://schemas.microsoft.com/office/powerpoint/2010/main" val="68277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dissolv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A204-9D23-0B2B-767C-56E59C8AD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2F409-B728-222C-AE3C-6417F1935D04}"/>
              </a:ext>
            </a:extLst>
          </p:cNvPr>
          <p:cNvSpPr>
            <a:spLocks noGrp="1"/>
          </p:cNvSpPr>
          <p:nvPr>
            <p:ph type="title"/>
          </p:nvPr>
        </p:nvSpPr>
        <p:spPr/>
        <p:txBody>
          <a:bodyPr/>
          <a:lstStyle/>
          <a:p>
            <a:r>
              <a:rPr lang="en-US" dirty="0"/>
              <a:t>What is a good database?</a:t>
            </a:r>
          </a:p>
        </p:txBody>
      </p:sp>
      <p:grpSp>
        <p:nvGrpSpPr>
          <p:cNvPr id="21" name="Group 20">
            <a:extLst>
              <a:ext uri="{FF2B5EF4-FFF2-40B4-BE49-F238E27FC236}">
                <a16:creationId xmlns:a16="http://schemas.microsoft.com/office/drawing/2014/main" id="{5AD6E063-354B-8A49-6C0C-B54ABD13BD3E}"/>
              </a:ext>
            </a:extLst>
          </p:cNvPr>
          <p:cNvGrpSpPr/>
          <p:nvPr/>
        </p:nvGrpSpPr>
        <p:grpSpPr>
          <a:xfrm>
            <a:off x="653141" y="1803400"/>
            <a:ext cx="3251200" cy="3620532"/>
            <a:chOff x="746449" y="1803400"/>
            <a:chExt cx="3251200" cy="3620532"/>
          </a:xfrm>
        </p:grpSpPr>
        <p:pic>
          <p:nvPicPr>
            <p:cNvPr id="8" name="Picture 7">
              <a:extLst>
                <a:ext uri="{FF2B5EF4-FFF2-40B4-BE49-F238E27FC236}">
                  <a16:creationId xmlns:a16="http://schemas.microsoft.com/office/drawing/2014/main" id="{FFA4749B-CD62-B642-198F-B0BE59C0FD54}"/>
                </a:ext>
              </a:extLst>
            </p:cNvPr>
            <p:cNvPicPr>
              <a:picLocks noChangeAspect="1"/>
            </p:cNvPicPr>
            <p:nvPr/>
          </p:nvPicPr>
          <p:blipFill>
            <a:blip r:embed="rId3"/>
            <a:srcRect/>
            <a:stretch/>
          </p:blipFill>
          <p:spPr>
            <a:xfrm>
              <a:off x="746449" y="1803400"/>
              <a:ext cx="3251200" cy="3251200"/>
            </a:xfrm>
            <a:prstGeom prst="rect">
              <a:avLst/>
            </a:prstGeom>
          </p:spPr>
        </p:pic>
        <p:sp>
          <p:nvSpPr>
            <p:cNvPr id="18" name="TextBox 17">
              <a:extLst>
                <a:ext uri="{FF2B5EF4-FFF2-40B4-BE49-F238E27FC236}">
                  <a16:creationId xmlns:a16="http://schemas.microsoft.com/office/drawing/2014/main" id="{F12C7D22-7C5D-4F0E-669B-FA0903272907}"/>
                </a:ext>
              </a:extLst>
            </p:cNvPr>
            <p:cNvSpPr txBox="1"/>
            <p:nvPr/>
          </p:nvSpPr>
          <p:spPr>
            <a:xfrm>
              <a:off x="1175247" y="5054600"/>
              <a:ext cx="2393604" cy="369332"/>
            </a:xfrm>
            <a:prstGeom prst="rect">
              <a:avLst/>
            </a:prstGeom>
            <a:noFill/>
          </p:spPr>
          <p:txBody>
            <a:bodyPr wrap="none" rtlCol="0">
              <a:spAutoFit/>
            </a:bodyPr>
            <a:lstStyle/>
            <a:p>
              <a:r>
                <a:rPr lang="en-US" dirty="0"/>
                <a:t>Community &amp; Support</a:t>
              </a:r>
            </a:p>
          </p:txBody>
        </p:sp>
      </p:grpSp>
      <p:grpSp>
        <p:nvGrpSpPr>
          <p:cNvPr id="23" name="Group 22">
            <a:extLst>
              <a:ext uri="{FF2B5EF4-FFF2-40B4-BE49-F238E27FC236}">
                <a16:creationId xmlns:a16="http://schemas.microsoft.com/office/drawing/2014/main" id="{4D455E94-DD19-D0D3-19FD-A0E9A88CF14E}"/>
              </a:ext>
            </a:extLst>
          </p:cNvPr>
          <p:cNvGrpSpPr/>
          <p:nvPr/>
        </p:nvGrpSpPr>
        <p:grpSpPr>
          <a:xfrm>
            <a:off x="4516278" y="1803400"/>
            <a:ext cx="3251200" cy="3620532"/>
            <a:chOff x="4777792" y="1803400"/>
            <a:chExt cx="3251200" cy="3620532"/>
          </a:xfrm>
        </p:grpSpPr>
        <p:pic>
          <p:nvPicPr>
            <p:cNvPr id="9" name="Picture 8">
              <a:extLst>
                <a:ext uri="{FF2B5EF4-FFF2-40B4-BE49-F238E27FC236}">
                  <a16:creationId xmlns:a16="http://schemas.microsoft.com/office/drawing/2014/main" id="{0AAF6481-CCC8-6E85-F24A-97C8A9CFD9B0}"/>
                </a:ext>
              </a:extLst>
            </p:cNvPr>
            <p:cNvPicPr>
              <a:picLocks noChangeAspect="1"/>
            </p:cNvPicPr>
            <p:nvPr/>
          </p:nvPicPr>
          <p:blipFill>
            <a:blip r:embed="rId4"/>
            <a:stretch>
              <a:fillRect/>
            </a:stretch>
          </p:blipFill>
          <p:spPr>
            <a:xfrm>
              <a:off x="4777792" y="1803400"/>
              <a:ext cx="3251200" cy="3251200"/>
            </a:xfrm>
            <a:prstGeom prst="rect">
              <a:avLst/>
            </a:prstGeom>
          </p:spPr>
        </p:pic>
        <p:sp>
          <p:nvSpPr>
            <p:cNvPr id="19" name="TextBox 18">
              <a:extLst>
                <a:ext uri="{FF2B5EF4-FFF2-40B4-BE49-F238E27FC236}">
                  <a16:creationId xmlns:a16="http://schemas.microsoft.com/office/drawing/2014/main" id="{718A8692-0955-BAD6-ABAC-42860192DE4A}"/>
                </a:ext>
              </a:extLst>
            </p:cNvPr>
            <p:cNvSpPr txBox="1"/>
            <p:nvPr/>
          </p:nvSpPr>
          <p:spPr>
            <a:xfrm>
              <a:off x="5669120" y="5054600"/>
              <a:ext cx="1468544" cy="369332"/>
            </a:xfrm>
            <a:prstGeom prst="rect">
              <a:avLst/>
            </a:prstGeom>
            <a:noFill/>
          </p:spPr>
          <p:txBody>
            <a:bodyPr wrap="none" rtlCol="0">
              <a:spAutoFit/>
            </a:bodyPr>
            <a:lstStyle/>
            <a:p>
              <a:r>
                <a:rPr lang="en-US" dirty="0"/>
                <a:t>Performance</a:t>
              </a:r>
            </a:p>
          </p:txBody>
        </p:sp>
      </p:grpSp>
      <p:grpSp>
        <p:nvGrpSpPr>
          <p:cNvPr id="24" name="Group 23">
            <a:extLst>
              <a:ext uri="{FF2B5EF4-FFF2-40B4-BE49-F238E27FC236}">
                <a16:creationId xmlns:a16="http://schemas.microsoft.com/office/drawing/2014/main" id="{2678A94A-219E-DE0D-D32E-BC537B1A7341}"/>
              </a:ext>
            </a:extLst>
          </p:cNvPr>
          <p:cNvGrpSpPr/>
          <p:nvPr/>
        </p:nvGrpSpPr>
        <p:grpSpPr>
          <a:xfrm>
            <a:off x="8379415" y="1690688"/>
            <a:ext cx="3251200" cy="3661290"/>
            <a:chOff x="8435910" y="1690688"/>
            <a:chExt cx="3251200" cy="3661290"/>
          </a:xfrm>
        </p:grpSpPr>
        <p:pic>
          <p:nvPicPr>
            <p:cNvPr id="17" name="Picture 16">
              <a:extLst>
                <a:ext uri="{FF2B5EF4-FFF2-40B4-BE49-F238E27FC236}">
                  <a16:creationId xmlns:a16="http://schemas.microsoft.com/office/drawing/2014/main" id="{1A9A92BE-E695-D47B-A32A-B97567240CE6}"/>
                </a:ext>
              </a:extLst>
            </p:cNvPr>
            <p:cNvPicPr>
              <a:picLocks noChangeAspect="1"/>
            </p:cNvPicPr>
            <p:nvPr/>
          </p:nvPicPr>
          <p:blipFill>
            <a:blip r:embed="rId5"/>
            <a:srcRect/>
            <a:stretch/>
          </p:blipFill>
          <p:spPr>
            <a:xfrm>
              <a:off x="8435910" y="1690688"/>
              <a:ext cx="3251200" cy="3251200"/>
            </a:xfrm>
            <a:prstGeom prst="rect">
              <a:avLst/>
            </a:prstGeom>
          </p:spPr>
        </p:pic>
        <p:sp>
          <p:nvSpPr>
            <p:cNvPr id="20" name="TextBox 19">
              <a:extLst>
                <a:ext uri="{FF2B5EF4-FFF2-40B4-BE49-F238E27FC236}">
                  <a16:creationId xmlns:a16="http://schemas.microsoft.com/office/drawing/2014/main" id="{D0F72173-9CB0-C354-4B87-D54FF3EDB776}"/>
                </a:ext>
              </a:extLst>
            </p:cNvPr>
            <p:cNvSpPr txBox="1"/>
            <p:nvPr/>
          </p:nvSpPr>
          <p:spPr>
            <a:xfrm>
              <a:off x="9327238" y="4982646"/>
              <a:ext cx="1478546" cy="369332"/>
            </a:xfrm>
            <a:prstGeom prst="rect">
              <a:avLst/>
            </a:prstGeom>
            <a:noFill/>
          </p:spPr>
          <p:txBody>
            <a:bodyPr wrap="none" rtlCol="0">
              <a:spAutoFit/>
            </a:bodyPr>
            <a:lstStyle/>
            <a:p>
              <a:r>
                <a:rPr lang="en-US" dirty="0"/>
                <a:t>License Cost</a:t>
              </a:r>
            </a:p>
          </p:txBody>
        </p:sp>
      </p:grpSp>
    </p:spTree>
    <p:extLst>
      <p:ext uri="{BB962C8B-B14F-4D97-AF65-F5344CB8AC3E}">
        <p14:creationId xmlns:p14="http://schemas.microsoft.com/office/powerpoint/2010/main" val="331180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dissolv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FAFA6-BC57-4114-ACE3-D96A34C50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C1BA5-665C-9FAB-6ABF-16E75FA14D50}"/>
              </a:ext>
            </a:extLst>
          </p:cNvPr>
          <p:cNvSpPr>
            <a:spLocks noGrp="1"/>
          </p:cNvSpPr>
          <p:nvPr>
            <p:ph type="title"/>
          </p:nvPr>
        </p:nvSpPr>
        <p:spPr/>
        <p:txBody>
          <a:bodyPr/>
          <a:lstStyle/>
          <a:p>
            <a:r>
              <a:rPr lang="en-US" dirty="0"/>
              <a:t>MongoDB is a good database, in some cases</a:t>
            </a:r>
          </a:p>
        </p:txBody>
      </p:sp>
      <p:grpSp>
        <p:nvGrpSpPr>
          <p:cNvPr id="21" name="Group 20">
            <a:extLst>
              <a:ext uri="{FF2B5EF4-FFF2-40B4-BE49-F238E27FC236}">
                <a16:creationId xmlns:a16="http://schemas.microsoft.com/office/drawing/2014/main" id="{6E00CF82-5F1F-0174-4469-9C4738AE12B6}"/>
              </a:ext>
            </a:extLst>
          </p:cNvPr>
          <p:cNvGrpSpPr/>
          <p:nvPr/>
        </p:nvGrpSpPr>
        <p:grpSpPr>
          <a:xfrm>
            <a:off x="653141" y="1803400"/>
            <a:ext cx="3251200" cy="3620532"/>
            <a:chOff x="746449" y="1803400"/>
            <a:chExt cx="3251200" cy="3620532"/>
          </a:xfrm>
        </p:grpSpPr>
        <p:pic>
          <p:nvPicPr>
            <p:cNvPr id="8" name="Picture 7">
              <a:extLst>
                <a:ext uri="{FF2B5EF4-FFF2-40B4-BE49-F238E27FC236}">
                  <a16:creationId xmlns:a16="http://schemas.microsoft.com/office/drawing/2014/main" id="{DD9185D3-41B2-A63D-A1F4-941E7CD15824}"/>
                </a:ext>
              </a:extLst>
            </p:cNvPr>
            <p:cNvPicPr>
              <a:picLocks noChangeAspect="1"/>
            </p:cNvPicPr>
            <p:nvPr/>
          </p:nvPicPr>
          <p:blipFill>
            <a:blip r:embed="rId3"/>
            <a:srcRect/>
            <a:stretch/>
          </p:blipFill>
          <p:spPr>
            <a:xfrm>
              <a:off x="746449" y="1803400"/>
              <a:ext cx="3251200" cy="3251200"/>
            </a:xfrm>
            <a:prstGeom prst="rect">
              <a:avLst/>
            </a:prstGeom>
          </p:spPr>
        </p:pic>
        <p:sp>
          <p:nvSpPr>
            <p:cNvPr id="18" name="TextBox 17">
              <a:extLst>
                <a:ext uri="{FF2B5EF4-FFF2-40B4-BE49-F238E27FC236}">
                  <a16:creationId xmlns:a16="http://schemas.microsoft.com/office/drawing/2014/main" id="{BDD0B81F-47E9-7EB6-0312-4BEB9A3E03DE}"/>
                </a:ext>
              </a:extLst>
            </p:cNvPr>
            <p:cNvSpPr txBox="1"/>
            <p:nvPr/>
          </p:nvSpPr>
          <p:spPr>
            <a:xfrm>
              <a:off x="1175247" y="5054600"/>
              <a:ext cx="2393604" cy="369332"/>
            </a:xfrm>
            <a:prstGeom prst="rect">
              <a:avLst/>
            </a:prstGeom>
            <a:noFill/>
          </p:spPr>
          <p:txBody>
            <a:bodyPr wrap="none" rtlCol="0">
              <a:spAutoFit/>
            </a:bodyPr>
            <a:lstStyle/>
            <a:p>
              <a:r>
                <a:rPr lang="en-US" dirty="0"/>
                <a:t>Community &amp; Support</a:t>
              </a:r>
            </a:p>
          </p:txBody>
        </p:sp>
      </p:grpSp>
      <p:grpSp>
        <p:nvGrpSpPr>
          <p:cNvPr id="23" name="Group 22">
            <a:extLst>
              <a:ext uri="{FF2B5EF4-FFF2-40B4-BE49-F238E27FC236}">
                <a16:creationId xmlns:a16="http://schemas.microsoft.com/office/drawing/2014/main" id="{DD332E0D-50AC-4900-AECC-0DC658B9C02C}"/>
              </a:ext>
            </a:extLst>
          </p:cNvPr>
          <p:cNvGrpSpPr/>
          <p:nvPr/>
        </p:nvGrpSpPr>
        <p:grpSpPr>
          <a:xfrm>
            <a:off x="4516278" y="1803400"/>
            <a:ext cx="3251200" cy="3620532"/>
            <a:chOff x="4777792" y="1803400"/>
            <a:chExt cx="3251200" cy="3620532"/>
          </a:xfrm>
        </p:grpSpPr>
        <p:pic>
          <p:nvPicPr>
            <p:cNvPr id="9" name="Picture 8">
              <a:extLst>
                <a:ext uri="{FF2B5EF4-FFF2-40B4-BE49-F238E27FC236}">
                  <a16:creationId xmlns:a16="http://schemas.microsoft.com/office/drawing/2014/main" id="{15E4AED8-5F94-228E-918A-D81FA401B168}"/>
                </a:ext>
              </a:extLst>
            </p:cNvPr>
            <p:cNvPicPr>
              <a:picLocks noChangeAspect="1"/>
            </p:cNvPicPr>
            <p:nvPr/>
          </p:nvPicPr>
          <p:blipFill>
            <a:blip r:embed="rId4"/>
            <a:stretch>
              <a:fillRect/>
            </a:stretch>
          </p:blipFill>
          <p:spPr>
            <a:xfrm>
              <a:off x="4777792" y="1803400"/>
              <a:ext cx="3251200" cy="3251200"/>
            </a:xfrm>
            <a:prstGeom prst="rect">
              <a:avLst/>
            </a:prstGeom>
          </p:spPr>
        </p:pic>
        <p:sp>
          <p:nvSpPr>
            <p:cNvPr id="19" name="TextBox 18">
              <a:extLst>
                <a:ext uri="{FF2B5EF4-FFF2-40B4-BE49-F238E27FC236}">
                  <a16:creationId xmlns:a16="http://schemas.microsoft.com/office/drawing/2014/main" id="{2DA49280-6A13-F6A1-ABF5-964F4E2C6FF0}"/>
                </a:ext>
              </a:extLst>
            </p:cNvPr>
            <p:cNvSpPr txBox="1"/>
            <p:nvPr/>
          </p:nvSpPr>
          <p:spPr>
            <a:xfrm>
              <a:off x="5669120" y="5054600"/>
              <a:ext cx="1468544" cy="369332"/>
            </a:xfrm>
            <a:prstGeom prst="rect">
              <a:avLst/>
            </a:prstGeom>
            <a:noFill/>
          </p:spPr>
          <p:txBody>
            <a:bodyPr wrap="none" rtlCol="0">
              <a:spAutoFit/>
            </a:bodyPr>
            <a:lstStyle/>
            <a:p>
              <a:r>
                <a:rPr lang="en-US" dirty="0"/>
                <a:t>Performance</a:t>
              </a:r>
            </a:p>
          </p:txBody>
        </p:sp>
      </p:grpSp>
      <p:grpSp>
        <p:nvGrpSpPr>
          <p:cNvPr id="24" name="Group 23">
            <a:extLst>
              <a:ext uri="{FF2B5EF4-FFF2-40B4-BE49-F238E27FC236}">
                <a16:creationId xmlns:a16="http://schemas.microsoft.com/office/drawing/2014/main" id="{A060AAA6-3AC5-D7CC-5862-F6BB753CC0EC}"/>
              </a:ext>
            </a:extLst>
          </p:cNvPr>
          <p:cNvGrpSpPr/>
          <p:nvPr/>
        </p:nvGrpSpPr>
        <p:grpSpPr>
          <a:xfrm>
            <a:off x="8379415" y="1690688"/>
            <a:ext cx="3251200" cy="3661290"/>
            <a:chOff x="8435910" y="1690688"/>
            <a:chExt cx="3251200" cy="3661290"/>
          </a:xfrm>
        </p:grpSpPr>
        <p:pic>
          <p:nvPicPr>
            <p:cNvPr id="17" name="Picture 16">
              <a:extLst>
                <a:ext uri="{FF2B5EF4-FFF2-40B4-BE49-F238E27FC236}">
                  <a16:creationId xmlns:a16="http://schemas.microsoft.com/office/drawing/2014/main" id="{2F88047C-35F7-C5EE-19DA-B64BFAB8CFFE}"/>
                </a:ext>
              </a:extLst>
            </p:cNvPr>
            <p:cNvPicPr>
              <a:picLocks noChangeAspect="1"/>
            </p:cNvPicPr>
            <p:nvPr/>
          </p:nvPicPr>
          <p:blipFill>
            <a:blip r:embed="rId5"/>
            <a:srcRect/>
            <a:stretch/>
          </p:blipFill>
          <p:spPr>
            <a:xfrm>
              <a:off x="8435910" y="1690688"/>
              <a:ext cx="3251200" cy="3251200"/>
            </a:xfrm>
            <a:prstGeom prst="rect">
              <a:avLst/>
            </a:prstGeom>
          </p:spPr>
        </p:pic>
        <p:sp>
          <p:nvSpPr>
            <p:cNvPr id="20" name="TextBox 19">
              <a:extLst>
                <a:ext uri="{FF2B5EF4-FFF2-40B4-BE49-F238E27FC236}">
                  <a16:creationId xmlns:a16="http://schemas.microsoft.com/office/drawing/2014/main" id="{9AD51936-2E82-6B06-ED40-EC245F0E359F}"/>
                </a:ext>
              </a:extLst>
            </p:cNvPr>
            <p:cNvSpPr txBox="1"/>
            <p:nvPr/>
          </p:nvSpPr>
          <p:spPr>
            <a:xfrm>
              <a:off x="9327238" y="4982646"/>
              <a:ext cx="1478546" cy="369332"/>
            </a:xfrm>
            <a:prstGeom prst="rect">
              <a:avLst/>
            </a:prstGeom>
            <a:noFill/>
          </p:spPr>
          <p:txBody>
            <a:bodyPr wrap="none" rtlCol="0">
              <a:spAutoFit/>
            </a:bodyPr>
            <a:lstStyle/>
            <a:p>
              <a:r>
                <a:rPr lang="en-US" dirty="0"/>
                <a:t>License Cost</a:t>
              </a:r>
            </a:p>
          </p:txBody>
        </p:sp>
      </p:grpSp>
      <p:sp>
        <p:nvSpPr>
          <p:cNvPr id="3" name="TextBox 2">
            <a:extLst>
              <a:ext uri="{FF2B5EF4-FFF2-40B4-BE49-F238E27FC236}">
                <a16:creationId xmlns:a16="http://schemas.microsoft.com/office/drawing/2014/main" id="{5487C14F-3013-F452-FC3C-7CBF02BE40C5}"/>
              </a:ext>
            </a:extLst>
          </p:cNvPr>
          <p:cNvSpPr txBox="1"/>
          <p:nvPr/>
        </p:nvSpPr>
        <p:spPr>
          <a:xfrm>
            <a:off x="647955" y="3505318"/>
            <a:ext cx="3629608" cy="2129878"/>
          </a:xfrm>
          <a:prstGeom prst="rect">
            <a:avLst/>
          </a:prstGeom>
          <a:noFill/>
        </p:spPr>
        <p:txBody>
          <a:bodyPr wrap="square" rtlCol="0">
            <a:spAutoFit/>
          </a:bodyPr>
          <a:lstStyle/>
          <a:p>
            <a:pPr>
              <a:lnSpc>
                <a:spcPct val="150000"/>
              </a:lnSpc>
            </a:pPr>
            <a:r>
              <a:rPr lang="en-US" dirty="0"/>
              <a:t>#1Popular NoSQL database</a:t>
            </a:r>
          </a:p>
          <a:p>
            <a:pPr>
              <a:lnSpc>
                <a:spcPct val="150000"/>
              </a:lnSpc>
            </a:pPr>
            <a:r>
              <a:rPr lang="en-US" dirty="0"/>
              <a:t>#5 Popular database</a:t>
            </a:r>
          </a:p>
          <a:p>
            <a:pPr>
              <a:lnSpc>
                <a:spcPct val="150000"/>
              </a:lnSpc>
            </a:pPr>
            <a:r>
              <a:rPr lang="en-US" dirty="0"/>
              <a:t>500k </a:t>
            </a:r>
            <a:r>
              <a:rPr lang="en-US" dirty="0" err="1"/>
              <a:t>github</a:t>
            </a:r>
            <a:r>
              <a:rPr lang="en-US" dirty="0"/>
              <a:t> repo used </a:t>
            </a:r>
            <a:r>
              <a:rPr lang="en-US" dirty="0" err="1"/>
              <a:t>mongodb</a:t>
            </a:r>
            <a:endParaRPr lang="en-US" dirty="0"/>
          </a:p>
          <a:p>
            <a:pPr>
              <a:lnSpc>
                <a:spcPct val="150000"/>
              </a:lnSpc>
            </a:pPr>
            <a:r>
              <a:rPr lang="en-US" dirty="0"/>
              <a:t>176k </a:t>
            </a:r>
            <a:r>
              <a:rPr lang="en-US" dirty="0" err="1"/>
              <a:t>stackoverflow</a:t>
            </a:r>
            <a:r>
              <a:rPr lang="en-US" dirty="0"/>
              <a:t> questions</a:t>
            </a:r>
          </a:p>
          <a:p>
            <a:pPr>
              <a:lnSpc>
                <a:spcPct val="150000"/>
              </a:lnSpc>
            </a:pPr>
            <a:r>
              <a:rPr lang="en-US" dirty="0"/>
              <a:t>57M </a:t>
            </a:r>
            <a:r>
              <a:rPr lang="en-US" dirty="0" err="1"/>
              <a:t>PyMongo</a:t>
            </a:r>
            <a:r>
              <a:rPr lang="en-US" dirty="0"/>
              <a:t> monthly download *</a:t>
            </a:r>
          </a:p>
        </p:txBody>
      </p:sp>
      <p:sp>
        <p:nvSpPr>
          <p:cNvPr id="4" name="TextBox 3">
            <a:extLst>
              <a:ext uri="{FF2B5EF4-FFF2-40B4-BE49-F238E27FC236}">
                <a16:creationId xmlns:a16="http://schemas.microsoft.com/office/drawing/2014/main" id="{58FF7E1F-CF78-21B1-983D-75C1FC244162}"/>
              </a:ext>
            </a:extLst>
          </p:cNvPr>
          <p:cNvSpPr txBox="1"/>
          <p:nvPr/>
        </p:nvSpPr>
        <p:spPr>
          <a:xfrm>
            <a:off x="569167" y="6316824"/>
            <a:ext cx="9521133" cy="369332"/>
          </a:xfrm>
          <a:prstGeom prst="rect">
            <a:avLst/>
          </a:prstGeom>
          <a:noFill/>
        </p:spPr>
        <p:txBody>
          <a:bodyPr wrap="none" rtlCol="0">
            <a:spAutoFit/>
          </a:bodyPr>
          <a:lstStyle/>
          <a:p>
            <a:r>
              <a:rPr lang="en-US" dirty="0"/>
              <a:t>* </a:t>
            </a:r>
            <a:r>
              <a:rPr lang="en-US" dirty="0" err="1"/>
              <a:t>mysql</a:t>
            </a:r>
            <a:r>
              <a:rPr lang="en-US" dirty="0"/>
              <a:t>-connector-python, the official </a:t>
            </a:r>
            <a:r>
              <a:rPr lang="en-US" dirty="0" err="1"/>
              <a:t>mysql</a:t>
            </a:r>
            <a:r>
              <a:rPr lang="en-US" dirty="0"/>
              <a:t> connector for python, has 43M monthly download</a:t>
            </a:r>
          </a:p>
        </p:txBody>
      </p:sp>
      <p:sp>
        <p:nvSpPr>
          <p:cNvPr id="5" name="TextBox 4">
            <a:extLst>
              <a:ext uri="{FF2B5EF4-FFF2-40B4-BE49-F238E27FC236}">
                <a16:creationId xmlns:a16="http://schemas.microsoft.com/office/drawing/2014/main" id="{AF8B3247-9CB5-82B3-96AA-94546429ED09}"/>
              </a:ext>
            </a:extLst>
          </p:cNvPr>
          <p:cNvSpPr txBox="1"/>
          <p:nvPr/>
        </p:nvSpPr>
        <p:spPr>
          <a:xfrm>
            <a:off x="4327073" y="3505318"/>
            <a:ext cx="4052342" cy="1714380"/>
          </a:xfrm>
          <a:prstGeom prst="rect">
            <a:avLst/>
          </a:prstGeom>
          <a:noFill/>
        </p:spPr>
        <p:txBody>
          <a:bodyPr wrap="square" rtlCol="0">
            <a:spAutoFit/>
          </a:bodyPr>
          <a:lstStyle/>
          <a:p>
            <a:pPr>
              <a:lnSpc>
                <a:spcPct val="150000"/>
              </a:lnSpc>
            </a:pPr>
            <a:r>
              <a:rPr lang="en-US" dirty="0"/>
              <a:t>Native document model + multi-model</a:t>
            </a:r>
          </a:p>
          <a:p>
            <a:pPr>
              <a:lnSpc>
                <a:spcPct val="150000"/>
              </a:lnSpc>
            </a:pPr>
            <a:r>
              <a:rPr lang="en-US" dirty="0"/>
              <a:t>Native horizontal &amp; vertical scaling</a:t>
            </a:r>
          </a:p>
          <a:p>
            <a:pPr>
              <a:lnSpc>
                <a:spcPct val="150000"/>
              </a:lnSpc>
            </a:pPr>
            <a:r>
              <a:rPr lang="en-US" dirty="0"/>
              <a:t>10+ index types for optimized query</a:t>
            </a:r>
          </a:p>
          <a:p>
            <a:pPr>
              <a:lnSpc>
                <a:spcPct val="150000"/>
              </a:lnSpc>
            </a:pPr>
            <a:r>
              <a:rPr lang="en-US" dirty="0"/>
              <a:t>Server-side aggregation</a:t>
            </a:r>
          </a:p>
        </p:txBody>
      </p:sp>
      <p:sp>
        <p:nvSpPr>
          <p:cNvPr id="6" name="TextBox 5">
            <a:extLst>
              <a:ext uri="{FF2B5EF4-FFF2-40B4-BE49-F238E27FC236}">
                <a16:creationId xmlns:a16="http://schemas.microsoft.com/office/drawing/2014/main" id="{9CAD43E7-3BE6-A17D-36E6-5ECA0A9B19E6}"/>
              </a:ext>
            </a:extLst>
          </p:cNvPr>
          <p:cNvSpPr txBox="1"/>
          <p:nvPr/>
        </p:nvSpPr>
        <p:spPr>
          <a:xfrm>
            <a:off x="8488526" y="3617290"/>
            <a:ext cx="3251200" cy="1477328"/>
          </a:xfrm>
          <a:prstGeom prst="rect">
            <a:avLst/>
          </a:prstGeom>
          <a:noFill/>
        </p:spPr>
        <p:txBody>
          <a:bodyPr wrap="square" rtlCol="0">
            <a:spAutoFit/>
          </a:bodyPr>
          <a:lstStyle/>
          <a:p>
            <a:r>
              <a:rPr lang="en-US" dirty="0"/>
              <a:t>Free community version, without performance limit</a:t>
            </a:r>
          </a:p>
          <a:p>
            <a:endParaRPr lang="en-US" dirty="0"/>
          </a:p>
          <a:p>
            <a:r>
              <a:rPr lang="en-US" dirty="0"/>
              <a:t>Free cloud storage tier</a:t>
            </a:r>
          </a:p>
          <a:p>
            <a:endParaRPr lang="en-US" dirty="0"/>
          </a:p>
        </p:txBody>
      </p:sp>
    </p:spTree>
    <p:extLst>
      <p:ext uri="{BB962C8B-B14F-4D97-AF65-F5344CB8AC3E}">
        <p14:creationId xmlns:p14="http://schemas.microsoft.com/office/powerpoint/2010/main" val="87003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afterEffect">
                                  <p:stCondLst>
                                    <p:cond delay="0"/>
                                  </p:stCondLst>
                                  <p:childTnLst>
                                    <p:animMotion origin="layout" path="M 0.00911 -0.00162 L 0.00911 -0.19629 " pathEditMode="relative" rAng="0" ptsTypes="AA">
                                      <p:cBhvr>
                                        <p:cTn id="6" dur="2000" fill="hold"/>
                                        <p:tgtEl>
                                          <p:spTgt spid="21"/>
                                        </p:tgtEl>
                                        <p:attrNameLst>
                                          <p:attrName>ppt_x</p:attrName>
                                          <p:attrName>ppt_y</p:attrName>
                                        </p:attrNameLst>
                                      </p:cBhvr>
                                      <p:rCtr x="0" y="-9745"/>
                                    </p:animMotion>
                                  </p:childTnLst>
                                </p:cTn>
                              </p:par>
                              <p:par>
                                <p:cTn id="7" presetID="6" presetClass="emph" presetSubtype="0" fill="hold" nodeType="withEffect">
                                  <p:stCondLst>
                                    <p:cond delay="0"/>
                                  </p:stCondLst>
                                  <p:childTnLst>
                                    <p:animScale>
                                      <p:cBhvr>
                                        <p:cTn id="8" dur="2000" fill="hold"/>
                                        <p:tgtEl>
                                          <p:spTgt spid="21"/>
                                        </p:tgtEl>
                                      </p:cBhvr>
                                      <p:by x="50000" y="50000"/>
                                    </p:animScale>
                                  </p:childTnLst>
                                </p:cTn>
                              </p:par>
                              <p:par>
                                <p:cTn id="9" presetID="0" presetClass="path" presetSubtype="0" fill="hold" nodeType="withEffect">
                                  <p:stCondLst>
                                    <p:cond delay="0"/>
                                  </p:stCondLst>
                                  <p:childTnLst>
                                    <p:animMotion origin="layout" path="M 0.00911 -0.00162 L 0.00911 -0.19629 " pathEditMode="relative" rAng="0" ptsTypes="AA">
                                      <p:cBhvr>
                                        <p:cTn id="10" dur="2000" fill="hold"/>
                                        <p:tgtEl>
                                          <p:spTgt spid="23"/>
                                        </p:tgtEl>
                                        <p:attrNameLst>
                                          <p:attrName>ppt_x</p:attrName>
                                          <p:attrName>ppt_y</p:attrName>
                                        </p:attrNameLst>
                                      </p:cBhvr>
                                      <p:rCtr x="0" y="-9745"/>
                                    </p:animMotion>
                                  </p:childTnLst>
                                </p:cTn>
                              </p:par>
                              <p:par>
                                <p:cTn id="11" presetID="6" presetClass="emph" presetSubtype="0" fill="hold" nodeType="withEffect">
                                  <p:stCondLst>
                                    <p:cond delay="0"/>
                                  </p:stCondLst>
                                  <p:childTnLst>
                                    <p:animScale>
                                      <p:cBhvr>
                                        <p:cTn id="12" dur="2000" fill="hold"/>
                                        <p:tgtEl>
                                          <p:spTgt spid="23"/>
                                        </p:tgtEl>
                                      </p:cBhvr>
                                      <p:by x="50000" y="50000"/>
                                    </p:animScale>
                                  </p:childTnLst>
                                </p:cTn>
                              </p:par>
                              <p:par>
                                <p:cTn id="13" presetID="0" presetClass="path" presetSubtype="0" fill="hold" nodeType="withEffect">
                                  <p:stCondLst>
                                    <p:cond delay="0"/>
                                  </p:stCondLst>
                                  <p:childTnLst>
                                    <p:animMotion origin="layout" path="M 0.00911 -0.00162 L 0.00911 -0.19629 " pathEditMode="relative" rAng="0" ptsTypes="AA">
                                      <p:cBhvr>
                                        <p:cTn id="14" dur="2000" fill="hold"/>
                                        <p:tgtEl>
                                          <p:spTgt spid="24"/>
                                        </p:tgtEl>
                                        <p:attrNameLst>
                                          <p:attrName>ppt_x</p:attrName>
                                          <p:attrName>ppt_y</p:attrName>
                                        </p:attrNameLst>
                                      </p:cBhvr>
                                      <p:rCtr x="0" y="-9745"/>
                                    </p:animMotion>
                                  </p:childTnLst>
                                </p:cTn>
                              </p:par>
                              <p:par>
                                <p:cTn id="15" presetID="6" presetClass="emph" presetSubtype="0" fill="hold" nodeType="withEffect">
                                  <p:stCondLst>
                                    <p:cond delay="0"/>
                                  </p:stCondLst>
                                  <p:childTnLst>
                                    <p:animScale>
                                      <p:cBhvr>
                                        <p:cTn id="16" dur="2000" fill="hold"/>
                                        <p:tgtEl>
                                          <p:spTgt spid="24"/>
                                        </p:tgtEl>
                                      </p:cBhvr>
                                      <p:by x="50000" y="50000"/>
                                    </p:animScale>
                                  </p:childTnLst>
                                </p:cTn>
                              </p:par>
                            </p:childTnLst>
                          </p:cTn>
                        </p:par>
                        <p:par>
                          <p:cTn id="17" fill="hold">
                            <p:stCondLst>
                              <p:cond delay="2000"/>
                            </p:stCondLst>
                            <p:childTnLst>
                              <p:par>
                                <p:cTn id="18" presetID="9" presetClass="entr" presetSubtype="0"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dissolve">
                                      <p:cBhvr>
                                        <p:cTn id="23" dur="500"/>
                                        <p:tgtEl>
                                          <p:spTgt spid="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dissolve">
                                      <p:cBhvr>
                                        <p:cTn id="26" dur="500"/>
                                        <p:tgtEl>
                                          <p:spTgt spid="5"/>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dissolv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Your lab: MongoDB in Docker on your laptop</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SETUP</a:t>
            </a:r>
          </a:p>
        </p:txBody>
      </p:sp>
      <p:sp>
        <p:nvSpPr>
          <p:cNvPr id="6" name="laptop bg"/>
          <p:cNvSpPr/>
          <p:nvPr/>
        </p:nvSpPr>
        <p:spPr>
          <a:xfrm>
            <a:off x="548640" y="1371600"/>
            <a:ext cx="11064240" cy="3246120"/>
          </a:xfrm>
          <a:prstGeom prst="roundRect">
            <a:avLst>
              <a:gd name="adj" fmla="val 169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laptop label"/>
          <p:cNvSpPr txBox="1"/>
          <p:nvPr/>
        </p:nvSpPr>
        <p:spPr>
          <a:xfrm>
            <a:off x="731520" y="1417320"/>
            <a:ext cx="3657600" cy="365760"/>
          </a:xfrm>
          <a:prstGeom prst="rect">
            <a:avLst/>
          </a:prstGeom>
          <a:noFill/>
        </p:spPr>
        <p:txBody>
          <a:bodyPr wrap="square" lIns="45720" rIns="45720" tIns="27432" bIns="27432" anchor="t">
            <a:spAutoFit/>
          </a:bodyPr>
          <a:lstStyle/>
          <a:p>
            <a:pPr algn="l">
              <a:spcAft>
                <a:spcPts val="600"/>
              </a:spcAft>
            </a:pPr>
            <a:r>
              <a:rPr sz="1600" b="1" i="0">
                <a:solidFill>
                  <a:srgbClr val="595959"/>
                </a:solidFill>
              </a:rPr>
              <a:t>Your laptop</a:t>
            </a:r>
          </a:p>
        </p:txBody>
      </p:sp>
      <p:sp>
        <p:nvSpPr>
          <p:cNvPr id="8" name="jupyter"/>
          <p:cNvSpPr/>
          <p:nvPr/>
        </p:nvSpPr>
        <p:spPr>
          <a:xfrm>
            <a:off x="914400" y="2103120"/>
            <a:ext cx="3291840" cy="2011680"/>
          </a:xfrm>
          <a:prstGeom prst="roundRect">
            <a:avLst>
              <a:gd name="adj" fmla="val 5454"/>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JupyterLab</a:t>
            </a:r>
          </a:p>
          <a:p>
            <a:pPr algn="ctr"/>
            <a:r>
              <a:rPr sz="1800" b="0" i="0">
                <a:solidFill>
                  <a:srgbClr val="FFFFFF"/>
                </a:solidFill>
                <a:latin typeface="Courier New"/>
              </a:rPr>
              <a:t>workbook.ipynb</a:t>
            </a:r>
          </a:p>
          <a:p>
            <a:pPr algn="ctr"/>
            <a:r>
              <a:rPr sz="1800" b="0" i="0">
                <a:solidFill>
                  <a:srgbClr val="FFFFFF"/>
                </a:solidFill>
              </a:rPr>
              <a:t>Python + PyMongo</a:t>
            </a:r>
          </a:p>
        </p:txBody>
      </p:sp>
      <p:sp>
        <p:nvSpPr>
          <p:cNvPr id="9" name="docker bg"/>
          <p:cNvSpPr/>
          <p:nvPr/>
        </p:nvSpPr>
        <p:spPr>
          <a:xfrm>
            <a:off x="5486400" y="1828800"/>
            <a:ext cx="5852160" cy="2606040"/>
          </a:xfrm>
          <a:prstGeom prst="roundRect">
            <a:avLst>
              <a:gd name="adj" fmla="val 2105"/>
            </a:avLst>
          </a:prstGeom>
          <a:solidFill>
            <a:srgbClr val="FFFFFF"/>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docker label"/>
          <p:cNvSpPr txBox="1"/>
          <p:nvPr/>
        </p:nvSpPr>
        <p:spPr>
          <a:xfrm>
            <a:off x="5623560" y="1874519"/>
            <a:ext cx="5029200" cy="365760"/>
          </a:xfrm>
          <a:prstGeom prst="rect">
            <a:avLst/>
          </a:prstGeom>
          <a:noFill/>
        </p:spPr>
        <p:txBody>
          <a:bodyPr wrap="square" lIns="45720" rIns="45720" tIns="27432" bIns="27432" anchor="t">
            <a:spAutoFit/>
          </a:bodyPr>
          <a:lstStyle/>
          <a:p>
            <a:pPr algn="l">
              <a:spcAft>
                <a:spcPts val="600"/>
              </a:spcAft>
            </a:pPr>
            <a:r>
              <a:rPr sz="1600" b="1" i="0">
                <a:solidFill>
                  <a:srgbClr val="595959"/>
                </a:solidFill>
              </a:rPr>
              <a:t>Docker</a:t>
            </a:r>
          </a:p>
        </p:txBody>
      </p:sp>
      <p:sp>
        <p:nvSpPr>
          <p:cNvPr id="11" name="mongod"/>
          <p:cNvSpPr/>
          <p:nvPr/>
        </p:nvSpPr>
        <p:spPr>
          <a:xfrm>
            <a:off x="5760720" y="2331720"/>
            <a:ext cx="2651760" cy="914400"/>
          </a:xfrm>
          <a:prstGeom prst="roundRect">
            <a:avLst>
              <a:gd name="adj" fmla="val 1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MongoDB 7</a:t>
            </a:r>
          </a:p>
          <a:p>
            <a:pPr algn="ctr"/>
            <a:r>
              <a:rPr sz="1700" b="0" i="0">
                <a:solidFill>
                  <a:srgbClr val="FFFFFF"/>
                </a:solidFill>
                <a:latin typeface="Courier New"/>
              </a:rPr>
              <a:t>localhost:27017</a:t>
            </a:r>
          </a:p>
        </p:txBody>
      </p:sp>
      <p:sp>
        <p:nvSpPr>
          <p:cNvPr id="12" name="neo4j box"/>
          <p:cNvSpPr/>
          <p:nvPr/>
        </p:nvSpPr>
        <p:spPr>
          <a:xfrm>
            <a:off x="8595360" y="2331720"/>
            <a:ext cx="2560320" cy="914400"/>
          </a:xfrm>
          <a:prstGeom prst="roundRect">
            <a:avLst>
              <a:gd name="adj" fmla="val 10000"/>
            </a:avLst>
          </a:prstGeom>
          <a:solidFill>
            <a:srgbClr val="5B70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Neo4j 5</a:t>
            </a:r>
          </a:p>
          <a:p>
            <a:pPr algn="ctr"/>
            <a:r>
              <a:rPr sz="1700" b="0" i="0">
                <a:solidFill>
                  <a:srgbClr val="FFFFFF"/>
                </a:solidFill>
                <a:latin typeface="Courier New"/>
              </a:rPr>
              <a:t>7474</a:t>
            </a:r>
            <a:r>
              <a:rPr sz="1700" b="0" i="0">
                <a:solidFill>
                  <a:srgbClr val="FFFFFF"/>
                </a:solidFill>
              </a:rPr>
              <a:t> / </a:t>
            </a:r>
            <a:r>
              <a:rPr sz="1700" b="0" i="0">
                <a:solidFill>
                  <a:srgbClr val="FFFFFF"/>
                </a:solidFill>
                <a:latin typeface="Courier New"/>
              </a:rPr>
              <a:t>7687</a:t>
            </a:r>
          </a:p>
        </p:txBody>
      </p:sp>
      <p:sp>
        <p:nvSpPr>
          <p:cNvPr id="13" name="accounts"/>
          <p:cNvSpPr txBox="1"/>
          <p:nvPr/>
        </p:nvSpPr>
        <p:spPr>
          <a:xfrm>
            <a:off x="5760720" y="3383280"/>
            <a:ext cx="5486400" cy="1005840"/>
          </a:xfrm>
          <a:prstGeom prst="rect">
            <a:avLst/>
          </a:prstGeom>
          <a:noFill/>
        </p:spPr>
        <p:txBody>
          <a:bodyPr wrap="square" lIns="45720" rIns="45720" tIns="27432" bIns="27432" anchor="t">
            <a:spAutoFit/>
          </a:bodyPr>
          <a:lstStyle/>
          <a:p>
            <a:pPr algn="l">
              <a:spcAft>
                <a:spcPts val="300"/>
              </a:spcAft>
            </a:pPr>
            <a:r>
              <a:rPr sz="1400" b="0" i="0">
                <a:solidFill>
                  <a:srgbClr val="156082"/>
                </a:solidFill>
                <a:latin typeface="Courier New"/>
              </a:rPr>
              <a:t>admin</a:t>
            </a:r>
            <a:r>
              <a:rPr sz="1400" b="0" i="0">
                <a:solidFill>
                  <a:srgbClr val="0E2841"/>
                </a:solidFill>
              </a:rPr>
              <a:t> / </a:t>
            </a:r>
            <a:r>
              <a:rPr sz="1400" b="0" i="0">
                <a:solidFill>
                  <a:srgbClr val="156082"/>
                </a:solidFill>
                <a:latin typeface="Courier New"/>
              </a:rPr>
              <a:t>workshop_admin</a:t>
            </a:r>
            <a:r>
              <a:rPr sz="1400" b="0" i="0">
                <a:solidFill>
                  <a:srgbClr val="0E2841"/>
                </a:solidFill>
              </a:rPr>
              <a:t>: </a:t>
            </a:r>
            <a:r>
              <a:rPr sz="1400" b="1" i="0">
                <a:solidFill>
                  <a:srgbClr val="0E2841"/>
                </a:solidFill>
              </a:rPr>
              <a:t>root</a:t>
            </a:r>
            <a:r>
              <a:rPr sz="1400" b="0" i="0">
                <a:solidFill>
                  <a:srgbClr val="0E2841"/>
                </a:solidFill>
              </a:rPr>
              <a:t> (administrator)</a:t>
            </a:r>
          </a:p>
          <a:p>
            <a:pPr algn="l">
              <a:spcAft>
                <a:spcPts val="300"/>
              </a:spcAft>
            </a:pPr>
            <a:r>
              <a:rPr sz="1400" b="0" i="0">
                <a:solidFill>
                  <a:srgbClr val="156082"/>
                </a:solidFill>
                <a:latin typeface="Courier New"/>
              </a:rPr>
              <a:t>student</a:t>
            </a:r>
            <a:r>
              <a:rPr sz="1400" b="0" i="0">
                <a:solidFill>
                  <a:srgbClr val="0E2841"/>
                </a:solidFill>
              </a:rPr>
              <a:t> / </a:t>
            </a:r>
            <a:r>
              <a:rPr sz="1400" b="0" i="0">
                <a:solidFill>
                  <a:srgbClr val="156082"/>
                </a:solidFill>
                <a:latin typeface="Courier New"/>
              </a:rPr>
              <a:t>student_password</a:t>
            </a:r>
            <a:r>
              <a:rPr sz="1400" b="0" i="0">
                <a:solidFill>
                  <a:srgbClr val="0E2841"/>
                </a:solidFill>
              </a:rPr>
              <a:t>: </a:t>
            </a:r>
            <a:r>
              <a:rPr sz="1400" b="1" i="0">
                <a:solidFill>
                  <a:srgbClr val="0E2841"/>
                </a:solidFill>
              </a:rPr>
              <a:t>restricted</a:t>
            </a:r>
            <a:r>
              <a:rPr sz="1400" b="0" i="0">
                <a:solidFill>
                  <a:srgbClr val="0E2841"/>
                </a:solidFill>
              </a:rPr>
              <a:t> (RBAC demo)</a:t>
            </a:r>
          </a:p>
        </p:txBody>
      </p:sp>
      <p:cxnSp>
        <p:nvCxnSpPr>
          <p:cNvPr id="14" name="link"/>
          <p:cNvCxnSpPr/>
          <p:nvPr/>
        </p:nvCxnSpPr>
        <p:spPr>
          <a:xfrm>
            <a:off x="4251960" y="3108960"/>
            <a:ext cx="1188720" cy="0"/>
          </a:xfrm>
          <a:prstGeom prst="line">
            <a:avLst/>
          </a:prstGeom>
          <a:ln w="3810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15" name="link label"/>
          <p:cNvSpPr txBox="1"/>
          <p:nvPr/>
        </p:nvSpPr>
        <p:spPr>
          <a:xfrm>
            <a:off x="4114800" y="2697480"/>
            <a:ext cx="1463040" cy="365760"/>
          </a:xfrm>
          <a:prstGeom prst="rect">
            <a:avLst/>
          </a:prstGeom>
          <a:noFill/>
        </p:spPr>
        <p:txBody>
          <a:bodyPr wrap="square" lIns="45720" rIns="45720" tIns="27432" bIns="27432" anchor="t">
            <a:spAutoFit/>
          </a:bodyPr>
          <a:lstStyle/>
          <a:p>
            <a:pPr algn="ctr">
              <a:spcAft>
                <a:spcPts val="600"/>
              </a:spcAft>
            </a:pPr>
            <a:r>
              <a:rPr sz="1400" b="1" i="0">
                <a:solidFill>
                  <a:srgbClr val="0E2841"/>
                </a:solidFill>
              </a:rPr>
              <a:t>PyMongo</a:t>
            </a:r>
          </a:p>
        </p:txBody>
      </p:sp>
      <p:sp>
        <p:nvSpPr>
          <p:cNvPr id="16" name="setup code bg"/>
          <p:cNvSpPr/>
          <p:nvPr/>
        </p:nvSpPr>
        <p:spPr>
          <a:xfrm>
            <a:off x="548640" y="4846320"/>
            <a:ext cx="5852160" cy="1371600"/>
          </a:xfrm>
          <a:prstGeom prst="roundRect">
            <a:avLst>
              <a:gd name="adj" fmla="val 3333"/>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tup code"/>
          <p:cNvSpPr txBox="1"/>
          <p:nvPr/>
        </p:nvSpPr>
        <p:spPr>
          <a:xfrm>
            <a:off x="640080" y="4910328"/>
            <a:ext cx="5669280" cy="1243584"/>
          </a:xfrm>
          <a:prstGeom prst="rect">
            <a:avLst/>
          </a:prstGeom>
          <a:noFill/>
        </p:spPr>
        <p:txBody>
          <a:bodyPr wrap="square" lIns="45720" rIns="45720" tIns="27432" bIns="27432" anchor="t">
            <a:spAutoFit/>
          </a:bodyPr>
          <a:lstStyle/>
          <a:p>
            <a:pPr algn="l">
              <a:spcAft>
                <a:spcPts val="0"/>
              </a:spcAft>
            </a:pPr>
            <a:r>
              <a:rPr sz="1400" b="0" i="0">
                <a:solidFill>
                  <a:srgbClr val="1F2937"/>
                </a:solidFill>
                <a:latin typeface="Courier New"/>
              </a:rPr>
              <a:t>cd docker</a:t>
            </a:r>
          </a:p>
          <a:p>
            <a:pPr algn="l">
              <a:spcAft>
                <a:spcPts val="0"/>
              </a:spcAft>
            </a:pPr>
            <a:r>
              <a:rPr sz="1400" b="0" i="0">
                <a:solidFill>
                  <a:srgbClr val="1F2937"/>
                </a:solidFill>
                <a:latin typeface="Courier New"/>
              </a:rPr>
              <a:t>docker compose up -d      # start the databases</a:t>
            </a:r>
          </a:p>
          <a:p>
            <a:pPr algn="l">
              <a:spcAft>
                <a:spcPts val="0"/>
              </a:spcAft>
            </a:pPr>
            <a:r>
              <a:rPr sz="1400" b="0" i="0">
                <a:solidFill>
                  <a:srgbClr val="1F2937"/>
                </a:solidFill>
                <a:latin typeface="Courier New"/>
              </a:rPr>
              <a:t>docker compose ps         # wait for "healthy"</a:t>
            </a:r>
          </a:p>
          <a:p>
            <a:pPr algn="l">
              <a:spcAft>
                <a:spcPts val="0"/>
              </a:spcAft>
            </a:pPr>
            <a:r>
              <a:rPr sz="1400" b="0" i="0">
                <a:solidFill>
                  <a:srgbClr val="1F2937"/>
                </a:solidFill>
                <a:latin typeface="Courier New"/>
              </a:rPr>
              <a:t>python scripts/check_setup.py</a:t>
            </a:r>
          </a:p>
        </p:txBody>
      </p:sp>
      <p:sp>
        <p:nvSpPr>
          <p:cNvPr id="18" name="setup note bg"/>
          <p:cNvSpPr/>
          <p:nvPr/>
        </p:nvSpPr>
        <p:spPr>
          <a:xfrm>
            <a:off x="6583680" y="4846320"/>
            <a:ext cx="5029200" cy="137160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etup note title"/>
          <p:cNvSpPr txBox="1"/>
          <p:nvPr/>
        </p:nvSpPr>
        <p:spPr>
          <a:xfrm>
            <a:off x="6693408" y="4919472"/>
            <a:ext cx="4809744" cy="411480"/>
          </a:xfrm>
          <a:prstGeom prst="rect">
            <a:avLst/>
          </a:prstGeom>
          <a:noFill/>
        </p:spPr>
        <p:txBody>
          <a:bodyPr wrap="square" lIns="45720" rIns="45720" tIns="27432" bIns="27432" anchor="t">
            <a:spAutoFit/>
          </a:bodyPr>
          <a:lstStyle/>
          <a:p>
            <a:pPr algn="l">
              <a:spcAft>
                <a:spcPts val="600"/>
              </a:spcAft>
            </a:pPr>
            <a:r>
              <a:rPr sz="1600" b="1" i="0">
                <a:solidFill>
                  <a:srgbClr val="156082"/>
                </a:solidFill>
              </a:rPr>
              <a:t>Same laptop-only setup for Neo4j</a:t>
            </a:r>
          </a:p>
        </p:txBody>
      </p:sp>
      <p:sp>
        <p:nvSpPr>
          <p:cNvPr id="20" name="setup note body"/>
          <p:cNvSpPr txBox="1"/>
          <p:nvPr/>
        </p:nvSpPr>
        <p:spPr>
          <a:xfrm>
            <a:off x="6693408" y="5303520"/>
            <a:ext cx="4809744" cy="822960"/>
          </a:xfrm>
          <a:prstGeom prst="rect">
            <a:avLst/>
          </a:prstGeom>
          <a:noFill/>
        </p:spPr>
        <p:txBody>
          <a:bodyPr wrap="square" lIns="45720" rIns="45720" tIns="27432" bIns="27432" anchor="t">
            <a:spAutoFit/>
          </a:bodyPr>
          <a:lstStyle/>
          <a:p>
            <a:pPr algn="l">
              <a:spcAft>
                <a:spcPts val="400"/>
              </a:spcAft>
            </a:pPr>
            <a:r>
              <a:rPr sz="1400" b="0" i="0">
                <a:solidFill>
                  <a:srgbClr val="0E2841"/>
                </a:solidFill>
              </a:rPr>
              <a:t>Instructions, troubleshooting and port overrides: </a:t>
            </a:r>
            <a:r>
              <a:rPr sz="1400" b="1" i="0">
                <a:solidFill>
                  <a:srgbClr val="0E2841"/>
                </a:solidFill>
              </a:rPr>
              <a:t>SETUP.md</a:t>
            </a:r>
            <a:r>
              <a:rPr sz="1400" b="0" i="0">
                <a:solidFill>
                  <a:srgbClr val="0E2841"/>
                </a:solidFill>
              </a:rPr>
              <a:t> in the repository.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Connecting: the connection string</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SETUP</a:t>
            </a:r>
          </a:p>
        </p:txBody>
      </p:sp>
      <p:sp>
        <p:nvSpPr>
          <p:cNvPr id="6" name="uri bg"/>
          <p:cNvSpPr/>
          <p:nvPr/>
        </p:nvSpPr>
        <p:spPr>
          <a:xfrm>
            <a:off x="548640" y="1371600"/>
            <a:ext cx="11064240" cy="777240"/>
          </a:xfrm>
          <a:prstGeom prst="roundRect">
            <a:avLst>
              <a:gd name="adj" fmla="val 5882"/>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uri"/>
          <p:cNvSpPr txBox="1"/>
          <p:nvPr/>
        </p:nvSpPr>
        <p:spPr>
          <a:xfrm>
            <a:off x="640080" y="1435608"/>
            <a:ext cx="10881360" cy="649224"/>
          </a:xfrm>
          <a:prstGeom prst="rect">
            <a:avLst/>
          </a:prstGeom>
          <a:noFill/>
        </p:spPr>
        <p:txBody>
          <a:bodyPr wrap="square" lIns="45720" rIns="45720" tIns="27432" bIns="27432" anchor="t">
            <a:spAutoFit/>
          </a:bodyPr>
          <a:lstStyle/>
          <a:p>
            <a:pPr algn="l">
              <a:spcAft>
                <a:spcPts val="0"/>
              </a:spcAft>
            </a:pPr>
            <a:r>
              <a:rPr sz="1800" b="0" i="0">
                <a:solidFill>
                  <a:srgbClr val="1F2937"/>
                </a:solidFill>
                <a:latin typeface="Courier New"/>
              </a:rPr>
              <a:t>mongodb://student:student_password@localhost:27017/?authSource=admin</a:t>
            </a:r>
          </a:p>
        </p:txBody>
      </p:sp>
      <p:sp>
        <p:nvSpPr>
          <p:cNvPr id="8" name="uri part scheme"/>
          <p:cNvSpPr txBox="1"/>
          <p:nvPr/>
        </p:nvSpPr>
        <p:spPr>
          <a:xfrm>
            <a:off x="640080" y="2103120"/>
            <a:ext cx="2103120" cy="365760"/>
          </a:xfrm>
          <a:prstGeom prst="rect">
            <a:avLst/>
          </a:prstGeom>
          <a:noFill/>
        </p:spPr>
        <p:txBody>
          <a:bodyPr wrap="square" lIns="45720" rIns="45720" tIns="27432" bIns="27432" anchor="t">
            <a:spAutoFit/>
          </a:bodyPr>
          <a:lstStyle/>
          <a:p>
            <a:pPr algn="l">
              <a:spcAft>
                <a:spcPts val="600"/>
              </a:spcAft>
            </a:pPr>
            <a:r>
              <a:rPr sz="1400" b="1" i="0">
                <a:solidFill>
                  <a:srgbClr val="156082"/>
                </a:solidFill>
              </a:rPr>
              <a:t>scheme</a:t>
            </a:r>
          </a:p>
        </p:txBody>
      </p:sp>
      <p:sp>
        <p:nvSpPr>
          <p:cNvPr id="9" name="uri part user"/>
          <p:cNvSpPr txBox="1"/>
          <p:nvPr/>
        </p:nvSpPr>
        <p:spPr>
          <a:xfrm>
            <a:off x="2011680" y="2103120"/>
            <a:ext cx="2103120" cy="365760"/>
          </a:xfrm>
          <a:prstGeom prst="rect">
            <a:avLst/>
          </a:prstGeom>
          <a:noFill/>
        </p:spPr>
        <p:txBody>
          <a:bodyPr wrap="square" lIns="45720" rIns="45720" tIns="27432" bIns="27432" anchor="t">
            <a:spAutoFit/>
          </a:bodyPr>
          <a:lstStyle/>
          <a:p>
            <a:pPr algn="l">
              <a:spcAft>
                <a:spcPts val="600"/>
              </a:spcAft>
            </a:pPr>
            <a:r>
              <a:rPr sz="1400" b="1" i="0">
                <a:solidFill>
                  <a:srgbClr val="156082"/>
                </a:solidFill>
              </a:rPr>
              <a:t>user</a:t>
            </a:r>
          </a:p>
        </p:txBody>
      </p:sp>
      <p:sp>
        <p:nvSpPr>
          <p:cNvPr id="10" name="uri part password"/>
          <p:cNvSpPr txBox="1"/>
          <p:nvPr/>
        </p:nvSpPr>
        <p:spPr>
          <a:xfrm>
            <a:off x="3108960" y="2103120"/>
            <a:ext cx="2103120" cy="365760"/>
          </a:xfrm>
          <a:prstGeom prst="rect">
            <a:avLst/>
          </a:prstGeom>
          <a:noFill/>
        </p:spPr>
        <p:txBody>
          <a:bodyPr wrap="square" lIns="45720" rIns="45720" tIns="27432" bIns="27432" anchor="t">
            <a:spAutoFit/>
          </a:bodyPr>
          <a:lstStyle/>
          <a:p>
            <a:pPr algn="l">
              <a:spcAft>
                <a:spcPts val="600"/>
              </a:spcAft>
            </a:pPr>
            <a:r>
              <a:rPr sz="1400" b="1" i="0">
                <a:solidFill>
                  <a:srgbClr val="156082"/>
                </a:solidFill>
              </a:rPr>
              <a:t>password</a:t>
            </a:r>
          </a:p>
        </p:txBody>
      </p:sp>
      <p:sp>
        <p:nvSpPr>
          <p:cNvPr id="11" name="uri part host"/>
          <p:cNvSpPr txBox="1"/>
          <p:nvPr/>
        </p:nvSpPr>
        <p:spPr>
          <a:xfrm>
            <a:off x="5440680" y="2103120"/>
            <a:ext cx="2103120" cy="365760"/>
          </a:xfrm>
          <a:prstGeom prst="rect">
            <a:avLst/>
          </a:prstGeom>
          <a:noFill/>
        </p:spPr>
        <p:txBody>
          <a:bodyPr wrap="square" lIns="45720" rIns="45720" tIns="27432" bIns="27432" anchor="t">
            <a:spAutoFit/>
          </a:bodyPr>
          <a:lstStyle/>
          <a:p>
            <a:pPr algn="l">
              <a:spcAft>
                <a:spcPts val="600"/>
              </a:spcAft>
            </a:pPr>
            <a:r>
              <a:rPr sz="1400" b="1" i="0">
                <a:solidFill>
                  <a:srgbClr val="156082"/>
                </a:solidFill>
              </a:rPr>
              <a:t>host</a:t>
            </a:r>
          </a:p>
        </p:txBody>
      </p:sp>
      <p:sp>
        <p:nvSpPr>
          <p:cNvPr id="12" name="uri part port"/>
          <p:cNvSpPr txBox="1"/>
          <p:nvPr/>
        </p:nvSpPr>
        <p:spPr>
          <a:xfrm>
            <a:off x="6812280" y="2103120"/>
            <a:ext cx="2103120" cy="365760"/>
          </a:xfrm>
          <a:prstGeom prst="rect">
            <a:avLst/>
          </a:prstGeom>
          <a:noFill/>
        </p:spPr>
        <p:txBody>
          <a:bodyPr wrap="square" lIns="45720" rIns="45720" tIns="27432" bIns="27432" anchor="t">
            <a:spAutoFit/>
          </a:bodyPr>
          <a:lstStyle/>
          <a:p>
            <a:pPr algn="l">
              <a:spcAft>
                <a:spcPts val="600"/>
              </a:spcAft>
            </a:pPr>
            <a:r>
              <a:rPr sz="1400" b="1" i="0">
                <a:solidFill>
                  <a:srgbClr val="156082"/>
                </a:solidFill>
              </a:rPr>
              <a:t>port</a:t>
            </a:r>
          </a:p>
        </p:txBody>
      </p:sp>
      <p:sp>
        <p:nvSpPr>
          <p:cNvPr id="13" name="uri part options"/>
          <p:cNvSpPr txBox="1"/>
          <p:nvPr/>
        </p:nvSpPr>
        <p:spPr>
          <a:xfrm>
            <a:off x="7635240" y="2103120"/>
            <a:ext cx="2103120" cy="365760"/>
          </a:xfrm>
          <a:prstGeom prst="rect">
            <a:avLst/>
          </a:prstGeom>
          <a:noFill/>
        </p:spPr>
        <p:txBody>
          <a:bodyPr wrap="square" lIns="45720" rIns="45720" tIns="27432" bIns="27432" anchor="t">
            <a:spAutoFit/>
          </a:bodyPr>
          <a:lstStyle/>
          <a:p>
            <a:pPr algn="l">
              <a:spcAft>
                <a:spcPts val="600"/>
              </a:spcAft>
            </a:pPr>
            <a:r>
              <a:rPr sz="1400" b="1" i="0">
                <a:solidFill>
                  <a:srgbClr val="156082"/>
                </a:solidFill>
              </a:rPr>
              <a:t>options</a:t>
            </a:r>
          </a:p>
        </p:txBody>
      </p:sp>
      <p:sp>
        <p:nvSpPr>
          <p:cNvPr id="14" name="authsource"/>
          <p:cNvSpPr txBox="1"/>
          <p:nvPr/>
        </p:nvSpPr>
        <p:spPr>
          <a:xfrm>
            <a:off x="548640" y="2468880"/>
            <a:ext cx="1106424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rPr>
              <a:t>authSource=admin</a:t>
            </a:r>
            <a:r>
              <a:rPr sz="1500" b="0" i="0">
                <a:solidFill>
                  <a:srgbClr val="595959"/>
                </a:solidFill>
              </a:rPr>
              <a:t> → “the account lives in the </a:t>
            </a:r>
            <a:r>
              <a:rPr sz="1500" b="0" i="0">
                <a:solidFill>
                  <a:srgbClr val="595959"/>
                </a:solidFill>
                <a:latin typeface="Courier New"/>
              </a:rPr>
              <a:t>admin</a:t>
            </a:r>
            <a:r>
              <a:rPr sz="1500" b="0" i="0">
                <a:solidFill>
                  <a:srgbClr val="595959"/>
                </a:solidFill>
              </a:rPr>
              <a:t> database”</a:t>
            </a:r>
          </a:p>
        </p:txBody>
      </p:sp>
      <p:graphicFrame>
        <p:nvGraphicFramePr>
          <p:cNvPr id="15" name="uri flavours"/>
          <p:cNvGraphicFramePr>
            <a:graphicFrameLocks noGrp="1"/>
          </p:cNvGraphicFramePr>
          <p:nvPr/>
        </p:nvGraphicFramePr>
        <p:xfrm>
          <a:off x="548640" y="3017520"/>
          <a:ext cx="11064240" cy="2002536"/>
        </p:xfrm>
        <a:graphic>
          <a:graphicData uri="http://schemas.openxmlformats.org/drawingml/2006/table">
            <a:tbl>
              <a:tblPr firstRow="0" bandRow="0">
                <a:tableStyleId>{5C22544A-7EE6-4342-B048-85BDC9FD1C3A}</a:tableStyleId>
              </a:tblPr>
              <a:tblGrid>
                <a:gridCol w="2651760"/>
                <a:gridCol w="5303520"/>
                <a:gridCol w="3108960"/>
              </a:tblGrid>
              <a:tr h="411480">
                <a:tc>
                  <a:txBody>
                    <a:bodyPr wrap="square"/>
                    <a:lstStyle/>
                    <a:p>
                      <a:r>
                        <a:rPr sz="1400" b="1" i="0">
                          <a:solidFill>
                            <a:srgbClr val="FFFFFF"/>
                          </a:solidFill>
                        </a:rPr>
                        <a:t>flavour</a:t>
                      </a:r>
                    </a:p>
                  </a:txBody>
                  <a:tcPr marL="73152" marR="73152" marT="36576" marB="36576" anchor="ctr">
                    <a:solidFill>
                      <a:srgbClr val="0E2841"/>
                    </a:solidFill>
                  </a:tcPr>
                </a:tc>
                <a:tc>
                  <a:txBody>
                    <a:bodyPr wrap="square"/>
                    <a:lstStyle/>
                    <a:p>
                      <a:r>
                        <a:rPr sz="1400" b="1" i="0">
                          <a:solidFill>
                            <a:srgbClr val="FFFFFF"/>
                          </a:solidFill>
                        </a:rPr>
                        <a:t>looks like</a:t>
                      </a:r>
                    </a:p>
                  </a:txBody>
                  <a:tcPr marL="73152" marR="73152" marT="36576" marB="36576" anchor="ctr">
                    <a:solidFill>
                      <a:srgbClr val="0E2841"/>
                    </a:solidFill>
                  </a:tcPr>
                </a:tc>
                <a:tc>
                  <a:txBody>
                    <a:bodyPr wrap="square"/>
                    <a:lstStyle/>
                    <a:p>
                      <a:r>
                        <a:rPr sz="1400" b="1" i="0">
                          <a:solidFill>
                            <a:srgbClr val="FFFFFF"/>
                          </a:solidFill>
                        </a:rPr>
                        <a:t>used for</a:t>
                      </a:r>
                    </a:p>
                  </a:txBody>
                  <a:tcPr marL="73152" marR="73152" marT="36576" marB="36576" anchor="ctr">
                    <a:solidFill>
                      <a:srgbClr val="0E2841"/>
                    </a:solidFill>
                  </a:tcPr>
                </a:tc>
              </a:tr>
              <a:tr h="530352">
                <a:tc>
                  <a:txBody>
                    <a:bodyPr wrap="square"/>
                    <a:lstStyle/>
                    <a:p>
                      <a:r>
                        <a:rPr sz="1400" b="0" i="0">
                          <a:solidFill>
                            <a:srgbClr val="0E2841"/>
                          </a:solidFill>
                        </a:rPr>
                        <a:t>Standard, single server</a:t>
                      </a:r>
                    </a:p>
                  </a:txBody>
                  <a:tcPr marL="73152" marR="73152" marT="36576" marB="36576" anchor="ctr">
                    <a:solidFill>
                      <a:srgbClr val="FFFFFF"/>
                    </a:solidFill>
                  </a:tcPr>
                </a:tc>
                <a:tc>
                  <a:txBody>
                    <a:bodyPr wrap="square"/>
                    <a:lstStyle/>
                    <a:p>
                      <a:r>
                        <a:rPr sz="1400" b="0" i="0">
                          <a:solidFill>
                            <a:srgbClr val="156082"/>
                          </a:solidFill>
                          <a:latin typeface="Courier New"/>
                        </a:rPr>
                        <a:t>mongodb://user:pass@host:27017/?authSource=admin</a:t>
                      </a:r>
                    </a:p>
                  </a:txBody>
                  <a:tcPr marL="73152" marR="73152" marT="36576" marB="36576" anchor="ctr">
                    <a:solidFill>
                      <a:srgbClr val="FFFFFF"/>
                    </a:solidFill>
                  </a:tcPr>
                </a:tc>
                <a:tc>
                  <a:txBody>
                    <a:bodyPr wrap="square"/>
                    <a:lstStyle/>
                    <a:p>
                      <a:r>
                        <a:rPr sz="1400" b="1" i="0">
                          <a:solidFill>
                            <a:srgbClr val="0E2841"/>
                          </a:solidFill>
                        </a:rPr>
                        <a:t>this workshop</a:t>
                      </a:r>
                      <a:r>
                        <a:rPr sz="1400" b="0" i="0">
                          <a:solidFill>
                            <a:srgbClr val="0E2841"/>
                          </a:solidFill>
                        </a:rPr>
                        <a:t> (Docker on your laptop)</a:t>
                      </a:r>
                    </a:p>
                  </a:txBody>
                  <a:tcPr marL="73152" marR="73152" marT="36576" marB="36576" anchor="ctr">
                    <a:solidFill>
                      <a:srgbClr val="FFFFFF"/>
                    </a:solidFill>
                  </a:tcPr>
                </a:tc>
              </a:tr>
              <a:tr h="530352">
                <a:tc>
                  <a:txBody>
                    <a:bodyPr wrap="square"/>
                    <a:lstStyle/>
                    <a:p>
                      <a:r>
                        <a:rPr sz="1400" b="0" i="0">
                          <a:solidFill>
                            <a:srgbClr val="0E2841"/>
                          </a:solidFill>
                        </a:rPr>
                        <a:t>Standard, replica set</a:t>
                      </a:r>
                    </a:p>
                  </a:txBody>
                  <a:tcPr marL="73152" marR="73152" marT="36576" marB="36576" anchor="ctr">
                    <a:solidFill>
                      <a:srgbClr val="F2F5F9"/>
                    </a:solidFill>
                  </a:tcPr>
                </a:tc>
                <a:tc>
                  <a:txBody>
                    <a:bodyPr wrap="square"/>
                    <a:lstStyle/>
                    <a:p>
                      <a:r>
                        <a:rPr sz="1400" b="0" i="0">
                          <a:solidFill>
                            <a:srgbClr val="156082"/>
                          </a:solidFill>
                          <a:latin typeface="Courier New"/>
                        </a:rPr>
                        <a:t>mongodb://user:pass@h1,h2,h3/?replicaSet=rs0</a:t>
                      </a:r>
                    </a:p>
                  </a:txBody>
                  <a:tcPr marL="73152" marR="73152" marT="36576" marB="36576" anchor="ctr">
                    <a:solidFill>
                      <a:srgbClr val="F2F5F9"/>
                    </a:solidFill>
                  </a:tcPr>
                </a:tc>
                <a:tc>
                  <a:txBody>
                    <a:bodyPr wrap="square"/>
                    <a:lstStyle/>
                    <a:p>
                      <a:r>
                        <a:rPr sz="1400" b="0" i="0">
                          <a:solidFill>
                            <a:srgbClr val="0E2841"/>
                          </a:solidFill>
                        </a:rPr>
                        <a:t>self-hosted clusters</a:t>
                      </a:r>
                    </a:p>
                  </a:txBody>
                  <a:tcPr marL="73152" marR="73152" marT="36576" marB="36576" anchor="ctr">
                    <a:solidFill>
                      <a:srgbClr val="F2F5F9"/>
                    </a:solidFill>
                  </a:tcPr>
                </a:tc>
              </a:tr>
              <a:tr h="530352">
                <a:tc>
                  <a:txBody>
                    <a:bodyPr wrap="square"/>
                    <a:lstStyle/>
                    <a:p>
                      <a:r>
                        <a:rPr sz="1400" b="0" i="0">
                          <a:solidFill>
                            <a:srgbClr val="0E2841"/>
                          </a:solidFill>
                        </a:rPr>
                        <a:t>SRV record</a:t>
                      </a:r>
                    </a:p>
                  </a:txBody>
                  <a:tcPr marL="73152" marR="73152" marT="36576" marB="36576" anchor="ctr">
                    <a:solidFill>
                      <a:srgbClr val="FFFFFF"/>
                    </a:solidFill>
                  </a:tcPr>
                </a:tc>
                <a:tc>
                  <a:txBody>
                    <a:bodyPr wrap="square"/>
                    <a:lstStyle/>
                    <a:p>
                      <a:r>
                        <a:rPr sz="1400" b="0" i="0">
                          <a:solidFill>
                            <a:srgbClr val="156082"/>
                          </a:solidFill>
                          <a:latin typeface="Courier New"/>
                        </a:rPr>
                        <a:t>mongodb+srv://user:pass@cluster.example.net/</a:t>
                      </a:r>
                    </a:p>
                  </a:txBody>
                  <a:tcPr marL="73152" marR="73152" marT="36576" marB="36576" anchor="ctr">
                    <a:solidFill>
                      <a:srgbClr val="FFFFFF"/>
                    </a:solidFill>
                  </a:tcPr>
                </a:tc>
                <a:tc>
                  <a:txBody>
                    <a:bodyPr wrap="square"/>
                    <a:lstStyle/>
                    <a:p>
                      <a:r>
                        <a:rPr sz="1400" b="0" i="0">
                          <a:solidFill>
                            <a:srgbClr val="0E2841"/>
                          </a:solidFill>
                        </a:rPr>
                        <a:t>cloud (MongoDB Atlas); needs </a:t>
                      </a:r>
                      <a:r>
                        <a:rPr sz="1400" b="0" i="0">
                          <a:solidFill>
                            <a:srgbClr val="156082"/>
                          </a:solidFill>
                          <a:latin typeface="Courier New"/>
                        </a:rPr>
                        <a:t>dnspython</a:t>
                      </a:r>
                    </a:p>
                  </a:txBody>
                  <a:tcPr marL="73152" marR="73152" marT="36576" marB="36576" anchor="ctr">
                    <a:solidFill>
                      <a:srgbClr val="FFFFFF"/>
                    </a:solidFill>
                  </a:tcPr>
                </a:tc>
              </a:tr>
            </a:tbl>
          </a:graphicData>
        </a:graphic>
      </p:graphicFrame>
      <p:sp>
        <p:nvSpPr>
          <p:cNvPr id="16" name="encode bg"/>
          <p:cNvSpPr/>
          <p:nvPr/>
        </p:nvSpPr>
        <p:spPr>
          <a:xfrm>
            <a:off x="548640" y="5303520"/>
            <a:ext cx="5440680" cy="1051560"/>
          </a:xfrm>
          <a:prstGeom prst="roundRect">
            <a:avLst>
              <a:gd name="adj" fmla="val 521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ncode title"/>
          <p:cNvSpPr txBox="1"/>
          <p:nvPr/>
        </p:nvSpPr>
        <p:spPr>
          <a:xfrm>
            <a:off x="658368" y="5376672"/>
            <a:ext cx="5221224" cy="411480"/>
          </a:xfrm>
          <a:prstGeom prst="rect">
            <a:avLst/>
          </a:prstGeom>
          <a:noFill/>
        </p:spPr>
        <p:txBody>
          <a:bodyPr wrap="square" lIns="45720" rIns="45720" tIns="27432" bIns="27432" anchor="t">
            <a:spAutoFit/>
          </a:bodyPr>
          <a:lstStyle/>
          <a:p>
            <a:pPr algn="l">
              <a:spcAft>
                <a:spcPts val="600"/>
              </a:spcAft>
            </a:pPr>
            <a:r>
              <a:rPr sz="1400" b="1" i="0">
                <a:solidFill>
                  <a:srgbClr val="D41348"/>
                </a:solidFill>
              </a:rPr>
              <a:t>Special characters</a:t>
            </a:r>
          </a:p>
        </p:txBody>
      </p:sp>
      <p:sp>
        <p:nvSpPr>
          <p:cNvPr id="18" name="encode body"/>
          <p:cNvSpPr txBox="1"/>
          <p:nvPr/>
        </p:nvSpPr>
        <p:spPr>
          <a:xfrm>
            <a:off x="658368" y="5760720"/>
            <a:ext cx="5221224" cy="502919"/>
          </a:xfrm>
          <a:prstGeom prst="rect">
            <a:avLst/>
          </a:prstGeom>
          <a:noFill/>
        </p:spPr>
        <p:txBody>
          <a:bodyPr wrap="square" lIns="45720" rIns="45720" tIns="27432" bIns="27432" anchor="t">
            <a:spAutoFit/>
          </a:bodyPr>
          <a:lstStyle/>
          <a:p>
            <a:pPr algn="l">
              <a:spcAft>
                <a:spcPts val="400"/>
              </a:spcAft>
            </a:pPr>
            <a:r>
              <a:rPr sz="1300" b="0" i="0">
                <a:solidFill>
                  <a:srgbClr val="156082"/>
                </a:solidFill>
                <a:latin typeface="Courier New"/>
              </a:rPr>
              <a:t>@ : / ?</a:t>
            </a:r>
            <a:r>
              <a:rPr sz="1300" b="0" i="0">
                <a:solidFill>
                  <a:srgbClr val="0E2841"/>
                </a:solidFill>
              </a:rPr>
              <a:t> in a password must be URL-encoded (</a:t>
            </a:r>
            <a:r>
              <a:rPr sz="1300" b="0" i="0">
                <a:solidFill>
                  <a:srgbClr val="156082"/>
                </a:solidFill>
                <a:latin typeface="Courier New"/>
              </a:rPr>
              <a:t>@</a:t>
            </a:r>
            <a:r>
              <a:rPr sz="1300" b="0" i="0">
                <a:solidFill>
                  <a:srgbClr val="0E2841"/>
                </a:solidFill>
              </a:rPr>
              <a:t> → </a:t>
            </a:r>
            <a:r>
              <a:rPr sz="1300" b="0" i="0">
                <a:solidFill>
                  <a:srgbClr val="156082"/>
                </a:solidFill>
                <a:latin typeface="Courier New"/>
              </a:rPr>
              <a:t>%40</a:t>
            </a:r>
            <a:r>
              <a:rPr sz="1300" b="0" i="0">
                <a:solidFill>
                  <a:srgbClr val="0E2841"/>
                </a:solidFill>
              </a:rPr>
              <a:t>).</a:t>
            </a:r>
          </a:p>
        </p:txBody>
      </p:sp>
      <p:sp>
        <p:nvSpPr>
          <p:cNvPr id="19" name="pool bg"/>
          <p:cNvSpPr/>
          <p:nvPr/>
        </p:nvSpPr>
        <p:spPr>
          <a:xfrm>
            <a:off x="6172200" y="5303520"/>
            <a:ext cx="5440680" cy="1051560"/>
          </a:xfrm>
          <a:prstGeom prst="roundRect">
            <a:avLst>
              <a:gd name="adj" fmla="val 521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ool title"/>
          <p:cNvSpPr txBox="1"/>
          <p:nvPr/>
        </p:nvSpPr>
        <p:spPr>
          <a:xfrm>
            <a:off x="6281928" y="5376672"/>
            <a:ext cx="5221224" cy="411480"/>
          </a:xfrm>
          <a:prstGeom prst="rect">
            <a:avLst/>
          </a:prstGeom>
          <a:noFill/>
        </p:spPr>
        <p:txBody>
          <a:bodyPr wrap="square" lIns="45720" rIns="45720" tIns="27432" bIns="27432" anchor="t">
            <a:spAutoFit/>
          </a:bodyPr>
          <a:lstStyle/>
          <a:p>
            <a:pPr algn="l">
              <a:spcAft>
                <a:spcPts val="600"/>
              </a:spcAft>
            </a:pPr>
            <a:r>
              <a:rPr sz="1400" b="1" i="0">
                <a:solidFill>
                  <a:srgbClr val="156082"/>
                </a:solidFill>
              </a:rPr>
              <a:t>One client per notebook</a:t>
            </a:r>
          </a:p>
        </p:txBody>
      </p:sp>
      <p:sp>
        <p:nvSpPr>
          <p:cNvPr id="21" name="pool body"/>
          <p:cNvSpPr txBox="1"/>
          <p:nvPr/>
        </p:nvSpPr>
        <p:spPr>
          <a:xfrm>
            <a:off x="6281928" y="5760720"/>
            <a:ext cx="5221224" cy="502919"/>
          </a:xfrm>
          <a:prstGeom prst="rect">
            <a:avLst/>
          </a:prstGeom>
          <a:noFill/>
        </p:spPr>
        <p:txBody>
          <a:bodyPr wrap="square" lIns="45720" rIns="45720" tIns="27432" bIns="27432" anchor="t">
            <a:spAutoFit/>
          </a:bodyPr>
          <a:lstStyle/>
          <a:p>
            <a:pPr algn="l">
              <a:spcAft>
                <a:spcPts val="400"/>
              </a:spcAft>
            </a:pPr>
            <a:r>
              <a:rPr sz="1300" b="0" i="0">
                <a:solidFill>
                  <a:srgbClr val="156082"/>
                </a:solidFill>
                <a:latin typeface="Courier New"/>
              </a:rPr>
              <a:t>MongoClient</a:t>
            </a:r>
            <a:r>
              <a:rPr sz="1300" b="0" i="0">
                <a:solidFill>
                  <a:srgbClr val="0E2841"/>
                </a:solidFill>
              </a:rPr>
              <a:t> keeps a connection pool: create it </a:t>
            </a:r>
            <a:r>
              <a:rPr sz="1300" b="1" i="0">
                <a:solidFill>
                  <a:srgbClr val="0E2841"/>
                </a:solidFill>
              </a:rPr>
              <a:t>once</a:t>
            </a:r>
            <a:r>
              <a:rPr sz="1300" b="0" i="0">
                <a:solidFill>
                  <a:srgbClr val="0E2841"/>
                </a:solidFill>
              </a:rPr>
              <a:t> and reuse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The MongoDB data model</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SETUP</a:t>
            </a:r>
          </a:p>
        </p:txBody>
      </p:sp>
      <p:sp>
        <p:nvSpPr>
          <p:cNvPr id="6" name="level 0"/>
          <p:cNvSpPr/>
          <p:nvPr/>
        </p:nvSpPr>
        <p:spPr>
          <a:xfrm>
            <a:off x="548640" y="1371600"/>
            <a:ext cx="4206240" cy="548640"/>
          </a:xfrm>
          <a:prstGeom prst="roundRect">
            <a:avLst>
              <a:gd name="adj" fmla="val 13333"/>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500" b="1" i="0">
                <a:solidFill>
                  <a:srgbClr val="FFFFFF"/>
                </a:solidFill>
              </a:rPr>
              <a:t>server (mongod)</a:t>
            </a:r>
          </a:p>
        </p:txBody>
      </p:sp>
      <p:cxnSp>
        <p:nvCxnSpPr>
          <p:cNvPr id="7" name="down"/>
          <p:cNvCxnSpPr/>
          <p:nvPr/>
        </p:nvCxnSpPr>
        <p:spPr>
          <a:xfrm>
            <a:off x="1463040" y="1920240"/>
            <a:ext cx="0" cy="18288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8" name="level 1"/>
          <p:cNvSpPr/>
          <p:nvPr/>
        </p:nvSpPr>
        <p:spPr>
          <a:xfrm>
            <a:off x="868680" y="2103120"/>
            <a:ext cx="3886200" cy="548640"/>
          </a:xfrm>
          <a:prstGeom prst="roundRect">
            <a:avLst>
              <a:gd name="adj" fmla="val 13333"/>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500" b="1" i="0">
                <a:solidFill>
                  <a:srgbClr val="FFFFFF"/>
                </a:solidFill>
              </a:rPr>
              <a:t>database: </a:t>
            </a:r>
            <a:r>
              <a:rPr sz="1500" b="1" i="0">
                <a:solidFill>
                  <a:srgbClr val="FFFFFF"/>
                </a:solidFill>
                <a:latin typeface="Courier New"/>
              </a:rPr>
              <a:t>public</a:t>
            </a:r>
            <a:r>
              <a:rPr sz="1500" b="1" i="0">
                <a:solidFill>
                  <a:srgbClr val="FFFFFF"/>
                </a:solidFill>
              </a:rPr>
              <a:t>, </a:t>
            </a:r>
            <a:r>
              <a:rPr sz="1500" b="1" i="0">
                <a:solidFill>
                  <a:srgbClr val="FFFFFF"/>
                </a:solidFill>
                <a:latin typeface="Courier New"/>
              </a:rPr>
              <a:t>student_db</a:t>
            </a:r>
          </a:p>
        </p:txBody>
      </p:sp>
      <p:cxnSp>
        <p:nvCxnSpPr>
          <p:cNvPr id="9" name="down"/>
          <p:cNvCxnSpPr/>
          <p:nvPr/>
        </p:nvCxnSpPr>
        <p:spPr>
          <a:xfrm>
            <a:off x="1783079" y="2651760"/>
            <a:ext cx="0" cy="182879"/>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0" name="level 2"/>
          <p:cNvSpPr/>
          <p:nvPr/>
        </p:nvSpPr>
        <p:spPr>
          <a:xfrm>
            <a:off x="1188719" y="2834640"/>
            <a:ext cx="3566159" cy="548640"/>
          </a:xfrm>
          <a:prstGeom prst="roundRect">
            <a:avLst>
              <a:gd name="adj" fmla="val 13333"/>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500" b="1" i="0">
                <a:solidFill>
                  <a:srgbClr val="FFFFFF"/>
                </a:solidFill>
              </a:rPr>
              <a:t>collection: </a:t>
            </a:r>
            <a:r>
              <a:rPr sz="1500" b="1" i="0">
                <a:solidFill>
                  <a:srgbClr val="FFFFFF"/>
                </a:solidFill>
                <a:latin typeface="Courier New"/>
              </a:rPr>
              <a:t>variants</a:t>
            </a:r>
          </a:p>
        </p:txBody>
      </p:sp>
      <p:cxnSp>
        <p:nvCxnSpPr>
          <p:cNvPr id="11" name="down"/>
          <p:cNvCxnSpPr/>
          <p:nvPr/>
        </p:nvCxnSpPr>
        <p:spPr>
          <a:xfrm>
            <a:off x="2103120" y="3383280"/>
            <a:ext cx="0" cy="18288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 name="level 3"/>
          <p:cNvSpPr/>
          <p:nvPr/>
        </p:nvSpPr>
        <p:spPr>
          <a:xfrm>
            <a:off x="1508760" y="3566160"/>
            <a:ext cx="3246120" cy="548640"/>
          </a:xfrm>
          <a:prstGeom prst="roundRect">
            <a:avLst>
              <a:gd name="adj" fmla="val 13333"/>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500" b="1" i="0">
                <a:solidFill>
                  <a:srgbClr val="FFFFFF"/>
                </a:solidFill>
              </a:rPr>
              <a:t>document: one variant</a:t>
            </a:r>
          </a:p>
        </p:txBody>
      </p:sp>
      <p:graphicFrame>
        <p:nvGraphicFramePr>
          <p:cNvPr id="13" name="sql mongo"/>
          <p:cNvGraphicFramePr>
            <a:graphicFrameLocks noGrp="1"/>
          </p:cNvGraphicFramePr>
          <p:nvPr/>
        </p:nvGraphicFramePr>
        <p:xfrm>
          <a:off x="548640" y="4434840"/>
          <a:ext cx="4389120" cy="1810512"/>
        </p:xfrm>
        <a:graphic>
          <a:graphicData uri="http://schemas.openxmlformats.org/drawingml/2006/table">
            <a:tbl>
              <a:tblPr firstRow="0" bandRow="0">
                <a:tableStyleId>{5C22544A-7EE6-4342-B048-85BDC9FD1C3A}</a:tableStyleId>
              </a:tblPr>
              <a:tblGrid>
                <a:gridCol w="1828800"/>
                <a:gridCol w="2560320"/>
              </a:tblGrid>
              <a:tr h="301752">
                <a:tc>
                  <a:txBody>
                    <a:bodyPr wrap="square"/>
                    <a:lstStyle/>
                    <a:p>
                      <a:r>
                        <a:rPr sz="1300" b="1" i="0">
                          <a:solidFill>
                            <a:srgbClr val="FFFFFF"/>
                          </a:solidFill>
                        </a:rPr>
                        <a:t>SQL</a:t>
                      </a:r>
                    </a:p>
                  </a:txBody>
                  <a:tcPr marL="73152" marR="73152" marT="36576" marB="36576" anchor="ctr">
                    <a:solidFill>
                      <a:srgbClr val="0E2841"/>
                    </a:solidFill>
                  </a:tcPr>
                </a:tc>
                <a:tc>
                  <a:txBody>
                    <a:bodyPr wrap="square"/>
                    <a:lstStyle/>
                    <a:p>
                      <a:r>
                        <a:rPr sz="1300" b="1" i="0">
                          <a:solidFill>
                            <a:srgbClr val="FFFFFF"/>
                          </a:solidFill>
                        </a:rPr>
                        <a:t>MongoDB</a:t>
                      </a:r>
                    </a:p>
                  </a:txBody>
                  <a:tcPr marL="73152" marR="73152" marT="36576" marB="36576" anchor="ctr">
                    <a:solidFill>
                      <a:srgbClr val="0E2841"/>
                    </a:solidFill>
                  </a:tcPr>
                </a:tc>
              </a:tr>
              <a:tr h="301752">
                <a:tc>
                  <a:txBody>
                    <a:bodyPr wrap="square"/>
                    <a:lstStyle/>
                    <a:p>
                      <a:r>
                        <a:rPr sz="1300" b="0" i="0">
                          <a:solidFill>
                            <a:srgbClr val="0E2841"/>
                          </a:solidFill>
                        </a:rPr>
                        <a:t>table</a:t>
                      </a:r>
                    </a:p>
                  </a:txBody>
                  <a:tcPr marL="73152" marR="73152" marT="36576" marB="36576" anchor="ctr">
                    <a:solidFill>
                      <a:srgbClr val="FFFFFF"/>
                    </a:solidFill>
                  </a:tcPr>
                </a:tc>
                <a:tc>
                  <a:txBody>
                    <a:bodyPr wrap="square"/>
                    <a:lstStyle/>
                    <a:p>
                      <a:r>
                        <a:rPr sz="1300" b="0" i="0">
                          <a:solidFill>
                            <a:srgbClr val="0E2841"/>
                          </a:solidFill>
                        </a:rPr>
                        <a:t>collection</a:t>
                      </a:r>
                    </a:p>
                  </a:txBody>
                  <a:tcPr marL="73152" marR="73152" marT="36576" marB="36576" anchor="ctr">
                    <a:solidFill>
                      <a:srgbClr val="FFFFFF"/>
                    </a:solidFill>
                  </a:tcPr>
                </a:tc>
              </a:tr>
              <a:tr h="301752">
                <a:tc>
                  <a:txBody>
                    <a:bodyPr wrap="square"/>
                    <a:lstStyle/>
                    <a:p>
                      <a:r>
                        <a:rPr sz="1300" b="0" i="0">
                          <a:solidFill>
                            <a:srgbClr val="0E2841"/>
                          </a:solidFill>
                        </a:rPr>
                        <a:t>row</a:t>
                      </a:r>
                    </a:p>
                  </a:txBody>
                  <a:tcPr marL="73152" marR="73152" marT="36576" marB="36576" anchor="ctr">
                    <a:solidFill>
                      <a:srgbClr val="F2F5F9"/>
                    </a:solidFill>
                  </a:tcPr>
                </a:tc>
                <a:tc>
                  <a:txBody>
                    <a:bodyPr wrap="square"/>
                    <a:lstStyle/>
                    <a:p>
                      <a:r>
                        <a:rPr sz="1300" b="0" i="0">
                          <a:solidFill>
                            <a:srgbClr val="0E2841"/>
                          </a:solidFill>
                        </a:rPr>
                        <a:t>document</a:t>
                      </a:r>
                    </a:p>
                  </a:txBody>
                  <a:tcPr marL="73152" marR="73152" marT="36576" marB="36576" anchor="ctr">
                    <a:solidFill>
                      <a:srgbClr val="F2F5F9"/>
                    </a:solidFill>
                  </a:tcPr>
                </a:tc>
              </a:tr>
              <a:tr h="301752">
                <a:tc>
                  <a:txBody>
                    <a:bodyPr wrap="square"/>
                    <a:lstStyle/>
                    <a:p>
                      <a:r>
                        <a:rPr sz="1300" b="0" i="0">
                          <a:solidFill>
                            <a:srgbClr val="0E2841"/>
                          </a:solidFill>
                        </a:rPr>
                        <a:t>column</a:t>
                      </a:r>
                    </a:p>
                  </a:txBody>
                  <a:tcPr marL="73152" marR="73152" marT="36576" marB="36576" anchor="ctr">
                    <a:solidFill>
                      <a:srgbClr val="FFFFFF"/>
                    </a:solidFill>
                  </a:tcPr>
                </a:tc>
                <a:tc>
                  <a:txBody>
                    <a:bodyPr wrap="square"/>
                    <a:lstStyle/>
                    <a:p>
                      <a:r>
                        <a:rPr sz="1300" b="0" i="0">
                          <a:solidFill>
                            <a:srgbClr val="0E2841"/>
                          </a:solidFill>
                        </a:rPr>
                        <a:t>field</a:t>
                      </a:r>
                    </a:p>
                  </a:txBody>
                  <a:tcPr marL="73152" marR="73152" marT="36576" marB="36576" anchor="ctr">
                    <a:solidFill>
                      <a:srgbClr val="FFFFFF"/>
                    </a:solidFill>
                  </a:tcPr>
                </a:tc>
              </a:tr>
              <a:tr h="301752">
                <a:tc>
                  <a:txBody>
                    <a:bodyPr wrap="square"/>
                    <a:lstStyle/>
                    <a:p>
                      <a:r>
                        <a:rPr sz="1300" b="0" i="0">
                          <a:solidFill>
                            <a:srgbClr val="156082"/>
                          </a:solidFill>
                          <a:latin typeface="Courier New"/>
                        </a:rPr>
                        <a:t>PRIMARY KEY</a:t>
                      </a:r>
                    </a:p>
                  </a:txBody>
                  <a:tcPr marL="73152" marR="73152" marT="36576" marB="36576" anchor="ctr">
                    <a:solidFill>
                      <a:srgbClr val="F2F5F9"/>
                    </a:solidFill>
                  </a:tcPr>
                </a:tc>
                <a:tc>
                  <a:txBody>
                    <a:bodyPr wrap="square"/>
                    <a:lstStyle/>
                    <a:p>
                      <a:r>
                        <a:rPr sz="1300" b="0" i="0">
                          <a:solidFill>
                            <a:srgbClr val="156082"/>
                          </a:solidFill>
                          <a:latin typeface="Courier New"/>
                        </a:rPr>
                        <a:t>_id</a:t>
                      </a:r>
                    </a:p>
                  </a:txBody>
                  <a:tcPr marL="73152" marR="73152" marT="36576" marB="36576" anchor="ctr">
                    <a:solidFill>
                      <a:srgbClr val="F2F5F9"/>
                    </a:solidFill>
                  </a:tcPr>
                </a:tc>
              </a:tr>
              <a:tr h="301752">
                <a:tc>
                  <a:txBody>
                    <a:bodyPr wrap="square"/>
                    <a:lstStyle/>
                    <a:p>
                      <a:r>
                        <a:rPr sz="1300" b="0" i="0">
                          <a:solidFill>
                            <a:srgbClr val="156082"/>
                          </a:solidFill>
                          <a:latin typeface="Courier New"/>
                        </a:rPr>
                        <a:t>JOIN</a:t>
                      </a:r>
                    </a:p>
                  </a:txBody>
                  <a:tcPr marL="73152" marR="73152" marT="36576" marB="36576" anchor="ctr">
                    <a:solidFill>
                      <a:srgbClr val="FFFFFF"/>
                    </a:solidFill>
                  </a:tcPr>
                </a:tc>
                <a:tc>
                  <a:txBody>
                    <a:bodyPr wrap="square"/>
                    <a:lstStyle/>
                    <a:p>
                      <a:r>
                        <a:rPr sz="1300" b="0" i="0">
                          <a:solidFill>
                            <a:srgbClr val="0E2841"/>
                          </a:solidFill>
                        </a:rPr>
                        <a:t>embedding / </a:t>
                      </a:r>
                      <a:r>
                        <a:rPr sz="1300" b="0" i="0">
                          <a:solidFill>
                            <a:srgbClr val="156082"/>
                          </a:solidFill>
                          <a:latin typeface="Courier New"/>
                        </a:rPr>
                        <a:t>$lookup</a:t>
                      </a:r>
                    </a:p>
                  </a:txBody>
                  <a:tcPr marL="73152" marR="73152" marT="36576" marB="36576" anchor="ctr">
                    <a:solidFill>
                      <a:srgbClr val="FFFFFF"/>
                    </a:solidFill>
                  </a:tcPr>
                </a:tc>
              </a:tr>
            </a:tbl>
          </a:graphicData>
        </a:graphic>
      </p:graphicFrame>
      <p:sp>
        <p:nvSpPr>
          <p:cNvPr id="14" name="vcf doc bg"/>
          <p:cNvSpPr/>
          <p:nvPr/>
        </p:nvSpPr>
        <p:spPr>
          <a:xfrm>
            <a:off x="5120640" y="1371600"/>
            <a:ext cx="6492240" cy="4892040"/>
          </a:xfrm>
          <a:prstGeom prst="roundRect">
            <a:avLst>
              <a:gd name="adj" fmla="val 934"/>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vcf doc"/>
          <p:cNvSpPr txBox="1"/>
          <p:nvPr/>
        </p:nvSpPr>
        <p:spPr>
          <a:xfrm>
            <a:off x="5212079" y="1435608"/>
            <a:ext cx="6309359" cy="4764024"/>
          </a:xfrm>
          <a:prstGeom prst="rect">
            <a:avLst/>
          </a:prstGeom>
          <a:noFill/>
        </p:spPr>
        <p:txBody>
          <a:bodyPr wrap="square" lIns="45720" rIns="45720" tIns="27432" bIns="27432" anchor="t">
            <a:spAutoFit/>
          </a:bodyPr>
          <a:lstStyle/>
          <a:p>
            <a:pPr algn="l">
              <a:spcAft>
                <a:spcPts val="0"/>
              </a:spcAft>
            </a:pPr>
            <a:r>
              <a:rPr sz="1300" b="0" i="0">
                <a:solidFill>
                  <a:srgbClr val="1F2937"/>
                </a:solidFill>
                <a:latin typeface="Courier New"/>
              </a:rPr>
              <a:t>{</a:t>
            </a:r>
          </a:p>
          <a:p>
            <a:pPr algn="l">
              <a:spcAft>
                <a:spcPts val="0"/>
              </a:spcAft>
            </a:pPr>
            <a:r>
              <a:rPr sz="1300" b="0" i="0">
                <a:solidFill>
                  <a:srgbClr val="1F2937"/>
                </a:solidFill>
                <a:latin typeface="Courier New"/>
              </a:rPr>
              <a:t>  "chrom": "17",</a:t>
            </a:r>
          </a:p>
          <a:p>
            <a:pPr algn="l">
              <a:spcAft>
                <a:spcPts val="0"/>
              </a:spcAft>
            </a:pPr>
            <a:r>
              <a:rPr sz="1300" b="0" i="0">
                <a:solidFill>
                  <a:srgbClr val="1F2937"/>
                </a:solidFill>
                <a:latin typeface="Courier New"/>
              </a:rPr>
              <a:t>  "pos": 7675088,</a:t>
            </a:r>
          </a:p>
          <a:p>
            <a:pPr algn="l">
              <a:spcAft>
                <a:spcPts val="0"/>
              </a:spcAft>
            </a:pPr>
            <a:r>
              <a:rPr sz="1300" b="0" i="0">
                <a:solidFill>
                  <a:srgbClr val="1F2937"/>
                </a:solidFill>
                <a:latin typeface="Courier New"/>
              </a:rPr>
              <a:t>  "ref": "C",</a:t>
            </a:r>
          </a:p>
          <a:p>
            <a:pPr algn="l">
              <a:spcAft>
                <a:spcPts val="0"/>
              </a:spcAft>
            </a:pPr>
            <a:r>
              <a:rPr sz="1300" b="0" i="0">
                <a:solidFill>
                  <a:srgbClr val="1F2937"/>
                </a:solidFill>
                <a:latin typeface="Courier New"/>
              </a:rPr>
              <a:t>  "alt": ["T"],                    // an ARRAY</a:t>
            </a:r>
          </a:p>
          <a:p>
            <a:pPr algn="l">
              <a:spcAft>
                <a:spcPts val="0"/>
              </a:spcAft>
            </a:pPr>
            <a:r>
              <a:rPr sz="1300" b="0" i="0">
                <a:solidFill>
                  <a:srgbClr val="1F2937"/>
                </a:solidFill>
                <a:latin typeface="Courier New"/>
              </a:rPr>
              <a:t>  "qual": 61.9,</a:t>
            </a:r>
          </a:p>
          <a:p>
            <a:pPr algn="l">
              <a:spcAft>
                <a:spcPts val="0"/>
              </a:spcAft>
            </a:pPr>
            <a:r>
              <a:rPr sz="1300" b="0" i="0">
                <a:solidFill>
                  <a:srgbClr val="1F2937"/>
                </a:solidFill>
                <a:latin typeface="Courier New"/>
              </a:rPr>
              <a:t>  "filter": "PASS",</a:t>
            </a:r>
          </a:p>
          <a:p>
            <a:pPr algn="l">
              <a:spcAft>
                <a:spcPts val="0"/>
              </a:spcAft>
            </a:pPr>
            <a:r>
              <a:rPr sz="1300" b="0" i="0">
                <a:solidFill>
                  <a:srgbClr val="1F2937"/>
                </a:solidFill>
                <a:latin typeface="Courier New"/>
              </a:rPr>
              <a:t>  "info": {                        // a NESTED document</a:t>
            </a:r>
          </a:p>
          <a:p>
            <a:pPr algn="l">
              <a:spcAft>
                <a:spcPts val="0"/>
              </a:spcAft>
            </a:pPr>
            <a:r>
              <a:rPr sz="1300" b="0" i="0">
                <a:solidFill>
                  <a:srgbClr val="1F2937"/>
                </a:solidFill>
                <a:latin typeface="Courier New"/>
              </a:rPr>
              <a:t>    "DP": 18, "AF": [0.0187], "MQ": 60.9</a:t>
            </a:r>
          </a:p>
          <a:p>
            <a:pPr algn="l">
              <a:spcAft>
                <a:spcPts val="0"/>
              </a:spcAft>
            </a:pPr>
            <a:r>
              <a:rPr sz="1300" b="0" i="0">
                <a:solidFill>
                  <a:srgbClr val="1F2937"/>
                </a:solidFill>
                <a:latin typeface="Courier New"/>
              </a:rPr>
              <a:t>  },</a:t>
            </a:r>
          </a:p>
          <a:p>
            <a:pPr algn="l">
              <a:spcAft>
                <a:spcPts val="0"/>
              </a:spcAft>
            </a:pPr>
            <a:r>
              <a:rPr sz="1300" b="0" i="0">
                <a:solidFill>
                  <a:srgbClr val="1F2937"/>
                </a:solidFill>
                <a:latin typeface="Courier New"/>
              </a:rPr>
              <a:t>  "calls": [                       // an array of documents</a:t>
            </a:r>
          </a:p>
          <a:p>
            <a:pPr algn="l">
              <a:spcAft>
                <a:spcPts val="0"/>
              </a:spcAft>
            </a:pPr>
            <a:r>
              <a:rPr sz="1300" b="0" i="0">
                <a:solidFill>
                  <a:srgbClr val="1F2937"/>
                </a:solidFill>
                <a:latin typeface="Courier New"/>
              </a:rPr>
              <a:t>    {"sample": "SAMPLE_A", "gt": "0|1",</a:t>
            </a:r>
          </a:p>
          <a:p>
            <a:pPr algn="l">
              <a:spcAft>
                <a:spcPts val="0"/>
              </a:spcAft>
            </a:pPr>
            <a:r>
              <a:rPr sz="1300" b="0" i="0">
                <a:solidFill>
                  <a:srgbClr val="1F2937"/>
                </a:solidFill>
                <a:latin typeface="Courier New"/>
              </a:rPr>
              <a:t>     "dp": 8, "gq": 66},</a:t>
            </a:r>
          </a:p>
          <a:p>
            <a:pPr algn="l">
              <a:spcAft>
                <a:spcPts val="0"/>
              </a:spcAft>
            </a:pPr>
            <a:r>
              <a:rPr sz="1300" b="0" i="0">
                <a:solidFill>
                  <a:srgbClr val="1F2937"/>
                </a:solidFill>
                <a:latin typeface="Courier New"/>
              </a:rPr>
              <a:t>    {"sample": "SAMPLE_B", "gt": "0/0",</a:t>
            </a:r>
          </a:p>
          <a:p>
            <a:pPr algn="l">
              <a:spcAft>
                <a:spcPts val="0"/>
              </a:spcAft>
            </a:pPr>
            <a:r>
              <a:rPr sz="1300" b="0" i="0">
                <a:solidFill>
                  <a:srgbClr val="1F2937"/>
                </a:solidFill>
                <a:latin typeface="Courier New"/>
              </a:rPr>
              <a:t>     "dp": 6, "gq": 40}</a:t>
            </a:r>
          </a:p>
          <a:p>
            <a:pPr algn="l">
              <a:spcAft>
                <a:spcPts val="0"/>
              </a:spcAft>
            </a:pPr>
            <a:r>
              <a:rPr sz="1300" b="0" i="0">
                <a:solidFill>
                  <a:srgbClr val="1F2937"/>
                </a:solidFill>
                <a:latin typeface="Courier New"/>
              </a:rPr>
              <a:t>  ]</a:t>
            </a:r>
          </a:p>
          <a:p>
            <a:pPr algn="l">
              <a:spcAft>
                <a:spcPts val="0"/>
              </a:spcAft>
            </a:pPr>
            <a:r>
              <a:rPr sz="1300" b="0" i="0">
                <a:solidFill>
                  <a:srgbClr val="1F2937"/>
                </a:solidFill>
                <a:latin typeface="Courier New"/>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RBAC: who may do what?</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RBAC</a:t>
            </a:r>
          </a:p>
        </p:txBody>
      </p:sp>
      <p:graphicFrame>
        <p:nvGraphicFramePr>
          <p:cNvPr id="6" name="roles"/>
          <p:cNvGraphicFramePr>
            <a:graphicFrameLocks noGrp="1"/>
          </p:cNvGraphicFramePr>
          <p:nvPr/>
        </p:nvGraphicFramePr>
        <p:xfrm>
          <a:off x="548640" y="1371600"/>
          <a:ext cx="5486400" cy="2362200"/>
        </p:xfrm>
        <a:graphic>
          <a:graphicData uri="http://schemas.openxmlformats.org/drawingml/2006/table">
            <a:tbl>
              <a:tblPr firstRow="0" bandRow="0">
                <a:tableStyleId>{5C22544A-7EE6-4342-B048-85BDC9FD1C3A}</a:tableStyleId>
              </a:tblPr>
              <a:tblGrid>
                <a:gridCol w="1554480"/>
                <a:gridCol w="3931920"/>
              </a:tblGrid>
              <a:tr h="411480">
                <a:tc>
                  <a:txBody>
                    <a:bodyPr wrap="square"/>
                    <a:lstStyle/>
                    <a:p>
                      <a:r>
                        <a:rPr sz="1400" b="1" i="0">
                          <a:solidFill>
                            <a:srgbClr val="FFFFFF"/>
                          </a:solidFill>
                        </a:rPr>
                        <a:t>role</a:t>
                      </a:r>
                    </a:p>
                  </a:txBody>
                  <a:tcPr marL="73152" marR="73152" marT="36576" marB="36576" anchor="ctr">
                    <a:solidFill>
                      <a:srgbClr val="0E2841"/>
                    </a:solidFill>
                  </a:tcPr>
                </a:tc>
                <a:tc>
                  <a:txBody>
                    <a:bodyPr wrap="square"/>
                    <a:lstStyle/>
                    <a:p>
                      <a:r>
                        <a:rPr sz="1400" b="1" i="0">
                          <a:solidFill>
                            <a:srgbClr val="FFFFFF"/>
                          </a:solidFill>
                        </a:rPr>
                        <a:t>allows</a:t>
                      </a:r>
                    </a:p>
                  </a:txBody>
                  <a:tcPr marL="73152" marR="73152" marT="36576" marB="36576" anchor="ctr">
                    <a:solidFill>
                      <a:srgbClr val="0E2841"/>
                    </a:solidFill>
                  </a:tcPr>
                </a:tc>
              </a:tr>
              <a:tr h="457200">
                <a:tc>
                  <a:txBody>
                    <a:bodyPr wrap="square"/>
                    <a:lstStyle/>
                    <a:p>
                      <a:r>
                        <a:rPr sz="1400" b="0" i="0">
                          <a:solidFill>
                            <a:srgbClr val="156082"/>
                          </a:solidFill>
                          <a:latin typeface="Courier New"/>
                        </a:rPr>
                        <a:t>read</a:t>
                      </a:r>
                    </a:p>
                  </a:txBody>
                  <a:tcPr marL="73152" marR="73152" marT="36576" marB="36576" anchor="ctr">
                    <a:solidFill>
                      <a:srgbClr val="FFFFFF"/>
                    </a:solidFill>
                  </a:tcPr>
                </a:tc>
                <a:tc>
                  <a:txBody>
                    <a:bodyPr wrap="square"/>
                    <a:lstStyle/>
                    <a:p>
                      <a:r>
                        <a:rPr sz="1400" b="0" i="0">
                          <a:solidFill>
                            <a:srgbClr val="156082"/>
                          </a:solidFill>
                          <a:latin typeface="Courier New"/>
                        </a:rPr>
                        <a:t>find</a:t>
                      </a:r>
                      <a:r>
                        <a:rPr sz="1400" b="0" i="0">
                          <a:solidFill>
                            <a:srgbClr val="0E2841"/>
                          </a:solidFill>
                        </a:rPr>
                        <a:t>, </a:t>
                      </a:r>
                      <a:r>
                        <a:rPr sz="1400" b="0" i="0">
                          <a:solidFill>
                            <a:srgbClr val="156082"/>
                          </a:solidFill>
                          <a:latin typeface="Courier New"/>
                        </a:rPr>
                        <a:t>count</a:t>
                      </a:r>
                      <a:r>
                        <a:rPr sz="1400" b="0" i="0">
                          <a:solidFill>
                            <a:srgbClr val="0E2841"/>
                          </a:solidFill>
                        </a:rPr>
                        <a:t>, </a:t>
                      </a:r>
                      <a:r>
                        <a:rPr sz="1400" b="0" i="0">
                          <a:solidFill>
                            <a:srgbClr val="156082"/>
                          </a:solidFill>
                          <a:latin typeface="Courier New"/>
                        </a:rPr>
                        <a:t>aggregate</a:t>
                      </a:r>
                      <a:r>
                        <a:rPr sz="1400" b="0" i="0">
                          <a:solidFill>
                            <a:srgbClr val="0E2841"/>
                          </a:solidFill>
                        </a:rPr>
                        <a:t> … </a:t>
                      </a:r>
                      <a:r>
                        <a:rPr sz="1400" b="1" i="0">
                          <a:solidFill>
                            <a:srgbClr val="0E2841"/>
                          </a:solidFill>
                        </a:rPr>
                        <a:t>no writes</a:t>
                      </a:r>
                    </a:p>
                  </a:txBody>
                  <a:tcPr marL="73152" marR="73152" marT="36576" marB="36576" anchor="ctr">
                    <a:solidFill>
                      <a:srgbClr val="FFFFFF"/>
                    </a:solidFill>
                  </a:tcPr>
                </a:tc>
              </a:tr>
              <a:tr h="518160">
                <a:tc>
                  <a:txBody>
                    <a:bodyPr wrap="square"/>
                    <a:lstStyle/>
                    <a:p>
                      <a:r>
                        <a:rPr sz="1400" b="0" i="0">
                          <a:solidFill>
                            <a:srgbClr val="156082"/>
                          </a:solidFill>
                          <a:latin typeface="Courier New"/>
                        </a:rPr>
                        <a:t>readWrite</a:t>
                      </a:r>
                    </a:p>
                  </a:txBody>
                  <a:tcPr marL="73152" marR="73152" marT="36576" marB="36576" anchor="ctr">
                    <a:solidFill>
                      <a:srgbClr val="F2F5F9"/>
                    </a:solidFill>
                  </a:tcPr>
                </a:tc>
                <a:tc>
                  <a:txBody>
                    <a:bodyPr wrap="square"/>
                    <a:lstStyle/>
                    <a:p>
                      <a:r>
                        <a:rPr sz="1400" b="0" i="0">
                          <a:solidFill>
                            <a:srgbClr val="0E2841"/>
                          </a:solidFill>
                        </a:rPr>
                        <a:t>everything in </a:t>
                      </a:r>
                      <a:r>
                        <a:rPr sz="1400" b="0" i="0">
                          <a:solidFill>
                            <a:srgbClr val="156082"/>
                          </a:solidFill>
                          <a:latin typeface="Courier New"/>
                        </a:rPr>
                        <a:t>read</a:t>
                      </a:r>
                      <a:r>
                        <a:rPr sz="1400" b="0" i="0">
                          <a:solidFill>
                            <a:srgbClr val="0E2841"/>
                          </a:solidFill>
                        </a:rPr>
                        <a:t> + </a:t>
                      </a:r>
                      <a:r>
                        <a:rPr sz="1400" b="0" i="0">
                          <a:solidFill>
                            <a:srgbClr val="156082"/>
                          </a:solidFill>
                          <a:latin typeface="Courier New"/>
                        </a:rPr>
                        <a:t>insert</a:t>
                      </a:r>
                      <a:r>
                        <a:rPr sz="1400" b="0" i="0">
                          <a:solidFill>
                            <a:srgbClr val="0E2841"/>
                          </a:solidFill>
                        </a:rPr>
                        <a:t>, </a:t>
                      </a:r>
                      <a:r>
                        <a:rPr sz="1400" b="0" i="0">
                          <a:solidFill>
                            <a:srgbClr val="156082"/>
                          </a:solidFill>
                          <a:latin typeface="Courier New"/>
                        </a:rPr>
                        <a:t>update</a:t>
                      </a:r>
                      <a:r>
                        <a:rPr sz="1400" b="0" i="0">
                          <a:solidFill>
                            <a:srgbClr val="0E2841"/>
                          </a:solidFill>
                        </a:rPr>
                        <a:t>, </a:t>
                      </a:r>
                      <a:r>
                        <a:rPr sz="1400" b="0" i="0">
                          <a:solidFill>
                            <a:srgbClr val="156082"/>
                          </a:solidFill>
                          <a:latin typeface="Courier New"/>
                        </a:rPr>
                        <a:t>delete</a:t>
                      </a:r>
                    </a:p>
                  </a:txBody>
                  <a:tcPr marL="73152" marR="73152" marT="36576" marB="36576" anchor="ctr">
                    <a:solidFill>
                      <a:srgbClr val="F2F5F9"/>
                    </a:solidFill>
                  </a:tcPr>
                </a:tc>
              </a:tr>
              <a:tr h="518160">
                <a:tc>
                  <a:txBody>
                    <a:bodyPr wrap="square"/>
                    <a:lstStyle/>
                    <a:p>
                      <a:r>
                        <a:rPr sz="1400" b="0" i="0">
                          <a:solidFill>
                            <a:srgbClr val="156082"/>
                          </a:solidFill>
                          <a:latin typeface="Courier New"/>
                        </a:rPr>
                        <a:t>dbAdmin</a:t>
                      </a:r>
                    </a:p>
                  </a:txBody>
                  <a:tcPr marL="73152" marR="73152" marT="36576" marB="36576" anchor="ctr">
                    <a:solidFill>
                      <a:srgbClr val="FFFFFF"/>
                    </a:solidFill>
                  </a:tcPr>
                </a:tc>
                <a:tc>
                  <a:txBody>
                    <a:bodyPr wrap="square"/>
                    <a:lstStyle/>
                    <a:p>
                      <a:r>
                        <a:rPr sz="1400" b="0" i="0">
                          <a:solidFill>
                            <a:srgbClr val="0E2841"/>
                          </a:solidFill>
                        </a:rPr>
                        <a:t>indexes, statistics, drop collections (not reading data)</a:t>
                      </a:r>
                    </a:p>
                  </a:txBody>
                  <a:tcPr marL="73152" marR="73152" marT="36576" marB="36576" anchor="ctr">
                    <a:solidFill>
                      <a:srgbClr val="FFFFFF"/>
                    </a:solidFill>
                  </a:tcPr>
                </a:tc>
              </a:tr>
              <a:tr h="457200">
                <a:tc>
                  <a:txBody>
                    <a:bodyPr wrap="square"/>
                    <a:lstStyle/>
                    <a:p>
                      <a:r>
                        <a:rPr sz="1400" b="0" i="0">
                          <a:solidFill>
                            <a:srgbClr val="156082"/>
                          </a:solidFill>
                          <a:latin typeface="Courier New"/>
                        </a:rPr>
                        <a:t>root</a:t>
                      </a:r>
                    </a:p>
                  </a:txBody>
                  <a:tcPr marL="73152" marR="73152" marT="36576" marB="36576" anchor="ctr">
                    <a:solidFill>
                      <a:srgbClr val="F2F5F9"/>
                    </a:solidFill>
                  </a:tcPr>
                </a:tc>
                <a:tc>
                  <a:txBody>
                    <a:bodyPr wrap="square"/>
                    <a:lstStyle/>
                    <a:p>
                      <a:r>
                        <a:rPr sz="1400" b="0" i="0">
                          <a:solidFill>
                            <a:srgbClr val="0E2841"/>
                          </a:solidFill>
                        </a:rPr>
                        <a:t>all of the above, on all databases</a:t>
                      </a:r>
                    </a:p>
                  </a:txBody>
                  <a:tcPr marL="73152" marR="73152" marT="36576" marB="36576" anchor="ctr">
                    <a:solidFill>
                      <a:srgbClr val="F2F5F9"/>
                    </a:solidFill>
                  </a:tcPr>
                </a:tc>
              </a:tr>
            </a:tbl>
          </a:graphicData>
        </a:graphic>
      </p:graphicFrame>
      <p:sp>
        <p:nvSpPr>
          <p:cNvPr id="7" name="node student"/>
          <p:cNvSpPr/>
          <p:nvPr/>
        </p:nvSpPr>
        <p:spPr>
          <a:xfrm>
            <a:off x="7635240" y="1417320"/>
            <a:ext cx="2011680" cy="548640"/>
          </a:xfrm>
          <a:prstGeom prst="roundRect">
            <a:avLst>
              <a:gd name="adj" fmla="val 20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student</a:t>
            </a:r>
          </a:p>
        </p:txBody>
      </p:sp>
      <p:sp>
        <p:nvSpPr>
          <p:cNvPr id="8" name="node `public`"/>
          <p:cNvSpPr/>
          <p:nvPr/>
        </p:nvSpPr>
        <p:spPr>
          <a:xfrm>
            <a:off x="6172200" y="2606040"/>
            <a:ext cx="2194560" cy="731520"/>
          </a:xfrm>
          <a:prstGeom prst="roundRect">
            <a:avLst>
              <a:gd name="adj" fmla="val 15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latin typeface="Courier New"/>
              </a:rPr>
              <a:t>public</a:t>
            </a:r>
          </a:p>
          <a:p>
            <a:pPr algn="ctr"/>
            <a:r>
              <a:rPr sz="1500" b="0" i="0">
                <a:solidFill>
                  <a:srgbClr val="FFFFFF"/>
                </a:solidFill>
              </a:rPr>
              <a:t>(shared data)</a:t>
            </a:r>
          </a:p>
        </p:txBody>
      </p:sp>
      <p:sp>
        <p:nvSpPr>
          <p:cNvPr id="9" name="node `student_db`"/>
          <p:cNvSpPr/>
          <p:nvPr/>
        </p:nvSpPr>
        <p:spPr>
          <a:xfrm>
            <a:off x="8869680" y="2606040"/>
            <a:ext cx="2377440" cy="731520"/>
          </a:xfrm>
          <a:prstGeom prst="roundRect">
            <a:avLst>
              <a:gd name="adj" fmla="val 1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latin typeface="Courier New"/>
              </a:rPr>
              <a:t>student_db</a:t>
            </a:r>
          </a:p>
          <a:p>
            <a:pPr algn="ctr"/>
            <a:r>
              <a:rPr sz="1500" b="0" i="0">
                <a:solidFill>
                  <a:srgbClr val="FFFFFF"/>
                </a:solidFill>
              </a:rPr>
              <a:t>(your sandbox)</a:t>
            </a:r>
          </a:p>
        </p:txBody>
      </p:sp>
      <p:cxnSp>
        <p:nvCxnSpPr>
          <p:cNvPr id="10" name="edge"/>
          <p:cNvCxnSpPr/>
          <p:nvPr/>
        </p:nvCxnSpPr>
        <p:spPr>
          <a:xfrm flipH="1">
            <a:off x="7661365" y="1965960"/>
            <a:ext cx="685800" cy="640080"/>
          </a:xfrm>
          <a:prstGeom prst="line">
            <a:avLst/>
          </a:prstGeom>
          <a:ln w="31750">
            <a:solidFill>
              <a:srgbClr val="A02B93"/>
            </a:solidFill>
            <a:tailEnd type="triangle"/>
          </a:ln>
        </p:spPr>
        <p:style>
          <a:lnRef idx="2">
            <a:schemeClr val="accent1"/>
          </a:lnRef>
          <a:fillRef idx="0">
            <a:schemeClr val="accent1"/>
          </a:fillRef>
          <a:effectRef idx="1">
            <a:schemeClr val="accent1"/>
          </a:effectRef>
          <a:fontRef idx="minor">
            <a:schemeClr val="tx1"/>
          </a:fontRef>
        </p:style>
      </p:cxnSp>
      <p:sp>
        <p:nvSpPr>
          <p:cNvPr id="11" name="edge label"/>
          <p:cNvSpPr txBox="1"/>
          <p:nvPr/>
        </p:nvSpPr>
        <p:spPr>
          <a:xfrm>
            <a:off x="7135585" y="2103120"/>
            <a:ext cx="731520" cy="320040"/>
          </a:xfrm>
          <a:prstGeom prst="rect">
            <a:avLst/>
          </a:prstGeom>
          <a:noFill/>
        </p:spPr>
        <p:txBody>
          <a:bodyPr wrap="square" lIns="9144" rIns="9144" tIns="27432" bIns="27432" anchor="t">
            <a:spAutoFit/>
          </a:bodyPr>
          <a:lstStyle/>
          <a:p>
            <a:pPr algn="ctr">
              <a:spcAft>
                <a:spcPts val="0"/>
              </a:spcAft>
            </a:pPr>
            <a:r>
              <a:rPr sz="1400" b="1" i="0">
                <a:solidFill>
                  <a:srgbClr val="A02B93"/>
                </a:solidFill>
              </a:rPr>
              <a:t>read</a:t>
            </a:r>
          </a:p>
        </p:txBody>
      </p:sp>
      <p:cxnSp>
        <p:nvCxnSpPr>
          <p:cNvPr id="12" name="edge"/>
          <p:cNvCxnSpPr/>
          <p:nvPr/>
        </p:nvCxnSpPr>
        <p:spPr>
          <a:xfrm>
            <a:off x="8944791" y="1965960"/>
            <a:ext cx="708660" cy="640080"/>
          </a:xfrm>
          <a:prstGeom prst="line">
            <a:avLst/>
          </a:prstGeom>
          <a:ln w="31750">
            <a:solidFill>
              <a:srgbClr val="A02B93"/>
            </a:solidFill>
            <a:tailEnd type="triangle"/>
          </a:ln>
        </p:spPr>
        <p:style>
          <a:lnRef idx="2">
            <a:schemeClr val="accent1"/>
          </a:lnRef>
          <a:fillRef idx="0">
            <a:schemeClr val="accent1"/>
          </a:fillRef>
          <a:effectRef idx="1">
            <a:schemeClr val="accent1"/>
          </a:effectRef>
          <a:fontRef idx="minor">
            <a:schemeClr val="tx1"/>
          </a:fontRef>
        </p:style>
      </p:cxnSp>
      <p:sp>
        <p:nvSpPr>
          <p:cNvPr id="13" name="edge label"/>
          <p:cNvSpPr txBox="1"/>
          <p:nvPr/>
        </p:nvSpPr>
        <p:spPr>
          <a:xfrm>
            <a:off x="9436281" y="2103120"/>
            <a:ext cx="1828800" cy="320040"/>
          </a:xfrm>
          <a:prstGeom prst="rect">
            <a:avLst/>
          </a:prstGeom>
          <a:noFill/>
        </p:spPr>
        <p:txBody>
          <a:bodyPr wrap="square" lIns="9144" rIns="9144" tIns="27432" bIns="27432" anchor="t">
            <a:spAutoFit/>
          </a:bodyPr>
          <a:lstStyle/>
          <a:p>
            <a:pPr algn="ctr">
              <a:spcAft>
                <a:spcPts val="0"/>
              </a:spcAft>
            </a:pPr>
            <a:r>
              <a:rPr sz="1300" b="1" i="0">
                <a:solidFill>
                  <a:srgbClr val="A02B93"/>
                </a:solidFill>
              </a:rPr>
              <a:t>readWrite + dbAdmin</a:t>
            </a:r>
          </a:p>
        </p:txBody>
      </p:sp>
      <p:sp>
        <p:nvSpPr>
          <p:cNvPr id="14" name="admin bar"/>
          <p:cNvSpPr/>
          <p:nvPr/>
        </p:nvSpPr>
        <p:spPr>
          <a:xfrm>
            <a:off x="6172200" y="3840480"/>
            <a:ext cx="5440680" cy="457200"/>
          </a:xfrm>
          <a:prstGeom prst="roundRect">
            <a:avLst>
              <a:gd name="adj" fmla="val 12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admin text"/>
          <p:cNvSpPr txBox="1"/>
          <p:nvPr/>
        </p:nvSpPr>
        <p:spPr>
          <a:xfrm>
            <a:off x="6263640" y="3840480"/>
            <a:ext cx="5257800" cy="457200"/>
          </a:xfrm>
          <a:prstGeom prst="rect">
            <a:avLst/>
          </a:prstGeom>
          <a:noFill/>
        </p:spPr>
        <p:txBody>
          <a:bodyPr wrap="square" lIns="45720" rIns="45720" tIns="27432" bIns="27432" anchor="ctr">
            <a:spAutoFit/>
          </a:bodyPr>
          <a:lstStyle/>
          <a:p>
            <a:pPr algn="ctr">
              <a:spcAft>
                <a:spcPts val="600"/>
              </a:spcAft>
            </a:pPr>
            <a:r>
              <a:rPr sz="1400" b="1" i="0">
                <a:solidFill>
                  <a:srgbClr val="FFFFFF"/>
                </a:solidFill>
              </a:rPr>
              <a:t>admin</a:t>
            </a:r>
            <a:r>
              <a:rPr sz="1400" b="0" i="0">
                <a:solidFill>
                  <a:srgbClr val="FFFFFF"/>
                </a:solidFill>
              </a:rPr>
              <a:t> = </a:t>
            </a:r>
            <a:r>
              <a:rPr sz="1400" b="0" i="0">
                <a:solidFill>
                  <a:srgbClr val="FFFFFF"/>
                </a:solidFill>
                <a:latin typeface="Courier New"/>
              </a:rPr>
              <a:t>root</a:t>
            </a:r>
            <a:r>
              <a:rPr sz="1400" b="0" i="0">
                <a:solidFill>
                  <a:srgbClr val="FFFFFF"/>
                </a:solidFill>
              </a:rPr>
              <a:t>: all privileges on every database</a:t>
            </a:r>
          </a:p>
        </p:txBody>
      </p:sp>
      <p:cxnSp>
        <p:nvCxnSpPr>
          <p:cNvPr id="16" name="admin up 1"/>
          <p:cNvCxnSpPr/>
          <p:nvPr/>
        </p:nvCxnSpPr>
        <p:spPr>
          <a:xfrm flipV="1">
            <a:off x="7269480" y="3355848"/>
            <a:ext cx="0" cy="484632"/>
          </a:xfrm>
          <a:prstGeom prst="line">
            <a:avLst/>
          </a:prstGeom>
          <a:ln w="25400">
            <a:solidFill>
              <a:srgbClr val="0E284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admin up 2"/>
          <p:cNvCxnSpPr/>
          <p:nvPr/>
        </p:nvCxnSpPr>
        <p:spPr>
          <a:xfrm flipV="1">
            <a:off x="10058400" y="3355848"/>
            <a:ext cx="0" cy="484632"/>
          </a:xfrm>
          <a:prstGeom prst="line">
            <a:avLst/>
          </a:prstGeom>
          <a:ln w="25400">
            <a:solidFill>
              <a:srgbClr val="0E284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8" name="try it"/>
          <p:cNvGraphicFramePr>
            <a:graphicFrameLocks noGrp="1"/>
          </p:cNvGraphicFramePr>
          <p:nvPr/>
        </p:nvGraphicFramePr>
        <p:xfrm>
          <a:off x="548640" y="4023360"/>
          <a:ext cx="5486400" cy="1975104"/>
        </p:xfrm>
        <a:graphic>
          <a:graphicData uri="http://schemas.openxmlformats.org/drawingml/2006/table">
            <a:tbl>
              <a:tblPr firstRow="0" bandRow="0">
                <a:tableStyleId>{5C22544A-7EE6-4342-B048-85BDC9FD1C3A}</a:tableStyleId>
              </a:tblPr>
              <a:tblGrid>
                <a:gridCol w="3840480"/>
                <a:gridCol w="1645920"/>
              </a:tblGrid>
              <a:tr h="329184">
                <a:tc>
                  <a:txBody>
                    <a:bodyPr wrap="square"/>
                    <a:lstStyle/>
                    <a:p>
                      <a:r>
                        <a:rPr sz="1300" b="1" i="0">
                          <a:solidFill>
                            <a:srgbClr val="FFFFFF"/>
                          </a:solidFill>
                        </a:rPr>
                        <a:t>operation (as </a:t>
                      </a:r>
                      <a:r>
                        <a:rPr sz="1300" b="1" i="0">
                          <a:solidFill>
                            <a:srgbClr val="FFFFFF"/>
                          </a:solidFill>
                          <a:latin typeface="Courier New"/>
                        </a:rPr>
                        <a:t>student</a:t>
                      </a:r>
                      <a:r>
                        <a:rPr sz="1300" b="1" i="0">
                          <a:solidFill>
                            <a:srgbClr val="FFFFFF"/>
                          </a:solidFill>
                        </a:rPr>
                        <a:t>)</a:t>
                      </a:r>
                    </a:p>
                  </a:txBody>
                  <a:tcPr marL="73152" marR="73152" marT="36576" marB="36576" anchor="ctr">
                    <a:solidFill>
                      <a:srgbClr val="0E2841"/>
                    </a:solidFill>
                  </a:tcPr>
                </a:tc>
                <a:tc>
                  <a:txBody>
                    <a:bodyPr wrap="square"/>
                    <a:lstStyle/>
                    <a:p>
                      <a:r>
                        <a:rPr sz="1300" b="1" i="0">
                          <a:solidFill>
                            <a:srgbClr val="FFFFFF"/>
                          </a:solidFill>
                        </a:rPr>
                        <a:t>result</a:t>
                      </a:r>
                    </a:p>
                  </a:txBody>
                  <a:tcPr marL="73152" marR="73152" marT="36576" marB="36576" anchor="ctr">
                    <a:solidFill>
                      <a:srgbClr val="0E2841"/>
                    </a:solidFill>
                  </a:tcPr>
                </a:tc>
              </a:tr>
              <a:tr h="329184">
                <a:tc>
                  <a:txBody>
                    <a:bodyPr wrap="square"/>
                    <a:lstStyle/>
                    <a:p>
                      <a:r>
                        <a:rPr sz="1300" b="0" i="0">
                          <a:solidFill>
                            <a:srgbClr val="0E2841"/>
                          </a:solidFill>
                        </a:rPr>
                        <a:t>read </a:t>
                      </a:r>
                      <a:r>
                        <a:rPr sz="1300" b="0" i="0">
                          <a:solidFill>
                            <a:srgbClr val="156082"/>
                          </a:solidFill>
                          <a:latin typeface="Courier New"/>
                        </a:rPr>
                        <a:t>public.example</a:t>
                      </a:r>
                    </a:p>
                  </a:txBody>
                  <a:tcPr marL="73152" marR="73152" marT="36576" marB="36576" anchor="ctr">
                    <a:solidFill>
                      <a:srgbClr val="FFFFFF"/>
                    </a:solidFill>
                  </a:tcPr>
                </a:tc>
                <a:tc>
                  <a:txBody>
                    <a:bodyPr wrap="square"/>
                    <a:lstStyle/>
                    <a:p>
                      <a:r>
                        <a:rPr sz="1300" b="0" i="0">
                          <a:solidFill>
                            <a:srgbClr val="0E2841"/>
                          </a:solidFill>
                        </a:rPr>
                        <a:t>✅ allowed</a:t>
                      </a:r>
                    </a:p>
                  </a:txBody>
                  <a:tcPr marL="73152" marR="73152" marT="36576" marB="36576" anchor="ctr">
                    <a:solidFill>
                      <a:srgbClr val="FFFFFF"/>
                    </a:solidFill>
                  </a:tcPr>
                </a:tc>
              </a:tr>
              <a:tr h="329184">
                <a:tc>
                  <a:txBody>
                    <a:bodyPr wrap="square"/>
                    <a:lstStyle/>
                    <a:p>
                      <a:r>
                        <a:rPr sz="1300" b="0" i="0">
                          <a:solidFill>
                            <a:srgbClr val="0E2841"/>
                          </a:solidFill>
                        </a:rPr>
                        <a:t>INSERT / DELETE / DROP in </a:t>
                      </a:r>
                      <a:r>
                        <a:rPr sz="1300" b="0" i="0">
                          <a:solidFill>
                            <a:srgbClr val="156082"/>
                          </a:solidFill>
                          <a:latin typeface="Courier New"/>
                        </a:rPr>
                        <a:t>public</a:t>
                      </a:r>
                    </a:p>
                  </a:txBody>
                  <a:tcPr marL="73152" marR="73152" marT="36576" marB="36576" anchor="ctr">
                    <a:solidFill>
                      <a:srgbClr val="F2F5F9"/>
                    </a:solidFill>
                  </a:tcPr>
                </a:tc>
                <a:tc>
                  <a:txBody>
                    <a:bodyPr wrap="square"/>
                    <a:lstStyle/>
                    <a:p>
                      <a:r>
                        <a:rPr sz="1300" b="0" i="0">
                          <a:solidFill>
                            <a:srgbClr val="0E2841"/>
                          </a:solidFill>
                        </a:rPr>
                        <a:t>⛔ code 13</a:t>
                      </a:r>
                    </a:p>
                  </a:txBody>
                  <a:tcPr marL="73152" marR="73152" marT="36576" marB="36576" anchor="ctr">
                    <a:solidFill>
                      <a:srgbClr val="F2F5F9"/>
                    </a:solidFill>
                  </a:tcPr>
                </a:tc>
              </a:tr>
              <a:tr h="329184">
                <a:tc>
                  <a:txBody>
                    <a:bodyPr wrap="square"/>
                    <a:lstStyle/>
                    <a:p>
                      <a:r>
                        <a:rPr sz="1300" b="0" i="0">
                          <a:solidFill>
                            <a:srgbClr val="0E2841"/>
                          </a:solidFill>
                        </a:rPr>
                        <a:t>create index in </a:t>
                      </a:r>
                      <a:r>
                        <a:rPr sz="1300" b="0" i="0">
                          <a:solidFill>
                            <a:srgbClr val="156082"/>
                          </a:solidFill>
                          <a:latin typeface="Courier New"/>
                        </a:rPr>
                        <a:t>public</a:t>
                      </a:r>
                    </a:p>
                  </a:txBody>
                  <a:tcPr marL="73152" marR="73152" marT="36576" marB="36576" anchor="ctr">
                    <a:solidFill>
                      <a:srgbClr val="FFFFFF"/>
                    </a:solidFill>
                  </a:tcPr>
                </a:tc>
                <a:tc>
                  <a:txBody>
                    <a:bodyPr wrap="square"/>
                    <a:lstStyle/>
                    <a:p>
                      <a:r>
                        <a:rPr sz="1300" b="0" i="0">
                          <a:solidFill>
                            <a:srgbClr val="0E2841"/>
                          </a:solidFill>
                        </a:rPr>
                        <a:t>⛔ code 13</a:t>
                      </a:r>
                    </a:p>
                  </a:txBody>
                  <a:tcPr marL="73152" marR="73152" marT="36576" marB="36576" anchor="ctr">
                    <a:solidFill>
                      <a:srgbClr val="FFFFFF"/>
                    </a:solidFill>
                  </a:tcPr>
                </a:tc>
              </a:tr>
              <a:tr h="329184">
                <a:tc>
                  <a:txBody>
                    <a:bodyPr wrap="square"/>
                    <a:lstStyle/>
                    <a:p>
                      <a:r>
                        <a:rPr sz="1300" b="0" i="0">
                          <a:solidFill>
                            <a:srgbClr val="0E2841"/>
                          </a:solidFill>
                        </a:rPr>
                        <a:t>INSERT, index in </a:t>
                      </a:r>
                      <a:r>
                        <a:rPr sz="1300" b="0" i="0">
                          <a:solidFill>
                            <a:srgbClr val="156082"/>
                          </a:solidFill>
                          <a:latin typeface="Courier New"/>
                        </a:rPr>
                        <a:t>student_db</a:t>
                      </a:r>
                    </a:p>
                  </a:txBody>
                  <a:tcPr marL="73152" marR="73152" marT="36576" marB="36576" anchor="ctr">
                    <a:solidFill>
                      <a:srgbClr val="F2F5F9"/>
                    </a:solidFill>
                  </a:tcPr>
                </a:tc>
                <a:tc>
                  <a:txBody>
                    <a:bodyPr wrap="square"/>
                    <a:lstStyle/>
                    <a:p>
                      <a:r>
                        <a:rPr sz="1300" b="0" i="0">
                          <a:solidFill>
                            <a:srgbClr val="0E2841"/>
                          </a:solidFill>
                        </a:rPr>
                        <a:t>✅ allowed</a:t>
                      </a:r>
                    </a:p>
                  </a:txBody>
                  <a:tcPr marL="73152" marR="73152" marT="36576" marB="36576" anchor="ctr">
                    <a:solidFill>
                      <a:srgbClr val="F2F5F9"/>
                    </a:solidFill>
                  </a:tcPr>
                </a:tc>
              </a:tr>
              <a:tr h="329184">
                <a:tc>
                  <a:txBody>
                    <a:bodyPr wrap="square"/>
                    <a:lstStyle/>
                    <a:p>
                      <a:r>
                        <a:rPr sz="1300" b="0" i="0">
                          <a:solidFill>
                            <a:srgbClr val="0E2841"/>
                          </a:solidFill>
                        </a:rPr>
                        <a:t>read the </a:t>
                      </a:r>
                      <a:r>
                        <a:rPr sz="1300" b="0" i="0">
                          <a:solidFill>
                            <a:srgbClr val="156082"/>
                          </a:solidFill>
                          <a:latin typeface="Courier New"/>
                        </a:rPr>
                        <a:t>admin</a:t>
                      </a:r>
                      <a:r>
                        <a:rPr sz="1300" b="0" i="0">
                          <a:solidFill>
                            <a:srgbClr val="0E2841"/>
                          </a:solidFill>
                        </a:rPr>
                        <a:t> database</a:t>
                      </a:r>
                    </a:p>
                  </a:txBody>
                  <a:tcPr marL="73152" marR="73152" marT="36576" marB="36576" anchor="ctr">
                    <a:solidFill>
                      <a:srgbClr val="FFFFFF"/>
                    </a:solidFill>
                  </a:tcPr>
                </a:tc>
                <a:tc>
                  <a:txBody>
                    <a:bodyPr wrap="square"/>
                    <a:lstStyle/>
                    <a:p>
                      <a:r>
                        <a:rPr sz="1300" b="0" i="0">
                          <a:solidFill>
                            <a:srgbClr val="0E2841"/>
                          </a:solidFill>
                        </a:rPr>
                        <a:t>⛔ code 13</a:t>
                      </a:r>
                    </a:p>
                  </a:txBody>
                  <a:tcPr marL="73152" marR="73152" marT="36576" marB="36576" anchor="ctr">
                    <a:solidFill>
                      <a:srgbClr val="FFFFFF"/>
                    </a:solidFill>
                  </a:tcPr>
                </a:tc>
              </a:tr>
            </a:tbl>
          </a:graphicData>
        </a:graphic>
      </p:graphicFrame>
      <p:sp>
        <p:nvSpPr>
          <p:cNvPr id="19" name="least bg"/>
          <p:cNvSpPr/>
          <p:nvPr/>
        </p:nvSpPr>
        <p:spPr>
          <a:xfrm>
            <a:off x="6172200" y="4526280"/>
            <a:ext cx="5440680" cy="1737360"/>
          </a:xfrm>
          <a:prstGeom prst="roundRect">
            <a:avLst>
              <a:gd name="adj" fmla="val 315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least"/>
          <p:cNvSpPr txBox="1"/>
          <p:nvPr/>
        </p:nvSpPr>
        <p:spPr>
          <a:xfrm>
            <a:off x="6355080" y="4572000"/>
            <a:ext cx="5074920" cy="1645920"/>
          </a:xfrm>
          <a:prstGeom prst="rect">
            <a:avLst/>
          </a:prstGeom>
          <a:noFill/>
        </p:spPr>
        <p:txBody>
          <a:bodyPr wrap="square" lIns="45720" rIns="45720" tIns="27432" bIns="27432" anchor="t">
            <a:spAutoFit/>
          </a:bodyPr>
          <a:lstStyle/>
          <a:p>
            <a:pPr algn="l" marL="256032" indent="-256032">
              <a:spcAft>
                <a:spcPts val="600"/>
              </a:spcAft>
              <a:buFont typeface="Arial"/>
              <a:buChar char="•"/>
            </a:pPr>
            <a:r>
              <a:rPr sz="1500" b="1" i="0">
                <a:solidFill>
                  <a:srgbClr val="0E2841"/>
                </a:solidFill>
              </a:rPr>
              <a:t>Least privilege</a:t>
            </a:r>
            <a:r>
              <a:rPr sz="1500" b="0" i="0">
                <a:solidFill>
                  <a:srgbClr val="0E2841"/>
                </a:solidFill>
              </a:rPr>
              <a:t>: give each account the minimum it needs</a:t>
            </a:r>
          </a:p>
          <a:p>
            <a:pPr algn="l" marL="256032" indent="-256032">
              <a:spcAft>
                <a:spcPts val="600"/>
              </a:spcAft>
              <a:buFont typeface="Arial"/>
              <a:buChar char="•"/>
            </a:pPr>
            <a:r>
              <a:rPr sz="1500" b="0" i="0">
                <a:solidFill>
                  <a:srgbClr val="0E2841"/>
                </a:solidFill>
              </a:rPr>
              <a:t>A denied operation raises </a:t>
            </a:r>
            <a:r>
              <a:rPr sz="1500" b="0" i="0">
                <a:solidFill>
                  <a:srgbClr val="156082"/>
                </a:solidFill>
                <a:latin typeface="Courier New"/>
              </a:rPr>
              <a:t>OperationFailure</a:t>
            </a:r>
            <a:r>
              <a:rPr sz="1500" b="0" i="0">
                <a:solidFill>
                  <a:srgbClr val="0E2841"/>
                </a:solidFill>
              </a:rPr>
              <a:t> (error code </a:t>
            </a:r>
            <a:r>
              <a:rPr sz="1500" b="1" i="0">
                <a:solidFill>
                  <a:srgbClr val="0E2841"/>
                </a:solidFill>
              </a:rPr>
              <a:t>13</a:t>
            </a:r>
            <a:r>
              <a:rPr sz="1500" b="0" i="0">
                <a:solidFill>
                  <a:srgbClr val="0E2841"/>
                </a:solidFill>
              </a:rPr>
              <a:t>)</a:t>
            </a:r>
          </a:p>
          <a:p>
            <a:pPr algn="l" marL="256032" indent="-256032">
              <a:spcAft>
                <a:spcPts val="600"/>
              </a:spcAft>
              <a:buFont typeface="Arial"/>
              <a:buChar char="•"/>
            </a:pPr>
            <a:r>
              <a:rPr sz="1500" b="0" i="0">
                <a:solidFill>
                  <a:srgbClr val="0E2841"/>
                </a:solidFill>
              </a:rPr>
              <a:t>Roles are granted </a:t>
            </a:r>
            <a:r>
              <a:rPr sz="1500" b="1" i="0">
                <a:solidFill>
                  <a:srgbClr val="0E2841"/>
                </a:solidFill>
              </a:rPr>
              <a:t>per database</a:t>
            </a:r>
            <a:r>
              <a:rPr sz="1500" b="0" i="0">
                <a:solidFill>
                  <a:srgbClr val="0E2841"/>
                </a:solidFill>
              </a:rPr>
              <a:t>; accounts live in </a:t>
            </a:r>
            <a:r>
              <a:rPr sz="1500" b="0" i="0">
                <a:solidFill>
                  <a:srgbClr val="156082"/>
                </a:solidFill>
                <a:latin typeface="Courier New"/>
              </a:rPr>
              <a:t>admin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Exercise 1: explore the data and its schema</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READ</a:t>
            </a:r>
          </a:p>
        </p:txBody>
      </p:sp>
      <p:sp>
        <p:nvSpPr>
          <p:cNvPr id="6" name="explore code bg"/>
          <p:cNvSpPr/>
          <p:nvPr/>
        </p:nvSpPr>
        <p:spPr>
          <a:xfrm>
            <a:off x="548640" y="1371600"/>
            <a:ext cx="5669280" cy="2651760"/>
          </a:xfrm>
          <a:prstGeom prst="roundRect">
            <a:avLst>
              <a:gd name="adj" fmla="val 1724"/>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explore code"/>
          <p:cNvSpPr txBox="1"/>
          <p:nvPr/>
        </p:nvSpPr>
        <p:spPr>
          <a:xfrm>
            <a:off x="640080" y="1435608"/>
            <a:ext cx="5486400" cy="252374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public = client["public"]</a:t>
            </a:r>
          </a:p>
          <a:p>
            <a:pPr algn="l">
              <a:spcAft>
                <a:spcPts val="0"/>
              </a:spcAft>
            </a:pPr>
            <a:r>
              <a:rPr sz="1200" b="0" i="0">
                <a:solidFill>
                  <a:srgbClr val="1F2937"/>
                </a:solidFill>
                <a:latin typeface="Courier New"/>
              </a:rPr>
              <a:t>public.list_collection_names()</a:t>
            </a:r>
          </a:p>
          <a:p>
            <a:pPr algn="l">
              <a:spcAft>
                <a:spcPts val="0"/>
              </a:spcAft>
            </a:pPr>
            <a:r>
              <a:rPr sz="1200" b="0" i="0">
                <a:solidFill>
                  <a:srgbClr val="1F2937"/>
                </a:solidFill>
                <a:latin typeface="Courier New"/>
              </a:rPr>
              <a:t>public["variant_catalog"].find_one()</a:t>
            </a:r>
          </a:p>
          <a:p>
            <a:pPr algn="l">
              <a:spcAft>
                <a:spcPts val="0"/>
              </a:spcAft>
            </a:pPr>
            <a:r>
              <a:rPr sz="1200" b="0" i="0">
                <a:solidFill>
                  <a:srgbClr val="1F2937"/>
                </a:solidFill>
                <a:latin typeface="Courier New"/>
              </a:rPr>
              <a:t>public["example"].find({}, {"content": 0})   # projection</a:t>
            </a:r>
          </a:p>
          <a:p>
            <a:pPr algn="l">
              <a:spcAft>
                <a:spcPts val="0"/>
              </a:spcAft>
            </a:pPr>
            <a:r>
              <a:rPr sz="1200" b="0" i="0">
                <a:solidFill>
                  <a:srgbClr val="1F2937"/>
                </a:solidFill>
                <a:latin typeface="Courier New"/>
              </a:rPr>
              <a:t>public["variant_catalog"].distinct("filter")</a:t>
            </a:r>
          </a:p>
          <a:p>
            <a:pPr algn="l">
              <a:spcAft>
                <a:spcPts val="0"/>
              </a:spcAft>
            </a:pPr>
            <a:r>
              <a:rPr sz="1200" b="0" i="0">
                <a:solidFill>
                  <a:srgbClr val="1F2937"/>
                </a:solidFill>
                <a:latin typeface="Courier New"/>
              </a:rPr>
              <a:t>list(public["variant_catalog"].list_indexes())</a:t>
            </a:r>
          </a:p>
          <a:p>
            <a:pPr algn="l">
              <a:spcAft>
                <a:spcPts val="0"/>
              </a:spcAft>
            </a:pPr>
          </a:p>
          <a:p>
            <a:pPr algn="l">
              <a:spcAft>
                <a:spcPts val="0"/>
              </a:spcAft>
            </a:pPr>
            <a:r>
              <a:rPr sz="1200" b="0" i="0">
                <a:solidFill>
                  <a:srgbClr val="1F2937"/>
                </a:solidFill>
                <a:latin typeface="Courier New"/>
              </a:rPr>
              <a:t># schema from a random sample</a:t>
            </a:r>
          </a:p>
          <a:p>
            <a:pPr algn="l">
              <a:spcAft>
                <a:spcPts val="0"/>
              </a:spcAft>
            </a:pPr>
            <a:r>
              <a:rPr sz="1200" b="0" i="0">
                <a:solidFill>
                  <a:srgbClr val="1F2937"/>
                </a:solidFill>
                <a:latin typeface="Courier New"/>
              </a:rPr>
              <a:t>docs = public["variant_catalog"].aggregate(</a:t>
            </a:r>
          </a:p>
          <a:p>
            <a:pPr algn="l">
              <a:spcAft>
                <a:spcPts val="0"/>
              </a:spcAft>
            </a:pPr>
            <a:r>
              <a:rPr sz="1200" b="0" i="0">
                <a:solidFill>
                  <a:srgbClr val="1F2937"/>
                </a:solidFill>
                <a:latin typeface="Courier New"/>
              </a:rPr>
              <a:t>    [{"$sample": {"size": 2000}}])</a:t>
            </a:r>
          </a:p>
        </p:txBody>
      </p:sp>
      <p:graphicFrame>
        <p:nvGraphicFramePr>
          <p:cNvPr id="8" name="collections"/>
          <p:cNvGraphicFramePr>
            <a:graphicFrameLocks noGrp="1"/>
          </p:cNvGraphicFramePr>
          <p:nvPr/>
        </p:nvGraphicFramePr>
        <p:xfrm>
          <a:off x="548640" y="4251960"/>
          <a:ext cx="4937760" cy="1508760"/>
        </p:xfrm>
        <a:graphic>
          <a:graphicData uri="http://schemas.openxmlformats.org/drawingml/2006/table">
            <a:tbl>
              <a:tblPr firstRow="0" bandRow="0">
                <a:tableStyleId>{5C22544A-7EE6-4342-B048-85BDC9FD1C3A}</a:tableStyleId>
              </a:tblPr>
              <a:tblGrid>
                <a:gridCol w="3108960"/>
                <a:gridCol w="1828800"/>
              </a:tblGrid>
              <a:tr h="411480">
                <a:tc>
                  <a:txBody>
                    <a:bodyPr wrap="square"/>
                    <a:lstStyle/>
                    <a:p>
                      <a:r>
                        <a:rPr sz="1400" b="1" i="0">
                          <a:solidFill>
                            <a:srgbClr val="FFFFFF"/>
                          </a:solidFill>
                        </a:rPr>
                        <a:t>collection</a:t>
                      </a:r>
                    </a:p>
                  </a:txBody>
                  <a:tcPr marL="73152" marR="73152" marT="36576" marB="36576" anchor="ctr">
                    <a:solidFill>
                      <a:srgbClr val="0E2841"/>
                    </a:solidFill>
                  </a:tcPr>
                </a:tc>
                <a:tc>
                  <a:txBody>
                    <a:bodyPr wrap="square"/>
                    <a:lstStyle/>
                    <a:p>
                      <a:pPr algn="r"/>
                      <a:r>
                        <a:rPr sz="1400" b="1" i="0">
                          <a:solidFill>
                            <a:srgbClr val="FFFFFF"/>
                          </a:solidFill>
                        </a:rPr>
                        <a:t>documents</a:t>
                      </a:r>
                    </a:p>
                  </a:txBody>
                  <a:tcPr marL="73152" marR="73152" marT="36576" marB="36576" anchor="ctr">
                    <a:solidFill>
                      <a:srgbClr val="0E2841"/>
                    </a:solidFill>
                  </a:tcPr>
                </a:tc>
              </a:tr>
              <a:tr h="365760">
                <a:tc>
                  <a:txBody>
                    <a:bodyPr wrap="square"/>
                    <a:lstStyle/>
                    <a:p>
                      <a:r>
                        <a:rPr sz="1400" b="0" i="0">
                          <a:solidFill>
                            <a:srgbClr val="156082"/>
                          </a:solidFill>
                          <a:latin typeface="Courier New"/>
                        </a:rPr>
                        <a:t>example</a:t>
                      </a:r>
                    </a:p>
                  </a:txBody>
                  <a:tcPr marL="73152" marR="73152" marT="36576" marB="36576" anchor="ctr">
                    <a:solidFill>
                      <a:srgbClr val="FFFFFF"/>
                    </a:solidFill>
                  </a:tcPr>
                </a:tc>
                <a:tc>
                  <a:txBody>
                    <a:bodyPr wrap="square"/>
                    <a:lstStyle/>
                    <a:p>
                      <a:pPr algn="r"/>
                      <a:r>
                        <a:rPr sz="1400" b="0" i="0">
                          <a:solidFill>
                            <a:srgbClr val="0E2841"/>
                          </a:solidFill>
                        </a:rPr>
                        <a:t>2</a:t>
                      </a:r>
                    </a:p>
                  </a:txBody>
                  <a:tcPr marL="73152" marR="73152" marT="36576" marB="36576" anchor="ctr">
                    <a:solidFill>
                      <a:srgbClr val="FFFFFF"/>
                    </a:solidFill>
                  </a:tcPr>
                </a:tc>
              </a:tr>
              <a:tr h="365760">
                <a:tc>
                  <a:txBody>
                    <a:bodyPr wrap="square"/>
                    <a:lstStyle/>
                    <a:p>
                      <a:r>
                        <a:rPr sz="1400" b="0" i="0">
                          <a:solidFill>
                            <a:srgbClr val="156082"/>
                          </a:solidFill>
                          <a:latin typeface="Courier New"/>
                        </a:rPr>
                        <a:t>variant_catalog</a:t>
                      </a:r>
                    </a:p>
                  </a:txBody>
                  <a:tcPr marL="73152" marR="73152" marT="36576" marB="36576" anchor="ctr">
                    <a:solidFill>
                      <a:srgbClr val="F2F5F9"/>
                    </a:solidFill>
                  </a:tcPr>
                </a:tc>
                <a:tc>
                  <a:txBody>
                    <a:bodyPr wrap="square"/>
                    <a:lstStyle/>
                    <a:p>
                      <a:pPr algn="r"/>
                      <a:r>
                        <a:rPr sz="1400" b="0" i="0">
                          <a:solidFill>
                            <a:srgbClr val="0E2841"/>
                          </a:solidFill>
                        </a:rPr>
                        <a:t>50,000</a:t>
                      </a:r>
                    </a:p>
                  </a:txBody>
                  <a:tcPr marL="73152" marR="73152" marT="36576" marB="36576" anchor="ctr">
                    <a:solidFill>
                      <a:srgbClr val="F2F5F9"/>
                    </a:solidFill>
                  </a:tcPr>
                </a:tc>
              </a:tr>
              <a:tr h="365760">
                <a:tc>
                  <a:txBody>
                    <a:bodyPr wrap="square"/>
                    <a:lstStyle/>
                    <a:p>
                      <a:r>
                        <a:rPr sz="1400" b="0" i="0">
                          <a:solidFill>
                            <a:srgbClr val="156082"/>
                          </a:solidFill>
                          <a:latin typeface="Courier New"/>
                        </a:rPr>
                        <a:t>samples</a:t>
                      </a:r>
                    </a:p>
                  </a:txBody>
                  <a:tcPr marL="73152" marR="73152" marT="36576" marB="36576" anchor="ctr">
                    <a:solidFill>
                      <a:srgbClr val="FFFFFF"/>
                    </a:solidFill>
                  </a:tcPr>
                </a:tc>
                <a:tc>
                  <a:txBody>
                    <a:bodyPr wrap="square"/>
                    <a:lstStyle/>
                    <a:p>
                      <a:pPr algn="r"/>
                      <a:r>
                        <a:rPr sz="1400" b="0" i="0">
                          <a:solidFill>
                            <a:srgbClr val="0E2841"/>
                          </a:solidFill>
                        </a:rPr>
                        <a:t>6</a:t>
                      </a:r>
                    </a:p>
                  </a:txBody>
                  <a:tcPr marL="73152" marR="73152" marT="36576" marB="36576" anchor="ctr">
                    <a:solidFill>
                      <a:srgbClr val="FFFFFF"/>
                    </a:solidFill>
                  </a:tcPr>
                </a:tc>
              </a:tr>
            </a:tbl>
          </a:graphicData>
        </a:graphic>
      </p:graphicFrame>
      <p:graphicFrame>
        <p:nvGraphicFramePr>
          <p:cNvPr id="9" name="schema table"/>
          <p:cNvGraphicFramePr>
            <a:graphicFrameLocks noGrp="1"/>
          </p:cNvGraphicFramePr>
          <p:nvPr/>
        </p:nvGraphicFramePr>
        <p:xfrm>
          <a:off x="6583680" y="1371600"/>
          <a:ext cx="5029200" cy="3703320"/>
        </p:xfrm>
        <a:graphic>
          <a:graphicData uri="http://schemas.openxmlformats.org/drawingml/2006/table">
            <a:tbl>
              <a:tblPr firstRow="0" bandRow="0">
                <a:tableStyleId>{5C22544A-7EE6-4342-B048-85BDC9FD1C3A}</a:tableStyleId>
              </a:tblPr>
              <a:tblGrid>
                <a:gridCol w="1828800"/>
                <a:gridCol w="2011680"/>
                <a:gridCol w="1188720"/>
              </a:tblGrid>
              <a:tr h="411480">
                <a:tc>
                  <a:txBody>
                    <a:bodyPr wrap="square"/>
                    <a:lstStyle/>
                    <a:p>
                      <a:r>
                        <a:rPr sz="1400" b="1" i="0">
                          <a:solidFill>
                            <a:srgbClr val="FFFFFF"/>
                          </a:solidFill>
                        </a:rPr>
                        <a:t>field</a:t>
                      </a:r>
                    </a:p>
                  </a:txBody>
                  <a:tcPr marL="73152" marR="73152" marT="36576" marB="36576" anchor="ctr">
                    <a:solidFill>
                      <a:srgbClr val="0E2841"/>
                    </a:solidFill>
                  </a:tcPr>
                </a:tc>
                <a:tc>
                  <a:txBody>
                    <a:bodyPr wrap="square"/>
                    <a:lstStyle/>
                    <a:p>
                      <a:r>
                        <a:rPr sz="1400" b="1" i="0">
                          <a:solidFill>
                            <a:srgbClr val="FFFFFF"/>
                          </a:solidFill>
                        </a:rPr>
                        <a:t>type(s)</a:t>
                      </a:r>
                    </a:p>
                  </a:txBody>
                  <a:tcPr marL="73152" marR="73152" marT="36576" marB="36576" anchor="ctr">
                    <a:solidFill>
                      <a:srgbClr val="0E2841"/>
                    </a:solidFill>
                  </a:tcPr>
                </a:tc>
                <a:tc>
                  <a:txBody>
                    <a:bodyPr wrap="square"/>
                    <a:lstStyle/>
                    <a:p>
                      <a:pPr algn="r"/>
                      <a:r>
                        <a:rPr sz="1400" b="1" i="0">
                          <a:solidFill>
                            <a:srgbClr val="FFFFFF"/>
                          </a:solidFill>
                        </a:rPr>
                        <a:t>% of docs</a:t>
                      </a:r>
                    </a:p>
                  </a:txBody>
                  <a:tcPr marL="73152" marR="73152" marT="36576" marB="36576" anchor="ctr">
                    <a:solidFill>
                      <a:srgbClr val="0E2841"/>
                    </a:solidFill>
                  </a:tcPr>
                </a:tc>
              </a:tr>
              <a:tr h="365760">
                <a:tc>
                  <a:txBody>
                    <a:bodyPr wrap="square"/>
                    <a:lstStyle/>
                    <a:p>
                      <a:r>
                        <a:rPr sz="1400" b="0" i="0">
                          <a:solidFill>
                            <a:srgbClr val="156082"/>
                          </a:solidFill>
                          <a:latin typeface="Courier New"/>
                        </a:rPr>
                        <a:t>chrom</a:t>
                      </a:r>
                    </a:p>
                  </a:txBody>
                  <a:tcPr marL="73152" marR="73152" marT="36576" marB="36576" anchor="ctr">
                    <a:solidFill>
                      <a:srgbClr val="FFFFFF"/>
                    </a:solidFill>
                  </a:tcPr>
                </a:tc>
                <a:tc>
                  <a:txBody>
                    <a:bodyPr wrap="square"/>
                    <a:lstStyle/>
                    <a:p>
                      <a:r>
                        <a:rPr sz="1400" b="0" i="0">
                          <a:solidFill>
                            <a:srgbClr val="0E2841"/>
                          </a:solidFill>
                        </a:rPr>
                        <a:t>str</a:t>
                      </a:r>
                    </a:p>
                  </a:txBody>
                  <a:tcPr marL="73152" marR="73152" marT="36576" marB="36576" anchor="ctr">
                    <a:solidFill>
                      <a:srgbClr val="FFFFFF"/>
                    </a:solidFill>
                  </a:tcPr>
                </a:tc>
                <a:tc>
                  <a:txBody>
                    <a:bodyPr wrap="square"/>
                    <a:lstStyle/>
                    <a:p>
                      <a:pPr algn="r"/>
                      <a:r>
                        <a:rPr sz="1400" b="0" i="0">
                          <a:solidFill>
                            <a:srgbClr val="0E2841"/>
                          </a:solidFill>
                        </a:rPr>
                        <a:t>100</a:t>
                      </a:r>
                    </a:p>
                  </a:txBody>
                  <a:tcPr marL="73152" marR="73152" marT="36576" marB="36576" anchor="ctr">
                    <a:solidFill>
                      <a:srgbClr val="FFFFFF"/>
                    </a:solidFill>
                  </a:tcPr>
                </a:tc>
              </a:tr>
              <a:tr h="365760">
                <a:tc>
                  <a:txBody>
                    <a:bodyPr wrap="square"/>
                    <a:lstStyle/>
                    <a:p>
                      <a:r>
                        <a:rPr sz="1400" b="0" i="0">
                          <a:solidFill>
                            <a:srgbClr val="156082"/>
                          </a:solidFill>
                          <a:latin typeface="Courier New"/>
                        </a:rPr>
                        <a:t>pos</a:t>
                      </a:r>
                    </a:p>
                  </a:txBody>
                  <a:tcPr marL="73152" marR="73152" marT="36576" marB="36576" anchor="ctr">
                    <a:solidFill>
                      <a:srgbClr val="F2F5F9"/>
                    </a:solidFill>
                  </a:tcPr>
                </a:tc>
                <a:tc>
                  <a:txBody>
                    <a:bodyPr wrap="square"/>
                    <a:lstStyle/>
                    <a:p>
                      <a:r>
                        <a:rPr sz="1400" b="0" i="0">
                          <a:solidFill>
                            <a:srgbClr val="0E2841"/>
                          </a:solidFill>
                        </a:rPr>
                        <a:t>int</a:t>
                      </a:r>
                    </a:p>
                  </a:txBody>
                  <a:tcPr marL="73152" marR="73152" marT="36576" marB="36576" anchor="ctr">
                    <a:solidFill>
                      <a:srgbClr val="F2F5F9"/>
                    </a:solidFill>
                  </a:tcPr>
                </a:tc>
                <a:tc>
                  <a:txBody>
                    <a:bodyPr wrap="square"/>
                    <a:lstStyle/>
                    <a:p>
                      <a:pPr algn="r"/>
                      <a:r>
                        <a:rPr sz="1400" b="0" i="0">
                          <a:solidFill>
                            <a:srgbClr val="0E2841"/>
                          </a:solidFill>
                        </a:rPr>
                        <a:t>100</a:t>
                      </a:r>
                    </a:p>
                  </a:txBody>
                  <a:tcPr marL="73152" marR="73152" marT="36576" marB="36576" anchor="ctr">
                    <a:solidFill>
                      <a:srgbClr val="F2F5F9"/>
                    </a:solidFill>
                  </a:tcPr>
                </a:tc>
              </a:tr>
              <a:tr h="365760">
                <a:tc>
                  <a:txBody>
                    <a:bodyPr wrap="square"/>
                    <a:lstStyle/>
                    <a:p>
                      <a:r>
                        <a:rPr sz="1400" b="0" i="0">
                          <a:solidFill>
                            <a:srgbClr val="156082"/>
                          </a:solidFill>
                          <a:latin typeface="Courier New"/>
                        </a:rPr>
                        <a:t>ref</a:t>
                      </a:r>
                    </a:p>
                  </a:txBody>
                  <a:tcPr marL="73152" marR="73152" marT="36576" marB="36576" anchor="ctr">
                    <a:solidFill>
                      <a:srgbClr val="FFFFFF"/>
                    </a:solidFill>
                  </a:tcPr>
                </a:tc>
                <a:tc>
                  <a:txBody>
                    <a:bodyPr wrap="square"/>
                    <a:lstStyle/>
                    <a:p>
                      <a:r>
                        <a:rPr sz="1400" b="0" i="0">
                          <a:solidFill>
                            <a:srgbClr val="0E2841"/>
                          </a:solidFill>
                        </a:rPr>
                        <a:t>str</a:t>
                      </a:r>
                    </a:p>
                  </a:txBody>
                  <a:tcPr marL="73152" marR="73152" marT="36576" marB="36576" anchor="ctr">
                    <a:solidFill>
                      <a:srgbClr val="FFFFFF"/>
                    </a:solidFill>
                  </a:tcPr>
                </a:tc>
                <a:tc>
                  <a:txBody>
                    <a:bodyPr wrap="square"/>
                    <a:lstStyle/>
                    <a:p>
                      <a:pPr algn="r"/>
                      <a:r>
                        <a:rPr sz="1400" b="0" i="0">
                          <a:solidFill>
                            <a:srgbClr val="0E2841"/>
                          </a:solidFill>
                        </a:rPr>
                        <a:t>100</a:t>
                      </a:r>
                    </a:p>
                  </a:txBody>
                  <a:tcPr marL="73152" marR="73152" marT="36576" marB="36576" anchor="ctr">
                    <a:solidFill>
                      <a:srgbClr val="FFFFFF"/>
                    </a:solidFill>
                  </a:tcPr>
                </a:tc>
              </a:tr>
              <a:tr h="365760">
                <a:tc>
                  <a:txBody>
                    <a:bodyPr wrap="square"/>
                    <a:lstStyle/>
                    <a:p>
                      <a:r>
                        <a:rPr sz="1400" b="0" i="0">
                          <a:solidFill>
                            <a:srgbClr val="156082"/>
                          </a:solidFill>
                          <a:latin typeface="Courier New"/>
                        </a:rPr>
                        <a:t>alt</a:t>
                      </a:r>
                    </a:p>
                  </a:txBody>
                  <a:tcPr marL="73152" marR="73152" marT="36576" marB="36576" anchor="ctr">
                    <a:solidFill>
                      <a:srgbClr val="F2F5F9"/>
                    </a:solidFill>
                  </a:tcPr>
                </a:tc>
                <a:tc>
                  <a:txBody>
                    <a:bodyPr wrap="square"/>
                    <a:lstStyle/>
                    <a:p>
                      <a:r>
                        <a:rPr sz="1400" b="0" i="0">
                          <a:solidFill>
                            <a:srgbClr val="0E2841"/>
                          </a:solidFill>
                        </a:rPr>
                        <a:t>list[str]</a:t>
                      </a:r>
                    </a:p>
                  </a:txBody>
                  <a:tcPr marL="73152" marR="73152" marT="36576" marB="36576" anchor="ctr">
                    <a:solidFill>
                      <a:srgbClr val="F2F5F9"/>
                    </a:solidFill>
                  </a:tcPr>
                </a:tc>
                <a:tc>
                  <a:txBody>
                    <a:bodyPr wrap="square"/>
                    <a:lstStyle/>
                    <a:p>
                      <a:pPr algn="r"/>
                      <a:r>
                        <a:rPr sz="1400" b="0" i="0">
                          <a:solidFill>
                            <a:srgbClr val="0E2841"/>
                          </a:solidFill>
                        </a:rPr>
                        <a:t>100</a:t>
                      </a:r>
                    </a:p>
                  </a:txBody>
                  <a:tcPr marL="73152" marR="73152" marT="36576" marB="36576" anchor="ctr">
                    <a:solidFill>
                      <a:srgbClr val="F2F5F9"/>
                    </a:solidFill>
                  </a:tcPr>
                </a:tc>
              </a:tr>
              <a:tr h="365760">
                <a:tc>
                  <a:txBody>
                    <a:bodyPr wrap="square"/>
                    <a:lstStyle/>
                    <a:p>
                      <a:r>
                        <a:rPr sz="1400" b="0" i="0">
                          <a:solidFill>
                            <a:srgbClr val="156082"/>
                          </a:solidFill>
                          <a:latin typeface="Courier New"/>
                        </a:rPr>
                        <a:t>qual</a:t>
                      </a:r>
                    </a:p>
                  </a:txBody>
                  <a:tcPr marL="73152" marR="73152" marT="36576" marB="36576" anchor="ctr">
                    <a:solidFill>
                      <a:srgbClr val="FFFFFF"/>
                    </a:solidFill>
                  </a:tcPr>
                </a:tc>
                <a:tc>
                  <a:txBody>
                    <a:bodyPr wrap="square"/>
                    <a:lstStyle/>
                    <a:p>
                      <a:r>
                        <a:rPr sz="1400" b="0" i="0">
                          <a:solidFill>
                            <a:srgbClr val="0E2841"/>
                          </a:solidFill>
                        </a:rPr>
                        <a:t>float</a:t>
                      </a:r>
                    </a:p>
                  </a:txBody>
                  <a:tcPr marL="73152" marR="73152" marT="36576" marB="36576" anchor="ctr">
                    <a:solidFill>
                      <a:srgbClr val="FFFFFF"/>
                    </a:solidFill>
                  </a:tcPr>
                </a:tc>
                <a:tc>
                  <a:txBody>
                    <a:bodyPr wrap="square"/>
                    <a:lstStyle/>
                    <a:p>
                      <a:pPr algn="r"/>
                      <a:r>
                        <a:rPr sz="1400" b="0" i="0">
                          <a:solidFill>
                            <a:srgbClr val="0E2841"/>
                          </a:solidFill>
                        </a:rPr>
                        <a:t>100</a:t>
                      </a:r>
                    </a:p>
                  </a:txBody>
                  <a:tcPr marL="73152" marR="73152" marT="36576" marB="36576" anchor="ctr">
                    <a:solidFill>
                      <a:srgbClr val="FFFFFF"/>
                    </a:solidFill>
                  </a:tcPr>
                </a:tc>
              </a:tr>
              <a:tr h="365760">
                <a:tc>
                  <a:txBody>
                    <a:bodyPr wrap="square"/>
                    <a:lstStyle/>
                    <a:p>
                      <a:r>
                        <a:rPr sz="1400" b="0" i="0">
                          <a:solidFill>
                            <a:srgbClr val="156082"/>
                          </a:solidFill>
                          <a:latin typeface="Courier New"/>
                        </a:rPr>
                        <a:t>filter</a:t>
                      </a:r>
                    </a:p>
                  </a:txBody>
                  <a:tcPr marL="73152" marR="73152" marT="36576" marB="36576" anchor="ctr">
                    <a:solidFill>
                      <a:srgbClr val="F2F5F9"/>
                    </a:solidFill>
                  </a:tcPr>
                </a:tc>
                <a:tc>
                  <a:txBody>
                    <a:bodyPr wrap="square"/>
                    <a:lstStyle/>
                    <a:p>
                      <a:r>
                        <a:rPr sz="1400" b="0" i="0">
                          <a:solidFill>
                            <a:srgbClr val="0E2841"/>
                          </a:solidFill>
                        </a:rPr>
                        <a:t>str</a:t>
                      </a:r>
                    </a:p>
                  </a:txBody>
                  <a:tcPr marL="73152" marR="73152" marT="36576" marB="36576" anchor="ctr">
                    <a:solidFill>
                      <a:srgbClr val="F2F5F9"/>
                    </a:solidFill>
                  </a:tcPr>
                </a:tc>
                <a:tc>
                  <a:txBody>
                    <a:bodyPr wrap="square"/>
                    <a:lstStyle/>
                    <a:p>
                      <a:pPr algn="r"/>
                      <a:r>
                        <a:rPr sz="1400" b="0" i="0">
                          <a:solidFill>
                            <a:srgbClr val="0E2841"/>
                          </a:solidFill>
                        </a:rPr>
                        <a:t>100</a:t>
                      </a:r>
                    </a:p>
                  </a:txBody>
                  <a:tcPr marL="73152" marR="73152" marT="36576" marB="36576" anchor="ctr">
                    <a:solidFill>
                      <a:srgbClr val="F2F5F9"/>
                    </a:solidFill>
                  </a:tcPr>
                </a:tc>
              </a:tr>
              <a:tr h="365760">
                <a:tc>
                  <a:txBody>
                    <a:bodyPr wrap="square"/>
                    <a:lstStyle/>
                    <a:p>
                      <a:r>
                        <a:rPr sz="1400" b="0" i="0">
                          <a:solidFill>
                            <a:srgbClr val="156082"/>
                          </a:solidFill>
                          <a:latin typeface="Courier New"/>
                        </a:rPr>
                        <a:t>info.DP</a:t>
                      </a:r>
                    </a:p>
                  </a:txBody>
                  <a:tcPr marL="73152" marR="73152" marT="36576" marB="36576" anchor="ctr">
                    <a:solidFill>
                      <a:srgbClr val="FFFFFF"/>
                    </a:solidFill>
                  </a:tcPr>
                </a:tc>
                <a:tc>
                  <a:txBody>
                    <a:bodyPr wrap="square"/>
                    <a:lstStyle/>
                    <a:p>
                      <a:r>
                        <a:rPr sz="1400" b="0" i="0">
                          <a:solidFill>
                            <a:srgbClr val="0E2841"/>
                          </a:solidFill>
                        </a:rPr>
                        <a:t>int</a:t>
                      </a:r>
                    </a:p>
                  </a:txBody>
                  <a:tcPr marL="73152" marR="73152" marT="36576" marB="36576" anchor="ctr">
                    <a:solidFill>
                      <a:srgbClr val="FFFFFF"/>
                    </a:solidFill>
                  </a:tcPr>
                </a:tc>
                <a:tc>
                  <a:txBody>
                    <a:bodyPr wrap="square"/>
                    <a:lstStyle/>
                    <a:p>
                      <a:pPr algn="r"/>
                      <a:r>
                        <a:rPr sz="1400" b="0" i="0">
                          <a:solidFill>
                            <a:srgbClr val="0E2841"/>
                          </a:solidFill>
                        </a:rPr>
                        <a:t>100</a:t>
                      </a:r>
                    </a:p>
                  </a:txBody>
                  <a:tcPr marL="73152" marR="73152" marT="36576" marB="36576" anchor="ctr">
                    <a:solidFill>
                      <a:srgbClr val="FFFFFF"/>
                    </a:solidFill>
                  </a:tcPr>
                </a:tc>
              </a:tr>
              <a:tr h="365760">
                <a:tc>
                  <a:txBody>
                    <a:bodyPr wrap="square"/>
                    <a:lstStyle/>
                    <a:p>
                      <a:r>
                        <a:rPr sz="1400" b="0" i="0">
                          <a:solidFill>
                            <a:srgbClr val="156082"/>
                          </a:solidFill>
                          <a:latin typeface="Courier New"/>
                        </a:rPr>
                        <a:t>info.AF</a:t>
                      </a:r>
                    </a:p>
                  </a:txBody>
                  <a:tcPr marL="73152" marR="73152" marT="36576" marB="36576" anchor="ctr">
                    <a:solidFill>
                      <a:srgbClr val="F2F5F9"/>
                    </a:solidFill>
                  </a:tcPr>
                </a:tc>
                <a:tc>
                  <a:txBody>
                    <a:bodyPr wrap="square"/>
                    <a:lstStyle/>
                    <a:p>
                      <a:r>
                        <a:rPr sz="1400" b="0" i="0">
                          <a:solidFill>
                            <a:srgbClr val="0E2841"/>
                          </a:solidFill>
                        </a:rPr>
                        <a:t>list[float]</a:t>
                      </a:r>
                    </a:p>
                  </a:txBody>
                  <a:tcPr marL="73152" marR="73152" marT="36576" marB="36576" anchor="ctr">
                    <a:solidFill>
                      <a:srgbClr val="F2F5F9"/>
                    </a:solidFill>
                  </a:tcPr>
                </a:tc>
                <a:tc>
                  <a:txBody>
                    <a:bodyPr wrap="square"/>
                    <a:lstStyle/>
                    <a:p>
                      <a:pPr algn="r"/>
                      <a:r>
                        <a:rPr sz="1400" b="0" i="0">
                          <a:solidFill>
                            <a:srgbClr val="0E2841"/>
                          </a:solidFill>
                        </a:rPr>
                        <a:t>100</a:t>
                      </a:r>
                    </a:p>
                  </a:txBody>
                  <a:tcPr marL="73152" marR="73152" marT="36576" marB="36576" anchor="ctr">
                    <a:solidFill>
                      <a:srgbClr val="F2F5F9"/>
                    </a:solidFill>
                  </a:tcPr>
                </a:tc>
              </a:tr>
              <a:tr h="365760">
                <a:tc>
                  <a:txBody>
                    <a:bodyPr wrap="square"/>
                    <a:lstStyle/>
                    <a:p>
                      <a:r>
                        <a:rPr sz="1400" b="0" i="0">
                          <a:solidFill>
                            <a:srgbClr val="156082"/>
                          </a:solidFill>
                          <a:latin typeface="Courier New"/>
                        </a:rPr>
                        <a:t>info.MQ</a:t>
                      </a:r>
                    </a:p>
                  </a:txBody>
                  <a:tcPr marL="73152" marR="73152" marT="36576" marB="36576" anchor="ctr">
                    <a:solidFill>
                      <a:srgbClr val="FFFFFF"/>
                    </a:solidFill>
                  </a:tcPr>
                </a:tc>
                <a:tc>
                  <a:txBody>
                    <a:bodyPr wrap="square"/>
                    <a:lstStyle/>
                    <a:p>
                      <a:r>
                        <a:rPr sz="1400" b="0" i="0">
                          <a:solidFill>
                            <a:srgbClr val="0E2841"/>
                          </a:solidFill>
                        </a:rPr>
                        <a:t>float</a:t>
                      </a:r>
                    </a:p>
                  </a:txBody>
                  <a:tcPr marL="73152" marR="73152" marT="36576" marB="36576" anchor="ctr">
                    <a:solidFill>
                      <a:srgbClr val="FFFFFF"/>
                    </a:solidFill>
                  </a:tcPr>
                </a:tc>
                <a:tc>
                  <a:txBody>
                    <a:bodyPr wrap="square"/>
                    <a:lstStyle/>
                    <a:p>
                      <a:pPr algn="r"/>
                      <a:r>
                        <a:rPr sz="1400" b="0" i="0">
                          <a:solidFill>
                            <a:srgbClr val="0E2841"/>
                          </a:solidFill>
                        </a:rPr>
                        <a:t>100</a:t>
                      </a:r>
                    </a:p>
                  </a:txBody>
                  <a:tcPr marL="73152" marR="73152" marT="36576" marB="36576" anchor="ctr">
                    <a:solidFill>
                      <a:srgbClr val="FFFFFF"/>
                    </a:solidFill>
                  </a:tcPr>
                </a:tc>
              </a:tr>
            </a:tbl>
          </a:graphicData>
        </a:graphic>
      </p:graphicFrame>
      <p:sp>
        <p:nvSpPr>
          <p:cNvPr id="10" name="schema note"/>
          <p:cNvSpPr txBox="1"/>
          <p:nvPr/>
        </p:nvSpPr>
        <p:spPr>
          <a:xfrm>
            <a:off x="6583680" y="5212080"/>
            <a:ext cx="5029200" cy="1005840"/>
          </a:xfrm>
          <a:prstGeom prst="rect">
            <a:avLst/>
          </a:prstGeom>
          <a:noFill/>
        </p:spPr>
        <p:txBody>
          <a:bodyPr wrap="square" lIns="45720" rIns="45720" tIns="27432" bIns="27432" anchor="t">
            <a:spAutoFit/>
          </a:bodyPr>
          <a:lstStyle/>
          <a:p>
            <a:pPr algn="l">
              <a:spcAft>
                <a:spcPts val="600"/>
              </a:spcAft>
            </a:pPr>
            <a:r>
              <a:rPr sz="1500" b="0" i="0">
                <a:solidFill>
                  <a:srgbClr val="595959"/>
                </a:solidFill>
              </a:rPr>
              <a:t>A field in </a:t>
            </a:r>
            <a:r>
              <a:rPr sz="1500" b="1" i="0">
                <a:solidFill>
                  <a:srgbClr val="595959"/>
                </a:solidFill>
              </a:rPr>
              <a:t>100%</a:t>
            </a:r>
            <a:r>
              <a:rPr sz="1500" b="0" i="0">
                <a:solidFill>
                  <a:srgbClr val="595959"/>
                </a:solidFill>
              </a:rPr>
              <a:t> of the documents is required in practice; several types = data-quality red flag.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VCF in one slide</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CREATE</a:t>
            </a:r>
          </a:p>
        </p:txBody>
      </p:sp>
      <p:sp>
        <p:nvSpPr>
          <p:cNvPr id="6" name="vcf lines bg"/>
          <p:cNvSpPr/>
          <p:nvPr/>
        </p:nvSpPr>
        <p:spPr>
          <a:xfrm>
            <a:off x="548640" y="1371600"/>
            <a:ext cx="11064240" cy="1920240"/>
          </a:xfrm>
          <a:prstGeom prst="roundRect">
            <a:avLst>
              <a:gd name="adj" fmla="val 2380"/>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vcf lines"/>
          <p:cNvSpPr txBox="1"/>
          <p:nvPr/>
        </p:nvSpPr>
        <p:spPr>
          <a:xfrm>
            <a:off x="640080" y="1435608"/>
            <a:ext cx="10881360" cy="179222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##fileformat=VCFv4.2                                               &lt;- meta-information (##)</a:t>
            </a:r>
          </a:p>
          <a:p>
            <a:pPr algn="l">
              <a:spcAft>
                <a:spcPts val="0"/>
              </a:spcAft>
            </a:pPr>
            <a:r>
              <a:rPr sz="1200" b="0" i="0">
                <a:solidFill>
                  <a:srgbClr val="1F2937"/>
                </a:solidFill>
                <a:latin typeface="Courier New"/>
              </a:rPr>
              <a:t>##INFO=&lt;ID=DP,Number=1,Type=Integer,Description="Combined read depth"&gt;</a:t>
            </a:r>
          </a:p>
          <a:p>
            <a:pPr algn="l">
              <a:spcAft>
                <a:spcPts val="0"/>
              </a:spcAft>
            </a:pPr>
            <a:r>
              <a:rPr sz="1200" b="0" i="0">
                <a:solidFill>
                  <a:srgbClr val="1F2937"/>
                </a:solidFill>
                <a:latin typeface="Courier New"/>
              </a:rPr>
              <a:t>#CHROM  POS      ID  REF  ALT  QUAL  FILTER  INFO                       FORMAT    SAMPLE_A  SAMPLE_B</a:t>
            </a:r>
          </a:p>
          <a:p>
            <a:pPr algn="l">
              <a:spcAft>
                <a:spcPts val="0"/>
              </a:spcAft>
            </a:pPr>
            <a:r>
              <a:rPr sz="1200" b="0" i="0">
                <a:solidFill>
                  <a:srgbClr val="1F2937"/>
                </a:solidFill>
                <a:latin typeface="Courier New"/>
              </a:rPr>
              <a:t>1       5127815  .   G    T    61.9  PASS    AC=1;AF=0.0187;DP=18       GT:DP:GQ  0|0:8:66  0/1:6:40</a:t>
            </a:r>
          </a:p>
        </p:txBody>
      </p:sp>
      <p:graphicFrame>
        <p:nvGraphicFramePr>
          <p:cNvPr id="8" name="vcf columns"/>
          <p:cNvGraphicFramePr>
            <a:graphicFrameLocks noGrp="1"/>
          </p:cNvGraphicFramePr>
          <p:nvPr/>
        </p:nvGraphicFramePr>
        <p:xfrm>
          <a:off x="548640" y="3520440"/>
          <a:ext cx="11064240" cy="2880360"/>
        </p:xfrm>
        <a:graphic>
          <a:graphicData uri="http://schemas.openxmlformats.org/drawingml/2006/table">
            <a:tbl>
              <a:tblPr firstRow="0" bandRow="0">
                <a:tableStyleId>{5C22544A-7EE6-4342-B048-85BDC9FD1C3A}</a:tableStyleId>
              </a:tblPr>
              <a:tblGrid>
                <a:gridCol w="2377440"/>
                <a:gridCol w="8686800"/>
              </a:tblGrid>
              <a:tr h="411480">
                <a:tc>
                  <a:txBody>
                    <a:bodyPr wrap="square"/>
                    <a:lstStyle/>
                    <a:p>
                      <a:r>
                        <a:rPr sz="1400" b="1" i="0">
                          <a:solidFill>
                            <a:srgbClr val="FFFFFF"/>
                          </a:solidFill>
                        </a:rPr>
                        <a:t>column</a:t>
                      </a:r>
                    </a:p>
                  </a:txBody>
                  <a:tcPr marL="73152" marR="73152" marT="36576" marB="36576" anchor="ctr">
                    <a:solidFill>
                      <a:srgbClr val="0E2841"/>
                    </a:solidFill>
                  </a:tcPr>
                </a:tc>
                <a:tc>
                  <a:txBody>
                    <a:bodyPr wrap="square"/>
                    <a:lstStyle/>
                    <a:p>
                      <a:r>
                        <a:rPr sz="1400" b="1" i="0">
                          <a:solidFill>
                            <a:srgbClr val="FFFFFF"/>
                          </a:solidFill>
                        </a:rPr>
                        <a:t>meaning</a:t>
                      </a:r>
                    </a:p>
                  </a:txBody>
                  <a:tcPr marL="73152" marR="73152" marT="36576" marB="36576" anchor="ctr">
                    <a:solidFill>
                      <a:srgbClr val="0E2841"/>
                    </a:solidFill>
                  </a:tcPr>
                </a:tc>
              </a:tr>
              <a:tr h="411480">
                <a:tc>
                  <a:txBody>
                    <a:bodyPr wrap="square"/>
                    <a:lstStyle/>
                    <a:p>
                      <a:r>
                        <a:rPr sz="1400" b="0" i="0">
                          <a:solidFill>
                            <a:srgbClr val="156082"/>
                          </a:solidFill>
                          <a:latin typeface="Courier New"/>
                        </a:rPr>
                        <a:t>CHROM</a:t>
                      </a:r>
                      <a:r>
                        <a:rPr sz="1400" b="0" i="0">
                          <a:solidFill>
                            <a:srgbClr val="0E2841"/>
                          </a:solidFill>
                        </a:rPr>
                        <a:t> </a:t>
                      </a:r>
                      <a:r>
                        <a:rPr sz="1400" b="0" i="0">
                          <a:solidFill>
                            <a:srgbClr val="156082"/>
                          </a:solidFill>
                          <a:latin typeface="Courier New"/>
                        </a:rPr>
                        <a:t>POS</a:t>
                      </a:r>
                    </a:p>
                  </a:txBody>
                  <a:tcPr marL="73152" marR="73152" marT="36576" marB="36576" anchor="ctr">
                    <a:solidFill>
                      <a:srgbClr val="FFFFFF"/>
                    </a:solidFill>
                  </a:tcPr>
                </a:tc>
                <a:tc>
                  <a:txBody>
                    <a:bodyPr wrap="square"/>
                    <a:lstStyle/>
                    <a:p>
                      <a:r>
                        <a:rPr sz="1400" b="0" i="0">
                          <a:solidFill>
                            <a:srgbClr val="0E2841"/>
                          </a:solidFill>
                        </a:rPr>
                        <a:t>where: chromosome and </a:t>
                      </a:r>
                      <a:r>
                        <a:rPr sz="1400" b="1" i="0">
                          <a:solidFill>
                            <a:srgbClr val="0E2841"/>
                          </a:solidFill>
                        </a:rPr>
                        <a:t>1-based</a:t>
                      </a:r>
                      <a:r>
                        <a:rPr sz="1400" b="0" i="0">
                          <a:solidFill>
                            <a:srgbClr val="0E2841"/>
                          </a:solidFill>
                        </a:rPr>
                        <a:t> position</a:t>
                      </a:r>
                    </a:p>
                  </a:txBody>
                  <a:tcPr marL="73152" marR="73152" marT="36576" marB="36576" anchor="ctr">
                    <a:solidFill>
                      <a:srgbClr val="FFFFFF"/>
                    </a:solidFill>
                  </a:tcPr>
                </a:tc>
              </a:tr>
              <a:tr h="411480">
                <a:tc>
                  <a:txBody>
                    <a:bodyPr wrap="square"/>
                    <a:lstStyle/>
                    <a:p>
                      <a:r>
                        <a:rPr sz="1400" b="0" i="0">
                          <a:solidFill>
                            <a:srgbClr val="156082"/>
                          </a:solidFill>
                          <a:latin typeface="Courier New"/>
                        </a:rPr>
                        <a:t>REF</a:t>
                      </a:r>
                      <a:r>
                        <a:rPr sz="1400" b="0" i="0">
                          <a:solidFill>
                            <a:srgbClr val="0E2841"/>
                          </a:solidFill>
                        </a:rPr>
                        <a:t> </a:t>
                      </a:r>
                      <a:r>
                        <a:rPr sz="1400" b="0" i="0">
                          <a:solidFill>
                            <a:srgbClr val="156082"/>
                          </a:solidFill>
                          <a:latin typeface="Courier New"/>
                        </a:rPr>
                        <a:t>ALT</a:t>
                      </a:r>
                    </a:p>
                  </a:txBody>
                  <a:tcPr marL="73152" marR="73152" marT="36576" marB="36576" anchor="ctr">
                    <a:solidFill>
                      <a:srgbClr val="F2F5F9"/>
                    </a:solidFill>
                  </a:tcPr>
                </a:tc>
                <a:tc>
                  <a:txBody>
                    <a:bodyPr wrap="square"/>
                    <a:lstStyle/>
                    <a:p>
                      <a:r>
                        <a:rPr sz="1400" b="0" i="0">
                          <a:solidFill>
                            <a:srgbClr val="0E2841"/>
                          </a:solidFill>
                        </a:rPr>
                        <a:t>reference and alternative allele(s), comma-separated if several</a:t>
                      </a:r>
                    </a:p>
                  </a:txBody>
                  <a:tcPr marL="73152" marR="73152" marT="36576" marB="36576" anchor="ctr">
                    <a:solidFill>
                      <a:srgbClr val="F2F5F9"/>
                    </a:solidFill>
                  </a:tcPr>
                </a:tc>
              </a:tr>
              <a:tr h="411480">
                <a:tc>
                  <a:txBody>
                    <a:bodyPr wrap="square"/>
                    <a:lstStyle/>
                    <a:p>
                      <a:r>
                        <a:rPr sz="1400" b="0" i="0">
                          <a:solidFill>
                            <a:srgbClr val="156082"/>
                          </a:solidFill>
                          <a:latin typeface="Courier New"/>
                        </a:rPr>
                        <a:t>QUAL</a:t>
                      </a:r>
                    </a:p>
                  </a:txBody>
                  <a:tcPr marL="73152" marR="73152" marT="36576" marB="36576" anchor="ctr">
                    <a:solidFill>
                      <a:srgbClr val="FFFFFF"/>
                    </a:solidFill>
                  </a:tcPr>
                </a:tc>
                <a:tc>
                  <a:txBody>
                    <a:bodyPr wrap="square"/>
                    <a:lstStyle/>
                    <a:p>
                      <a:r>
                        <a:rPr sz="1400" b="0" i="0">
                          <a:solidFill>
                            <a:srgbClr val="0E2841"/>
                          </a:solidFill>
                        </a:rPr>
                        <a:t>Phred-scaled confidence (30 → 1 in 1,000 wrong; 60 → 1 in 1,000,000)</a:t>
                      </a:r>
                    </a:p>
                  </a:txBody>
                  <a:tcPr marL="73152" marR="73152" marT="36576" marB="36576" anchor="ctr">
                    <a:solidFill>
                      <a:srgbClr val="FFFFFF"/>
                    </a:solidFill>
                  </a:tcPr>
                </a:tc>
              </a:tr>
              <a:tr h="411480">
                <a:tc>
                  <a:txBody>
                    <a:bodyPr wrap="square"/>
                    <a:lstStyle/>
                    <a:p>
                      <a:r>
                        <a:rPr sz="1400" b="0" i="0">
                          <a:solidFill>
                            <a:srgbClr val="156082"/>
                          </a:solidFill>
                          <a:latin typeface="Courier New"/>
                        </a:rPr>
                        <a:t>FILTER</a:t>
                      </a:r>
                    </a:p>
                  </a:txBody>
                  <a:tcPr marL="73152" marR="73152" marT="36576" marB="36576" anchor="ctr">
                    <a:solidFill>
                      <a:srgbClr val="F2F5F9"/>
                    </a:solidFill>
                  </a:tcPr>
                </a:tc>
                <a:tc>
                  <a:txBody>
                    <a:bodyPr wrap="square"/>
                    <a:lstStyle/>
                    <a:p>
                      <a:r>
                        <a:rPr sz="1400" b="0" i="0">
                          <a:solidFill>
                            <a:srgbClr val="156082"/>
                          </a:solidFill>
                          <a:latin typeface="Courier New"/>
                        </a:rPr>
                        <a:t>PASS</a:t>
                      </a:r>
                      <a:r>
                        <a:rPr sz="1400" b="0" i="0">
                          <a:solidFill>
                            <a:srgbClr val="0E2841"/>
                          </a:solidFill>
                        </a:rPr>
                        <a:t>, or the names of the failed filters (e.g. </a:t>
                      </a:r>
                      <a:r>
                        <a:rPr sz="1400" b="0" i="0">
                          <a:solidFill>
                            <a:srgbClr val="156082"/>
                          </a:solidFill>
                          <a:latin typeface="Courier New"/>
                        </a:rPr>
                        <a:t>LowQual</a:t>
                      </a:r>
                      <a:r>
                        <a:rPr sz="1400" b="0" i="0">
                          <a:solidFill>
                            <a:srgbClr val="0E2841"/>
                          </a:solidFill>
                        </a:rPr>
                        <a:t>)</a:t>
                      </a:r>
                    </a:p>
                  </a:txBody>
                  <a:tcPr marL="73152" marR="73152" marT="36576" marB="36576" anchor="ctr">
                    <a:solidFill>
                      <a:srgbClr val="F2F5F9"/>
                    </a:solidFill>
                  </a:tcPr>
                </a:tc>
              </a:tr>
              <a:tr h="411480">
                <a:tc>
                  <a:txBody>
                    <a:bodyPr wrap="square"/>
                    <a:lstStyle/>
                    <a:p>
                      <a:r>
                        <a:rPr sz="1400" b="0" i="0">
                          <a:solidFill>
                            <a:srgbClr val="156082"/>
                          </a:solidFill>
                          <a:latin typeface="Courier New"/>
                        </a:rPr>
                        <a:t>INFO</a:t>
                      </a:r>
                    </a:p>
                  </a:txBody>
                  <a:tcPr marL="73152" marR="73152" marT="36576" marB="36576" anchor="ctr">
                    <a:solidFill>
                      <a:srgbClr val="FFFFFF"/>
                    </a:solidFill>
                  </a:tcPr>
                </a:tc>
                <a:tc>
                  <a:txBody>
                    <a:bodyPr wrap="square"/>
                    <a:lstStyle/>
                    <a:p>
                      <a:r>
                        <a:rPr sz="1400" b="0" i="0">
                          <a:solidFill>
                            <a:srgbClr val="156082"/>
                          </a:solidFill>
                          <a:latin typeface="Courier New"/>
                        </a:rPr>
                        <a:t>key=value;key=value</a:t>
                      </a:r>
                      <a:r>
                        <a:rPr sz="1400" b="0" i="0">
                          <a:solidFill>
                            <a:srgbClr val="0E2841"/>
                          </a:solidFill>
                        </a:rPr>
                        <a:t> annotations of the </a:t>
                      </a:r>
                      <a:r>
                        <a:rPr sz="1400" b="1" i="0">
                          <a:solidFill>
                            <a:srgbClr val="0E2841"/>
                          </a:solidFill>
                        </a:rPr>
                        <a:t>site</a:t>
                      </a:r>
                    </a:p>
                  </a:txBody>
                  <a:tcPr marL="73152" marR="73152" marT="36576" marB="36576" anchor="ctr">
                    <a:solidFill>
                      <a:srgbClr val="FFFFFF"/>
                    </a:solidFill>
                  </a:tcPr>
                </a:tc>
              </a:tr>
              <a:tr h="411480">
                <a:tc>
                  <a:txBody>
                    <a:bodyPr wrap="square"/>
                    <a:lstStyle/>
                    <a:p>
                      <a:r>
                        <a:rPr sz="1400" b="0" i="0">
                          <a:solidFill>
                            <a:srgbClr val="156082"/>
                          </a:solidFill>
                          <a:latin typeface="Courier New"/>
                        </a:rPr>
                        <a:t>FORMAT</a:t>
                      </a:r>
                      <a:r>
                        <a:rPr sz="1400" b="0" i="0">
                          <a:solidFill>
                            <a:srgbClr val="0E2841"/>
                          </a:solidFill>
                        </a:rPr>
                        <a:t> + samples</a:t>
                      </a:r>
                    </a:p>
                  </a:txBody>
                  <a:tcPr marL="73152" marR="73152" marT="36576" marB="36576" anchor="ctr">
                    <a:solidFill>
                      <a:srgbClr val="F2F5F9"/>
                    </a:solidFill>
                  </a:tcPr>
                </a:tc>
                <a:tc>
                  <a:txBody>
                    <a:bodyPr wrap="square"/>
                    <a:lstStyle/>
                    <a:p>
                      <a:r>
                        <a:rPr sz="1400" b="0" i="0">
                          <a:solidFill>
                            <a:srgbClr val="156082"/>
                          </a:solidFill>
                          <a:latin typeface="Courier New"/>
                        </a:rPr>
                        <a:t>GT</a:t>
                      </a:r>
                      <a:r>
                        <a:rPr sz="1400" b="0" i="0">
                          <a:solidFill>
                            <a:srgbClr val="0E2841"/>
                          </a:solidFill>
                        </a:rPr>
                        <a:t> genotype (</a:t>
                      </a:r>
                      <a:r>
                        <a:rPr sz="1400" b="0" i="0">
                          <a:solidFill>
                            <a:srgbClr val="156082"/>
                          </a:solidFill>
                          <a:latin typeface="Courier New"/>
                        </a:rPr>
                        <a:t>0/1</a:t>
                      </a:r>
                      <a:r>
                        <a:rPr sz="1400" b="0" i="0">
                          <a:solidFill>
                            <a:srgbClr val="0E2841"/>
                          </a:solidFill>
                        </a:rPr>
                        <a:t> het, </a:t>
                      </a:r>
                      <a:r>
                        <a:rPr sz="1400" b="0" i="0">
                          <a:solidFill>
                            <a:srgbClr val="156082"/>
                          </a:solidFill>
                          <a:latin typeface="Courier New"/>
                        </a:rPr>
                        <a:t>1/1</a:t>
                      </a:r>
                      <a:r>
                        <a:rPr sz="1400" b="0" i="0">
                          <a:solidFill>
                            <a:srgbClr val="0E2841"/>
                          </a:solidFill>
                        </a:rPr>
                        <a:t> hom-alt, </a:t>
                      </a:r>
                      <a:r>
                        <a:rPr sz="1400" b="0" i="0">
                          <a:solidFill>
                            <a:srgbClr val="156082"/>
                          </a:solidFill>
                          <a:latin typeface="Courier New"/>
                        </a:rPr>
                        <a:t>|</a:t>
                      </a:r>
                      <a:r>
                        <a:rPr sz="1400" b="0" i="0">
                          <a:solidFill>
                            <a:srgbClr val="0E2841"/>
                          </a:solidFill>
                        </a:rPr>
                        <a:t> phased), </a:t>
                      </a:r>
                      <a:r>
                        <a:rPr sz="1400" b="0" i="0">
                          <a:solidFill>
                            <a:srgbClr val="156082"/>
                          </a:solidFill>
                          <a:latin typeface="Courier New"/>
                        </a:rPr>
                        <a:t>DP</a:t>
                      </a:r>
                      <a:r>
                        <a:rPr sz="1400" b="0" i="0">
                          <a:solidFill>
                            <a:srgbClr val="0E2841"/>
                          </a:solidFill>
                        </a:rPr>
                        <a:t> depth, </a:t>
                      </a:r>
                      <a:r>
                        <a:rPr sz="1400" b="0" i="0">
                          <a:solidFill>
                            <a:srgbClr val="156082"/>
                          </a:solidFill>
                          <a:latin typeface="Courier New"/>
                        </a:rPr>
                        <a:t>GQ</a:t>
                      </a:r>
                      <a:r>
                        <a:rPr sz="1400" b="0" i="0">
                          <a:solidFill>
                            <a:srgbClr val="0E2841"/>
                          </a:solidFill>
                        </a:rPr>
                        <a:t> quality</a:t>
                      </a:r>
                    </a:p>
                  </a:txBody>
                  <a:tcPr marL="73152" marR="73152" marT="36576" marB="36576" anchor="ctr">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From a VCF line to a MongoDB document</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CREATE</a:t>
            </a:r>
          </a:p>
        </p:txBody>
      </p:sp>
      <p:sp>
        <p:nvSpPr>
          <p:cNvPr id="6" name="vcf in bg"/>
          <p:cNvSpPr/>
          <p:nvPr/>
        </p:nvSpPr>
        <p:spPr>
          <a:xfrm>
            <a:off x="548640" y="1371600"/>
            <a:ext cx="4937760" cy="1280160"/>
          </a:xfrm>
          <a:prstGeom prst="roundRect">
            <a:avLst>
              <a:gd name="adj" fmla="val 3571"/>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vcf in"/>
          <p:cNvSpPr txBox="1"/>
          <p:nvPr/>
        </p:nvSpPr>
        <p:spPr>
          <a:xfrm>
            <a:off x="640080" y="1435608"/>
            <a:ext cx="4754880" cy="1152143"/>
          </a:xfrm>
          <a:prstGeom prst="rect">
            <a:avLst/>
          </a:prstGeom>
          <a:noFill/>
        </p:spPr>
        <p:txBody>
          <a:bodyPr wrap="square" lIns="45720" rIns="45720" tIns="27432" bIns="27432" anchor="t">
            <a:spAutoFit/>
          </a:bodyPr>
          <a:lstStyle/>
          <a:p>
            <a:pPr algn="l">
              <a:spcAft>
                <a:spcPts val="0"/>
              </a:spcAft>
            </a:pPr>
            <a:r>
              <a:rPr sz="1300" b="0" i="0">
                <a:solidFill>
                  <a:srgbClr val="1F2937"/>
                </a:solidFill>
                <a:latin typeface="Courier New"/>
              </a:rPr>
              <a:t>1  5127815  .  G  T  61.9  PASS</a:t>
            </a:r>
          </a:p>
          <a:p>
            <a:pPr algn="l">
              <a:spcAft>
                <a:spcPts val="0"/>
              </a:spcAft>
            </a:pPr>
            <a:r>
              <a:rPr sz="1300" b="0" i="0">
                <a:solidFill>
                  <a:srgbClr val="1F2937"/>
                </a:solidFill>
                <a:latin typeface="Courier New"/>
              </a:rPr>
              <a:t>AC=1;AF=0.0187;DP=18</a:t>
            </a:r>
          </a:p>
          <a:p>
            <a:pPr algn="l">
              <a:spcAft>
                <a:spcPts val="0"/>
              </a:spcAft>
            </a:pPr>
            <a:r>
              <a:rPr sz="1300" b="0" i="0">
                <a:solidFill>
                  <a:srgbClr val="1F2937"/>
                </a:solidFill>
                <a:latin typeface="Courier New"/>
              </a:rPr>
              <a:t>GT:DP:GQ  0|0:8:66  0/1:6:40</a:t>
            </a:r>
          </a:p>
        </p:txBody>
      </p:sp>
      <p:cxnSp>
        <p:nvCxnSpPr>
          <p:cNvPr id="8" name="big arrow"/>
          <p:cNvCxnSpPr/>
          <p:nvPr/>
        </p:nvCxnSpPr>
        <p:spPr>
          <a:xfrm>
            <a:off x="3017520" y="2697480"/>
            <a:ext cx="0" cy="457200"/>
          </a:xfrm>
          <a:prstGeom prst="line">
            <a:avLst/>
          </a:prstGeom>
          <a:ln w="3810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9" name="conv label"/>
          <p:cNvSpPr txBox="1"/>
          <p:nvPr/>
        </p:nvSpPr>
        <p:spPr>
          <a:xfrm>
            <a:off x="3154680" y="2743200"/>
            <a:ext cx="2560320" cy="365760"/>
          </a:xfrm>
          <a:prstGeom prst="rect">
            <a:avLst/>
          </a:prstGeom>
          <a:noFill/>
        </p:spPr>
        <p:txBody>
          <a:bodyPr wrap="square" lIns="45720" rIns="45720" tIns="27432" bIns="27432" anchor="t">
            <a:spAutoFit/>
          </a:bodyPr>
          <a:lstStyle/>
          <a:p>
            <a:pPr algn="l">
              <a:spcAft>
                <a:spcPts val="600"/>
              </a:spcAft>
            </a:pPr>
            <a:r>
              <a:rPr sz="1300" b="0" i="0">
                <a:solidFill>
                  <a:srgbClr val="156082"/>
                </a:solidFill>
                <a:latin typeface="Courier New"/>
              </a:rPr>
              <a:t>vcfpy</a:t>
            </a:r>
            <a:r>
              <a:rPr sz="1300" b="0" i="0">
                <a:solidFill>
                  <a:srgbClr val="0E2841"/>
                </a:solidFill>
              </a:rPr>
              <a:t> + </a:t>
            </a:r>
            <a:r>
              <a:rPr sz="1300" b="0" i="0">
                <a:solidFill>
                  <a:srgbClr val="156082"/>
                </a:solidFill>
                <a:latin typeface="Courier New"/>
              </a:rPr>
              <a:t>record_to_doc()</a:t>
            </a:r>
          </a:p>
        </p:txBody>
      </p:sp>
      <p:sp>
        <p:nvSpPr>
          <p:cNvPr id="10" name="doc out bg"/>
          <p:cNvSpPr/>
          <p:nvPr/>
        </p:nvSpPr>
        <p:spPr>
          <a:xfrm>
            <a:off x="548640" y="3246120"/>
            <a:ext cx="4937760" cy="3017520"/>
          </a:xfrm>
          <a:prstGeom prst="roundRect">
            <a:avLst>
              <a:gd name="adj" fmla="val 151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oc out"/>
          <p:cNvSpPr txBox="1"/>
          <p:nvPr/>
        </p:nvSpPr>
        <p:spPr>
          <a:xfrm>
            <a:off x="640080" y="3310127"/>
            <a:ext cx="4754880" cy="2889503"/>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 "chrom": "1", "pos": 5127815,</a:t>
            </a:r>
          </a:p>
          <a:p>
            <a:pPr algn="l">
              <a:spcAft>
                <a:spcPts val="0"/>
              </a:spcAft>
            </a:pPr>
            <a:r>
              <a:rPr sz="1200" b="0" i="0">
                <a:solidFill>
                  <a:srgbClr val="1F2937"/>
                </a:solidFill>
                <a:latin typeface="Courier New"/>
              </a:rPr>
              <a:t>  "id": None, "ref": "G", "alt": ["T"],</a:t>
            </a:r>
          </a:p>
          <a:p>
            <a:pPr algn="l">
              <a:spcAft>
                <a:spcPts val="0"/>
              </a:spcAft>
            </a:pPr>
            <a:r>
              <a:rPr sz="1200" b="0" i="0">
                <a:solidFill>
                  <a:srgbClr val="1F2937"/>
                </a:solidFill>
                <a:latin typeface="Courier New"/>
              </a:rPr>
              <a:t>  "type": "SNV", "qual": 61.9,</a:t>
            </a:r>
          </a:p>
          <a:p>
            <a:pPr algn="l">
              <a:spcAft>
                <a:spcPts val="0"/>
              </a:spcAft>
            </a:pPr>
            <a:r>
              <a:rPr sz="1200" b="0" i="0">
                <a:solidFill>
                  <a:srgbClr val="1F2937"/>
                </a:solidFill>
                <a:latin typeface="Courier New"/>
              </a:rPr>
              <a:t>  "filter": "PASS",</a:t>
            </a:r>
          </a:p>
          <a:p>
            <a:pPr algn="l">
              <a:spcAft>
                <a:spcPts val="0"/>
              </a:spcAft>
            </a:pPr>
            <a:r>
              <a:rPr sz="1200" b="0" i="0">
                <a:solidFill>
                  <a:srgbClr val="1F2937"/>
                </a:solidFill>
                <a:latin typeface="Courier New"/>
              </a:rPr>
              <a:t>  "info": {"AC": [1], "AF": [0.0187],</a:t>
            </a:r>
          </a:p>
          <a:p>
            <a:pPr algn="l">
              <a:spcAft>
                <a:spcPts val="0"/>
              </a:spcAft>
            </a:pPr>
            <a:r>
              <a:rPr sz="1200" b="0" i="0">
                <a:solidFill>
                  <a:srgbClr val="1F2937"/>
                </a:solidFill>
                <a:latin typeface="Courier New"/>
              </a:rPr>
              <a:t>           "DP": 18},</a:t>
            </a:r>
          </a:p>
          <a:p>
            <a:pPr algn="l">
              <a:spcAft>
                <a:spcPts val="0"/>
              </a:spcAft>
            </a:pPr>
            <a:r>
              <a:rPr sz="1200" b="0" i="0">
                <a:solidFill>
                  <a:srgbClr val="1F2937"/>
                </a:solidFill>
                <a:latin typeface="Courier New"/>
              </a:rPr>
              <a:t>  "calls": [{"sample": "SAMPLE_A",</a:t>
            </a:r>
          </a:p>
          <a:p>
            <a:pPr algn="l">
              <a:spcAft>
                <a:spcPts val="0"/>
              </a:spcAft>
            </a:pPr>
            <a:r>
              <a:rPr sz="1200" b="0" i="0">
                <a:solidFill>
                  <a:srgbClr val="1F2937"/>
                </a:solidFill>
                <a:latin typeface="Courier New"/>
              </a:rPr>
              <a:t>             "gt": "0|0", "zygosity":</a:t>
            </a:r>
          </a:p>
          <a:p>
            <a:pPr algn="l">
              <a:spcAft>
                <a:spcPts val="0"/>
              </a:spcAft>
            </a:pPr>
            <a:r>
              <a:rPr sz="1200" b="0" i="0">
                <a:solidFill>
                  <a:srgbClr val="1F2937"/>
                </a:solidFill>
                <a:latin typeface="Courier New"/>
              </a:rPr>
              <a:t>             "hom_ref", "dp": 8, "gq": 66}, …] }</a:t>
            </a:r>
          </a:p>
        </p:txBody>
      </p:sp>
      <p:graphicFrame>
        <p:nvGraphicFramePr>
          <p:cNvPr id="12" name="design table"/>
          <p:cNvGraphicFramePr>
            <a:graphicFrameLocks noGrp="1"/>
          </p:cNvGraphicFramePr>
          <p:nvPr/>
        </p:nvGraphicFramePr>
        <p:xfrm>
          <a:off x="5760720" y="1371600"/>
          <a:ext cx="5852160" cy="4023360"/>
        </p:xfrm>
        <a:graphic>
          <a:graphicData uri="http://schemas.openxmlformats.org/drawingml/2006/table">
            <a:tbl>
              <a:tblPr firstRow="0" bandRow="0">
                <a:tableStyleId>{5C22544A-7EE6-4342-B048-85BDC9FD1C3A}</a:tableStyleId>
              </a:tblPr>
              <a:tblGrid>
                <a:gridCol w="1737360"/>
                <a:gridCol w="2011680"/>
                <a:gridCol w="2103120"/>
              </a:tblGrid>
              <a:tr h="365760">
                <a:tc>
                  <a:txBody>
                    <a:bodyPr wrap="square"/>
                    <a:lstStyle/>
                    <a:p>
                      <a:r>
                        <a:rPr sz="1300" b="1" i="0">
                          <a:solidFill>
                            <a:srgbClr val="FFFFFF"/>
                          </a:solidFill>
                        </a:rPr>
                        <a:t>question</a:t>
                      </a:r>
                    </a:p>
                  </a:txBody>
                  <a:tcPr marL="73152" marR="73152" marT="36576" marB="36576" anchor="ctr">
                    <a:solidFill>
                      <a:srgbClr val="0E2841"/>
                    </a:solidFill>
                  </a:tcPr>
                </a:tc>
                <a:tc>
                  <a:txBody>
                    <a:bodyPr wrap="square"/>
                    <a:lstStyle/>
                    <a:p>
                      <a:r>
                        <a:rPr sz="1300" b="1" i="0">
                          <a:solidFill>
                            <a:srgbClr val="FFFFFF"/>
                          </a:solidFill>
                        </a:rPr>
                        <a:t>our choice</a:t>
                      </a:r>
                    </a:p>
                  </a:txBody>
                  <a:tcPr marL="73152" marR="73152" marT="36576" marB="36576" anchor="ctr">
                    <a:solidFill>
                      <a:srgbClr val="0E2841"/>
                    </a:solidFill>
                  </a:tcPr>
                </a:tc>
                <a:tc>
                  <a:txBody>
                    <a:bodyPr wrap="square"/>
                    <a:lstStyle/>
                    <a:p>
                      <a:r>
                        <a:rPr sz="1300" b="1" i="0">
                          <a:solidFill>
                            <a:srgbClr val="FFFFFF"/>
                          </a:solidFill>
                        </a:rPr>
                        <a:t>why</a:t>
                      </a:r>
                    </a:p>
                  </a:txBody>
                  <a:tcPr marL="73152" marR="73152" marT="36576" marB="36576" anchor="ctr">
                    <a:solidFill>
                      <a:srgbClr val="0E2841"/>
                    </a:solidFill>
                  </a:tcPr>
                </a:tc>
              </a:tr>
              <a:tr h="731520">
                <a:tc>
                  <a:txBody>
                    <a:bodyPr wrap="square"/>
                    <a:lstStyle/>
                    <a:p>
                      <a:r>
                        <a:rPr sz="1300" b="0" i="0">
                          <a:solidFill>
                            <a:srgbClr val="0E2841"/>
                          </a:solidFill>
                        </a:rPr>
                        <a:t>several ALT alleles?</a:t>
                      </a:r>
                    </a:p>
                  </a:txBody>
                  <a:tcPr marL="73152" marR="73152" marT="36576" marB="36576" anchor="ctr">
                    <a:solidFill>
                      <a:srgbClr val="FFFFFF"/>
                    </a:solidFill>
                  </a:tcPr>
                </a:tc>
                <a:tc>
                  <a:txBody>
                    <a:bodyPr wrap="square"/>
                    <a:lstStyle/>
                    <a:p>
                      <a:r>
                        <a:rPr sz="1300" b="0" i="0">
                          <a:solidFill>
                            <a:srgbClr val="156082"/>
                          </a:solidFill>
                          <a:latin typeface="Courier New"/>
                        </a:rPr>
                        <a:t>alt: ["A","T"]</a:t>
                      </a:r>
                      <a:r>
                        <a:rPr sz="1300" b="0" i="0">
                          <a:solidFill>
                            <a:srgbClr val="0E2841"/>
                          </a:solidFill>
                        </a:rPr>
                        <a:t> array</a:t>
                      </a:r>
                    </a:p>
                  </a:txBody>
                  <a:tcPr marL="73152" marR="73152" marT="36576" marB="36576" anchor="ctr">
                    <a:solidFill>
                      <a:srgbClr val="FFFFFF"/>
                    </a:solidFill>
                  </a:tcPr>
                </a:tc>
                <a:tc>
                  <a:txBody>
                    <a:bodyPr wrap="square"/>
                    <a:lstStyle/>
                    <a:p>
                      <a:r>
                        <a:rPr sz="1300" b="0" i="0">
                          <a:solidFill>
                            <a:srgbClr val="0E2841"/>
                          </a:solidFill>
                        </a:rPr>
                        <a:t>one document per VCF line</a:t>
                      </a:r>
                    </a:p>
                  </a:txBody>
                  <a:tcPr marL="73152" marR="73152" marT="36576" marB="36576" anchor="ctr">
                    <a:solidFill>
                      <a:srgbClr val="FFFFFF"/>
                    </a:solidFill>
                  </a:tcPr>
                </a:tc>
              </a:tr>
              <a:tr h="731520">
                <a:tc>
                  <a:txBody>
                    <a:bodyPr wrap="square"/>
                    <a:lstStyle/>
                    <a:p>
                      <a:r>
                        <a:rPr sz="1300" b="0" i="0">
                          <a:solidFill>
                            <a:srgbClr val="0E2841"/>
                          </a:solidFill>
                        </a:rPr>
                        <a:t>INFO</a:t>
                      </a:r>
                    </a:p>
                  </a:txBody>
                  <a:tcPr marL="73152" marR="73152" marT="36576" marB="36576" anchor="ctr">
                    <a:solidFill>
                      <a:srgbClr val="F2F5F9"/>
                    </a:solidFill>
                  </a:tcPr>
                </a:tc>
                <a:tc>
                  <a:txBody>
                    <a:bodyPr wrap="square"/>
                    <a:lstStyle/>
                    <a:p>
                      <a:r>
                        <a:rPr sz="1300" b="0" i="0">
                          <a:solidFill>
                            <a:srgbClr val="0E2841"/>
                          </a:solidFill>
                        </a:rPr>
                        <a:t>nested </a:t>
                      </a:r>
                      <a:r>
                        <a:rPr sz="1300" b="0" i="0">
                          <a:solidFill>
                            <a:srgbClr val="156082"/>
                          </a:solidFill>
                          <a:latin typeface="Courier New"/>
                        </a:rPr>
                        <a:t>info: {…}</a:t>
                      </a:r>
                    </a:p>
                  </a:txBody>
                  <a:tcPr marL="73152" marR="73152" marT="36576" marB="36576" anchor="ctr">
                    <a:solidFill>
                      <a:srgbClr val="F2F5F9"/>
                    </a:solidFill>
                  </a:tcPr>
                </a:tc>
                <a:tc>
                  <a:txBody>
                    <a:bodyPr wrap="square"/>
                    <a:lstStyle/>
                    <a:p>
                      <a:r>
                        <a:rPr sz="1300" b="0" i="0">
                          <a:solidFill>
                            <a:srgbClr val="0E2841"/>
                          </a:solidFill>
                        </a:rPr>
                        <a:t>keeps types numeric, keeps site data together</a:t>
                      </a:r>
                    </a:p>
                  </a:txBody>
                  <a:tcPr marL="73152" marR="73152" marT="36576" marB="36576" anchor="ctr">
                    <a:solidFill>
                      <a:srgbClr val="F2F5F9"/>
                    </a:solidFill>
                  </a:tcPr>
                </a:tc>
              </a:tr>
              <a:tr h="731520">
                <a:tc>
                  <a:txBody>
                    <a:bodyPr wrap="square"/>
                    <a:lstStyle/>
                    <a:p>
                      <a:r>
                        <a:rPr sz="1300" b="0" i="0">
                          <a:solidFill>
                            <a:srgbClr val="0E2841"/>
                          </a:solidFill>
                        </a:rPr>
                        <a:t>genotypes</a:t>
                      </a:r>
                    </a:p>
                  </a:txBody>
                  <a:tcPr marL="73152" marR="73152" marT="36576" marB="36576" anchor="ctr">
                    <a:solidFill>
                      <a:srgbClr val="FFFFFF"/>
                    </a:solidFill>
                  </a:tcPr>
                </a:tc>
                <a:tc>
                  <a:txBody>
                    <a:bodyPr wrap="square"/>
                    <a:lstStyle/>
                    <a:p>
                      <a:r>
                        <a:rPr sz="1300" b="0" i="0">
                          <a:solidFill>
                            <a:srgbClr val="0E2841"/>
                          </a:solidFill>
                        </a:rPr>
                        <a:t>array </a:t>
                      </a:r>
                      <a:r>
                        <a:rPr sz="1300" b="0" i="0">
                          <a:solidFill>
                            <a:srgbClr val="156082"/>
                          </a:solidFill>
                          <a:latin typeface="Courier New"/>
                        </a:rPr>
                        <a:t>calls: […]</a:t>
                      </a:r>
                    </a:p>
                  </a:txBody>
                  <a:tcPr marL="73152" marR="73152" marT="36576" marB="36576" anchor="ctr">
                    <a:solidFill>
                      <a:srgbClr val="FFFFFF"/>
                    </a:solidFill>
                  </a:tcPr>
                </a:tc>
                <a:tc>
                  <a:txBody>
                    <a:bodyPr wrap="square"/>
                    <a:lstStyle/>
                    <a:p>
                      <a:r>
                        <a:rPr sz="1300" b="0" i="0">
                          <a:solidFill>
                            <a:srgbClr val="0E2841"/>
                          </a:solidFill>
                        </a:rPr>
                        <a:t>few samples, read together with the variant</a:t>
                      </a:r>
                    </a:p>
                  </a:txBody>
                  <a:tcPr marL="73152" marR="73152" marT="36576" marB="36576" anchor="ctr">
                    <a:solidFill>
                      <a:srgbClr val="FFFFFF"/>
                    </a:solidFill>
                  </a:tcPr>
                </a:tc>
              </a:tr>
              <a:tr h="731520">
                <a:tc>
                  <a:txBody>
                    <a:bodyPr wrap="square"/>
                    <a:lstStyle/>
                    <a:p>
                      <a:r>
                        <a:rPr sz="1300" b="0" i="0">
                          <a:solidFill>
                            <a:srgbClr val="0E2841"/>
                          </a:solidFill>
                        </a:rPr>
                        <a:t>missing </a:t>
                      </a:r>
                      <a:r>
                        <a:rPr sz="1300" b="0" i="0">
                          <a:solidFill>
                            <a:srgbClr val="156082"/>
                          </a:solidFill>
                          <a:latin typeface="Courier New"/>
                        </a:rPr>
                        <a:t>.</a:t>
                      </a:r>
                    </a:p>
                  </a:txBody>
                  <a:tcPr marL="73152" marR="73152" marT="36576" marB="36576" anchor="ctr">
                    <a:solidFill>
                      <a:srgbClr val="F2F5F9"/>
                    </a:solidFill>
                  </a:tcPr>
                </a:tc>
                <a:tc>
                  <a:txBody>
                    <a:bodyPr wrap="square"/>
                    <a:lstStyle/>
                    <a:p>
                      <a:r>
                        <a:rPr sz="1300" b="0" i="0">
                          <a:solidFill>
                            <a:srgbClr val="156082"/>
                          </a:solidFill>
                          <a:latin typeface="Courier New"/>
                        </a:rPr>
                        <a:t>null</a:t>
                      </a:r>
                    </a:p>
                  </a:txBody>
                  <a:tcPr marL="73152" marR="73152" marT="36576" marB="36576" anchor="ctr">
                    <a:solidFill>
                      <a:srgbClr val="F2F5F9"/>
                    </a:solidFill>
                  </a:tcPr>
                </a:tc>
                <a:tc>
                  <a:txBody>
                    <a:bodyPr wrap="square"/>
                    <a:lstStyle/>
                    <a:p>
                      <a:r>
                        <a:rPr sz="1300" b="0" i="0">
                          <a:solidFill>
                            <a:srgbClr val="0E2841"/>
                          </a:solidFill>
                        </a:rPr>
                        <a:t>missing ≠ the text “.”</a:t>
                      </a:r>
                    </a:p>
                  </a:txBody>
                  <a:tcPr marL="73152" marR="73152" marT="36576" marB="36576" anchor="ctr">
                    <a:solidFill>
                      <a:srgbClr val="F2F5F9"/>
                    </a:solidFill>
                  </a:tcPr>
                </a:tc>
              </a:tr>
              <a:tr h="731520">
                <a:tc>
                  <a:txBody>
                    <a:bodyPr wrap="square"/>
                    <a:lstStyle/>
                    <a:p>
                      <a:r>
                        <a:rPr sz="1300" b="0" i="0">
                          <a:solidFill>
                            <a:srgbClr val="0E2841"/>
                          </a:solidFill>
                        </a:rPr>
                        <a:t>derived facts</a:t>
                      </a:r>
                    </a:p>
                  </a:txBody>
                  <a:tcPr marL="73152" marR="73152" marT="36576" marB="36576" anchor="ctr">
                    <a:solidFill>
                      <a:srgbClr val="FFFFFF"/>
                    </a:solidFill>
                  </a:tcPr>
                </a:tc>
                <a:tc>
                  <a:txBody>
                    <a:bodyPr wrap="square"/>
                    <a:lstStyle/>
                    <a:p>
                      <a:r>
                        <a:rPr sz="1300" b="0" i="0">
                          <a:solidFill>
                            <a:srgbClr val="156082"/>
                          </a:solidFill>
                          <a:latin typeface="Courier New"/>
                        </a:rPr>
                        <a:t>type</a:t>
                      </a:r>
                      <a:r>
                        <a:rPr sz="1300" b="0" i="0">
                          <a:solidFill>
                            <a:srgbClr val="0E2841"/>
                          </a:solidFill>
                        </a:rPr>
                        <a:t>, </a:t>
                      </a:r>
                      <a:r>
                        <a:rPr sz="1300" b="0" i="0">
                          <a:solidFill>
                            <a:srgbClr val="156082"/>
                          </a:solidFill>
                          <a:latin typeface="Courier New"/>
                        </a:rPr>
                        <a:t>zygosity</a:t>
                      </a:r>
                      <a:r>
                        <a:rPr sz="1300" b="0" i="0">
                          <a:solidFill>
                            <a:srgbClr val="0E2841"/>
                          </a:solidFill>
                        </a:rPr>
                        <a:t> at load time</a:t>
                      </a:r>
                    </a:p>
                  </a:txBody>
                  <a:tcPr marL="73152" marR="73152" marT="36576" marB="36576" anchor="ctr">
                    <a:solidFill>
                      <a:srgbClr val="FFFFFF"/>
                    </a:solidFill>
                  </a:tcPr>
                </a:tc>
                <a:tc>
                  <a:txBody>
                    <a:bodyPr wrap="square"/>
                    <a:lstStyle/>
                    <a:p>
                      <a:r>
                        <a:rPr sz="1300" b="0" i="0">
                          <a:solidFill>
                            <a:srgbClr val="0E2841"/>
                          </a:solidFill>
                        </a:rPr>
                        <a:t>cheaper than recomputing strings in every query</a:t>
                      </a:r>
                    </a:p>
                  </a:txBody>
                  <a:tcPr marL="73152" marR="73152" marT="36576" marB="36576"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Create: insert, _id and idempotent loads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CREATE</a:t>
            </a:r>
          </a:p>
        </p:txBody>
      </p:sp>
      <p:sp>
        <p:nvSpPr>
          <p:cNvPr id="6" name="create code bg"/>
          <p:cNvSpPr/>
          <p:nvPr/>
        </p:nvSpPr>
        <p:spPr>
          <a:xfrm>
            <a:off x="548640" y="1371600"/>
            <a:ext cx="5760720" cy="2148840"/>
          </a:xfrm>
          <a:prstGeom prst="roundRect">
            <a:avLst>
              <a:gd name="adj" fmla="val 2127"/>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reate code"/>
          <p:cNvSpPr txBox="1"/>
          <p:nvPr/>
        </p:nvSpPr>
        <p:spPr>
          <a:xfrm>
            <a:off x="640080" y="1435608"/>
            <a:ext cx="5577840" cy="202082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variants.insert_many(docs, ordered=False)   # batch: fast</a:t>
            </a:r>
          </a:p>
          <a:p>
            <a:pPr algn="l">
              <a:spcAft>
                <a:spcPts val="0"/>
              </a:spcAft>
            </a:pPr>
            <a:r>
              <a:rPr sz="1200" b="0" i="0">
                <a:solidFill>
                  <a:srgbClr val="1F2937"/>
                </a:solidFill>
                <a:latin typeface="Courier New"/>
              </a:rPr>
              <a:t>variants.create_index([("chrom", 1), ("pos", 1)])</a:t>
            </a:r>
          </a:p>
          <a:p>
            <a:pPr algn="l">
              <a:spcAft>
                <a:spcPts val="0"/>
              </a:spcAft>
            </a:pPr>
          </a:p>
          <a:p>
            <a:pPr algn="l">
              <a:spcAft>
                <a:spcPts val="0"/>
              </a:spcAft>
            </a:pPr>
            <a:r>
              <a:rPr sz="1200" b="0" i="0">
                <a:solidFill>
                  <a:srgbClr val="1F2937"/>
                </a:solidFill>
                <a:latin typeface="Courier New"/>
              </a:rPr>
              <a:t>demo.insert_one({"_id": "my-id"})</a:t>
            </a:r>
          </a:p>
          <a:p>
            <a:pPr algn="l">
              <a:spcAft>
                <a:spcPts val="0"/>
              </a:spcAft>
            </a:pPr>
            <a:r>
              <a:rPr sz="1200" b="0" i="0">
                <a:solidFill>
                  <a:srgbClr val="1F2937"/>
                </a:solidFill>
                <a:latin typeface="Courier New"/>
              </a:rPr>
              <a:t>demo.insert_one({"_id": "my-id"})</a:t>
            </a:r>
          </a:p>
          <a:p>
            <a:pPr algn="l">
              <a:spcAft>
                <a:spcPts val="0"/>
              </a:spcAft>
            </a:pPr>
            <a:r>
              <a:rPr sz="1200" b="0" i="0">
                <a:solidFill>
                  <a:srgbClr val="1F2937"/>
                </a:solidFill>
                <a:latin typeface="Courier New"/>
              </a:rPr>
              <a:t># DuplicateKeyError: E11000 (code 11000)</a:t>
            </a:r>
          </a:p>
        </p:txBody>
      </p:sp>
      <p:sp>
        <p:nvSpPr>
          <p:cNvPr id="8" name="upsert code bg"/>
          <p:cNvSpPr/>
          <p:nvPr/>
        </p:nvSpPr>
        <p:spPr>
          <a:xfrm>
            <a:off x="548640" y="3703320"/>
            <a:ext cx="5760720" cy="2560320"/>
          </a:xfrm>
          <a:prstGeom prst="roundRect">
            <a:avLst>
              <a:gd name="adj" fmla="val 178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upsert code"/>
          <p:cNvSpPr txBox="1"/>
          <p:nvPr/>
        </p:nvSpPr>
        <p:spPr>
          <a:xfrm>
            <a:off x="640080" y="3767328"/>
            <a:ext cx="5577840" cy="2432303"/>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def natural_key(d):</a:t>
            </a:r>
          </a:p>
          <a:p>
            <a:pPr algn="l">
              <a:spcAft>
                <a:spcPts val="0"/>
              </a:spcAft>
            </a:pPr>
            <a:r>
              <a:rPr sz="1200" b="0" i="0">
                <a:solidFill>
                  <a:srgbClr val="1F2937"/>
                </a:solidFill>
                <a:latin typeface="Courier New"/>
              </a:rPr>
              <a:t>    c, p, r = d["chrom"], d["pos"], d["ref"]</a:t>
            </a:r>
          </a:p>
          <a:p>
            <a:pPr algn="l">
              <a:spcAft>
                <a:spcPts val="0"/>
              </a:spcAft>
            </a:pPr>
            <a:r>
              <a:rPr sz="1200" b="0" i="0">
                <a:solidFill>
                  <a:srgbClr val="1F2937"/>
                </a:solidFill>
                <a:latin typeface="Courier New"/>
              </a:rPr>
              <a:t>    return f"{c}:{p}:{r}&gt;{','.join(d['alt'])}"</a:t>
            </a:r>
          </a:p>
          <a:p>
            <a:pPr algn="l">
              <a:spcAft>
                <a:spcPts val="0"/>
              </a:spcAft>
            </a:pPr>
          </a:p>
          <a:p>
            <a:pPr algn="l">
              <a:spcAft>
                <a:spcPts val="0"/>
              </a:spcAft>
            </a:pPr>
            <a:r>
              <a:rPr sz="1200" b="0" i="0">
                <a:solidFill>
                  <a:srgbClr val="1F2937"/>
                </a:solidFill>
                <a:latin typeface="Courier New"/>
              </a:rPr>
              <a:t># 'update, or insert if missing'</a:t>
            </a:r>
          </a:p>
          <a:p>
            <a:pPr algn="l">
              <a:spcAft>
                <a:spcPts val="0"/>
              </a:spcAft>
            </a:pPr>
            <a:r>
              <a:rPr sz="1200" b="0" i="0">
                <a:solidFill>
                  <a:srgbClr val="1F2937"/>
                </a:solidFill>
                <a:latin typeface="Courier New"/>
              </a:rPr>
              <a:t>ops = [UpdateOne({"_id": natural_key(d)},</a:t>
            </a:r>
          </a:p>
          <a:p>
            <a:pPr algn="l">
              <a:spcAft>
                <a:spcPts val="0"/>
              </a:spcAft>
            </a:pPr>
            <a:r>
              <a:rPr sz="1200" b="0" i="0">
                <a:solidFill>
                  <a:srgbClr val="1F2937"/>
                </a:solidFill>
                <a:latin typeface="Courier New"/>
              </a:rPr>
              <a:t>                 {"$set": d}, upsert=True) for d in docs]</a:t>
            </a:r>
          </a:p>
          <a:p>
            <a:pPr algn="l">
              <a:spcAft>
                <a:spcPts val="0"/>
              </a:spcAft>
            </a:pPr>
            <a:r>
              <a:rPr sz="1200" b="0" i="0">
                <a:solidFill>
                  <a:srgbClr val="1F2937"/>
                </a:solidFill>
                <a:latin typeface="Courier New"/>
              </a:rPr>
              <a:t>demo.bulk_write(ops)</a:t>
            </a:r>
          </a:p>
        </p:txBody>
      </p:sp>
      <p:graphicFrame>
        <p:nvGraphicFramePr>
          <p:cNvPr id="10" name="dup table"/>
          <p:cNvGraphicFramePr>
            <a:graphicFrameLocks noGrp="1"/>
          </p:cNvGraphicFramePr>
          <p:nvPr/>
        </p:nvGraphicFramePr>
        <p:xfrm>
          <a:off x="6583680" y="1371600"/>
          <a:ext cx="5029200" cy="1432560"/>
        </p:xfrm>
        <a:graphic>
          <a:graphicData uri="http://schemas.openxmlformats.org/drawingml/2006/table">
            <a:tbl>
              <a:tblPr firstRow="0" bandRow="0">
                <a:tableStyleId>{5C22544A-7EE6-4342-B048-85BDC9FD1C3A}</a:tableStyleId>
              </a:tblPr>
              <a:tblGrid>
                <a:gridCol w="3291840"/>
                <a:gridCol w="1737360"/>
              </a:tblGrid>
              <a:tr h="411480">
                <a:tc>
                  <a:txBody>
                    <a:bodyPr wrap="square"/>
                    <a:lstStyle/>
                    <a:p>
                      <a:r>
                        <a:rPr sz="1400" b="1" i="0">
                          <a:solidFill>
                            <a:srgbClr val="FFFFFF"/>
                          </a:solidFill>
                        </a:rPr>
                        <a:t>load the same 5 variants twice</a:t>
                      </a:r>
                    </a:p>
                  </a:txBody>
                  <a:tcPr marL="73152" marR="73152" marT="36576" marB="36576" anchor="ctr">
                    <a:solidFill>
                      <a:srgbClr val="2E8B3E"/>
                    </a:solidFill>
                  </a:tcPr>
                </a:tc>
                <a:tc>
                  <a:txBody>
                    <a:bodyPr wrap="square"/>
                    <a:lstStyle/>
                    <a:p>
                      <a:pPr algn="r"/>
                      <a:r>
                        <a:rPr sz="1400" b="1" i="0">
                          <a:solidFill>
                            <a:srgbClr val="FFFFFF"/>
                          </a:solidFill>
                        </a:rPr>
                        <a:t>documents</a:t>
                      </a:r>
                    </a:p>
                  </a:txBody>
                  <a:tcPr marL="73152" marR="73152" marT="36576" marB="36576" anchor="ctr">
                    <a:solidFill>
                      <a:srgbClr val="2E8B3E"/>
                    </a:solidFill>
                  </a:tcPr>
                </a:tc>
              </a:tr>
              <a:tr h="518160">
                <a:tc>
                  <a:txBody>
                    <a:bodyPr wrap="square"/>
                    <a:lstStyle/>
                    <a:p>
                      <a:r>
                        <a:rPr sz="1400" b="0" i="0">
                          <a:solidFill>
                            <a:srgbClr val="0E2841"/>
                          </a:solidFill>
                        </a:rPr>
                        <a:t>generated </a:t>
                      </a:r>
                      <a:r>
                        <a:rPr sz="1400" b="0" i="0">
                          <a:solidFill>
                            <a:srgbClr val="156082"/>
                          </a:solidFill>
                          <a:latin typeface="Courier New"/>
                        </a:rPr>
                        <a:t>ObjectId</a:t>
                      </a:r>
                      <a:r>
                        <a:rPr sz="1400" b="0" i="0">
                          <a:solidFill>
                            <a:srgbClr val="0E2841"/>
                          </a:solidFill>
                        </a:rPr>
                        <a:t> </a:t>
                      </a:r>
                      <a:r>
                        <a:rPr sz="1400" b="0" i="0">
                          <a:solidFill>
                            <a:srgbClr val="156082"/>
                          </a:solidFill>
                          <a:latin typeface="Courier New"/>
                        </a:rPr>
                        <a:t>_id</a:t>
                      </a:r>
                    </a:p>
                  </a:txBody>
                  <a:tcPr marL="73152" marR="73152" marT="36576" marB="36576" anchor="ctr">
                    <a:solidFill>
                      <a:srgbClr val="FFFFFF"/>
                    </a:solidFill>
                  </a:tcPr>
                </a:tc>
                <a:tc>
                  <a:txBody>
                    <a:bodyPr wrap="square"/>
                    <a:lstStyle/>
                    <a:p>
                      <a:pPr algn="r"/>
                      <a:r>
                        <a:rPr sz="1400" b="1" i="0">
                          <a:solidFill>
                            <a:srgbClr val="0E2841"/>
                          </a:solidFill>
                        </a:rPr>
                        <a:t>10</a:t>
                      </a:r>
                      <a:r>
                        <a:rPr sz="1400" b="0" i="0">
                          <a:solidFill>
                            <a:srgbClr val="0E2841"/>
                          </a:solidFill>
                        </a:rPr>
                        <a:t>  (duplicates!)</a:t>
                      </a:r>
                    </a:p>
                  </a:txBody>
                  <a:tcPr marL="73152" marR="73152" marT="36576" marB="36576" anchor="ctr">
                    <a:solidFill>
                      <a:srgbClr val="FFFFFF"/>
                    </a:solidFill>
                  </a:tcPr>
                </a:tc>
              </a:tr>
              <a:tr h="502920">
                <a:tc>
                  <a:txBody>
                    <a:bodyPr wrap="square"/>
                    <a:lstStyle/>
                    <a:p>
                      <a:r>
                        <a:rPr sz="1400" b="0" i="0">
                          <a:solidFill>
                            <a:srgbClr val="0E2841"/>
                          </a:solidFill>
                        </a:rPr>
                        <a:t>natural key + </a:t>
                      </a:r>
                      <a:r>
                        <a:rPr sz="1400" b="0" i="0">
                          <a:solidFill>
                            <a:srgbClr val="156082"/>
                          </a:solidFill>
                          <a:latin typeface="Courier New"/>
                        </a:rPr>
                        <a:t>upsert</a:t>
                      </a:r>
                    </a:p>
                  </a:txBody>
                  <a:tcPr marL="73152" marR="73152" marT="36576" marB="36576" anchor="ctr">
                    <a:solidFill>
                      <a:srgbClr val="F2F5F9"/>
                    </a:solidFill>
                  </a:tcPr>
                </a:tc>
                <a:tc>
                  <a:txBody>
                    <a:bodyPr wrap="square"/>
                    <a:lstStyle/>
                    <a:p>
                      <a:pPr algn="r"/>
                      <a:r>
                        <a:rPr sz="1400" b="1" i="0">
                          <a:solidFill>
                            <a:srgbClr val="0E2841"/>
                          </a:solidFill>
                        </a:rPr>
                        <a:t>5</a:t>
                      </a:r>
                      <a:r>
                        <a:rPr sz="1400" b="0" i="0">
                          <a:solidFill>
                            <a:srgbClr val="0E2841"/>
                          </a:solidFill>
                        </a:rPr>
                        <a:t>  (idempotent)</a:t>
                      </a:r>
                    </a:p>
                  </a:txBody>
                  <a:tcPr marL="73152" marR="73152" marT="36576" marB="36576" anchor="ctr">
                    <a:solidFill>
                      <a:srgbClr val="F2F5F9"/>
                    </a:solidFill>
                  </a:tcPr>
                </a:tc>
              </a:tr>
            </a:tbl>
          </a:graphicData>
        </a:graphic>
      </p:graphicFrame>
      <p:sp>
        <p:nvSpPr>
          <p:cNvPr id="11" name="id card bg"/>
          <p:cNvSpPr/>
          <p:nvPr/>
        </p:nvSpPr>
        <p:spPr>
          <a:xfrm>
            <a:off x="6583680" y="3063240"/>
            <a:ext cx="5029200" cy="3200400"/>
          </a:xfrm>
          <a:prstGeom prst="roundRect">
            <a:avLst>
              <a:gd name="adj" fmla="val 1714"/>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d card title"/>
          <p:cNvSpPr txBox="1"/>
          <p:nvPr/>
        </p:nvSpPr>
        <p:spPr>
          <a:xfrm>
            <a:off x="6693408" y="3136392"/>
            <a:ext cx="4809744" cy="411480"/>
          </a:xfrm>
          <a:prstGeom prst="rect">
            <a:avLst/>
          </a:prstGeom>
          <a:noFill/>
        </p:spPr>
        <p:txBody>
          <a:bodyPr wrap="square" lIns="45720" rIns="45720" tIns="27432" bIns="27432" anchor="t">
            <a:spAutoFit/>
          </a:bodyPr>
          <a:lstStyle/>
          <a:p>
            <a:pPr algn="l">
              <a:spcAft>
                <a:spcPts val="600"/>
              </a:spcAft>
            </a:pPr>
            <a:r>
              <a:rPr sz="1700" b="1" i="0">
                <a:solidFill>
                  <a:srgbClr val="2E8B3E"/>
                </a:solidFill>
              </a:rPr>
              <a:t>ObjectId or natural key?</a:t>
            </a:r>
          </a:p>
        </p:txBody>
      </p:sp>
      <p:sp>
        <p:nvSpPr>
          <p:cNvPr id="13" name="id card body"/>
          <p:cNvSpPr txBox="1"/>
          <p:nvPr/>
        </p:nvSpPr>
        <p:spPr>
          <a:xfrm>
            <a:off x="6693408" y="3520440"/>
            <a:ext cx="4809744" cy="2651760"/>
          </a:xfrm>
          <a:prstGeom prst="rect">
            <a:avLst/>
          </a:prstGeom>
          <a:noFill/>
        </p:spPr>
        <p:txBody>
          <a:bodyPr wrap="square" lIns="45720" rIns="45720" tIns="27432" bIns="27432" anchor="t">
            <a:spAutoFit/>
          </a:bodyPr>
          <a:lstStyle/>
          <a:p>
            <a:pPr algn="l" marL="256032" indent="-256032">
              <a:spcAft>
                <a:spcPts val="700"/>
              </a:spcAft>
              <a:buFont typeface="Arial"/>
              <a:buChar char="•"/>
            </a:pPr>
            <a:r>
              <a:rPr sz="1400" b="1" i="0">
                <a:solidFill>
                  <a:srgbClr val="0E2841"/>
                </a:solidFill>
              </a:rPr>
              <a:t>ObjectId</a:t>
            </a:r>
            <a:r>
              <a:rPr sz="1400" b="0" i="0">
                <a:solidFill>
                  <a:srgbClr val="0E2841"/>
                </a:solidFill>
              </a:rPr>
              <a:t>: 12 bytes (timestamp + machine + counter); unique without asking the server</a:t>
            </a:r>
          </a:p>
          <a:p>
            <a:pPr algn="l" marL="256032" indent="-256032">
              <a:spcAft>
                <a:spcPts val="700"/>
              </a:spcAft>
              <a:buFont typeface="Arial"/>
              <a:buChar char="•"/>
            </a:pPr>
            <a:r>
              <a:rPr sz="1400" b="1" i="0">
                <a:solidFill>
                  <a:srgbClr val="0E2841"/>
                </a:solidFill>
              </a:rPr>
              <a:t>Natural key</a:t>
            </a:r>
            <a:r>
              <a:rPr sz="1400" b="0" i="0">
                <a:solidFill>
                  <a:srgbClr val="0E2841"/>
                </a:solidFill>
              </a:rPr>
              <a:t> (</a:t>
            </a:r>
            <a:r>
              <a:rPr sz="1400" b="0" i="0">
                <a:solidFill>
                  <a:srgbClr val="156082"/>
                </a:solidFill>
                <a:latin typeface="Courier New"/>
              </a:rPr>
              <a:t>1:5127815:G&gt;T</a:t>
            </a:r>
            <a:r>
              <a:rPr sz="1400" b="0" i="0">
                <a:solidFill>
                  <a:srgbClr val="0E2841"/>
                </a:solidFill>
              </a:rPr>
              <a:t>): meaningful, and makes re-runs </a:t>
            </a:r>
            <a:r>
              <a:rPr sz="1400" b="1" i="0">
                <a:solidFill>
                  <a:srgbClr val="0E2841"/>
                </a:solidFill>
              </a:rPr>
              <a:t>idempotent</a:t>
            </a:r>
          </a:p>
          <a:p>
            <a:pPr algn="l" marL="256032" indent="-256032">
              <a:spcAft>
                <a:spcPts val="700"/>
              </a:spcAft>
              <a:buFont typeface="Arial"/>
              <a:buChar char="•"/>
            </a:pPr>
            <a:r>
              <a:rPr sz="1400" b="0" i="0">
                <a:solidFill>
                  <a:srgbClr val="0E2841"/>
                </a:solidFill>
              </a:rPr>
              <a:t>A duplicate </a:t>
            </a:r>
            <a:r>
              <a:rPr sz="1400" b="0" i="0">
                <a:solidFill>
                  <a:srgbClr val="156082"/>
                </a:solidFill>
                <a:latin typeface="Courier New"/>
              </a:rPr>
              <a:t>_id</a:t>
            </a:r>
            <a:r>
              <a:rPr sz="1400" b="0" i="0">
                <a:solidFill>
                  <a:srgbClr val="0E2841"/>
                </a:solidFill>
              </a:rPr>
              <a:t> is always refused (</a:t>
            </a:r>
            <a:r>
              <a:rPr sz="1400" b="0" i="0">
                <a:solidFill>
                  <a:srgbClr val="156082"/>
                </a:solidFill>
                <a:latin typeface="Courier New"/>
              </a:rPr>
              <a:t>DuplicateKeyError</a:t>
            </a:r>
            <a:r>
              <a:rPr sz="1400" b="0" i="0">
                <a:solidFill>
                  <a:srgbClr val="0E2841"/>
                </a:solidFill>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Indexes: from COLLSCAN to IXSCAN</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CREATE</a:t>
            </a:r>
          </a:p>
        </p:txBody>
      </p:sp>
      <p:graphicFrame>
        <p:nvGraphicFramePr>
          <p:cNvPr id="6" name="explain table"/>
          <p:cNvGraphicFramePr>
            <a:graphicFrameLocks noGrp="1"/>
          </p:cNvGraphicFramePr>
          <p:nvPr/>
        </p:nvGraphicFramePr>
        <p:xfrm>
          <a:off x="548640" y="1371600"/>
          <a:ext cx="11064240" cy="1600200"/>
        </p:xfrm>
        <a:graphic>
          <a:graphicData uri="http://schemas.openxmlformats.org/drawingml/2006/table">
            <a:tbl>
              <a:tblPr firstRow="0" bandRow="0">
                <a:tableStyleId>{5C22544A-7EE6-4342-B048-85BDC9FD1C3A}</a:tableStyleId>
              </a:tblPr>
              <a:tblGrid>
                <a:gridCol w="3108960"/>
                <a:gridCol w="2468880"/>
                <a:gridCol w="2011680"/>
                <a:gridCol w="1463040"/>
                <a:gridCol w="2011680"/>
              </a:tblGrid>
              <a:tr h="411480">
                <a:tc>
                  <a:txBody>
                    <a:bodyPr wrap="square"/>
                    <a:lstStyle/>
                    <a:p/>
                  </a:txBody>
                  <a:tcPr marL="73152" marR="73152" marT="36576" marB="36576" anchor="ctr">
                    <a:solidFill>
                      <a:srgbClr val="0E2841"/>
                    </a:solidFill>
                  </a:tcPr>
                </a:tc>
                <a:tc>
                  <a:txBody>
                    <a:bodyPr wrap="square"/>
                    <a:lstStyle/>
                    <a:p>
                      <a:r>
                        <a:rPr sz="1600" b="1" i="0">
                          <a:solidFill>
                            <a:srgbClr val="FFFFFF"/>
                          </a:solidFill>
                        </a:rPr>
                        <a:t>plan</a:t>
                      </a:r>
                    </a:p>
                  </a:txBody>
                  <a:tcPr marL="73152" marR="73152" marT="36576" marB="36576" anchor="ctr">
                    <a:solidFill>
                      <a:srgbClr val="0E2841"/>
                    </a:solidFill>
                  </a:tcPr>
                </a:tc>
                <a:tc>
                  <a:txBody>
                    <a:bodyPr wrap="square"/>
                    <a:lstStyle/>
                    <a:p>
                      <a:pPr algn="r"/>
                      <a:r>
                        <a:rPr sz="1600" b="1" i="0">
                          <a:solidFill>
                            <a:srgbClr val="FFFFFF"/>
                          </a:solidFill>
                        </a:rPr>
                        <a:t>docs examined</a:t>
                      </a:r>
                    </a:p>
                  </a:txBody>
                  <a:tcPr marL="73152" marR="73152" marT="36576" marB="36576" anchor="ctr">
                    <a:solidFill>
                      <a:srgbClr val="0E2841"/>
                    </a:solidFill>
                  </a:tcPr>
                </a:tc>
                <a:tc>
                  <a:txBody>
                    <a:bodyPr wrap="square"/>
                    <a:lstStyle/>
                    <a:p>
                      <a:pPr algn="r"/>
                      <a:r>
                        <a:rPr sz="1600" b="1" i="0">
                          <a:solidFill>
                            <a:srgbClr val="FFFFFF"/>
                          </a:solidFill>
                        </a:rPr>
                        <a:t>returned</a:t>
                      </a:r>
                    </a:p>
                  </a:txBody>
                  <a:tcPr marL="73152" marR="73152" marT="36576" marB="36576" anchor="ctr">
                    <a:solidFill>
                      <a:srgbClr val="0E2841"/>
                    </a:solidFill>
                  </a:tcPr>
                </a:tc>
                <a:tc>
                  <a:txBody>
                    <a:bodyPr wrap="square"/>
                    <a:lstStyle/>
                    <a:p>
                      <a:pPr algn="r"/>
                      <a:r>
                        <a:rPr sz="1600" b="1" i="0">
                          <a:solidFill>
                            <a:srgbClr val="FFFFFF"/>
                          </a:solidFill>
                        </a:rPr>
                        <a:t>server time</a:t>
                      </a:r>
                    </a:p>
                  </a:txBody>
                  <a:tcPr marL="73152" marR="73152" marT="36576" marB="36576" anchor="ctr">
                    <a:solidFill>
                      <a:srgbClr val="0E2841"/>
                    </a:solidFill>
                  </a:tcPr>
                </a:tc>
              </a:tr>
              <a:tr h="594360">
                <a:tc>
                  <a:txBody>
                    <a:bodyPr wrap="square"/>
                    <a:lstStyle/>
                    <a:p>
                      <a:r>
                        <a:rPr sz="1600" b="1" i="0">
                          <a:solidFill>
                            <a:srgbClr val="0E2841"/>
                          </a:solidFill>
                        </a:rPr>
                        <a:t>no index</a:t>
                      </a:r>
                    </a:p>
                  </a:txBody>
                  <a:tcPr marL="73152" marR="73152" marT="36576" marB="36576" anchor="ctr">
                    <a:solidFill>
                      <a:srgbClr val="FFFFFF"/>
                    </a:solidFill>
                  </a:tcPr>
                </a:tc>
                <a:tc>
                  <a:txBody>
                    <a:bodyPr wrap="square"/>
                    <a:lstStyle/>
                    <a:p>
                      <a:r>
                        <a:rPr sz="1600" b="0" i="0">
                          <a:solidFill>
                            <a:srgbClr val="156082"/>
                          </a:solidFill>
                          <a:latin typeface="Courier New"/>
                        </a:rPr>
                        <a:t>COLLSCAN</a:t>
                      </a:r>
                    </a:p>
                  </a:txBody>
                  <a:tcPr marL="73152" marR="73152" marT="36576" marB="36576" anchor="ctr">
                    <a:solidFill>
                      <a:srgbClr val="FFFFFF"/>
                    </a:solidFill>
                  </a:tcPr>
                </a:tc>
                <a:tc>
                  <a:txBody>
                    <a:bodyPr wrap="square"/>
                    <a:lstStyle/>
                    <a:p>
                      <a:pPr algn="r"/>
                      <a:r>
                        <a:rPr sz="1600" b="1" i="0">
                          <a:solidFill>
                            <a:srgbClr val="0E2841"/>
                          </a:solidFill>
                        </a:rPr>
                        <a:t>50,000</a:t>
                      </a:r>
                    </a:p>
                  </a:txBody>
                  <a:tcPr marL="73152" marR="73152" marT="36576" marB="36576" anchor="ctr">
                    <a:solidFill>
                      <a:srgbClr val="FFFFFF"/>
                    </a:solidFill>
                  </a:tcPr>
                </a:tc>
                <a:tc>
                  <a:txBody>
                    <a:bodyPr wrap="square"/>
                    <a:lstStyle/>
                    <a:p>
                      <a:pPr algn="r"/>
                      <a:r>
                        <a:rPr sz="1600" b="0" i="0">
                          <a:solidFill>
                            <a:srgbClr val="0E2841"/>
                          </a:solidFill>
                        </a:rPr>
                        <a:t>316</a:t>
                      </a:r>
                    </a:p>
                  </a:txBody>
                  <a:tcPr marL="73152" marR="73152" marT="36576" marB="36576" anchor="ctr">
                    <a:solidFill>
                      <a:srgbClr val="FFFFFF"/>
                    </a:solidFill>
                  </a:tcPr>
                </a:tc>
                <a:tc>
                  <a:txBody>
                    <a:bodyPr wrap="square"/>
                    <a:lstStyle/>
                    <a:p>
                      <a:pPr algn="r"/>
                      <a:r>
                        <a:rPr sz="1600" b="0" i="0">
                          <a:solidFill>
                            <a:srgbClr val="0E2841"/>
                          </a:solidFill>
                        </a:rPr>
                        <a:t>≈ 10 ms</a:t>
                      </a:r>
                    </a:p>
                  </a:txBody>
                  <a:tcPr marL="73152" marR="73152" marT="36576" marB="36576" anchor="ctr">
                    <a:solidFill>
                      <a:srgbClr val="FFFFFF"/>
                    </a:solidFill>
                  </a:tcPr>
                </a:tc>
              </a:tr>
              <a:tr h="594360">
                <a:tc>
                  <a:txBody>
                    <a:bodyPr wrap="square"/>
                    <a:lstStyle/>
                    <a:p>
                      <a:r>
                        <a:rPr sz="1600" b="1" i="0">
                          <a:solidFill>
                            <a:srgbClr val="0E2841"/>
                          </a:solidFill>
                        </a:rPr>
                        <a:t>index on (chrom, pos)</a:t>
                      </a:r>
                    </a:p>
                  </a:txBody>
                  <a:tcPr marL="73152" marR="73152" marT="36576" marB="36576" anchor="ctr">
                    <a:solidFill>
                      <a:srgbClr val="F2F5F9"/>
                    </a:solidFill>
                  </a:tcPr>
                </a:tc>
                <a:tc>
                  <a:txBody>
                    <a:bodyPr wrap="square"/>
                    <a:lstStyle/>
                    <a:p>
                      <a:r>
                        <a:rPr sz="1600" b="0" i="0">
                          <a:solidFill>
                            <a:srgbClr val="156082"/>
                          </a:solidFill>
                          <a:latin typeface="Courier New"/>
                        </a:rPr>
                        <a:t>FETCH &gt; IXSCAN</a:t>
                      </a:r>
                    </a:p>
                  </a:txBody>
                  <a:tcPr marL="73152" marR="73152" marT="36576" marB="36576" anchor="ctr">
                    <a:solidFill>
                      <a:srgbClr val="F2F5F9"/>
                    </a:solidFill>
                  </a:tcPr>
                </a:tc>
                <a:tc>
                  <a:txBody>
                    <a:bodyPr wrap="square"/>
                    <a:lstStyle/>
                    <a:p>
                      <a:pPr algn="r"/>
                      <a:r>
                        <a:rPr sz="1600" b="1" i="0">
                          <a:solidFill>
                            <a:srgbClr val="0E2841"/>
                          </a:solidFill>
                        </a:rPr>
                        <a:t>316</a:t>
                      </a:r>
                    </a:p>
                  </a:txBody>
                  <a:tcPr marL="73152" marR="73152" marT="36576" marB="36576" anchor="ctr">
                    <a:solidFill>
                      <a:srgbClr val="F2F5F9"/>
                    </a:solidFill>
                  </a:tcPr>
                </a:tc>
                <a:tc>
                  <a:txBody>
                    <a:bodyPr wrap="square"/>
                    <a:lstStyle/>
                    <a:p>
                      <a:pPr algn="r"/>
                      <a:r>
                        <a:rPr sz="1600" b="0" i="0">
                          <a:solidFill>
                            <a:srgbClr val="0E2841"/>
                          </a:solidFill>
                        </a:rPr>
                        <a:t>316</a:t>
                      </a:r>
                    </a:p>
                  </a:txBody>
                  <a:tcPr marL="73152" marR="73152" marT="36576" marB="36576" anchor="ctr">
                    <a:solidFill>
                      <a:srgbClr val="F2F5F9"/>
                    </a:solidFill>
                  </a:tcPr>
                </a:tc>
                <a:tc>
                  <a:txBody>
                    <a:bodyPr wrap="square"/>
                    <a:lstStyle/>
                    <a:p>
                      <a:pPr algn="r"/>
                      <a:r>
                        <a:rPr sz="1600" b="0" i="0">
                          <a:solidFill>
                            <a:srgbClr val="0E2841"/>
                          </a:solidFill>
                        </a:rPr>
                        <a:t>≈ 1 ms</a:t>
                      </a:r>
                    </a:p>
                  </a:txBody>
                  <a:tcPr marL="73152" marR="73152" marT="36576" marB="36576" anchor="ctr">
                    <a:solidFill>
                      <a:srgbClr val="F2F5F9"/>
                    </a:solidFill>
                  </a:tcPr>
                </a:tc>
              </a:tr>
            </a:tbl>
          </a:graphicData>
        </a:graphic>
      </p:graphicFrame>
      <p:sp>
        <p:nvSpPr>
          <p:cNvPr id="7" name="index code bg"/>
          <p:cNvSpPr/>
          <p:nvPr/>
        </p:nvSpPr>
        <p:spPr>
          <a:xfrm>
            <a:off x="548640" y="3429000"/>
            <a:ext cx="6035040" cy="2286000"/>
          </a:xfrm>
          <a:prstGeom prst="roundRect">
            <a:avLst>
              <a:gd name="adj" fmla="val 2000"/>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ndex code"/>
          <p:cNvSpPr txBox="1"/>
          <p:nvPr/>
        </p:nvSpPr>
        <p:spPr>
          <a:xfrm>
            <a:off x="640080" y="3493008"/>
            <a:ext cx="5852159" cy="215798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region = {"chrom": "17",</a:t>
            </a:r>
          </a:p>
          <a:p>
            <a:pPr algn="l">
              <a:spcAft>
                <a:spcPts val="0"/>
              </a:spcAft>
            </a:pPr>
            <a:r>
              <a:rPr sz="1200" b="0" i="0">
                <a:solidFill>
                  <a:srgbClr val="1F2937"/>
                </a:solidFill>
                <a:latin typeface="Courier New"/>
              </a:rPr>
              <a:t>          "pos": {"$gte": 10_000_000, "$lte": 30_000_000}}</a:t>
            </a:r>
          </a:p>
          <a:p>
            <a:pPr algn="l">
              <a:spcAft>
                <a:spcPts val="0"/>
              </a:spcAft>
            </a:pPr>
          </a:p>
          <a:p>
            <a:pPr algn="l">
              <a:spcAft>
                <a:spcPts val="0"/>
              </a:spcAft>
            </a:pPr>
            <a:r>
              <a:rPr sz="1200" b="0" i="0">
                <a:solidFill>
                  <a:srgbClr val="1F2937"/>
                </a:solidFill>
                <a:latin typeface="Courier New"/>
              </a:rPr>
              <a:t>db.command({"explain": {"find": "catalog", "filter": region},</a:t>
            </a:r>
          </a:p>
          <a:p>
            <a:pPr algn="l">
              <a:spcAft>
                <a:spcPts val="0"/>
              </a:spcAft>
            </a:pPr>
            <a:r>
              <a:rPr sz="1200" b="0" i="0">
                <a:solidFill>
                  <a:srgbClr val="1F2937"/>
                </a:solidFill>
                <a:latin typeface="Courier New"/>
              </a:rPr>
              <a:t>            "verbosity": "executionStats"})</a:t>
            </a:r>
          </a:p>
          <a:p>
            <a:pPr algn="l">
              <a:spcAft>
                <a:spcPts val="0"/>
              </a:spcAft>
            </a:pPr>
          </a:p>
          <a:p>
            <a:pPr algn="l">
              <a:spcAft>
                <a:spcPts val="0"/>
              </a:spcAft>
            </a:pPr>
            <a:r>
              <a:rPr sz="1200" b="0" i="0">
                <a:solidFill>
                  <a:srgbClr val="1F2937"/>
                </a:solidFill>
                <a:latin typeface="Courier New"/>
              </a:rPr>
              <a:t>catalog.create_index([("chrom", 1), ("pos", 1)])</a:t>
            </a:r>
          </a:p>
        </p:txBody>
      </p:sp>
      <p:sp>
        <p:nvSpPr>
          <p:cNvPr id="9" name="esr card bg"/>
          <p:cNvSpPr/>
          <p:nvPr/>
        </p:nvSpPr>
        <p:spPr>
          <a:xfrm>
            <a:off x="6766560" y="3429000"/>
            <a:ext cx="4846320" cy="2286000"/>
          </a:xfrm>
          <a:prstGeom prst="roundRect">
            <a:avLst>
              <a:gd name="adj" fmla="val 24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esr card title"/>
          <p:cNvSpPr txBox="1"/>
          <p:nvPr/>
        </p:nvSpPr>
        <p:spPr>
          <a:xfrm>
            <a:off x="6876288" y="3502152"/>
            <a:ext cx="4626864" cy="411480"/>
          </a:xfrm>
          <a:prstGeom prst="rect">
            <a:avLst/>
          </a:prstGeom>
          <a:noFill/>
        </p:spPr>
        <p:txBody>
          <a:bodyPr wrap="square" lIns="45720" rIns="45720" tIns="27432" bIns="27432" anchor="t">
            <a:spAutoFit/>
          </a:bodyPr>
          <a:lstStyle/>
          <a:p>
            <a:pPr algn="l">
              <a:spcAft>
                <a:spcPts val="600"/>
              </a:spcAft>
            </a:pPr>
            <a:r>
              <a:rPr sz="1700" b="1" i="0">
                <a:solidFill>
                  <a:srgbClr val="2E8B3E"/>
                </a:solidFill>
              </a:rPr>
              <a:t>Compound index: E · S · R</a:t>
            </a:r>
          </a:p>
        </p:txBody>
      </p:sp>
      <p:sp>
        <p:nvSpPr>
          <p:cNvPr id="11" name="esr card body"/>
          <p:cNvSpPr txBox="1"/>
          <p:nvPr/>
        </p:nvSpPr>
        <p:spPr>
          <a:xfrm>
            <a:off x="6876288" y="3886200"/>
            <a:ext cx="4626864" cy="1737360"/>
          </a:xfrm>
          <a:prstGeom prst="rect">
            <a:avLst/>
          </a:prstGeom>
          <a:noFill/>
        </p:spPr>
        <p:txBody>
          <a:bodyPr wrap="square" lIns="45720" rIns="45720" tIns="27432" bIns="27432" anchor="t">
            <a:spAutoFit/>
          </a:bodyPr>
          <a:lstStyle/>
          <a:p>
            <a:pPr algn="l" marL="256032" indent="-256032">
              <a:spcAft>
                <a:spcPts val="600"/>
              </a:spcAft>
              <a:buFont typeface="Arial"/>
              <a:buChar char="•"/>
            </a:pPr>
            <a:r>
              <a:rPr sz="1400" b="1" i="0">
                <a:solidFill>
                  <a:srgbClr val="0E2841"/>
                </a:solidFill>
              </a:rPr>
              <a:t>E</a:t>
            </a:r>
            <a:r>
              <a:rPr sz="1400" b="0" i="0">
                <a:solidFill>
                  <a:srgbClr val="0E2841"/>
                </a:solidFill>
              </a:rPr>
              <a:t>quality field first (</a:t>
            </a:r>
            <a:r>
              <a:rPr sz="1400" b="0" i="0">
                <a:solidFill>
                  <a:srgbClr val="156082"/>
                </a:solidFill>
                <a:latin typeface="Courier New"/>
              </a:rPr>
              <a:t>chrom</a:t>
            </a:r>
            <a:r>
              <a:rPr sz="1400" b="0" i="0">
                <a:solidFill>
                  <a:srgbClr val="0E2841"/>
                </a:solidFill>
              </a:rPr>
              <a:t>), </a:t>
            </a:r>
            <a:r>
              <a:rPr sz="1400" b="1" i="0">
                <a:solidFill>
                  <a:srgbClr val="0E2841"/>
                </a:solidFill>
              </a:rPr>
              <a:t>R</a:t>
            </a:r>
            <a:r>
              <a:rPr sz="1400" b="0" i="0">
                <a:solidFill>
                  <a:srgbClr val="0E2841"/>
                </a:solidFill>
              </a:rPr>
              <a:t>ange field last (</a:t>
            </a:r>
            <a:r>
              <a:rPr sz="1400" b="0" i="0">
                <a:solidFill>
                  <a:srgbClr val="156082"/>
                </a:solidFill>
                <a:latin typeface="Courier New"/>
              </a:rPr>
              <a:t>pos</a:t>
            </a:r>
            <a:r>
              <a:rPr sz="1400" b="0" i="0">
                <a:solidFill>
                  <a:srgbClr val="0E2841"/>
                </a:solidFill>
              </a:rPr>
              <a:t>)</a:t>
            </a:r>
          </a:p>
          <a:p>
            <a:pPr algn="l" marL="256032" indent="-256032">
              <a:spcAft>
                <a:spcPts val="600"/>
              </a:spcAft>
              <a:buFont typeface="Arial"/>
              <a:buChar char="•"/>
            </a:pPr>
            <a:r>
              <a:rPr sz="1400" b="0" i="0">
                <a:solidFill>
                  <a:srgbClr val="0E2841"/>
                </a:solidFill>
              </a:rPr>
              <a:t>Serves </a:t>
            </a:r>
            <a:r>
              <a:rPr sz="1400" b="0" i="0">
                <a:solidFill>
                  <a:srgbClr val="156082"/>
                </a:solidFill>
                <a:latin typeface="Courier New"/>
              </a:rPr>
              <a:t>chrom</a:t>
            </a:r>
            <a:r>
              <a:rPr sz="1400" b="0" i="0">
                <a:solidFill>
                  <a:srgbClr val="0E2841"/>
                </a:solidFill>
              </a:rPr>
              <a:t> alone, </a:t>
            </a:r>
            <a:r>
              <a:rPr sz="1400" b="1" i="0">
                <a:solidFill>
                  <a:srgbClr val="0E2841"/>
                </a:solidFill>
              </a:rPr>
              <a:t>not</a:t>
            </a:r>
            <a:r>
              <a:rPr sz="1400" b="0" i="0">
                <a:solidFill>
                  <a:srgbClr val="0E2841"/>
                </a:solidFill>
              </a:rPr>
              <a:t> </a:t>
            </a:r>
            <a:r>
              <a:rPr sz="1400" b="0" i="0">
                <a:solidFill>
                  <a:srgbClr val="156082"/>
                </a:solidFill>
                <a:latin typeface="Courier New"/>
              </a:rPr>
              <a:t>pos</a:t>
            </a:r>
            <a:r>
              <a:rPr sz="1400" b="0" i="0">
                <a:solidFill>
                  <a:srgbClr val="0E2841"/>
                </a:solidFill>
              </a:rPr>
              <a:t> alone</a:t>
            </a:r>
          </a:p>
          <a:p>
            <a:pPr algn="l" marL="256032" indent="-256032">
              <a:spcAft>
                <a:spcPts val="600"/>
              </a:spcAft>
              <a:buFont typeface="Arial"/>
              <a:buChar char="•"/>
            </a:pPr>
            <a:r>
              <a:rPr sz="1400" b="0" i="0">
                <a:solidFill>
                  <a:srgbClr val="0E2841"/>
                </a:solidFill>
              </a:rPr>
              <a:t>Indexes cost disk, RAM and write time: index </a:t>
            </a:r>
            <a:r>
              <a:rPr sz="1400" b="1" i="0">
                <a:solidFill>
                  <a:srgbClr val="0E2841"/>
                </a:solidFill>
              </a:rPr>
              <a:t>what you query</a:t>
            </a:r>
          </a:p>
        </p:txBody>
      </p:sp>
      <p:sp>
        <p:nvSpPr>
          <p:cNvPr id="12" name="index habit"/>
          <p:cNvSpPr txBox="1"/>
          <p:nvPr/>
        </p:nvSpPr>
        <p:spPr>
          <a:xfrm>
            <a:off x="548640" y="5852160"/>
            <a:ext cx="11064240" cy="457200"/>
          </a:xfrm>
          <a:prstGeom prst="rect">
            <a:avLst/>
          </a:prstGeom>
          <a:noFill/>
        </p:spPr>
        <p:txBody>
          <a:bodyPr wrap="square" lIns="45720" rIns="45720" tIns="27432" bIns="27432" anchor="t">
            <a:spAutoFit/>
          </a:bodyPr>
          <a:lstStyle/>
          <a:p>
            <a:pPr algn="l">
              <a:spcAft>
                <a:spcPts val="600"/>
              </a:spcAft>
            </a:pPr>
            <a:r>
              <a:rPr sz="1500" b="0" i="0">
                <a:solidFill>
                  <a:srgbClr val="595959"/>
                </a:solidFill>
              </a:rPr>
              <a:t>Habit: after every </a:t>
            </a:r>
            <a:r>
              <a:rPr sz="1500" b="0" i="0">
                <a:solidFill>
                  <a:srgbClr val="595959"/>
                </a:solidFill>
                <a:latin typeface="Courier New"/>
              </a:rPr>
              <a:t>create_index</a:t>
            </a:r>
            <a:r>
              <a:rPr sz="1500" b="0" i="0">
                <a:solidFill>
                  <a:srgbClr val="595959"/>
                </a:solidFill>
              </a:rPr>
              <a:t>, run </a:t>
            </a:r>
            <a:r>
              <a:rPr sz="1500" b="0" i="0">
                <a:solidFill>
                  <a:srgbClr val="595959"/>
                </a:solidFill>
                <a:latin typeface="Courier New"/>
              </a:rPr>
              <a:t>explain("executionStats")</a:t>
            </a:r>
            <a:r>
              <a:rPr sz="1500" b="0" i="0">
                <a:solidFill>
                  <a:srgbClr val="595959"/>
                </a:solidFill>
              </a:rPr>
              <a:t> again and compare </a:t>
            </a:r>
            <a:r>
              <a:rPr sz="1500" b="1" i="0">
                <a:solidFill>
                  <a:srgbClr val="595959"/>
                </a:solidFill>
              </a:rPr>
              <a:t>docs examined</a:t>
            </a:r>
            <a:r>
              <a:rPr sz="1500" b="0" i="0">
                <a:solidFill>
                  <a:srgbClr val="595959"/>
                </a:solidFill>
              </a:rPr>
              <a:t> with </a:t>
            </a:r>
            <a:r>
              <a:rPr sz="1500" b="1" i="0">
                <a:solidFill>
                  <a:srgbClr val="595959"/>
                </a:solidFill>
              </a:rPr>
              <a:t>returned</a:t>
            </a:r>
            <a:r>
              <a:rPr sz="1500" b="0" i="0">
                <a:solidFill>
                  <a:srgbClr val="595959"/>
                </a:solidFill>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Embed or reference?</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CREATE</a:t>
            </a:r>
          </a:p>
        </p:txBody>
      </p:sp>
      <p:sp>
        <p:nvSpPr>
          <p:cNvPr id="6" name="embed bg"/>
          <p:cNvSpPr/>
          <p:nvPr/>
        </p:nvSpPr>
        <p:spPr>
          <a:xfrm>
            <a:off x="548640" y="1371600"/>
            <a:ext cx="5440680" cy="3383280"/>
          </a:xfrm>
          <a:prstGeom prst="roundRect">
            <a:avLst>
              <a:gd name="adj" fmla="val 1621"/>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embed title"/>
          <p:cNvSpPr txBox="1"/>
          <p:nvPr/>
        </p:nvSpPr>
        <p:spPr>
          <a:xfrm>
            <a:off x="658368" y="1444752"/>
            <a:ext cx="5221224" cy="411480"/>
          </a:xfrm>
          <a:prstGeom prst="rect">
            <a:avLst/>
          </a:prstGeom>
          <a:noFill/>
        </p:spPr>
        <p:txBody>
          <a:bodyPr wrap="square" lIns="45720" rIns="45720" tIns="27432" bIns="27432" anchor="t">
            <a:spAutoFit/>
          </a:bodyPr>
          <a:lstStyle/>
          <a:p>
            <a:pPr algn="l">
              <a:spcAft>
                <a:spcPts val="600"/>
              </a:spcAft>
            </a:pPr>
            <a:r>
              <a:rPr sz="2200" b="1" i="0">
                <a:solidFill>
                  <a:srgbClr val="2E8B3E"/>
                </a:solidFill>
              </a:rPr>
              <a:t>Embed</a:t>
            </a:r>
          </a:p>
        </p:txBody>
      </p:sp>
      <p:sp>
        <p:nvSpPr>
          <p:cNvPr id="8" name="embed body"/>
          <p:cNvSpPr txBox="1"/>
          <p:nvPr/>
        </p:nvSpPr>
        <p:spPr>
          <a:xfrm>
            <a:off x="658368" y="1889760"/>
            <a:ext cx="5221224" cy="277368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700" b="1" i="0">
                <a:solidFill>
                  <a:srgbClr val="0E2841"/>
                </a:solidFill>
              </a:rPr>
              <a:t>read together</a:t>
            </a:r>
            <a:r>
              <a:rPr sz="1700" b="0" i="0">
                <a:solidFill>
                  <a:srgbClr val="0E2841"/>
                </a:solidFill>
              </a:rPr>
              <a:t>: one read, no join</a:t>
            </a:r>
          </a:p>
          <a:p>
            <a:pPr algn="l" marL="256032" indent="-256032">
              <a:spcAft>
                <a:spcPts val="800"/>
              </a:spcAft>
              <a:buFont typeface="Arial"/>
              <a:buChar char="•"/>
            </a:pPr>
            <a:r>
              <a:rPr sz="1700" b="1" i="0">
                <a:solidFill>
                  <a:srgbClr val="0E2841"/>
                </a:solidFill>
              </a:rPr>
              <a:t>bounded</a:t>
            </a:r>
            <a:r>
              <a:rPr sz="1700" b="0" i="0">
                <a:solidFill>
                  <a:srgbClr val="0E2841"/>
                </a:solidFill>
              </a:rPr>
              <a:t> size</a:t>
            </a:r>
          </a:p>
          <a:p>
            <a:pPr algn="l" marL="256032" indent="-256032">
              <a:spcAft>
                <a:spcPts val="800"/>
              </a:spcAft>
              <a:buFont typeface="Arial"/>
              <a:buChar char="•"/>
            </a:pPr>
            <a:r>
              <a:rPr sz="1700" b="0" i="0">
                <a:solidFill>
                  <a:srgbClr val="0E2841"/>
                </a:solidFill>
              </a:rPr>
              <a:t>belongs to </a:t>
            </a:r>
            <a:r>
              <a:rPr sz="1700" b="1" i="0">
                <a:solidFill>
                  <a:srgbClr val="0E2841"/>
                </a:solidFill>
              </a:rPr>
              <a:t>one</a:t>
            </a:r>
            <a:r>
              <a:rPr sz="1700" b="0" i="0">
                <a:solidFill>
                  <a:srgbClr val="0E2841"/>
                </a:solidFill>
              </a:rPr>
              <a:t> parent</a:t>
            </a:r>
          </a:p>
          <a:p>
            <a:pPr algn="l" marL="256032" indent="-256032">
              <a:spcAft>
                <a:spcPts val="800"/>
              </a:spcAft>
              <a:buFont typeface="Arial"/>
              <a:buChar char="•"/>
            </a:pPr>
            <a:r>
              <a:rPr sz="1700" b="1" i="0">
                <a:solidFill>
                  <a:srgbClr val="0E2841"/>
                </a:solidFill>
              </a:rPr>
              <a:t>our example:</a:t>
            </a:r>
            <a:r>
              <a:rPr sz="1700" b="0" i="0">
                <a:solidFill>
                  <a:srgbClr val="0E2841"/>
                </a:solidFill>
              </a:rPr>
              <a:t> 3 genotype </a:t>
            </a:r>
            <a:r>
              <a:rPr sz="1700" b="0" i="0">
                <a:solidFill>
                  <a:srgbClr val="156082"/>
                </a:solidFill>
                <a:latin typeface="Courier New"/>
              </a:rPr>
              <a:t>calls</a:t>
            </a:r>
            <a:r>
              <a:rPr sz="1700" b="0" i="0">
                <a:solidFill>
                  <a:srgbClr val="0E2841"/>
                </a:solidFill>
              </a:rPr>
              <a:t> inside each variant</a:t>
            </a:r>
          </a:p>
        </p:txBody>
      </p:sp>
      <p:sp>
        <p:nvSpPr>
          <p:cNvPr id="9" name="reference bg"/>
          <p:cNvSpPr/>
          <p:nvPr/>
        </p:nvSpPr>
        <p:spPr>
          <a:xfrm>
            <a:off x="6172200" y="1371600"/>
            <a:ext cx="5440680" cy="3383280"/>
          </a:xfrm>
          <a:prstGeom prst="roundRect">
            <a:avLst>
              <a:gd name="adj" fmla="val 1621"/>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ference title"/>
          <p:cNvSpPr txBox="1"/>
          <p:nvPr/>
        </p:nvSpPr>
        <p:spPr>
          <a:xfrm>
            <a:off x="6281928" y="1444752"/>
            <a:ext cx="5221224" cy="411480"/>
          </a:xfrm>
          <a:prstGeom prst="rect">
            <a:avLst/>
          </a:prstGeom>
          <a:noFill/>
        </p:spPr>
        <p:txBody>
          <a:bodyPr wrap="square" lIns="45720" rIns="45720" tIns="27432" bIns="27432" anchor="t">
            <a:spAutoFit/>
          </a:bodyPr>
          <a:lstStyle/>
          <a:p>
            <a:pPr algn="l">
              <a:spcAft>
                <a:spcPts val="600"/>
              </a:spcAft>
            </a:pPr>
            <a:r>
              <a:rPr sz="2200" b="1" i="0">
                <a:solidFill>
                  <a:srgbClr val="E97132"/>
                </a:solidFill>
              </a:rPr>
              <a:t>Reference</a:t>
            </a:r>
          </a:p>
        </p:txBody>
      </p:sp>
      <p:sp>
        <p:nvSpPr>
          <p:cNvPr id="11" name="reference body"/>
          <p:cNvSpPr txBox="1"/>
          <p:nvPr/>
        </p:nvSpPr>
        <p:spPr>
          <a:xfrm>
            <a:off x="6281928" y="1889760"/>
            <a:ext cx="5221224" cy="277368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700" b="1" i="0">
                <a:solidFill>
                  <a:srgbClr val="0E2841"/>
                </a:solidFill>
              </a:rPr>
              <a:t>unbounded</a:t>
            </a:r>
            <a:r>
              <a:rPr sz="1700" b="0" i="0">
                <a:solidFill>
                  <a:srgbClr val="0E2841"/>
                </a:solidFill>
              </a:rPr>
              <a:t> or growing lists</a:t>
            </a:r>
          </a:p>
          <a:p>
            <a:pPr algn="l" marL="256032" indent="-256032">
              <a:spcAft>
                <a:spcPts val="800"/>
              </a:spcAft>
              <a:buFont typeface="Arial"/>
              <a:buChar char="•"/>
            </a:pPr>
            <a:r>
              <a:rPr sz="1700" b="1" i="0">
                <a:solidFill>
                  <a:srgbClr val="0E2841"/>
                </a:solidFill>
              </a:rPr>
              <a:t>shared</a:t>
            </a:r>
            <a:r>
              <a:rPr sz="1700" b="0" i="0">
                <a:solidFill>
                  <a:srgbClr val="0E2841"/>
                </a:solidFill>
              </a:rPr>
              <a:t> by many documents</a:t>
            </a:r>
          </a:p>
          <a:p>
            <a:pPr algn="l" marL="256032" indent="-256032">
              <a:spcAft>
                <a:spcPts val="800"/>
              </a:spcAft>
              <a:buFont typeface="Arial"/>
              <a:buChar char="•"/>
            </a:pPr>
            <a:r>
              <a:rPr sz="1700" b="1" i="0">
                <a:solidFill>
                  <a:srgbClr val="0E2841"/>
                </a:solidFill>
              </a:rPr>
              <a:t>changes independently</a:t>
            </a:r>
          </a:p>
          <a:p>
            <a:pPr algn="l" marL="256032" indent="-256032">
              <a:spcAft>
                <a:spcPts val="800"/>
              </a:spcAft>
              <a:buFont typeface="Arial"/>
              <a:buChar char="•"/>
            </a:pPr>
            <a:r>
              <a:rPr sz="1700" b="1" i="0">
                <a:solidFill>
                  <a:srgbClr val="0E2841"/>
                </a:solidFill>
              </a:rPr>
              <a:t>our example:</a:t>
            </a:r>
            <a:r>
              <a:rPr sz="1700" b="0" i="0">
                <a:solidFill>
                  <a:srgbClr val="0E2841"/>
                </a:solidFill>
              </a:rPr>
              <a:t> </a:t>
            </a:r>
            <a:r>
              <a:rPr sz="1700" b="0" i="0">
                <a:solidFill>
                  <a:srgbClr val="156082"/>
                </a:solidFill>
                <a:latin typeface="Courier New"/>
              </a:rPr>
              <a:t>public.samples</a:t>
            </a:r>
            <a:r>
              <a:rPr sz="1700" b="0" i="0">
                <a:solidFill>
                  <a:srgbClr val="0E2841"/>
                </a:solidFill>
              </a:rPr>
              <a:t> linked by sample name (</a:t>
            </a:r>
            <a:r>
              <a:rPr sz="1700" b="0" i="0">
                <a:solidFill>
                  <a:srgbClr val="156082"/>
                </a:solidFill>
                <a:latin typeface="Courier New"/>
              </a:rPr>
              <a:t>$lookup</a:t>
            </a:r>
            <a:r>
              <a:rPr sz="1700" b="0" i="0">
                <a:solidFill>
                  <a:srgbClr val="0E2841"/>
                </a:solidFill>
              </a:rPr>
              <a:t>)</a:t>
            </a:r>
          </a:p>
        </p:txBody>
      </p:sp>
      <p:sp>
        <p:nvSpPr>
          <p:cNvPr id="12" name="limit bg"/>
          <p:cNvSpPr/>
          <p:nvPr/>
        </p:nvSpPr>
        <p:spPr>
          <a:xfrm>
            <a:off x="548640" y="4983480"/>
            <a:ext cx="11064240" cy="1280160"/>
          </a:xfrm>
          <a:prstGeom prst="roundRect">
            <a:avLst>
              <a:gd name="adj" fmla="val 4285"/>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imit text"/>
          <p:cNvSpPr txBox="1"/>
          <p:nvPr/>
        </p:nvSpPr>
        <p:spPr>
          <a:xfrm>
            <a:off x="731520" y="5029200"/>
            <a:ext cx="10698480" cy="1188720"/>
          </a:xfrm>
          <a:prstGeom prst="rect">
            <a:avLst/>
          </a:prstGeom>
          <a:noFill/>
        </p:spPr>
        <p:txBody>
          <a:bodyPr wrap="square" lIns="45720" rIns="45720" tIns="27432" bIns="27432" anchor="ctr">
            <a:spAutoFit/>
          </a:bodyPr>
          <a:lstStyle/>
          <a:p>
            <a:pPr algn="l">
              <a:spcAft>
                <a:spcPts val="600"/>
              </a:spcAft>
            </a:pPr>
            <a:r>
              <a:rPr sz="1800" b="0" i="0">
                <a:solidFill>
                  <a:srgbClr val="FFFFFF"/>
                </a:solidFill>
              </a:rPr>
              <a:t>⚠️ A document is limited to </a:t>
            </a:r>
            <a:r>
              <a:rPr sz="1800" b="1" i="0">
                <a:solidFill>
                  <a:srgbClr val="FFFFFF"/>
                </a:solidFill>
              </a:rPr>
              <a:t>16 MB</a:t>
            </a:r>
            <a:r>
              <a:rPr sz="1800" b="0" i="0">
                <a:solidFill>
                  <a:srgbClr val="FFFFFF"/>
                </a:solidFill>
              </a:rPr>
              <a:t>. With 100,000 samples an embedded </a:t>
            </a:r>
            <a:r>
              <a:rPr sz="1800" b="0" i="0">
                <a:solidFill>
                  <a:srgbClr val="FFFFFF"/>
                </a:solidFill>
                <a:latin typeface="Courier New"/>
              </a:rPr>
              <a:t>calls</a:t>
            </a:r>
            <a:r>
              <a:rPr sz="1800" b="0" i="0">
                <a:solidFill>
                  <a:srgbClr val="FFFFFF"/>
                </a:solidFill>
              </a:rPr>
              <a:t> array would blow past that: you would </a:t>
            </a:r>
            <a:r>
              <a:rPr sz="1800" b="1" i="0">
                <a:solidFill>
                  <a:srgbClr val="FFFFFF"/>
                </a:solidFill>
              </a:rPr>
              <a:t>reference</a:t>
            </a:r>
            <a:r>
              <a:rPr sz="1800" b="0" i="0">
                <a:solidFill>
                  <a:srgbClr val="FFFFFF"/>
                </a:solidFill>
              </a:rPr>
              <a:t>, with one document per (variant, sample).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Read: find, filter, project, sort</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READ</a:t>
            </a:r>
          </a:p>
        </p:txBody>
      </p:sp>
      <p:sp>
        <p:nvSpPr>
          <p:cNvPr id="6" name="read code bg"/>
          <p:cNvSpPr/>
          <p:nvPr/>
        </p:nvSpPr>
        <p:spPr>
          <a:xfrm>
            <a:off x="548640" y="1371600"/>
            <a:ext cx="6035040" cy="3383280"/>
          </a:xfrm>
          <a:prstGeom prst="roundRect">
            <a:avLst>
              <a:gd name="adj" fmla="val 1351"/>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ad code"/>
          <p:cNvSpPr txBox="1"/>
          <p:nvPr/>
        </p:nvSpPr>
        <p:spPr>
          <a:xfrm>
            <a:off x="640080" y="1435608"/>
            <a:ext cx="5852159" cy="325526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variants.find(</a:t>
            </a:r>
          </a:p>
          <a:p>
            <a:pPr algn="l">
              <a:spcAft>
                <a:spcPts val="0"/>
              </a:spcAft>
            </a:pPr>
            <a:r>
              <a:rPr sz="1200" b="0" i="0">
                <a:solidFill>
                  <a:srgbClr val="1F2937"/>
                </a:solidFill>
                <a:latin typeface="Courier New"/>
              </a:rPr>
              <a:t>  {"filter": "PASS", "qual": {"$gte": 50},</a:t>
            </a:r>
          </a:p>
          <a:p>
            <a:pPr algn="l">
              <a:spcAft>
                <a:spcPts val="0"/>
              </a:spcAft>
            </a:pPr>
            <a:r>
              <a:rPr sz="1200" b="0" i="0">
                <a:solidFill>
                  <a:srgbClr val="1F2937"/>
                </a:solidFill>
                <a:latin typeface="Courier New"/>
              </a:rPr>
              <a:t>   "info.DP": {"$gte": 20}},          # AND</a:t>
            </a:r>
          </a:p>
          <a:p>
            <a:pPr algn="l">
              <a:spcAft>
                <a:spcPts val="0"/>
              </a:spcAft>
            </a:pPr>
            <a:r>
              <a:rPr sz="1200" b="0" i="0">
                <a:solidFill>
                  <a:srgbClr val="1F2937"/>
                </a:solidFill>
                <a:latin typeface="Courier New"/>
              </a:rPr>
              <a:t>  {"_id": 0, "chrom": 1, "pos": 1}    # projection</a:t>
            </a:r>
          </a:p>
          <a:p>
            <a:pPr algn="l">
              <a:spcAft>
                <a:spcPts val="0"/>
              </a:spcAft>
            </a:pPr>
            <a:r>
              <a:rPr sz="1200" b="0" i="0">
                <a:solidFill>
                  <a:srgbClr val="1F2937"/>
                </a:solidFill>
                <a:latin typeface="Courier New"/>
              </a:rPr>
              <a:t>).sort("qual", -1).limit(5)</a:t>
            </a:r>
          </a:p>
          <a:p>
            <a:pPr algn="l">
              <a:spcAft>
                <a:spcPts val="0"/>
              </a:spcAft>
            </a:pPr>
          </a:p>
          <a:p>
            <a:pPr algn="l">
              <a:spcAft>
                <a:spcPts val="0"/>
              </a:spcAft>
            </a:pPr>
            <a:r>
              <a:rPr sz="1200" b="0" i="0">
                <a:solidFill>
                  <a:srgbClr val="1F2937"/>
                </a:solidFill>
                <a:latin typeface="Courier New"/>
              </a:rPr>
              <a:t>variants.count_documents({"alt": "T"})</a:t>
            </a:r>
          </a:p>
          <a:p>
            <a:pPr algn="l">
              <a:spcAft>
                <a:spcPts val="0"/>
              </a:spcAft>
            </a:pPr>
            <a:r>
              <a:rPr sz="1200" b="0" i="0">
                <a:solidFill>
                  <a:srgbClr val="1F2937"/>
                </a:solidFill>
                <a:latin typeface="Courier New"/>
              </a:rPr>
              <a:t>variants.count_documents({"alt": {"$size": 2}})</a:t>
            </a:r>
          </a:p>
          <a:p>
            <a:pPr algn="l">
              <a:spcAft>
                <a:spcPts val="0"/>
              </a:spcAft>
            </a:pPr>
            <a:r>
              <a:rPr sz="1200" b="0" i="0">
                <a:solidFill>
                  <a:srgbClr val="1F2937"/>
                </a:solidFill>
                <a:latin typeface="Courier New"/>
              </a:rPr>
              <a:t>variants.count_documents({"info.AF.0": {"$lt": 0.01}})</a:t>
            </a:r>
          </a:p>
          <a:p>
            <a:pPr algn="l">
              <a:spcAft>
                <a:spcPts val="0"/>
              </a:spcAft>
            </a:pPr>
            <a:r>
              <a:rPr sz="1200" b="0" i="0">
                <a:solidFill>
                  <a:srgbClr val="1F2937"/>
                </a:solidFill>
                <a:latin typeface="Courier New"/>
              </a:rPr>
              <a:t>variants.distinct("filter")</a:t>
            </a:r>
          </a:p>
        </p:txBody>
      </p:sp>
      <p:graphicFrame>
        <p:nvGraphicFramePr>
          <p:cNvPr id="8" name="operators"/>
          <p:cNvGraphicFramePr>
            <a:graphicFrameLocks noGrp="1"/>
          </p:cNvGraphicFramePr>
          <p:nvPr/>
        </p:nvGraphicFramePr>
        <p:xfrm>
          <a:off x="6858000" y="1371600"/>
          <a:ext cx="4754880" cy="2286000"/>
        </p:xfrm>
        <a:graphic>
          <a:graphicData uri="http://schemas.openxmlformats.org/drawingml/2006/table">
            <a:tbl>
              <a:tblPr firstRow="0" bandRow="0">
                <a:tableStyleId>{5C22544A-7EE6-4342-B048-85BDC9FD1C3A}</a:tableStyleId>
              </a:tblPr>
              <a:tblGrid>
                <a:gridCol w="2468880"/>
                <a:gridCol w="2286000"/>
              </a:tblGrid>
              <a:tr h="365760">
                <a:tc>
                  <a:txBody>
                    <a:bodyPr wrap="square"/>
                    <a:lstStyle/>
                    <a:p>
                      <a:r>
                        <a:rPr sz="1300" b="1" i="0">
                          <a:solidFill>
                            <a:srgbClr val="FFFFFF"/>
                          </a:solidFill>
                        </a:rPr>
                        <a:t>operator</a:t>
                      </a:r>
                    </a:p>
                  </a:txBody>
                  <a:tcPr marL="73152" marR="73152" marT="36576" marB="36576" anchor="ctr">
                    <a:solidFill>
                      <a:srgbClr val="0E2841"/>
                    </a:solidFill>
                  </a:tcPr>
                </a:tc>
                <a:tc>
                  <a:txBody>
                    <a:bodyPr wrap="square"/>
                    <a:lstStyle/>
                    <a:p>
                      <a:r>
                        <a:rPr sz="1300" b="1" i="0">
                          <a:solidFill>
                            <a:srgbClr val="FFFFFF"/>
                          </a:solidFill>
                        </a:rPr>
                        <a:t>meaning</a:t>
                      </a:r>
                    </a:p>
                  </a:txBody>
                  <a:tcPr marL="73152" marR="73152" marT="36576" marB="36576" anchor="ctr">
                    <a:solidFill>
                      <a:srgbClr val="0E2841"/>
                    </a:solidFill>
                  </a:tcPr>
                </a:tc>
              </a:tr>
              <a:tr h="384048">
                <a:tc>
                  <a:txBody>
                    <a:bodyPr wrap="square"/>
                    <a:lstStyle/>
                    <a:p>
                      <a:r>
                        <a:rPr sz="1300" b="0" i="0">
                          <a:solidFill>
                            <a:srgbClr val="156082"/>
                          </a:solidFill>
                          <a:latin typeface="Courier New"/>
                        </a:rPr>
                        <a:t>$eq</a:t>
                      </a:r>
                      <a:r>
                        <a:rPr sz="1300" b="0" i="0">
                          <a:solidFill>
                            <a:srgbClr val="0E2841"/>
                          </a:solidFill>
                        </a:rPr>
                        <a:t> </a:t>
                      </a:r>
                      <a:r>
                        <a:rPr sz="1300" b="0" i="0">
                          <a:solidFill>
                            <a:srgbClr val="156082"/>
                          </a:solidFill>
                          <a:latin typeface="Courier New"/>
                        </a:rPr>
                        <a:t>$ne</a:t>
                      </a:r>
                    </a:p>
                  </a:txBody>
                  <a:tcPr marL="73152" marR="73152" marT="36576" marB="36576" anchor="ctr">
                    <a:solidFill>
                      <a:srgbClr val="FFFFFF"/>
                    </a:solidFill>
                  </a:tcPr>
                </a:tc>
                <a:tc>
                  <a:txBody>
                    <a:bodyPr wrap="square"/>
                    <a:lstStyle/>
                    <a:p>
                      <a:r>
                        <a:rPr sz="1300" b="0" i="0">
                          <a:solidFill>
                            <a:srgbClr val="0E2841"/>
                          </a:solidFill>
                        </a:rPr>
                        <a:t>equal / not equal</a:t>
                      </a:r>
                    </a:p>
                  </a:txBody>
                  <a:tcPr marL="73152" marR="73152" marT="36576" marB="36576" anchor="ctr">
                    <a:solidFill>
                      <a:srgbClr val="FFFFFF"/>
                    </a:solidFill>
                  </a:tcPr>
                </a:tc>
              </a:tr>
              <a:tr h="384048">
                <a:tc>
                  <a:txBody>
                    <a:bodyPr wrap="square"/>
                    <a:lstStyle/>
                    <a:p>
                      <a:r>
                        <a:rPr sz="1300" b="0" i="0">
                          <a:solidFill>
                            <a:srgbClr val="156082"/>
                          </a:solidFill>
                          <a:latin typeface="Courier New"/>
                        </a:rPr>
                        <a:t>$gt</a:t>
                      </a:r>
                      <a:r>
                        <a:rPr sz="1300" b="0" i="0">
                          <a:solidFill>
                            <a:srgbClr val="0E2841"/>
                          </a:solidFill>
                        </a:rPr>
                        <a:t> </a:t>
                      </a:r>
                      <a:r>
                        <a:rPr sz="1300" b="0" i="0">
                          <a:solidFill>
                            <a:srgbClr val="156082"/>
                          </a:solidFill>
                          <a:latin typeface="Courier New"/>
                        </a:rPr>
                        <a:t>$gte</a:t>
                      </a:r>
                      <a:r>
                        <a:rPr sz="1300" b="0" i="0">
                          <a:solidFill>
                            <a:srgbClr val="0E2841"/>
                          </a:solidFill>
                        </a:rPr>
                        <a:t> </a:t>
                      </a:r>
                      <a:r>
                        <a:rPr sz="1300" b="0" i="0">
                          <a:solidFill>
                            <a:srgbClr val="156082"/>
                          </a:solidFill>
                          <a:latin typeface="Courier New"/>
                        </a:rPr>
                        <a:t>$lt</a:t>
                      </a:r>
                      <a:r>
                        <a:rPr sz="1300" b="0" i="0">
                          <a:solidFill>
                            <a:srgbClr val="0E2841"/>
                          </a:solidFill>
                        </a:rPr>
                        <a:t> </a:t>
                      </a:r>
                      <a:r>
                        <a:rPr sz="1300" b="0" i="0">
                          <a:solidFill>
                            <a:srgbClr val="156082"/>
                          </a:solidFill>
                          <a:latin typeface="Courier New"/>
                        </a:rPr>
                        <a:t>$lte</a:t>
                      </a:r>
                    </a:p>
                  </a:txBody>
                  <a:tcPr marL="73152" marR="73152" marT="36576" marB="36576" anchor="ctr">
                    <a:solidFill>
                      <a:srgbClr val="F2F5F9"/>
                    </a:solidFill>
                  </a:tcPr>
                </a:tc>
                <a:tc>
                  <a:txBody>
                    <a:bodyPr wrap="square"/>
                    <a:lstStyle/>
                    <a:p>
                      <a:r>
                        <a:rPr sz="1300" b="0" i="0">
                          <a:solidFill>
                            <a:srgbClr val="0E2841"/>
                          </a:solidFill>
                        </a:rPr>
                        <a:t>comparisons</a:t>
                      </a:r>
                    </a:p>
                  </a:txBody>
                  <a:tcPr marL="73152" marR="73152" marT="36576" marB="36576" anchor="ctr">
                    <a:solidFill>
                      <a:srgbClr val="F2F5F9"/>
                    </a:solidFill>
                  </a:tcPr>
                </a:tc>
              </a:tr>
              <a:tr h="384048">
                <a:tc>
                  <a:txBody>
                    <a:bodyPr wrap="square"/>
                    <a:lstStyle/>
                    <a:p>
                      <a:r>
                        <a:rPr sz="1300" b="0" i="0">
                          <a:solidFill>
                            <a:srgbClr val="156082"/>
                          </a:solidFill>
                          <a:latin typeface="Courier New"/>
                        </a:rPr>
                        <a:t>$in</a:t>
                      </a:r>
                      <a:r>
                        <a:rPr sz="1300" b="0" i="0">
                          <a:solidFill>
                            <a:srgbClr val="0E2841"/>
                          </a:solidFill>
                        </a:rPr>
                        <a:t> </a:t>
                      </a:r>
                      <a:r>
                        <a:rPr sz="1300" b="0" i="0">
                          <a:solidFill>
                            <a:srgbClr val="156082"/>
                          </a:solidFill>
                          <a:latin typeface="Courier New"/>
                        </a:rPr>
                        <a:t>$nin</a:t>
                      </a:r>
                    </a:p>
                  </a:txBody>
                  <a:tcPr marL="73152" marR="73152" marT="36576" marB="36576" anchor="ctr">
                    <a:solidFill>
                      <a:srgbClr val="FFFFFF"/>
                    </a:solidFill>
                  </a:tcPr>
                </a:tc>
                <a:tc>
                  <a:txBody>
                    <a:bodyPr wrap="square"/>
                    <a:lstStyle/>
                    <a:p>
                      <a:r>
                        <a:rPr sz="1300" b="0" i="0">
                          <a:solidFill>
                            <a:srgbClr val="0E2841"/>
                          </a:solidFill>
                        </a:rPr>
                        <a:t>in / not in a list</a:t>
                      </a:r>
                    </a:p>
                  </a:txBody>
                  <a:tcPr marL="73152" marR="73152" marT="36576" marB="36576" anchor="ctr">
                    <a:solidFill>
                      <a:srgbClr val="FFFFFF"/>
                    </a:solidFill>
                  </a:tcPr>
                </a:tc>
              </a:tr>
              <a:tr h="384048">
                <a:tc>
                  <a:txBody>
                    <a:bodyPr wrap="square"/>
                    <a:lstStyle/>
                    <a:p>
                      <a:r>
                        <a:rPr sz="1300" b="0" i="0">
                          <a:solidFill>
                            <a:srgbClr val="156082"/>
                          </a:solidFill>
                          <a:latin typeface="Courier New"/>
                        </a:rPr>
                        <a:t>$and</a:t>
                      </a:r>
                      <a:r>
                        <a:rPr sz="1300" b="0" i="0">
                          <a:solidFill>
                            <a:srgbClr val="0E2841"/>
                          </a:solidFill>
                        </a:rPr>
                        <a:t> </a:t>
                      </a:r>
                      <a:r>
                        <a:rPr sz="1300" b="0" i="0">
                          <a:solidFill>
                            <a:srgbClr val="156082"/>
                          </a:solidFill>
                          <a:latin typeface="Courier New"/>
                        </a:rPr>
                        <a:t>$or</a:t>
                      </a:r>
                      <a:r>
                        <a:rPr sz="1300" b="0" i="0">
                          <a:solidFill>
                            <a:srgbClr val="0E2841"/>
                          </a:solidFill>
                        </a:rPr>
                        <a:t> </a:t>
                      </a:r>
                      <a:r>
                        <a:rPr sz="1300" b="0" i="0">
                          <a:solidFill>
                            <a:srgbClr val="156082"/>
                          </a:solidFill>
                          <a:latin typeface="Courier New"/>
                        </a:rPr>
                        <a:t>$not</a:t>
                      </a:r>
                    </a:p>
                  </a:txBody>
                  <a:tcPr marL="73152" marR="73152" marT="36576" marB="36576" anchor="ctr">
                    <a:solidFill>
                      <a:srgbClr val="F2F5F9"/>
                    </a:solidFill>
                  </a:tcPr>
                </a:tc>
                <a:tc>
                  <a:txBody>
                    <a:bodyPr wrap="square"/>
                    <a:lstStyle/>
                    <a:p>
                      <a:r>
                        <a:rPr sz="1300" b="0" i="0">
                          <a:solidFill>
                            <a:srgbClr val="0E2841"/>
                          </a:solidFill>
                        </a:rPr>
                        <a:t>combine conditions</a:t>
                      </a:r>
                    </a:p>
                  </a:txBody>
                  <a:tcPr marL="73152" marR="73152" marT="36576" marB="36576" anchor="ctr">
                    <a:solidFill>
                      <a:srgbClr val="F2F5F9"/>
                    </a:solidFill>
                  </a:tcPr>
                </a:tc>
              </a:tr>
              <a:tr h="384048">
                <a:tc>
                  <a:txBody>
                    <a:bodyPr wrap="square"/>
                    <a:lstStyle/>
                    <a:p>
                      <a:r>
                        <a:rPr sz="1300" b="0" i="0">
                          <a:solidFill>
                            <a:srgbClr val="156082"/>
                          </a:solidFill>
                          <a:latin typeface="Courier New"/>
                        </a:rPr>
                        <a:t>$exists</a:t>
                      </a:r>
                    </a:p>
                  </a:txBody>
                  <a:tcPr marL="73152" marR="73152" marT="36576" marB="36576" anchor="ctr">
                    <a:solidFill>
                      <a:srgbClr val="FFFFFF"/>
                    </a:solidFill>
                  </a:tcPr>
                </a:tc>
                <a:tc>
                  <a:txBody>
                    <a:bodyPr wrap="square"/>
                    <a:lstStyle/>
                    <a:p>
                      <a:r>
                        <a:rPr sz="1300" b="0" i="0">
                          <a:solidFill>
                            <a:srgbClr val="0E2841"/>
                          </a:solidFill>
                        </a:rPr>
                        <a:t>does the field exist?</a:t>
                      </a:r>
                    </a:p>
                  </a:txBody>
                  <a:tcPr marL="73152" marR="73152" marT="36576" marB="36576" anchor="ctr">
                    <a:solidFill>
                      <a:srgbClr val="FFFFFF"/>
                    </a:solidFill>
                  </a:tcPr>
                </a:tc>
              </a:tr>
            </a:tbl>
          </a:graphicData>
        </a:graphic>
      </p:graphicFrame>
      <p:graphicFrame>
        <p:nvGraphicFramePr>
          <p:cNvPr id="9" name="results"/>
          <p:cNvGraphicFramePr>
            <a:graphicFrameLocks noGrp="1"/>
          </p:cNvGraphicFramePr>
          <p:nvPr/>
        </p:nvGraphicFramePr>
        <p:xfrm>
          <a:off x="6858000" y="4069080"/>
          <a:ext cx="4754879" cy="1737360"/>
        </p:xfrm>
        <a:graphic>
          <a:graphicData uri="http://schemas.openxmlformats.org/drawingml/2006/table">
            <a:tbl>
              <a:tblPr firstRow="0" bandRow="0">
                <a:tableStyleId>{5C22544A-7EE6-4342-B048-85BDC9FD1C3A}</a:tableStyleId>
              </a:tblPr>
              <a:tblGrid>
                <a:gridCol w="1005840"/>
                <a:gridCol w="3749039"/>
              </a:tblGrid>
              <a:tr h="347472">
                <a:tc>
                  <a:txBody>
                    <a:bodyPr wrap="square"/>
                    <a:lstStyle/>
                    <a:p>
                      <a:pPr algn="r"/>
                      <a:r>
                        <a:rPr sz="1300" b="1" i="0">
                          <a:solidFill>
                            <a:srgbClr val="FFFFFF"/>
                          </a:solidFill>
                        </a:rPr>
                        <a:t>count</a:t>
                      </a:r>
                    </a:p>
                  </a:txBody>
                  <a:tcPr marL="73152" marR="73152" marT="36576" marB="36576" anchor="ctr">
                    <a:solidFill>
                      <a:srgbClr val="2E8B3E"/>
                    </a:solidFill>
                  </a:tcPr>
                </a:tc>
                <a:tc>
                  <a:txBody>
                    <a:bodyPr wrap="square"/>
                    <a:lstStyle/>
                    <a:p>
                      <a:r>
                        <a:rPr sz="1300" b="1" i="0">
                          <a:solidFill>
                            <a:srgbClr val="FFFFFF"/>
                          </a:solidFill>
                        </a:rPr>
                        <a:t>query</a:t>
                      </a:r>
                    </a:p>
                  </a:txBody>
                  <a:tcPr marL="73152" marR="73152" marT="36576" marB="36576" anchor="ctr">
                    <a:solidFill>
                      <a:srgbClr val="2E8B3E"/>
                    </a:solidFill>
                  </a:tcPr>
                </a:tc>
              </a:tr>
              <a:tr h="347472">
                <a:tc>
                  <a:txBody>
                    <a:bodyPr wrap="square"/>
                    <a:lstStyle/>
                    <a:p>
                      <a:pPr algn="r"/>
                      <a:r>
                        <a:rPr sz="1300" b="1" i="0">
                          <a:solidFill>
                            <a:srgbClr val="0E2841"/>
                          </a:solidFill>
                        </a:rPr>
                        <a:t>120</a:t>
                      </a:r>
                    </a:p>
                  </a:txBody>
                  <a:tcPr marL="73152" marR="73152" marT="36576" marB="36576" anchor="ctr">
                    <a:solidFill>
                      <a:srgbClr val="FFFFFF"/>
                    </a:solidFill>
                  </a:tcPr>
                </a:tc>
                <a:tc>
                  <a:txBody>
                    <a:bodyPr wrap="square"/>
                    <a:lstStyle/>
                    <a:p>
                      <a:r>
                        <a:rPr sz="1300" b="0" i="0">
                          <a:solidFill>
                            <a:srgbClr val="0E2841"/>
                          </a:solidFill>
                        </a:rPr>
                        <a:t>PASS · QUAL ≥ 50 · DP ≥ 20</a:t>
                      </a:r>
                    </a:p>
                  </a:txBody>
                  <a:tcPr marL="73152" marR="73152" marT="36576" marB="36576" anchor="ctr">
                    <a:solidFill>
                      <a:srgbClr val="FFFFFF"/>
                    </a:solidFill>
                  </a:tcPr>
                </a:tc>
              </a:tr>
              <a:tr h="347472">
                <a:tc>
                  <a:txBody>
                    <a:bodyPr wrap="square"/>
                    <a:lstStyle/>
                    <a:p>
                      <a:pPr algn="r"/>
                      <a:r>
                        <a:rPr sz="1300" b="0" i="0">
                          <a:solidFill>
                            <a:srgbClr val="0E2841"/>
                          </a:solidFill>
                        </a:rPr>
                        <a:t>64</a:t>
                      </a:r>
                    </a:p>
                  </a:txBody>
                  <a:tcPr marL="73152" marR="73152" marT="36576" marB="36576" anchor="ctr">
                    <a:solidFill>
                      <a:srgbClr val="F2F5F9"/>
                    </a:solidFill>
                  </a:tcPr>
                </a:tc>
                <a:tc>
                  <a:txBody>
                    <a:bodyPr wrap="square"/>
                    <a:lstStyle/>
                    <a:p>
                      <a:r>
                        <a:rPr sz="1300" b="0" i="0">
                          <a:solidFill>
                            <a:srgbClr val="156082"/>
                          </a:solidFill>
                          <a:latin typeface="Courier New"/>
                        </a:rPr>
                        <a:t>alt</a:t>
                      </a:r>
                      <a:r>
                        <a:rPr sz="1300" b="0" i="0">
                          <a:solidFill>
                            <a:srgbClr val="0E2841"/>
                          </a:solidFill>
                        </a:rPr>
                        <a:t> contains </a:t>
                      </a:r>
                      <a:r>
                        <a:rPr sz="1300" b="0" i="0">
                          <a:solidFill>
                            <a:srgbClr val="156082"/>
                          </a:solidFill>
                          <a:latin typeface="Courier New"/>
                        </a:rPr>
                        <a:t>T</a:t>
                      </a:r>
                    </a:p>
                  </a:txBody>
                  <a:tcPr marL="73152" marR="73152" marT="36576" marB="36576" anchor="ctr">
                    <a:solidFill>
                      <a:srgbClr val="F2F5F9"/>
                    </a:solidFill>
                  </a:tcPr>
                </a:tc>
              </a:tr>
              <a:tr h="347472">
                <a:tc>
                  <a:txBody>
                    <a:bodyPr wrap="square"/>
                    <a:lstStyle/>
                    <a:p>
                      <a:pPr algn="r"/>
                      <a:r>
                        <a:rPr sz="1300" b="0" i="0">
                          <a:solidFill>
                            <a:srgbClr val="0E2841"/>
                          </a:solidFill>
                        </a:rPr>
                        <a:t>12</a:t>
                      </a:r>
                    </a:p>
                  </a:txBody>
                  <a:tcPr marL="73152" marR="73152" marT="36576" marB="36576" anchor="ctr">
                    <a:solidFill>
                      <a:srgbClr val="FFFFFF"/>
                    </a:solidFill>
                  </a:tcPr>
                </a:tc>
                <a:tc>
                  <a:txBody>
                    <a:bodyPr wrap="square"/>
                    <a:lstStyle/>
                    <a:p>
                      <a:r>
                        <a:rPr sz="1300" b="0" i="0">
                          <a:solidFill>
                            <a:srgbClr val="0E2841"/>
                          </a:solidFill>
                        </a:rPr>
                        <a:t>multi-allelic (</a:t>
                      </a:r>
                      <a:r>
                        <a:rPr sz="1300" b="0" i="0">
                          <a:solidFill>
                            <a:srgbClr val="156082"/>
                          </a:solidFill>
                          <a:latin typeface="Courier New"/>
                        </a:rPr>
                        <a:t>$size: 2</a:t>
                      </a:r>
                      <a:r>
                        <a:rPr sz="1300" b="0" i="0">
                          <a:solidFill>
                            <a:srgbClr val="0E2841"/>
                          </a:solidFill>
                        </a:rPr>
                        <a:t>)</a:t>
                      </a:r>
                    </a:p>
                  </a:txBody>
                  <a:tcPr marL="73152" marR="73152" marT="36576" marB="36576" anchor="ctr">
                    <a:solidFill>
                      <a:srgbClr val="FFFFFF"/>
                    </a:solidFill>
                  </a:tcPr>
                </a:tc>
              </a:tr>
              <a:tr h="347472">
                <a:tc>
                  <a:txBody>
                    <a:bodyPr wrap="square"/>
                    <a:lstStyle/>
                    <a:p>
                      <a:pPr algn="r"/>
                      <a:r>
                        <a:rPr sz="1300" b="0" i="0">
                          <a:solidFill>
                            <a:srgbClr val="0E2841"/>
                          </a:solidFill>
                        </a:rPr>
                        <a:t>3</a:t>
                      </a:r>
                    </a:p>
                  </a:txBody>
                  <a:tcPr marL="73152" marR="73152" marT="36576" marB="36576" anchor="ctr">
                    <a:solidFill>
                      <a:srgbClr val="F2F5F9"/>
                    </a:solidFill>
                  </a:tcPr>
                </a:tc>
                <a:tc>
                  <a:txBody>
                    <a:bodyPr wrap="square"/>
                    <a:lstStyle/>
                    <a:p>
                      <a:r>
                        <a:rPr sz="1300" b="0" i="0">
                          <a:solidFill>
                            <a:srgbClr val="0E2841"/>
                          </a:solidFill>
                        </a:rPr>
                        <a:t>rare: </a:t>
                      </a:r>
                      <a:r>
                        <a:rPr sz="1300" b="0" i="0">
                          <a:solidFill>
                            <a:srgbClr val="156082"/>
                          </a:solidFill>
                          <a:latin typeface="Courier New"/>
                        </a:rPr>
                        <a:t>info.AF.0 &lt; 0.01</a:t>
                      </a:r>
                    </a:p>
                  </a:txBody>
                  <a:tcPr marL="73152" marR="73152" marT="36576" marB="36576" anchor="ctr">
                    <a:solidFill>
                      <a:srgbClr val="F2F5F9"/>
                    </a:solidFill>
                  </a:tcPr>
                </a:tc>
              </a:tr>
            </a:tbl>
          </a:graphicData>
        </a:graphic>
      </p:graphicFrame>
      <p:sp>
        <p:nvSpPr>
          <p:cNvPr id="10" name="read notes"/>
          <p:cNvSpPr txBox="1"/>
          <p:nvPr/>
        </p:nvSpPr>
        <p:spPr>
          <a:xfrm>
            <a:off x="548640" y="4983480"/>
            <a:ext cx="6035040" cy="1280160"/>
          </a:xfrm>
          <a:prstGeom prst="rect">
            <a:avLst/>
          </a:prstGeom>
          <a:noFill/>
        </p:spPr>
        <p:txBody>
          <a:bodyPr wrap="square" lIns="45720" rIns="45720" tIns="27432" bIns="27432" anchor="t">
            <a:spAutoFit/>
          </a:bodyPr>
          <a:lstStyle/>
          <a:p>
            <a:pPr algn="l" marL="256032" indent="-256032">
              <a:spcAft>
                <a:spcPts val="400"/>
              </a:spcAft>
              <a:buFont typeface="Arial"/>
              <a:buChar char="•"/>
            </a:pPr>
            <a:r>
              <a:rPr sz="1400" b="0" i="0">
                <a:solidFill>
                  <a:srgbClr val="156082"/>
                </a:solidFill>
                <a:latin typeface="Courier New"/>
              </a:rPr>
              <a:t>find</a:t>
            </a:r>
            <a:r>
              <a:rPr sz="1400" b="0" i="0">
                <a:solidFill>
                  <a:srgbClr val="0E2841"/>
                </a:solidFill>
              </a:rPr>
              <a:t> returns a lazy </a:t>
            </a:r>
            <a:r>
              <a:rPr sz="1400" b="1" i="0">
                <a:solidFill>
                  <a:srgbClr val="0E2841"/>
                </a:solidFill>
              </a:rPr>
              <a:t>cursor</a:t>
            </a:r>
            <a:r>
              <a:rPr sz="1400" b="0" i="0">
                <a:solidFill>
                  <a:srgbClr val="0E2841"/>
                </a:solidFill>
              </a:rPr>
              <a:t>: </a:t>
            </a:r>
            <a:r>
              <a:rPr sz="1400" b="0" i="0">
                <a:solidFill>
                  <a:srgbClr val="156082"/>
                </a:solidFill>
                <a:latin typeface="Courier New"/>
              </a:rPr>
              <a:t>limit()</a:t>
            </a:r>
            <a:r>
              <a:rPr sz="1400" b="0" i="0">
                <a:solidFill>
                  <a:srgbClr val="0E2841"/>
                </a:solidFill>
              </a:rPr>
              <a:t> when exploring</a:t>
            </a:r>
          </a:p>
          <a:p>
            <a:pPr algn="l" marL="256032" indent="-256032">
              <a:spcAft>
                <a:spcPts val="400"/>
              </a:spcAft>
              <a:buFont typeface="Arial"/>
              <a:buChar char="•"/>
            </a:pPr>
            <a:r>
              <a:rPr sz="1400" b="0" i="0">
                <a:solidFill>
                  <a:srgbClr val="0E2841"/>
                </a:solidFill>
              </a:rPr>
              <a:t>Several conditions in one filter = </a:t>
            </a:r>
            <a:r>
              <a:rPr sz="1400" b="1" i="0">
                <a:solidFill>
                  <a:srgbClr val="0E2841"/>
                </a:solidFill>
              </a:rPr>
              <a:t>AND</a:t>
            </a:r>
          </a:p>
          <a:p>
            <a:pPr algn="l" marL="256032" indent="-256032">
              <a:spcAft>
                <a:spcPts val="400"/>
              </a:spcAft>
              <a:buFont typeface="Arial"/>
              <a:buChar char="•"/>
            </a:pPr>
            <a:r>
              <a:rPr sz="1400" b="0" i="0">
                <a:solidFill>
                  <a:srgbClr val="156082"/>
                </a:solidFill>
                <a:latin typeface="Courier New"/>
              </a:rPr>
              <a:t>bcftools view -f PASS -i 'QUAL&gt;=50 &amp;&amp; DP&gt;=20'</a:t>
            </a:r>
            <a:r>
              <a:rPr sz="1400" b="0" i="0">
                <a:solidFill>
                  <a:srgbClr val="0E2841"/>
                </a:solidFill>
              </a:rPr>
              <a:t> ≈ the first query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Arrays of sub-documents: the $elemMatch trap</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READ</a:t>
            </a:r>
          </a:p>
        </p:txBody>
      </p:sp>
      <p:sp>
        <p:nvSpPr>
          <p:cNvPr id="6" name="wrong code bg"/>
          <p:cNvSpPr/>
          <p:nvPr/>
        </p:nvSpPr>
        <p:spPr>
          <a:xfrm>
            <a:off x="548640" y="1371600"/>
            <a:ext cx="5852160" cy="1463040"/>
          </a:xfrm>
          <a:prstGeom prst="roundRect">
            <a:avLst>
              <a:gd name="adj" fmla="val 312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wrong code"/>
          <p:cNvSpPr txBox="1"/>
          <p:nvPr/>
        </p:nvSpPr>
        <p:spPr>
          <a:xfrm>
            <a:off x="640080" y="1435608"/>
            <a:ext cx="5669280" cy="133502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 WRONG: each condition may match a DIFFERENT element</a:t>
            </a:r>
          </a:p>
          <a:p>
            <a:pPr algn="l">
              <a:spcAft>
                <a:spcPts val="0"/>
              </a:spcAft>
            </a:pPr>
            <a:r>
              <a:rPr sz="1200" b="0" i="0">
                <a:solidFill>
                  <a:srgbClr val="1F2937"/>
                </a:solidFill>
                <a:latin typeface="Courier New"/>
              </a:rPr>
              <a:t>{"calls.sample": "SAMPLE_B", "calls.zygosity": "hom_alt"}</a:t>
            </a:r>
          </a:p>
        </p:txBody>
      </p:sp>
      <p:sp>
        <p:nvSpPr>
          <p:cNvPr id="8" name="right code bg"/>
          <p:cNvSpPr/>
          <p:nvPr/>
        </p:nvSpPr>
        <p:spPr>
          <a:xfrm>
            <a:off x="548640" y="3017520"/>
            <a:ext cx="5852160" cy="1463040"/>
          </a:xfrm>
          <a:prstGeom prst="roundRect">
            <a:avLst>
              <a:gd name="adj" fmla="val 312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ight code"/>
          <p:cNvSpPr txBox="1"/>
          <p:nvPr/>
        </p:nvSpPr>
        <p:spPr>
          <a:xfrm>
            <a:off x="640080" y="3081527"/>
            <a:ext cx="5669280" cy="1335024"/>
          </a:xfrm>
          <a:prstGeom prst="rect">
            <a:avLst/>
          </a:prstGeom>
          <a:noFill/>
        </p:spPr>
        <p:txBody>
          <a:bodyPr wrap="square" lIns="45720" rIns="45720" tIns="27432" bIns="27432" anchor="t">
            <a:spAutoFit/>
          </a:bodyPr>
          <a:lstStyle/>
          <a:p>
            <a:pPr algn="l">
              <a:spcAft>
                <a:spcPts val="0"/>
              </a:spcAft>
            </a:pPr>
            <a:r>
              <a:rPr sz="1300" b="0" i="0">
                <a:solidFill>
                  <a:srgbClr val="1F2937"/>
                </a:solidFill>
                <a:latin typeface="Courier New"/>
              </a:rPr>
              <a:t># RIGHT: both conditions on the SAME element</a:t>
            </a:r>
          </a:p>
          <a:p>
            <a:pPr algn="l">
              <a:spcAft>
                <a:spcPts val="0"/>
              </a:spcAft>
            </a:pPr>
            <a:r>
              <a:rPr sz="1300" b="0" i="0">
                <a:solidFill>
                  <a:srgbClr val="1F2937"/>
                </a:solidFill>
                <a:latin typeface="Courier New"/>
              </a:rPr>
              <a:t>{"calls": {"$elemMatch": {"sample": "SAMPLE_B",</a:t>
            </a:r>
          </a:p>
          <a:p>
            <a:pPr algn="l">
              <a:spcAft>
                <a:spcPts val="0"/>
              </a:spcAft>
            </a:pPr>
            <a:r>
              <a:rPr sz="1300" b="0" i="0">
                <a:solidFill>
                  <a:srgbClr val="1F2937"/>
                </a:solidFill>
                <a:latin typeface="Courier New"/>
              </a:rPr>
              <a:t>                          "zygosity": "hom_alt"}}}</a:t>
            </a:r>
          </a:p>
        </p:txBody>
      </p:sp>
      <p:sp>
        <p:nvSpPr>
          <p:cNvPr id="10" name="stat 0"/>
          <p:cNvSpPr/>
          <p:nvPr/>
        </p:nvSpPr>
        <p:spPr>
          <a:xfrm>
            <a:off x="6766560" y="1371600"/>
            <a:ext cx="2331720" cy="1828800"/>
          </a:xfrm>
          <a:prstGeom prst="roundRect">
            <a:avLst>
              <a:gd name="adj" fmla="val 3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tat big 0"/>
          <p:cNvSpPr txBox="1"/>
          <p:nvPr/>
        </p:nvSpPr>
        <p:spPr>
          <a:xfrm>
            <a:off x="6858000" y="1554480"/>
            <a:ext cx="2148840" cy="868680"/>
          </a:xfrm>
          <a:prstGeom prst="rect">
            <a:avLst/>
          </a:prstGeom>
          <a:noFill/>
        </p:spPr>
        <p:txBody>
          <a:bodyPr wrap="square" lIns="45720" rIns="45720" tIns="27432" bIns="27432" anchor="t">
            <a:spAutoFit/>
          </a:bodyPr>
          <a:lstStyle/>
          <a:p>
            <a:pPr algn="ctr">
              <a:spcAft>
                <a:spcPts val="600"/>
              </a:spcAft>
            </a:pPr>
            <a:r>
              <a:rPr sz="4800" b="1" i="0">
                <a:solidFill>
                  <a:srgbClr val="D41348"/>
                </a:solidFill>
              </a:rPr>
              <a:t>111</a:t>
            </a:r>
          </a:p>
        </p:txBody>
      </p:sp>
      <p:sp>
        <p:nvSpPr>
          <p:cNvPr id="12" name="stat label 0"/>
          <p:cNvSpPr txBox="1"/>
          <p:nvPr/>
        </p:nvSpPr>
        <p:spPr>
          <a:xfrm>
            <a:off x="6858000" y="2468880"/>
            <a:ext cx="2148840" cy="640080"/>
          </a:xfrm>
          <a:prstGeom prst="rect">
            <a:avLst/>
          </a:prstGeom>
          <a:noFill/>
        </p:spPr>
        <p:txBody>
          <a:bodyPr wrap="square" lIns="45720" rIns="45720" tIns="27432" bIns="27432" anchor="t">
            <a:spAutoFit/>
          </a:bodyPr>
          <a:lstStyle/>
          <a:p>
            <a:pPr algn="ctr">
              <a:spcAft>
                <a:spcPts val="600"/>
              </a:spcAft>
            </a:pPr>
            <a:r>
              <a:rPr sz="1400" b="0" i="0">
                <a:solidFill>
                  <a:srgbClr val="0E2841"/>
                </a:solidFill>
              </a:rPr>
              <a:t>dot notation (wrong)</a:t>
            </a:r>
          </a:p>
        </p:txBody>
      </p:sp>
      <p:sp>
        <p:nvSpPr>
          <p:cNvPr id="13" name="stat 1"/>
          <p:cNvSpPr/>
          <p:nvPr/>
        </p:nvSpPr>
        <p:spPr>
          <a:xfrm>
            <a:off x="9281160" y="1371600"/>
            <a:ext cx="2331720" cy="1828800"/>
          </a:xfrm>
          <a:prstGeom prst="roundRect">
            <a:avLst>
              <a:gd name="adj" fmla="val 3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tat big 1"/>
          <p:cNvSpPr txBox="1"/>
          <p:nvPr/>
        </p:nvSpPr>
        <p:spPr>
          <a:xfrm>
            <a:off x="9372600" y="1554480"/>
            <a:ext cx="2148840" cy="868680"/>
          </a:xfrm>
          <a:prstGeom prst="rect">
            <a:avLst/>
          </a:prstGeom>
          <a:noFill/>
        </p:spPr>
        <p:txBody>
          <a:bodyPr wrap="square" lIns="45720" rIns="45720" tIns="27432" bIns="27432" anchor="t">
            <a:spAutoFit/>
          </a:bodyPr>
          <a:lstStyle/>
          <a:p>
            <a:pPr algn="ctr">
              <a:spcAft>
                <a:spcPts val="600"/>
              </a:spcAft>
            </a:pPr>
            <a:r>
              <a:rPr sz="4800" b="1" i="0">
                <a:solidFill>
                  <a:srgbClr val="2E8B3E"/>
                </a:solidFill>
              </a:rPr>
              <a:t>69</a:t>
            </a:r>
          </a:p>
        </p:txBody>
      </p:sp>
      <p:sp>
        <p:nvSpPr>
          <p:cNvPr id="15" name="stat label 1"/>
          <p:cNvSpPr txBox="1"/>
          <p:nvPr/>
        </p:nvSpPr>
        <p:spPr>
          <a:xfrm>
            <a:off x="9372600" y="2468880"/>
            <a:ext cx="2148840" cy="640080"/>
          </a:xfrm>
          <a:prstGeom prst="rect">
            <a:avLst/>
          </a:prstGeom>
          <a:noFill/>
        </p:spPr>
        <p:txBody>
          <a:bodyPr wrap="square" lIns="45720" rIns="45720" tIns="27432" bIns="27432" anchor="t">
            <a:spAutoFit/>
          </a:bodyPr>
          <a:lstStyle/>
          <a:p>
            <a:pPr algn="ctr">
              <a:spcAft>
                <a:spcPts val="600"/>
              </a:spcAft>
            </a:pPr>
            <a:r>
              <a:rPr sz="1400" b="0" i="0">
                <a:solidFill>
                  <a:srgbClr val="156082"/>
                </a:solidFill>
                <a:latin typeface="Courier New"/>
              </a:rPr>
              <a:t>$elemMatch</a:t>
            </a:r>
            <a:r>
              <a:rPr sz="1400" b="0" i="0">
                <a:solidFill>
                  <a:srgbClr val="0E2841"/>
                </a:solidFill>
              </a:rPr>
              <a:t> (correct)</a:t>
            </a:r>
          </a:p>
        </p:txBody>
      </p:sp>
      <p:sp>
        <p:nvSpPr>
          <p:cNvPr id="16" name="why card bg"/>
          <p:cNvSpPr/>
          <p:nvPr/>
        </p:nvSpPr>
        <p:spPr>
          <a:xfrm>
            <a:off x="6766560" y="3383280"/>
            <a:ext cx="4846320" cy="2880360"/>
          </a:xfrm>
          <a:prstGeom prst="roundRect">
            <a:avLst>
              <a:gd name="adj" fmla="val 1904"/>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why card title"/>
          <p:cNvSpPr txBox="1"/>
          <p:nvPr/>
        </p:nvSpPr>
        <p:spPr>
          <a:xfrm>
            <a:off x="6876288" y="3456432"/>
            <a:ext cx="4626864" cy="411480"/>
          </a:xfrm>
          <a:prstGeom prst="rect">
            <a:avLst/>
          </a:prstGeom>
          <a:noFill/>
        </p:spPr>
        <p:txBody>
          <a:bodyPr wrap="square" lIns="45720" rIns="45720" tIns="27432" bIns="27432" anchor="t">
            <a:spAutoFit/>
          </a:bodyPr>
          <a:lstStyle/>
          <a:p>
            <a:pPr algn="l">
              <a:spcAft>
                <a:spcPts val="600"/>
              </a:spcAft>
            </a:pPr>
            <a:r>
              <a:rPr sz="1700" b="1" i="0">
                <a:solidFill>
                  <a:srgbClr val="D41348"/>
                </a:solidFill>
              </a:rPr>
              <a:t>Why?</a:t>
            </a:r>
          </a:p>
        </p:txBody>
      </p:sp>
      <p:sp>
        <p:nvSpPr>
          <p:cNvPr id="18" name="why card body"/>
          <p:cNvSpPr txBox="1"/>
          <p:nvPr/>
        </p:nvSpPr>
        <p:spPr>
          <a:xfrm>
            <a:off x="6876288" y="3840480"/>
            <a:ext cx="4626864" cy="2331720"/>
          </a:xfrm>
          <a:prstGeom prst="rect">
            <a:avLst/>
          </a:prstGeom>
          <a:noFill/>
        </p:spPr>
        <p:txBody>
          <a:bodyPr wrap="square" lIns="45720" rIns="45720" tIns="27432" bIns="27432" anchor="t">
            <a:spAutoFit/>
          </a:bodyPr>
          <a:lstStyle/>
          <a:p>
            <a:pPr algn="l" marL="256032" indent="-256032">
              <a:spcAft>
                <a:spcPts val="600"/>
              </a:spcAft>
              <a:buFont typeface="Arial"/>
              <a:buChar char="•"/>
            </a:pPr>
            <a:r>
              <a:rPr sz="1400" b="0" i="0">
                <a:solidFill>
                  <a:srgbClr val="0E2841"/>
                </a:solidFill>
              </a:rPr>
              <a:t>Dot notation flattens the array</a:t>
            </a:r>
          </a:p>
          <a:p>
            <a:pPr algn="l" marL="256032" indent="-256032">
              <a:spcAft>
                <a:spcPts val="600"/>
              </a:spcAft>
              <a:buFont typeface="Arial"/>
              <a:buChar char="•"/>
            </a:pPr>
            <a:r>
              <a:rPr sz="1400" b="0" i="0">
                <a:solidFill>
                  <a:srgbClr val="0E2841"/>
                </a:solidFill>
              </a:rPr>
              <a:t>→ condition 1 may match element A, condition 2 element B</a:t>
            </a:r>
          </a:p>
          <a:p>
            <a:pPr algn="l" marL="256032" indent="-256032">
              <a:spcAft>
                <a:spcPts val="600"/>
              </a:spcAft>
              <a:buFont typeface="Arial"/>
              <a:buChar char="•"/>
            </a:pPr>
            <a:r>
              <a:rPr sz="1400" b="0" i="0">
                <a:solidFill>
                  <a:srgbClr val="0E2841"/>
                </a:solidFill>
              </a:rPr>
              <a:t>It is </a:t>
            </a:r>
            <a:r>
              <a:rPr sz="1400" b="1" i="0">
                <a:solidFill>
                  <a:srgbClr val="0E2841"/>
                </a:solidFill>
              </a:rPr>
              <a:t>silent</a:t>
            </a:r>
            <a:r>
              <a:rPr sz="1400" b="0" i="0">
                <a:solidFill>
                  <a:srgbClr val="0E2841"/>
                </a:solidFill>
              </a:rPr>
              <a:t>: no error, just a wrong count</a:t>
            </a:r>
          </a:p>
        </p:txBody>
      </p:sp>
      <p:sp>
        <p:nvSpPr>
          <p:cNvPr id="19" name="elem note"/>
          <p:cNvSpPr txBox="1"/>
          <p:nvPr/>
        </p:nvSpPr>
        <p:spPr>
          <a:xfrm>
            <a:off x="548640" y="4709160"/>
            <a:ext cx="5852160" cy="1554480"/>
          </a:xfrm>
          <a:prstGeom prst="rect">
            <a:avLst/>
          </a:prstGeom>
          <a:noFill/>
        </p:spPr>
        <p:txBody>
          <a:bodyPr wrap="square" lIns="45720" rIns="45720" tIns="27432" bIns="27432" anchor="t">
            <a:spAutoFit/>
          </a:bodyPr>
          <a:lstStyle/>
          <a:p>
            <a:pPr algn="l">
              <a:spcAft>
                <a:spcPts val="600"/>
              </a:spcAft>
            </a:pPr>
            <a:r>
              <a:rPr sz="1600" b="0" i="0">
                <a:solidFill>
                  <a:srgbClr val="595959"/>
                </a:solidFill>
              </a:rPr>
              <a:t>Same idea when updating: use </a:t>
            </a:r>
            <a:r>
              <a:rPr sz="1600" b="0" i="0">
                <a:solidFill>
                  <a:srgbClr val="595959"/>
                </a:solidFill>
                <a:latin typeface="Courier New"/>
              </a:rPr>
              <a:t>arrayFilters</a:t>
            </a:r>
            <a:r>
              <a:rPr sz="1600" b="0" i="0">
                <a:solidFill>
                  <a:srgbClr val="595959"/>
                </a:solidFill>
              </a:rPr>
              <a:t> to change only the matching elements.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Update: operators, computed updates, arrays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UPDATE</a:t>
            </a:r>
          </a:p>
        </p:txBody>
      </p:sp>
      <p:graphicFrame>
        <p:nvGraphicFramePr>
          <p:cNvPr id="6" name="update ops"/>
          <p:cNvGraphicFramePr>
            <a:graphicFrameLocks noGrp="1"/>
          </p:cNvGraphicFramePr>
          <p:nvPr/>
        </p:nvGraphicFramePr>
        <p:xfrm>
          <a:off x="548640" y="1371600"/>
          <a:ext cx="5669280" cy="2194560"/>
        </p:xfrm>
        <a:graphic>
          <a:graphicData uri="http://schemas.openxmlformats.org/drawingml/2006/table">
            <a:tbl>
              <a:tblPr firstRow="0" bandRow="0">
                <a:tableStyleId>{5C22544A-7EE6-4342-B048-85BDC9FD1C3A}</a:tableStyleId>
              </a:tblPr>
              <a:tblGrid>
                <a:gridCol w="2560320"/>
                <a:gridCol w="3108960"/>
              </a:tblGrid>
              <a:tr h="365760">
                <a:tc>
                  <a:txBody>
                    <a:bodyPr wrap="square"/>
                    <a:lstStyle/>
                    <a:p>
                      <a:r>
                        <a:rPr sz="1300" b="1" i="0">
                          <a:solidFill>
                            <a:srgbClr val="FFFFFF"/>
                          </a:solidFill>
                        </a:rPr>
                        <a:t>operator</a:t>
                      </a:r>
                    </a:p>
                  </a:txBody>
                  <a:tcPr marL="73152" marR="73152" marT="36576" marB="36576" anchor="ctr">
                    <a:solidFill>
                      <a:srgbClr val="0E2841"/>
                    </a:solidFill>
                  </a:tcPr>
                </a:tc>
                <a:tc>
                  <a:txBody>
                    <a:bodyPr wrap="square"/>
                    <a:lstStyle/>
                    <a:p>
                      <a:r>
                        <a:rPr sz="1300" b="1" i="0">
                          <a:solidFill>
                            <a:srgbClr val="FFFFFF"/>
                          </a:solidFill>
                        </a:rPr>
                        <a:t>effect</a:t>
                      </a:r>
                    </a:p>
                  </a:txBody>
                  <a:tcPr marL="73152" marR="73152" marT="36576" marB="36576" anchor="ctr">
                    <a:solidFill>
                      <a:srgbClr val="0E2841"/>
                    </a:solidFill>
                  </a:tcPr>
                </a:tc>
              </a:tr>
              <a:tr h="365760">
                <a:tc>
                  <a:txBody>
                    <a:bodyPr wrap="square"/>
                    <a:lstStyle/>
                    <a:p>
                      <a:r>
                        <a:rPr sz="1300" b="0" i="0">
                          <a:solidFill>
                            <a:srgbClr val="156082"/>
                          </a:solidFill>
                          <a:latin typeface="Courier New"/>
                        </a:rPr>
                        <a:t>$set</a:t>
                      </a:r>
                      <a:r>
                        <a:rPr sz="1300" b="0" i="0">
                          <a:solidFill>
                            <a:srgbClr val="0E2841"/>
                          </a:solidFill>
                        </a:rPr>
                        <a:t> / </a:t>
                      </a:r>
                      <a:r>
                        <a:rPr sz="1300" b="0" i="0">
                          <a:solidFill>
                            <a:srgbClr val="156082"/>
                          </a:solidFill>
                          <a:latin typeface="Courier New"/>
                        </a:rPr>
                        <a:t>$unset</a:t>
                      </a:r>
                    </a:p>
                  </a:txBody>
                  <a:tcPr marL="73152" marR="73152" marT="36576" marB="36576" anchor="ctr">
                    <a:solidFill>
                      <a:srgbClr val="FFFFFF"/>
                    </a:solidFill>
                  </a:tcPr>
                </a:tc>
                <a:tc>
                  <a:txBody>
                    <a:bodyPr wrap="square"/>
                    <a:lstStyle/>
                    <a:p>
                      <a:r>
                        <a:rPr sz="1300" b="0" i="0">
                          <a:solidFill>
                            <a:srgbClr val="0E2841"/>
                          </a:solidFill>
                        </a:rPr>
                        <a:t>set or add / remove a field</a:t>
                      </a:r>
                    </a:p>
                  </a:txBody>
                  <a:tcPr marL="73152" marR="73152" marT="36576" marB="36576" anchor="ctr">
                    <a:solidFill>
                      <a:srgbClr val="FFFFFF"/>
                    </a:solidFill>
                  </a:tcPr>
                </a:tc>
              </a:tr>
              <a:tr h="365760">
                <a:tc>
                  <a:txBody>
                    <a:bodyPr wrap="square"/>
                    <a:lstStyle/>
                    <a:p>
                      <a:r>
                        <a:rPr sz="1300" b="0" i="0">
                          <a:solidFill>
                            <a:srgbClr val="156082"/>
                          </a:solidFill>
                          <a:latin typeface="Courier New"/>
                        </a:rPr>
                        <a:t>$inc</a:t>
                      </a:r>
                    </a:p>
                  </a:txBody>
                  <a:tcPr marL="73152" marR="73152" marT="36576" marB="36576" anchor="ctr">
                    <a:solidFill>
                      <a:srgbClr val="F2F5F9"/>
                    </a:solidFill>
                  </a:tcPr>
                </a:tc>
                <a:tc>
                  <a:txBody>
                    <a:bodyPr wrap="square"/>
                    <a:lstStyle/>
                    <a:p>
                      <a:r>
                        <a:rPr sz="1300" b="0" i="0">
                          <a:solidFill>
                            <a:srgbClr val="0E2841"/>
                          </a:solidFill>
                        </a:rPr>
                        <a:t>add a number</a:t>
                      </a:r>
                    </a:p>
                  </a:txBody>
                  <a:tcPr marL="73152" marR="73152" marT="36576" marB="36576" anchor="ctr">
                    <a:solidFill>
                      <a:srgbClr val="F2F5F9"/>
                    </a:solidFill>
                  </a:tcPr>
                </a:tc>
              </a:tr>
              <a:tr h="365760">
                <a:tc>
                  <a:txBody>
                    <a:bodyPr wrap="square"/>
                    <a:lstStyle/>
                    <a:p>
                      <a:r>
                        <a:rPr sz="1300" b="0" i="0">
                          <a:solidFill>
                            <a:srgbClr val="156082"/>
                          </a:solidFill>
                          <a:latin typeface="Courier New"/>
                        </a:rPr>
                        <a:t>$rename</a:t>
                      </a:r>
                    </a:p>
                  </a:txBody>
                  <a:tcPr marL="73152" marR="73152" marT="36576" marB="36576" anchor="ctr">
                    <a:solidFill>
                      <a:srgbClr val="FFFFFF"/>
                    </a:solidFill>
                  </a:tcPr>
                </a:tc>
                <a:tc>
                  <a:txBody>
                    <a:bodyPr wrap="square"/>
                    <a:lstStyle/>
                    <a:p>
                      <a:r>
                        <a:rPr sz="1300" b="0" i="0">
                          <a:solidFill>
                            <a:srgbClr val="0E2841"/>
                          </a:solidFill>
                        </a:rPr>
                        <a:t>rename a field</a:t>
                      </a:r>
                    </a:p>
                  </a:txBody>
                  <a:tcPr marL="73152" marR="73152" marT="36576" marB="36576" anchor="ctr">
                    <a:solidFill>
                      <a:srgbClr val="FFFFFF"/>
                    </a:solidFill>
                  </a:tcPr>
                </a:tc>
              </a:tr>
              <a:tr h="365760">
                <a:tc>
                  <a:txBody>
                    <a:bodyPr wrap="square"/>
                    <a:lstStyle/>
                    <a:p>
                      <a:r>
                        <a:rPr sz="1300" b="0" i="0">
                          <a:solidFill>
                            <a:srgbClr val="156082"/>
                          </a:solidFill>
                          <a:latin typeface="Courier New"/>
                        </a:rPr>
                        <a:t>$push</a:t>
                      </a:r>
                      <a:r>
                        <a:rPr sz="1300" b="0" i="0">
                          <a:solidFill>
                            <a:srgbClr val="0E2841"/>
                          </a:solidFill>
                        </a:rPr>
                        <a:t> / </a:t>
                      </a:r>
                      <a:r>
                        <a:rPr sz="1300" b="0" i="0">
                          <a:solidFill>
                            <a:srgbClr val="156082"/>
                          </a:solidFill>
                          <a:latin typeface="Courier New"/>
                        </a:rPr>
                        <a:t>$addToSet</a:t>
                      </a:r>
                    </a:p>
                  </a:txBody>
                  <a:tcPr marL="73152" marR="73152" marT="36576" marB="36576" anchor="ctr">
                    <a:solidFill>
                      <a:srgbClr val="F2F5F9"/>
                    </a:solidFill>
                  </a:tcPr>
                </a:tc>
                <a:tc>
                  <a:txBody>
                    <a:bodyPr wrap="square"/>
                    <a:lstStyle/>
                    <a:p>
                      <a:r>
                        <a:rPr sz="1300" b="0" i="0">
                          <a:solidFill>
                            <a:srgbClr val="0E2841"/>
                          </a:solidFill>
                        </a:rPr>
                        <a:t>append / append if absent</a:t>
                      </a:r>
                    </a:p>
                  </a:txBody>
                  <a:tcPr marL="73152" marR="73152" marT="36576" marB="36576" anchor="ctr">
                    <a:solidFill>
                      <a:srgbClr val="F2F5F9"/>
                    </a:solidFill>
                  </a:tcPr>
                </a:tc>
              </a:tr>
              <a:tr h="365760">
                <a:tc>
                  <a:txBody>
                    <a:bodyPr wrap="square"/>
                    <a:lstStyle/>
                    <a:p>
                      <a:r>
                        <a:rPr sz="1300" b="0" i="0">
                          <a:solidFill>
                            <a:srgbClr val="156082"/>
                          </a:solidFill>
                          <a:latin typeface="Courier New"/>
                        </a:rPr>
                        <a:t>$pull</a:t>
                      </a:r>
                    </a:p>
                  </a:txBody>
                  <a:tcPr marL="73152" marR="73152" marT="36576" marB="36576" anchor="ctr">
                    <a:solidFill>
                      <a:srgbClr val="FFFFFF"/>
                    </a:solidFill>
                  </a:tcPr>
                </a:tc>
                <a:tc>
                  <a:txBody>
                    <a:bodyPr wrap="square"/>
                    <a:lstStyle/>
                    <a:p>
                      <a:r>
                        <a:rPr sz="1300" b="0" i="0">
                          <a:solidFill>
                            <a:srgbClr val="0E2841"/>
                          </a:solidFill>
                        </a:rPr>
                        <a:t>remove matching array elements</a:t>
                      </a:r>
                    </a:p>
                  </a:txBody>
                  <a:tcPr marL="73152" marR="73152" marT="36576" marB="36576" anchor="ctr">
                    <a:solidFill>
                      <a:srgbClr val="FFFFFF"/>
                    </a:solidFill>
                  </a:tcPr>
                </a:tc>
              </a:tr>
            </a:tbl>
          </a:graphicData>
        </a:graphic>
      </p:graphicFrame>
      <p:sp>
        <p:nvSpPr>
          <p:cNvPr id="7" name="update code bg"/>
          <p:cNvSpPr/>
          <p:nvPr/>
        </p:nvSpPr>
        <p:spPr>
          <a:xfrm>
            <a:off x="548640" y="3840480"/>
            <a:ext cx="5669280" cy="1828800"/>
          </a:xfrm>
          <a:prstGeom prst="roundRect">
            <a:avLst>
              <a:gd name="adj" fmla="val 2500"/>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update code"/>
          <p:cNvSpPr txBox="1"/>
          <p:nvPr/>
        </p:nvSpPr>
        <p:spPr>
          <a:xfrm>
            <a:off x="640080" y="3904488"/>
            <a:ext cx="5486400" cy="170078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flt = {"filter": "PASS", "qual": {"$gte": 30}}</a:t>
            </a:r>
          </a:p>
          <a:p>
            <a:pPr algn="l">
              <a:spcAft>
                <a:spcPts val="0"/>
              </a:spcAft>
            </a:pPr>
            <a:r>
              <a:rPr sz="1200" b="0" i="0">
                <a:solidFill>
                  <a:srgbClr val="1F2937"/>
                </a:solidFill>
                <a:latin typeface="Courier New"/>
              </a:rPr>
              <a:t>variants.count_documents(flt)       # look first</a:t>
            </a:r>
          </a:p>
          <a:p>
            <a:pPr algn="l">
              <a:spcAft>
                <a:spcPts val="0"/>
              </a:spcAft>
            </a:pPr>
            <a:r>
              <a:rPr sz="1200" b="0" i="0">
                <a:solidFill>
                  <a:srgbClr val="1F2937"/>
                </a:solidFill>
                <a:latin typeface="Courier New"/>
              </a:rPr>
              <a:t>r = variants.update_many(</a:t>
            </a:r>
          </a:p>
          <a:p>
            <a:pPr algn="l">
              <a:spcAft>
                <a:spcPts val="0"/>
              </a:spcAft>
            </a:pPr>
            <a:r>
              <a:rPr sz="1200" b="0" i="0">
                <a:solidFill>
                  <a:srgbClr val="1F2937"/>
                </a:solidFill>
                <a:latin typeface="Courier New"/>
              </a:rPr>
              <a:t>    flt, {"$set": {"reviewed": False}})</a:t>
            </a:r>
          </a:p>
          <a:p>
            <a:pPr algn="l">
              <a:spcAft>
                <a:spcPts val="0"/>
              </a:spcAft>
            </a:pPr>
            <a:r>
              <a:rPr sz="1200" b="0" i="0">
                <a:solidFill>
                  <a:srgbClr val="1F2937"/>
                </a:solidFill>
                <a:latin typeface="Courier New"/>
              </a:rPr>
              <a:t>r.matched_count, r.modified_count   # 191, 191</a:t>
            </a:r>
          </a:p>
          <a:p>
            <a:pPr algn="l">
              <a:spcAft>
                <a:spcPts val="0"/>
              </a:spcAft>
            </a:pPr>
            <a:r>
              <a:rPr sz="1200" b="0" i="0">
                <a:solidFill>
                  <a:srgbClr val="1F2937"/>
                </a:solidFill>
                <a:latin typeface="Courier New"/>
              </a:rPr>
              <a:t># run it again: matched 191, modified 0</a:t>
            </a:r>
          </a:p>
        </p:txBody>
      </p:sp>
      <p:sp>
        <p:nvSpPr>
          <p:cNvPr id="9" name="pipeline update bg"/>
          <p:cNvSpPr/>
          <p:nvPr/>
        </p:nvSpPr>
        <p:spPr>
          <a:xfrm>
            <a:off x="6400800" y="1371600"/>
            <a:ext cx="5212080" cy="1874519"/>
          </a:xfrm>
          <a:prstGeom prst="roundRect">
            <a:avLst>
              <a:gd name="adj" fmla="val 2439"/>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pipeline update"/>
          <p:cNvSpPr txBox="1"/>
          <p:nvPr/>
        </p:nvSpPr>
        <p:spPr>
          <a:xfrm>
            <a:off x="6492240" y="1435608"/>
            <a:ext cx="5029200" cy="1746503"/>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 a LIST = a pipeline: compute from other fields</a:t>
            </a:r>
          </a:p>
          <a:p>
            <a:pPr algn="l">
              <a:spcAft>
                <a:spcPts val="0"/>
              </a:spcAft>
            </a:pPr>
            <a:r>
              <a:rPr sz="1200" b="0" i="0">
                <a:solidFill>
                  <a:srgbClr val="1F2937"/>
                </a:solidFill>
                <a:latin typeface="Courier New"/>
              </a:rPr>
              <a:t>variants.update_many({"qual": {"$ne": None}}, [</a:t>
            </a:r>
          </a:p>
          <a:p>
            <a:pPr algn="l">
              <a:spcAft>
                <a:spcPts val="0"/>
              </a:spcAft>
            </a:pPr>
            <a:r>
              <a:rPr sz="1200" b="0" i="0">
                <a:solidFill>
                  <a:srgbClr val="1F2937"/>
                </a:solidFill>
                <a:latin typeface="Courier New"/>
              </a:rPr>
              <a:t>  {"$set": {"is_high_quality": {"$and": [</a:t>
            </a:r>
          </a:p>
          <a:p>
            <a:pPr algn="l">
              <a:spcAft>
                <a:spcPts val="0"/>
              </a:spcAft>
            </a:pPr>
            <a:r>
              <a:rPr sz="1200" b="0" i="0">
                <a:solidFill>
                  <a:srgbClr val="1F2937"/>
                </a:solidFill>
                <a:latin typeface="Courier New"/>
              </a:rPr>
              <a:t>      {"$gte": ["$qual", 30]},</a:t>
            </a:r>
          </a:p>
          <a:p>
            <a:pPr algn="l">
              <a:spcAft>
                <a:spcPts val="0"/>
              </a:spcAft>
            </a:pPr>
            <a:r>
              <a:rPr sz="1200" b="0" i="0">
                <a:solidFill>
                  <a:srgbClr val="1F2937"/>
                </a:solidFill>
                <a:latin typeface="Courier New"/>
              </a:rPr>
              <a:t>      {"$eq": ["$filter", "PASS"]}]}}}])</a:t>
            </a:r>
          </a:p>
        </p:txBody>
      </p:sp>
      <p:sp>
        <p:nvSpPr>
          <p:cNvPr id="11" name="arrayfilters bg"/>
          <p:cNvSpPr/>
          <p:nvPr/>
        </p:nvSpPr>
        <p:spPr>
          <a:xfrm>
            <a:off x="6400800" y="3429000"/>
            <a:ext cx="5212080" cy="1600200"/>
          </a:xfrm>
          <a:prstGeom prst="roundRect">
            <a:avLst>
              <a:gd name="adj" fmla="val 2857"/>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rrayfilters"/>
          <p:cNvSpPr txBox="1"/>
          <p:nvPr/>
        </p:nvSpPr>
        <p:spPr>
          <a:xfrm>
            <a:off x="6492240" y="3493008"/>
            <a:ext cx="5029200" cy="147218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 only the matching ARRAY elements</a:t>
            </a:r>
          </a:p>
          <a:p>
            <a:pPr algn="l">
              <a:spcAft>
                <a:spcPts val="0"/>
              </a:spcAft>
            </a:pPr>
            <a:r>
              <a:rPr sz="1200" b="0" i="0">
                <a:solidFill>
                  <a:srgbClr val="1F2937"/>
                </a:solidFill>
                <a:latin typeface="Courier New"/>
              </a:rPr>
              <a:t>variants.update_many({}, {"$set":</a:t>
            </a:r>
          </a:p>
          <a:p>
            <a:pPr algn="l">
              <a:spcAft>
                <a:spcPts val="0"/>
              </a:spcAft>
            </a:pPr>
            <a:r>
              <a:rPr sz="1200" b="0" i="0">
                <a:solidFill>
                  <a:srgbClr val="1F2937"/>
                </a:solidFill>
                <a:latin typeface="Courier New"/>
              </a:rPr>
              <a:t>    {"calls.$[c].low_gq": True}},</a:t>
            </a:r>
          </a:p>
          <a:p>
            <a:pPr algn="l">
              <a:spcAft>
                <a:spcPts val="0"/>
              </a:spcAft>
            </a:pPr>
            <a:r>
              <a:rPr sz="1200" b="0" i="0">
                <a:solidFill>
                  <a:srgbClr val="1F2937"/>
                </a:solidFill>
                <a:latin typeface="Courier New"/>
              </a:rPr>
              <a:t>    array_filters=[{"c.gq": {"$lt": 20}}])</a:t>
            </a:r>
          </a:p>
        </p:txBody>
      </p:sp>
      <p:sp>
        <p:nvSpPr>
          <p:cNvPr id="13" name="update note"/>
          <p:cNvSpPr txBox="1"/>
          <p:nvPr/>
        </p:nvSpPr>
        <p:spPr>
          <a:xfrm>
            <a:off x="6400800" y="5212080"/>
            <a:ext cx="5212080" cy="914400"/>
          </a:xfrm>
          <a:prstGeom prst="rect">
            <a:avLst/>
          </a:prstGeom>
          <a:noFill/>
        </p:spPr>
        <p:txBody>
          <a:bodyPr wrap="square" lIns="45720" rIns="45720" tIns="27432" bIns="27432" anchor="t">
            <a:spAutoFit/>
          </a:bodyPr>
          <a:lstStyle/>
          <a:p>
            <a:pPr algn="l">
              <a:spcAft>
                <a:spcPts val="600"/>
              </a:spcAft>
            </a:pPr>
            <a:r>
              <a:rPr sz="1400" b="0" i="0">
                <a:solidFill>
                  <a:srgbClr val="595959"/>
                </a:solidFill>
                <a:latin typeface="Courier New"/>
              </a:rPr>
              <a:t>matched</a:t>
            </a:r>
            <a:r>
              <a:rPr sz="1400" b="0" i="0">
                <a:solidFill>
                  <a:srgbClr val="595959"/>
                </a:solidFill>
              </a:rPr>
              <a:t> ≠ </a:t>
            </a:r>
            <a:r>
              <a:rPr sz="1400" b="0" i="0">
                <a:solidFill>
                  <a:srgbClr val="595959"/>
                </a:solidFill>
                <a:latin typeface="Courier New"/>
              </a:rPr>
              <a:t>modified</a:t>
            </a:r>
            <a:r>
              <a:rPr sz="1400" b="0" i="0">
                <a:solidFill>
                  <a:srgbClr val="595959"/>
                </a:solidFill>
              </a:rPr>
              <a:t>: updating to the same value changes nothing. Single-document updates are </a:t>
            </a:r>
            <a:r>
              <a:rPr sz="1400" b="1" i="0">
                <a:solidFill>
                  <a:srgbClr val="595959"/>
                </a:solidFill>
              </a:rPr>
              <a:t>atomic</a:t>
            </a:r>
            <a:r>
              <a:rPr sz="1400" b="0" i="0">
                <a:solidFill>
                  <a:srgbClr val="595959"/>
                </a:solidFill>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Delete with guard-rails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DELETE</a:t>
            </a:r>
          </a:p>
        </p:txBody>
      </p:sp>
      <p:sp>
        <p:nvSpPr>
          <p:cNvPr id="6" name="s1"/>
          <p:cNvSpPr/>
          <p:nvPr/>
        </p:nvSpPr>
        <p:spPr>
          <a:xfrm>
            <a:off x="548640" y="1371600"/>
            <a:ext cx="2651760" cy="2103120"/>
          </a:xfrm>
          <a:prstGeom prst="roundRect">
            <a:avLst>
              <a:gd name="adj" fmla="val 260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n1"/>
          <p:cNvSpPr/>
          <p:nvPr/>
        </p:nvSpPr>
        <p:spPr>
          <a:xfrm>
            <a:off x="658368" y="1481328"/>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1</a:t>
            </a:r>
          </a:p>
        </p:txBody>
      </p:sp>
      <p:sp>
        <p:nvSpPr>
          <p:cNvPr id="8" name="h1"/>
          <p:cNvSpPr txBox="1"/>
          <p:nvPr/>
        </p:nvSpPr>
        <p:spPr>
          <a:xfrm>
            <a:off x="1207007" y="1481328"/>
            <a:ext cx="1920240" cy="457200"/>
          </a:xfrm>
          <a:prstGeom prst="rect">
            <a:avLst/>
          </a:prstGeom>
          <a:noFill/>
        </p:spPr>
        <p:txBody>
          <a:bodyPr wrap="square" lIns="45720" rIns="45720" tIns="27432" bIns="27432" anchor="ctr">
            <a:spAutoFit/>
          </a:bodyPr>
          <a:lstStyle/>
          <a:p>
            <a:pPr algn="l">
              <a:spcAft>
                <a:spcPts val="600"/>
              </a:spcAft>
            </a:pPr>
            <a:r>
              <a:rPr sz="2000" b="1" i="0">
                <a:solidFill>
                  <a:srgbClr val="156082"/>
                </a:solidFill>
              </a:rPr>
              <a:t>Count</a:t>
            </a:r>
          </a:p>
        </p:txBody>
      </p:sp>
      <p:sp>
        <p:nvSpPr>
          <p:cNvPr id="9" name="c1"/>
          <p:cNvSpPr txBox="1"/>
          <p:nvPr/>
        </p:nvSpPr>
        <p:spPr>
          <a:xfrm>
            <a:off x="658368" y="2103120"/>
            <a:ext cx="2468880" cy="457200"/>
          </a:xfrm>
          <a:prstGeom prst="rect">
            <a:avLst/>
          </a:prstGeom>
          <a:noFill/>
        </p:spPr>
        <p:txBody>
          <a:bodyPr wrap="square" lIns="45720" rIns="45720" tIns="27432" bIns="27432" anchor="t">
            <a:spAutoFit/>
          </a:bodyPr>
          <a:lstStyle/>
          <a:p>
            <a:pPr algn="l">
              <a:spcAft>
                <a:spcPts val="600"/>
              </a:spcAft>
            </a:pPr>
            <a:r>
              <a:rPr sz="1300" b="0" i="0">
                <a:solidFill>
                  <a:srgbClr val="156082"/>
                </a:solidFill>
                <a:latin typeface="Courier New"/>
              </a:rPr>
              <a:t>count_documents(pred)</a:t>
            </a:r>
          </a:p>
        </p:txBody>
      </p:sp>
      <p:sp>
        <p:nvSpPr>
          <p:cNvPr id="10" name="r1"/>
          <p:cNvSpPr txBox="1"/>
          <p:nvPr/>
        </p:nvSpPr>
        <p:spPr>
          <a:xfrm>
            <a:off x="658368" y="2743200"/>
            <a:ext cx="2468880" cy="54864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59 of 250</a:t>
            </a:r>
          </a:p>
        </p:txBody>
      </p:sp>
      <p:sp>
        <p:nvSpPr>
          <p:cNvPr id="11" name="s2"/>
          <p:cNvSpPr/>
          <p:nvPr/>
        </p:nvSpPr>
        <p:spPr>
          <a:xfrm>
            <a:off x="3346704" y="1371600"/>
            <a:ext cx="2651760" cy="2103120"/>
          </a:xfrm>
          <a:prstGeom prst="roundRect">
            <a:avLst>
              <a:gd name="adj" fmla="val 260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2"/>
          <p:cNvSpPr/>
          <p:nvPr/>
        </p:nvSpPr>
        <p:spPr>
          <a:xfrm>
            <a:off x="3456432" y="1481328"/>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2</a:t>
            </a:r>
          </a:p>
        </p:txBody>
      </p:sp>
      <p:sp>
        <p:nvSpPr>
          <p:cNvPr id="13" name="h2"/>
          <p:cNvSpPr txBox="1"/>
          <p:nvPr/>
        </p:nvSpPr>
        <p:spPr>
          <a:xfrm>
            <a:off x="4005072" y="1481328"/>
            <a:ext cx="1920240" cy="457200"/>
          </a:xfrm>
          <a:prstGeom prst="rect">
            <a:avLst/>
          </a:prstGeom>
          <a:noFill/>
        </p:spPr>
        <p:txBody>
          <a:bodyPr wrap="square" lIns="45720" rIns="45720" tIns="27432" bIns="27432" anchor="ctr">
            <a:spAutoFit/>
          </a:bodyPr>
          <a:lstStyle/>
          <a:p>
            <a:pPr algn="l">
              <a:spcAft>
                <a:spcPts val="600"/>
              </a:spcAft>
            </a:pPr>
            <a:r>
              <a:rPr sz="2000" b="1" i="0">
                <a:solidFill>
                  <a:srgbClr val="156082"/>
                </a:solidFill>
              </a:rPr>
              <a:t>Look</a:t>
            </a:r>
          </a:p>
        </p:txBody>
      </p:sp>
      <p:sp>
        <p:nvSpPr>
          <p:cNvPr id="14" name="c2"/>
          <p:cNvSpPr txBox="1"/>
          <p:nvPr/>
        </p:nvSpPr>
        <p:spPr>
          <a:xfrm>
            <a:off x="3456432" y="2103120"/>
            <a:ext cx="2468880" cy="457200"/>
          </a:xfrm>
          <a:prstGeom prst="rect">
            <a:avLst/>
          </a:prstGeom>
          <a:noFill/>
        </p:spPr>
        <p:txBody>
          <a:bodyPr wrap="square" lIns="45720" rIns="45720" tIns="27432" bIns="27432" anchor="t">
            <a:spAutoFit/>
          </a:bodyPr>
          <a:lstStyle/>
          <a:p>
            <a:pPr algn="l">
              <a:spcAft>
                <a:spcPts val="600"/>
              </a:spcAft>
            </a:pPr>
            <a:r>
              <a:rPr sz="1300" b="0" i="0">
                <a:solidFill>
                  <a:srgbClr val="156082"/>
                </a:solidFill>
                <a:latin typeface="Courier New"/>
              </a:rPr>
              <a:t>find(pred).limit(4)</a:t>
            </a:r>
          </a:p>
        </p:txBody>
      </p:sp>
      <p:sp>
        <p:nvSpPr>
          <p:cNvPr id="15" name="r2"/>
          <p:cNvSpPr txBox="1"/>
          <p:nvPr/>
        </p:nvSpPr>
        <p:spPr>
          <a:xfrm>
            <a:off x="3456432" y="2743200"/>
            <a:ext cx="2468880" cy="54864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a few examples</a:t>
            </a:r>
          </a:p>
        </p:txBody>
      </p:sp>
      <p:sp>
        <p:nvSpPr>
          <p:cNvPr id="16" name="s3"/>
          <p:cNvSpPr/>
          <p:nvPr/>
        </p:nvSpPr>
        <p:spPr>
          <a:xfrm>
            <a:off x="6144768" y="1371600"/>
            <a:ext cx="2651760" cy="2103120"/>
          </a:xfrm>
          <a:prstGeom prst="roundRect">
            <a:avLst>
              <a:gd name="adj" fmla="val 260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3"/>
          <p:cNvSpPr/>
          <p:nvPr/>
        </p:nvSpPr>
        <p:spPr>
          <a:xfrm>
            <a:off x="6254496" y="1481328"/>
            <a:ext cx="457200" cy="457200"/>
          </a:xfrm>
          <a:prstGeom prst="ellipse">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3</a:t>
            </a:r>
          </a:p>
        </p:txBody>
      </p:sp>
      <p:sp>
        <p:nvSpPr>
          <p:cNvPr id="18" name="h3"/>
          <p:cNvSpPr txBox="1"/>
          <p:nvPr/>
        </p:nvSpPr>
        <p:spPr>
          <a:xfrm>
            <a:off x="6803136" y="1481328"/>
            <a:ext cx="1920240" cy="457200"/>
          </a:xfrm>
          <a:prstGeom prst="rect">
            <a:avLst/>
          </a:prstGeom>
          <a:noFill/>
        </p:spPr>
        <p:txBody>
          <a:bodyPr wrap="square" lIns="45720" rIns="45720" tIns="27432" bIns="27432" anchor="ctr">
            <a:spAutoFit/>
          </a:bodyPr>
          <a:lstStyle/>
          <a:p>
            <a:pPr algn="l">
              <a:spcAft>
                <a:spcPts val="600"/>
              </a:spcAft>
            </a:pPr>
            <a:r>
              <a:rPr sz="2000" b="1" i="0">
                <a:solidFill>
                  <a:srgbClr val="D41348"/>
                </a:solidFill>
              </a:rPr>
              <a:t>Delete</a:t>
            </a:r>
          </a:p>
        </p:txBody>
      </p:sp>
      <p:sp>
        <p:nvSpPr>
          <p:cNvPr id="19" name="c3"/>
          <p:cNvSpPr txBox="1"/>
          <p:nvPr/>
        </p:nvSpPr>
        <p:spPr>
          <a:xfrm>
            <a:off x="6254496" y="2103120"/>
            <a:ext cx="2468880" cy="457200"/>
          </a:xfrm>
          <a:prstGeom prst="rect">
            <a:avLst/>
          </a:prstGeom>
          <a:noFill/>
        </p:spPr>
        <p:txBody>
          <a:bodyPr wrap="square" lIns="45720" rIns="45720" tIns="27432" bIns="27432" anchor="t">
            <a:spAutoFit/>
          </a:bodyPr>
          <a:lstStyle/>
          <a:p>
            <a:pPr algn="l">
              <a:spcAft>
                <a:spcPts val="600"/>
              </a:spcAft>
            </a:pPr>
            <a:r>
              <a:rPr sz="1300" b="0" i="0">
                <a:solidFill>
                  <a:srgbClr val="156082"/>
                </a:solidFill>
                <a:latin typeface="Courier New"/>
              </a:rPr>
              <a:t>delete_many(pred)</a:t>
            </a:r>
          </a:p>
        </p:txBody>
      </p:sp>
      <p:sp>
        <p:nvSpPr>
          <p:cNvPr id="20" name="r3"/>
          <p:cNvSpPr txBox="1"/>
          <p:nvPr/>
        </p:nvSpPr>
        <p:spPr>
          <a:xfrm>
            <a:off x="6254496" y="2743200"/>
            <a:ext cx="2468880" cy="54864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deleted_count = 59</a:t>
            </a:r>
          </a:p>
        </p:txBody>
      </p:sp>
      <p:sp>
        <p:nvSpPr>
          <p:cNvPr id="21" name="s4"/>
          <p:cNvSpPr/>
          <p:nvPr/>
        </p:nvSpPr>
        <p:spPr>
          <a:xfrm>
            <a:off x="8942832" y="1371600"/>
            <a:ext cx="2651760" cy="2103120"/>
          </a:xfrm>
          <a:prstGeom prst="roundRect">
            <a:avLst>
              <a:gd name="adj" fmla="val 260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n4"/>
          <p:cNvSpPr/>
          <p:nvPr/>
        </p:nvSpPr>
        <p:spPr>
          <a:xfrm>
            <a:off x="9052559" y="1481328"/>
            <a:ext cx="45720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4</a:t>
            </a:r>
          </a:p>
        </p:txBody>
      </p:sp>
      <p:sp>
        <p:nvSpPr>
          <p:cNvPr id="23" name="h4"/>
          <p:cNvSpPr txBox="1"/>
          <p:nvPr/>
        </p:nvSpPr>
        <p:spPr>
          <a:xfrm>
            <a:off x="9601200" y="1481328"/>
            <a:ext cx="1920240" cy="457200"/>
          </a:xfrm>
          <a:prstGeom prst="rect">
            <a:avLst/>
          </a:prstGeom>
          <a:noFill/>
        </p:spPr>
        <p:txBody>
          <a:bodyPr wrap="square" lIns="45720" rIns="45720" tIns="27432" bIns="27432" anchor="ctr">
            <a:spAutoFit/>
          </a:bodyPr>
          <a:lstStyle/>
          <a:p>
            <a:pPr algn="l">
              <a:spcAft>
                <a:spcPts val="600"/>
              </a:spcAft>
            </a:pPr>
            <a:r>
              <a:rPr sz="2000" b="1" i="0">
                <a:solidFill>
                  <a:srgbClr val="2E8B3E"/>
                </a:solidFill>
              </a:rPr>
              <a:t>Verify</a:t>
            </a:r>
          </a:p>
        </p:txBody>
      </p:sp>
      <p:sp>
        <p:nvSpPr>
          <p:cNvPr id="24" name="c4"/>
          <p:cNvSpPr txBox="1"/>
          <p:nvPr/>
        </p:nvSpPr>
        <p:spPr>
          <a:xfrm>
            <a:off x="9052559" y="2103120"/>
            <a:ext cx="2468880" cy="457200"/>
          </a:xfrm>
          <a:prstGeom prst="rect">
            <a:avLst/>
          </a:prstGeom>
          <a:noFill/>
        </p:spPr>
        <p:txBody>
          <a:bodyPr wrap="square" lIns="45720" rIns="45720" tIns="27432" bIns="27432" anchor="t">
            <a:spAutoFit/>
          </a:bodyPr>
          <a:lstStyle/>
          <a:p>
            <a:pPr algn="l">
              <a:spcAft>
                <a:spcPts val="600"/>
              </a:spcAft>
            </a:pPr>
            <a:r>
              <a:rPr sz="1300" b="0" i="0">
                <a:solidFill>
                  <a:srgbClr val="156082"/>
                </a:solidFill>
                <a:latin typeface="Courier New"/>
              </a:rPr>
              <a:t>count_documents(...)</a:t>
            </a:r>
          </a:p>
        </p:txBody>
      </p:sp>
      <p:sp>
        <p:nvSpPr>
          <p:cNvPr id="25" name="r4"/>
          <p:cNvSpPr txBox="1"/>
          <p:nvPr/>
        </p:nvSpPr>
        <p:spPr>
          <a:xfrm>
            <a:off x="9052559" y="2743200"/>
            <a:ext cx="2468880" cy="54864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191 remain</a:t>
            </a:r>
          </a:p>
        </p:txBody>
      </p:sp>
      <p:sp>
        <p:nvSpPr>
          <p:cNvPr id="26" name="delete code bg"/>
          <p:cNvSpPr/>
          <p:nvPr/>
        </p:nvSpPr>
        <p:spPr>
          <a:xfrm>
            <a:off x="548640" y="3749039"/>
            <a:ext cx="5669280" cy="2514600"/>
          </a:xfrm>
          <a:prstGeom prst="roundRect">
            <a:avLst>
              <a:gd name="adj" fmla="val 1818"/>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elete code"/>
          <p:cNvSpPr txBox="1"/>
          <p:nvPr/>
        </p:nvSpPr>
        <p:spPr>
          <a:xfrm>
            <a:off x="640080" y="3813048"/>
            <a:ext cx="5486400" cy="238658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pred = {"$or": [{"qual": {"$lt": 10}},</a:t>
            </a:r>
          </a:p>
          <a:p>
            <a:pPr algn="l">
              <a:spcAft>
                <a:spcPts val="0"/>
              </a:spcAft>
            </a:pPr>
            <a:r>
              <a:rPr sz="1200" b="0" i="0">
                <a:solidFill>
                  <a:srgbClr val="1F2937"/>
                </a:solidFill>
                <a:latin typeface="Courier New"/>
              </a:rPr>
              <a:t>                {"filter": {"$ne": "PASS"}}]}</a:t>
            </a:r>
          </a:p>
          <a:p>
            <a:pPr algn="l">
              <a:spcAft>
                <a:spcPts val="0"/>
              </a:spcAft>
            </a:pPr>
            <a:r>
              <a:rPr sz="1200" b="0" i="0">
                <a:solidFill>
                  <a:srgbClr val="1F2937"/>
                </a:solidFill>
                <a:latin typeface="Courier New"/>
              </a:rPr>
              <a:t>variants.count_documents(pred)       # 59</a:t>
            </a:r>
          </a:p>
          <a:p>
            <a:pPr algn="l">
              <a:spcAft>
                <a:spcPts val="0"/>
              </a:spcAft>
            </a:pPr>
            <a:r>
              <a:rPr sz="1200" b="0" i="0">
                <a:solidFill>
                  <a:srgbClr val="1F2937"/>
                </a:solidFill>
                <a:latin typeface="Courier New"/>
              </a:rPr>
              <a:t>variants.delete_many(pred)           # deleted_count: 59</a:t>
            </a:r>
          </a:p>
          <a:p>
            <a:pPr algn="l">
              <a:spcAft>
                <a:spcPts val="0"/>
              </a:spcAft>
            </a:pPr>
          </a:p>
          <a:p>
            <a:pPr algn="l">
              <a:spcAft>
                <a:spcPts val="0"/>
              </a:spcAft>
            </a:pPr>
            <a:r>
              <a:rPr sz="1200" b="0" i="0">
                <a:solidFill>
                  <a:srgbClr val="1F2937"/>
                </a:solidFill>
                <a:latin typeface="Courier New"/>
              </a:rPr>
              <a:t># soft delete: nothing is lost</a:t>
            </a:r>
          </a:p>
          <a:p>
            <a:pPr algn="l">
              <a:spcAft>
                <a:spcPts val="0"/>
              </a:spcAft>
            </a:pPr>
            <a:r>
              <a:rPr sz="1200" b="0" i="0">
                <a:solidFill>
                  <a:srgbClr val="1F2937"/>
                </a:solidFill>
                <a:latin typeface="Courier New"/>
              </a:rPr>
              <a:t>variants.update_many(pred, {"$set": {"deleted": True}})</a:t>
            </a:r>
          </a:p>
          <a:p>
            <a:pPr algn="l">
              <a:spcAft>
                <a:spcPts val="0"/>
              </a:spcAft>
            </a:pPr>
            <a:r>
              <a:rPr sz="1200" b="0" i="0">
                <a:solidFill>
                  <a:srgbClr val="1F2937"/>
                </a:solidFill>
                <a:latin typeface="Courier New"/>
              </a:rPr>
              <a:t># undo:</a:t>
            </a:r>
          </a:p>
          <a:p>
            <a:pPr algn="l">
              <a:spcAft>
                <a:spcPts val="0"/>
              </a:spcAft>
            </a:pPr>
            <a:r>
              <a:rPr sz="1200" b="0" i="0">
                <a:solidFill>
                  <a:srgbClr val="1F2937"/>
                </a:solidFill>
                <a:latin typeface="Courier New"/>
              </a:rPr>
              <a:t>variants.update_many({"deleted": True},</a:t>
            </a:r>
          </a:p>
          <a:p>
            <a:pPr algn="l">
              <a:spcAft>
                <a:spcPts val="0"/>
              </a:spcAft>
            </a:pPr>
            <a:r>
              <a:rPr sz="1200" b="0" i="0">
                <a:solidFill>
                  <a:srgbClr val="1F2937"/>
                </a:solidFill>
                <a:latin typeface="Courier New"/>
              </a:rPr>
              <a:t>                     {"$unset": {"deleted": ""}})</a:t>
            </a:r>
          </a:p>
        </p:txBody>
      </p:sp>
      <p:sp>
        <p:nvSpPr>
          <p:cNvPr id="28" name="safer bg"/>
          <p:cNvSpPr/>
          <p:nvPr/>
        </p:nvSpPr>
        <p:spPr>
          <a:xfrm>
            <a:off x="6400800" y="3749039"/>
            <a:ext cx="5212080" cy="2514600"/>
          </a:xfrm>
          <a:prstGeom prst="roundRect">
            <a:avLst>
              <a:gd name="adj" fmla="val 2181"/>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afer title"/>
          <p:cNvSpPr txBox="1"/>
          <p:nvPr/>
        </p:nvSpPr>
        <p:spPr>
          <a:xfrm>
            <a:off x="6510528" y="3822191"/>
            <a:ext cx="4992624" cy="411480"/>
          </a:xfrm>
          <a:prstGeom prst="rect">
            <a:avLst/>
          </a:prstGeom>
          <a:noFill/>
        </p:spPr>
        <p:txBody>
          <a:bodyPr wrap="square" lIns="45720" rIns="45720" tIns="27432" bIns="27432" anchor="t">
            <a:spAutoFit/>
          </a:bodyPr>
          <a:lstStyle/>
          <a:p>
            <a:pPr algn="l">
              <a:spcAft>
                <a:spcPts val="600"/>
              </a:spcAft>
            </a:pPr>
            <a:r>
              <a:rPr sz="1700" b="1" i="0">
                <a:solidFill>
                  <a:srgbClr val="D41348"/>
                </a:solidFill>
              </a:rPr>
              <a:t>Safer than deleting</a:t>
            </a:r>
          </a:p>
        </p:txBody>
      </p:sp>
      <p:sp>
        <p:nvSpPr>
          <p:cNvPr id="30" name="safer body"/>
          <p:cNvSpPr txBox="1"/>
          <p:nvPr/>
        </p:nvSpPr>
        <p:spPr>
          <a:xfrm>
            <a:off x="6510528" y="4206240"/>
            <a:ext cx="4992624" cy="1965960"/>
          </a:xfrm>
          <a:prstGeom prst="rect">
            <a:avLst/>
          </a:prstGeom>
          <a:noFill/>
        </p:spPr>
        <p:txBody>
          <a:bodyPr wrap="square" lIns="45720" rIns="45720" tIns="27432" bIns="27432" anchor="t">
            <a:spAutoFit/>
          </a:bodyPr>
          <a:lstStyle/>
          <a:p>
            <a:pPr algn="l" marL="256032" indent="-256032">
              <a:spcAft>
                <a:spcPts val="400"/>
              </a:spcAft>
              <a:buFont typeface="Arial"/>
              <a:buChar char="•"/>
            </a:pPr>
            <a:r>
              <a:rPr sz="1300" b="1" i="0">
                <a:solidFill>
                  <a:srgbClr val="0E2841"/>
                </a:solidFill>
              </a:rPr>
              <a:t>Soft delete</a:t>
            </a:r>
            <a:r>
              <a:rPr sz="1300" b="0" i="0">
                <a:solidFill>
                  <a:srgbClr val="0E2841"/>
                </a:solidFill>
              </a:rPr>
              <a:t>: flag, filter with </a:t>
            </a:r>
            <a:r>
              <a:rPr sz="1300" b="0" i="0">
                <a:solidFill>
                  <a:srgbClr val="156082"/>
                </a:solidFill>
                <a:latin typeface="Courier New"/>
              </a:rPr>
              <a:t>deleted: {$ne: true}</a:t>
            </a:r>
            <a:r>
              <a:rPr sz="1300" b="0" i="0">
                <a:solidFill>
                  <a:srgbClr val="0E2841"/>
                </a:solidFill>
              </a:rPr>
              <a:t>, undo any time</a:t>
            </a:r>
          </a:p>
          <a:p>
            <a:pPr algn="l" marL="256032" indent="-256032">
              <a:spcAft>
                <a:spcPts val="400"/>
              </a:spcAft>
              <a:buFont typeface="Arial"/>
              <a:buChar char="•"/>
            </a:pPr>
            <a:r>
              <a:rPr sz="1300" b="1" i="0">
                <a:solidFill>
                  <a:srgbClr val="0E2841"/>
                </a:solidFill>
              </a:rPr>
              <a:t>Archive first</a:t>
            </a:r>
            <a:r>
              <a:rPr sz="1300" b="0" i="0">
                <a:solidFill>
                  <a:srgbClr val="0E2841"/>
                </a:solidFill>
              </a:rPr>
              <a:t>: copy to another collection (</a:t>
            </a:r>
            <a:r>
              <a:rPr sz="1300" b="0" i="0">
                <a:solidFill>
                  <a:srgbClr val="156082"/>
                </a:solidFill>
                <a:latin typeface="Courier New"/>
              </a:rPr>
              <a:t>$out</a:t>
            </a:r>
            <a:r>
              <a:rPr sz="1300" b="0" i="0">
                <a:solidFill>
                  <a:srgbClr val="0E2841"/>
                </a:solidFill>
              </a:rPr>
              <a:t>)</a:t>
            </a:r>
          </a:p>
          <a:p>
            <a:pPr algn="l" marL="256032" indent="-256032">
              <a:spcAft>
                <a:spcPts val="400"/>
              </a:spcAft>
              <a:buFont typeface="Arial"/>
              <a:buChar char="•"/>
            </a:pPr>
            <a:r>
              <a:rPr sz="1300" b="1" i="0">
                <a:solidFill>
                  <a:srgbClr val="0E2841"/>
                </a:solidFill>
              </a:rPr>
              <a:t>Least privilege</a:t>
            </a:r>
            <a:r>
              <a:rPr sz="1300" b="0" i="0">
                <a:solidFill>
                  <a:srgbClr val="0E2841"/>
                </a:solidFill>
              </a:rPr>
              <a:t>: an account that cannot delete cannot delete by accident</a:t>
            </a:r>
          </a:p>
          <a:p>
            <a:pPr algn="l" marL="256032" indent="-256032">
              <a:spcAft>
                <a:spcPts val="400"/>
              </a:spcAft>
              <a:buFont typeface="Arial"/>
              <a:buChar char="•"/>
            </a:pPr>
            <a:r>
              <a:rPr sz="1300" b="0" i="0">
                <a:solidFill>
                  <a:srgbClr val="156082"/>
                </a:solidFill>
                <a:latin typeface="Courier New"/>
              </a:rPr>
              <a:t>drop()</a:t>
            </a:r>
            <a:r>
              <a:rPr sz="1300" b="0" i="0">
                <a:solidFill>
                  <a:srgbClr val="0E2841"/>
                </a:solidFill>
              </a:rPr>
              <a:t> removes the collection </a:t>
            </a:r>
            <a:r>
              <a:rPr sz="1300" b="1" i="0">
                <a:solidFill>
                  <a:srgbClr val="0E2841"/>
                </a:solidFill>
              </a:rPr>
              <a:t>and</a:t>
            </a:r>
            <a:r>
              <a:rPr sz="1300" b="0" i="0">
                <a:solidFill>
                  <a:srgbClr val="0E2841"/>
                </a:solidFill>
              </a:rPr>
              <a:t> its indexes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Aggregation: a pipeline of stages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AGGREGATE</a:t>
            </a:r>
          </a:p>
        </p:txBody>
      </p:sp>
      <p:sp>
        <p:nvSpPr>
          <p:cNvPr id="6" name="stage 0"/>
          <p:cNvSpPr/>
          <p:nvPr/>
        </p:nvSpPr>
        <p:spPr>
          <a:xfrm>
            <a:off x="548640" y="1371600"/>
            <a:ext cx="1737360" cy="685800"/>
          </a:xfrm>
          <a:prstGeom prst="homePlat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variants</a:t>
            </a:r>
          </a:p>
        </p:txBody>
      </p:sp>
      <p:sp>
        <p:nvSpPr>
          <p:cNvPr id="7" name="stage 1"/>
          <p:cNvSpPr/>
          <p:nvPr/>
        </p:nvSpPr>
        <p:spPr>
          <a:xfrm>
            <a:off x="2414016" y="1371600"/>
            <a:ext cx="1737360" cy="685800"/>
          </a:xfrm>
          <a:prstGeom prst="homePlat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latin typeface="Courier New"/>
              </a:rPr>
              <a:t>$match</a:t>
            </a:r>
          </a:p>
        </p:txBody>
      </p:sp>
      <p:sp>
        <p:nvSpPr>
          <p:cNvPr id="8" name="stage 2"/>
          <p:cNvSpPr/>
          <p:nvPr/>
        </p:nvSpPr>
        <p:spPr>
          <a:xfrm>
            <a:off x="4279392" y="1371600"/>
            <a:ext cx="1737360" cy="685800"/>
          </a:xfrm>
          <a:prstGeom prst="homePlat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latin typeface="Courier New"/>
              </a:rPr>
              <a:t>$group</a:t>
            </a:r>
          </a:p>
        </p:txBody>
      </p:sp>
      <p:sp>
        <p:nvSpPr>
          <p:cNvPr id="9" name="stage 3"/>
          <p:cNvSpPr/>
          <p:nvPr/>
        </p:nvSpPr>
        <p:spPr>
          <a:xfrm>
            <a:off x="6144768" y="1371600"/>
            <a:ext cx="1737360" cy="685800"/>
          </a:xfrm>
          <a:prstGeom prst="homePlat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latin typeface="Courier New"/>
              </a:rPr>
              <a:t>$sort</a:t>
            </a:r>
          </a:p>
        </p:txBody>
      </p:sp>
      <p:sp>
        <p:nvSpPr>
          <p:cNvPr id="10" name="stage 4"/>
          <p:cNvSpPr/>
          <p:nvPr/>
        </p:nvSpPr>
        <p:spPr>
          <a:xfrm>
            <a:off x="8010144" y="1371600"/>
            <a:ext cx="1737360" cy="685800"/>
          </a:xfrm>
          <a:prstGeom prst="homePlat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latin typeface="Courier New"/>
              </a:rPr>
              <a:t>$limit</a:t>
            </a:r>
          </a:p>
        </p:txBody>
      </p:sp>
      <p:sp>
        <p:nvSpPr>
          <p:cNvPr id="11" name="stage 5"/>
          <p:cNvSpPr/>
          <p:nvPr/>
        </p:nvSpPr>
        <p:spPr>
          <a:xfrm>
            <a:off x="9875519" y="1371600"/>
            <a:ext cx="1737360" cy="685800"/>
          </a:xfrm>
          <a:prstGeom prst="homePlat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result</a:t>
            </a:r>
          </a:p>
        </p:txBody>
      </p:sp>
      <p:sp>
        <p:nvSpPr>
          <p:cNvPr id="12" name="pipe note"/>
          <p:cNvSpPr txBox="1"/>
          <p:nvPr/>
        </p:nvSpPr>
        <p:spPr>
          <a:xfrm>
            <a:off x="548640" y="2103120"/>
            <a:ext cx="11064240" cy="365760"/>
          </a:xfrm>
          <a:prstGeom prst="rect">
            <a:avLst/>
          </a:prstGeom>
          <a:noFill/>
        </p:spPr>
        <p:txBody>
          <a:bodyPr wrap="square" lIns="45720" rIns="45720" tIns="27432" bIns="27432" anchor="t">
            <a:spAutoFit/>
          </a:bodyPr>
          <a:lstStyle/>
          <a:p>
            <a:pPr algn="ctr">
              <a:spcAft>
                <a:spcPts val="600"/>
              </a:spcAft>
            </a:pPr>
            <a:r>
              <a:rPr sz="1400" b="0" i="0">
                <a:solidFill>
                  <a:srgbClr val="595959"/>
                </a:solidFill>
              </a:rPr>
              <a:t>filter → summarise → order → cut: the output of each stage is the input of the next</a:t>
            </a:r>
          </a:p>
        </p:txBody>
      </p:sp>
      <p:graphicFrame>
        <p:nvGraphicFramePr>
          <p:cNvPr id="13" name="stages"/>
          <p:cNvGraphicFramePr>
            <a:graphicFrameLocks noGrp="1"/>
          </p:cNvGraphicFramePr>
          <p:nvPr/>
        </p:nvGraphicFramePr>
        <p:xfrm>
          <a:off x="548640" y="2606040"/>
          <a:ext cx="11064240" cy="3419856"/>
        </p:xfrm>
        <a:graphic>
          <a:graphicData uri="http://schemas.openxmlformats.org/drawingml/2006/table">
            <a:tbl>
              <a:tblPr firstRow="0" bandRow="0">
                <a:tableStyleId>{5C22544A-7EE6-4342-B048-85BDC9FD1C3A}</a:tableStyleId>
              </a:tblPr>
              <a:tblGrid>
                <a:gridCol w="2377440"/>
                <a:gridCol w="6035040"/>
                <a:gridCol w="2651760"/>
              </a:tblGrid>
              <a:tr h="347472">
                <a:tc>
                  <a:txBody>
                    <a:bodyPr wrap="square"/>
                    <a:lstStyle/>
                    <a:p>
                      <a:r>
                        <a:rPr sz="1300" b="1" i="0">
                          <a:solidFill>
                            <a:srgbClr val="FFFFFF"/>
                          </a:solidFill>
                        </a:rPr>
                        <a:t>stage</a:t>
                      </a:r>
                    </a:p>
                  </a:txBody>
                  <a:tcPr marL="73152" marR="73152" marT="36576" marB="36576" anchor="ctr">
                    <a:solidFill>
                      <a:srgbClr val="0E2841"/>
                    </a:solidFill>
                  </a:tcPr>
                </a:tc>
                <a:tc>
                  <a:txBody>
                    <a:bodyPr wrap="square"/>
                    <a:lstStyle/>
                    <a:p>
                      <a:r>
                        <a:rPr sz="1300" b="1" i="0">
                          <a:solidFill>
                            <a:srgbClr val="FFFFFF"/>
                          </a:solidFill>
                        </a:rPr>
                        <a:t>does</a:t>
                      </a:r>
                    </a:p>
                  </a:txBody>
                  <a:tcPr marL="73152" marR="73152" marT="36576" marB="36576" anchor="ctr">
                    <a:solidFill>
                      <a:srgbClr val="0E2841"/>
                    </a:solidFill>
                  </a:tcPr>
                </a:tc>
                <a:tc>
                  <a:txBody>
                    <a:bodyPr wrap="square"/>
                    <a:lstStyle/>
                    <a:p>
                      <a:r>
                        <a:rPr sz="1300" b="1" i="0">
                          <a:solidFill>
                            <a:srgbClr val="FFFFFF"/>
                          </a:solidFill>
                        </a:rPr>
                        <a:t>SQL analogue</a:t>
                      </a:r>
                    </a:p>
                  </a:txBody>
                  <a:tcPr marL="73152" marR="73152" marT="36576" marB="36576" anchor="ctr">
                    <a:solidFill>
                      <a:srgbClr val="0E2841"/>
                    </a:solidFill>
                  </a:tcPr>
                </a:tc>
              </a:tr>
              <a:tr h="384048">
                <a:tc>
                  <a:txBody>
                    <a:bodyPr wrap="square"/>
                    <a:lstStyle/>
                    <a:p>
                      <a:r>
                        <a:rPr sz="1300" b="0" i="0">
                          <a:solidFill>
                            <a:srgbClr val="156082"/>
                          </a:solidFill>
                          <a:latin typeface="Courier New"/>
                        </a:rPr>
                        <a:t>$match</a:t>
                      </a:r>
                    </a:p>
                  </a:txBody>
                  <a:tcPr marL="73152" marR="73152" marT="36576" marB="36576" anchor="ctr">
                    <a:solidFill>
                      <a:srgbClr val="FFFFFF"/>
                    </a:solidFill>
                  </a:tcPr>
                </a:tc>
                <a:tc>
                  <a:txBody>
                    <a:bodyPr wrap="square"/>
                    <a:lstStyle/>
                    <a:p>
                      <a:r>
                        <a:rPr sz="1300" b="0" i="0">
                          <a:solidFill>
                            <a:srgbClr val="0E2841"/>
                          </a:solidFill>
                        </a:rPr>
                        <a:t>keep documents matching a filter; </a:t>
                      </a:r>
                      <a:r>
                        <a:rPr sz="1300" b="1" i="0">
                          <a:solidFill>
                            <a:srgbClr val="0E2841"/>
                          </a:solidFill>
                        </a:rPr>
                        <a:t>put it first</a:t>
                      </a:r>
                      <a:r>
                        <a:rPr sz="1300" b="0" i="0">
                          <a:solidFill>
                            <a:srgbClr val="0E2841"/>
                          </a:solidFill>
                        </a:rPr>
                        <a:t> (can use an index)</a:t>
                      </a:r>
                    </a:p>
                  </a:txBody>
                  <a:tcPr marL="73152" marR="73152" marT="36576" marB="36576" anchor="ctr">
                    <a:solidFill>
                      <a:srgbClr val="FFFFFF"/>
                    </a:solidFill>
                  </a:tcPr>
                </a:tc>
                <a:tc>
                  <a:txBody>
                    <a:bodyPr wrap="square"/>
                    <a:lstStyle/>
                    <a:p>
                      <a:r>
                        <a:rPr sz="1300" b="0" i="0">
                          <a:solidFill>
                            <a:srgbClr val="156082"/>
                          </a:solidFill>
                          <a:latin typeface="Courier New"/>
                        </a:rPr>
                        <a:t>WHERE</a:t>
                      </a:r>
                    </a:p>
                  </a:txBody>
                  <a:tcPr marL="73152" marR="73152" marT="36576" marB="36576" anchor="ctr">
                    <a:solidFill>
                      <a:srgbClr val="FFFFFF"/>
                    </a:solidFill>
                  </a:tcPr>
                </a:tc>
              </a:tr>
              <a:tr h="384048">
                <a:tc>
                  <a:txBody>
                    <a:bodyPr wrap="square"/>
                    <a:lstStyle/>
                    <a:p>
                      <a:r>
                        <a:rPr sz="1300" b="0" i="0">
                          <a:solidFill>
                            <a:srgbClr val="156082"/>
                          </a:solidFill>
                          <a:latin typeface="Courier New"/>
                        </a:rPr>
                        <a:t>$group</a:t>
                      </a:r>
                    </a:p>
                  </a:txBody>
                  <a:tcPr marL="73152" marR="73152" marT="36576" marB="36576" anchor="ctr">
                    <a:solidFill>
                      <a:srgbClr val="F2F5F9"/>
                    </a:solidFill>
                  </a:tcPr>
                </a:tc>
                <a:tc>
                  <a:txBody>
                    <a:bodyPr wrap="square"/>
                    <a:lstStyle/>
                    <a:p>
                      <a:r>
                        <a:rPr sz="1300" b="0" i="0">
                          <a:solidFill>
                            <a:srgbClr val="0E2841"/>
                          </a:solidFill>
                        </a:rPr>
                        <a:t>group by a key; </a:t>
                      </a:r>
                      <a:r>
                        <a:rPr sz="1300" b="0" i="0">
                          <a:solidFill>
                            <a:srgbClr val="156082"/>
                          </a:solidFill>
                          <a:latin typeface="Courier New"/>
                        </a:rPr>
                        <a:t>$sum</a:t>
                      </a:r>
                      <a:r>
                        <a:rPr sz="1300" b="0" i="0">
                          <a:solidFill>
                            <a:srgbClr val="0E2841"/>
                          </a:solidFill>
                        </a:rPr>
                        <a:t> </a:t>
                      </a:r>
                      <a:r>
                        <a:rPr sz="1300" b="0" i="0">
                          <a:solidFill>
                            <a:srgbClr val="156082"/>
                          </a:solidFill>
                          <a:latin typeface="Courier New"/>
                        </a:rPr>
                        <a:t>$avg</a:t>
                      </a:r>
                      <a:r>
                        <a:rPr sz="1300" b="0" i="0">
                          <a:solidFill>
                            <a:srgbClr val="0E2841"/>
                          </a:solidFill>
                        </a:rPr>
                        <a:t> </a:t>
                      </a:r>
                      <a:r>
                        <a:rPr sz="1300" b="0" i="0">
                          <a:solidFill>
                            <a:srgbClr val="156082"/>
                          </a:solidFill>
                          <a:latin typeface="Courier New"/>
                        </a:rPr>
                        <a:t>$min</a:t>
                      </a:r>
                      <a:r>
                        <a:rPr sz="1300" b="0" i="0">
                          <a:solidFill>
                            <a:srgbClr val="0E2841"/>
                          </a:solidFill>
                        </a:rPr>
                        <a:t> </a:t>
                      </a:r>
                      <a:r>
                        <a:rPr sz="1300" b="0" i="0">
                          <a:solidFill>
                            <a:srgbClr val="156082"/>
                          </a:solidFill>
                          <a:latin typeface="Courier New"/>
                        </a:rPr>
                        <a:t>$max</a:t>
                      </a:r>
                      <a:r>
                        <a:rPr sz="1300" b="0" i="0">
                          <a:solidFill>
                            <a:srgbClr val="0E2841"/>
                          </a:solidFill>
                        </a:rPr>
                        <a:t> </a:t>
                      </a:r>
                      <a:r>
                        <a:rPr sz="1300" b="0" i="0">
                          <a:solidFill>
                            <a:srgbClr val="156082"/>
                          </a:solidFill>
                          <a:latin typeface="Courier New"/>
                        </a:rPr>
                        <a:t>$push</a:t>
                      </a:r>
                    </a:p>
                  </a:txBody>
                  <a:tcPr marL="73152" marR="73152" marT="36576" marB="36576" anchor="ctr">
                    <a:solidFill>
                      <a:srgbClr val="F2F5F9"/>
                    </a:solidFill>
                  </a:tcPr>
                </a:tc>
                <a:tc>
                  <a:txBody>
                    <a:bodyPr wrap="square"/>
                    <a:lstStyle/>
                    <a:p>
                      <a:r>
                        <a:rPr sz="1300" b="0" i="0">
                          <a:solidFill>
                            <a:srgbClr val="156082"/>
                          </a:solidFill>
                          <a:latin typeface="Courier New"/>
                        </a:rPr>
                        <a:t>GROUP BY</a:t>
                      </a:r>
                    </a:p>
                  </a:txBody>
                  <a:tcPr marL="73152" marR="73152" marT="36576" marB="36576" anchor="ctr">
                    <a:solidFill>
                      <a:srgbClr val="F2F5F9"/>
                    </a:solidFill>
                  </a:tcPr>
                </a:tc>
              </a:tr>
              <a:tr h="384048">
                <a:tc>
                  <a:txBody>
                    <a:bodyPr wrap="square"/>
                    <a:lstStyle/>
                    <a:p>
                      <a:r>
                        <a:rPr sz="1300" b="0" i="0">
                          <a:solidFill>
                            <a:srgbClr val="156082"/>
                          </a:solidFill>
                          <a:latin typeface="Courier New"/>
                        </a:rPr>
                        <a:t>$sort</a:t>
                      </a:r>
                      <a:r>
                        <a:rPr sz="1300" b="0" i="0">
                          <a:solidFill>
                            <a:srgbClr val="0E2841"/>
                          </a:solidFill>
                        </a:rPr>
                        <a:t> </a:t>
                      </a:r>
                      <a:r>
                        <a:rPr sz="1300" b="0" i="0">
                          <a:solidFill>
                            <a:srgbClr val="156082"/>
                          </a:solidFill>
                          <a:latin typeface="Courier New"/>
                        </a:rPr>
                        <a:t>$limit</a:t>
                      </a:r>
                    </a:p>
                  </a:txBody>
                  <a:tcPr marL="73152" marR="73152" marT="36576" marB="36576" anchor="ctr">
                    <a:solidFill>
                      <a:srgbClr val="FFFFFF"/>
                    </a:solidFill>
                  </a:tcPr>
                </a:tc>
                <a:tc>
                  <a:txBody>
                    <a:bodyPr wrap="square"/>
                    <a:lstStyle/>
                    <a:p>
                      <a:r>
                        <a:rPr sz="1300" b="0" i="0">
                          <a:solidFill>
                            <a:srgbClr val="0E2841"/>
                          </a:solidFill>
                        </a:rPr>
                        <a:t>order, cut</a:t>
                      </a:r>
                    </a:p>
                  </a:txBody>
                  <a:tcPr marL="73152" marR="73152" marT="36576" marB="36576" anchor="ctr">
                    <a:solidFill>
                      <a:srgbClr val="FFFFFF"/>
                    </a:solidFill>
                  </a:tcPr>
                </a:tc>
                <a:tc>
                  <a:txBody>
                    <a:bodyPr wrap="square"/>
                    <a:lstStyle/>
                    <a:p>
                      <a:r>
                        <a:rPr sz="1300" b="0" i="0">
                          <a:solidFill>
                            <a:srgbClr val="156082"/>
                          </a:solidFill>
                          <a:latin typeface="Courier New"/>
                        </a:rPr>
                        <a:t>ORDER BY</a:t>
                      </a:r>
                      <a:r>
                        <a:rPr sz="1300" b="0" i="0">
                          <a:solidFill>
                            <a:srgbClr val="0E2841"/>
                          </a:solidFill>
                        </a:rPr>
                        <a:t> </a:t>
                      </a:r>
                      <a:r>
                        <a:rPr sz="1300" b="0" i="0">
                          <a:solidFill>
                            <a:srgbClr val="156082"/>
                          </a:solidFill>
                          <a:latin typeface="Courier New"/>
                        </a:rPr>
                        <a:t>LIMIT</a:t>
                      </a:r>
                    </a:p>
                  </a:txBody>
                  <a:tcPr marL="73152" marR="73152" marT="36576" marB="36576" anchor="ctr">
                    <a:solidFill>
                      <a:srgbClr val="FFFFFF"/>
                    </a:solidFill>
                  </a:tcPr>
                </a:tc>
              </a:tr>
              <a:tr h="384048">
                <a:tc>
                  <a:txBody>
                    <a:bodyPr wrap="square"/>
                    <a:lstStyle/>
                    <a:p>
                      <a:r>
                        <a:rPr sz="1300" b="0" i="0">
                          <a:solidFill>
                            <a:srgbClr val="156082"/>
                          </a:solidFill>
                          <a:latin typeface="Courier New"/>
                        </a:rPr>
                        <a:t>$addFields</a:t>
                      </a:r>
                      <a:r>
                        <a:rPr sz="1300" b="0" i="0">
                          <a:solidFill>
                            <a:srgbClr val="0E2841"/>
                          </a:solidFill>
                        </a:rPr>
                        <a:t> </a:t>
                      </a:r>
                      <a:r>
                        <a:rPr sz="1300" b="0" i="0">
                          <a:solidFill>
                            <a:srgbClr val="156082"/>
                          </a:solidFill>
                          <a:latin typeface="Courier New"/>
                        </a:rPr>
                        <a:t>$project</a:t>
                      </a:r>
                    </a:p>
                  </a:txBody>
                  <a:tcPr marL="73152" marR="73152" marT="36576" marB="36576" anchor="ctr">
                    <a:solidFill>
                      <a:srgbClr val="F2F5F9"/>
                    </a:solidFill>
                  </a:tcPr>
                </a:tc>
                <a:tc>
                  <a:txBody>
                    <a:bodyPr wrap="square"/>
                    <a:lstStyle/>
                    <a:p>
                      <a:r>
                        <a:rPr sz="1300" b="0" i="0">
                          <a:solidFill>
                            <a:srgbClr val="0E2841"/>
                          </a:solidFill>
                        </a:rPr>
                        <a:t>add computed fields / choose fields</a:t>
                      </a:r>
                    </a:p>
                  </a:txBody>
                  <a:tcPr marL="73152" marR="73152" marT="36576" marB="36576" anchor="ctr">
                    <a:solidFill>
                      <a:srgbClr val="F2F5F9"/>
                    </a:solidFill>
                  </a:tcPr>
                </a:tc>
                <a:tc>
                  <a:txBody>
                    <a:bodyPr wrap="square"/>
                    <a:lstStyle/>
                    <a:p>
                      <a:r>
                        <a:rPr sz="1300" b="0" i="0">
                          <a:solidFill>
                            <a:srgbClr val="156082"/>
                          </a:solidFill>
                          <a:latin typeface="Courier New"/>
                        </a:rPr>
                        <a:t>SELECT expr AS x</a:t>
                      </a:r>
                    </a:p>
                  </a:txBody>
                  <a:tcPr marL="73152" marR="73152" marT="36576" marB="36576" anchor="ctr">
                    <a:solidFill>
                      <a:srgbClr val="F2F5F9"/>
                    </a:solidFill>
                  </a:tcPr>
                </a:tc>
              </a:tr>
              <a:tr h="384048">
                <a:tc>
                  <a:txBody>
                    <a:bodyPr wrap="square"/>
                    <a:lstStyle/>
                    <a:p>
                      <a:r>
                        <a:rPr sz="1300" b="0" i="0">
                          <a:solidFill>
                            <a:srgbClr val="156082"/>
                          </a:solidFill>
                          <a:latin typeface="Courier New"/>
                        </a:rPr>
                        <a:t>$unwind</a:t>
                      </a:r>
                    </a:p>
                  </a:txBody>
                  <a:tcPr marL="73152" marR="73152" marT="36576" marB="36576" anchor="ctr">
                    <a:solidFill>
                      <a:srgbClr val="FFFFFF"/>
                    </a:solidFill>
                  </a:tcPr>
                </a:tc>
                <a:tc>
                  <a:txBody>
                    <a:bodyPr wrap="square"/>
                    <a:lstStyle/>
                    <a:p>
                      <a:r>
                        <a:rPr sz="1300" b="0" i="0">
                          <a:solidFill>
                            <a:srgbClr val="0E2841"/>
                          </a:solidFill>
                        </a:rPr>
                        <a:t>one output document </a:t>
                      </a:r>
                      <a:r>
                        <a:rPr sz="1300" b="1" i="0">
                          <a:solidFill>
                            <a:srgbClr val="0E2841"/>
                          </a:solidFill>
                        </a:rPr>
                        <a:t>per array element</a:t>
                      </a:r>
                    </a:p>
                  </a:txBody>
                  <a:tcPr marL="73152" marR="73152" marT="36576" marB="36576" anchor="ctr">
                    <a:solidFill>
                      <a:srgbClr val="FFFFFF"/>
                    </a:solidFill>
                  </a:tcPr>
                </a:tc>
                <a:tc>
                  <a:txBody>
                    <a:bodyPr wrap="square"/>
                    <a:lstStyle/>
                    <a:p>
                      <a:r>
                        <a:rPr sz="1300" b="0" i="0">
                          <a:solidFill>
                            <a:srgbClr val="0E2841"/>
                          </a:solidFill>
                        </a:rPr>
                        <a:t>join with an array</a:t>
                      </a:r>
                    </a:p>
                  </a:txBody>
                  <a:tcPr marL="73152" marR="73152" marT="36576" marB="36576" anchor="ctr">
                    <a:solidFill>
                      <a:srgbClr val="FFFFFF"/>
                    </a:solidFill>
                  </a:tcPr>
                </a:tc>
              </a:tr>
              <a:tr h="384048">
                <a:tc>
                  <a:txBody>
                    <a:bodyPr wrap="square"/>
                    <a:lstStyle/>
                    <a:p>
                      <a:r>
                        <a:rPr sz="1300" b="0" i="0">
                          <a:solidFill>
                            <a:srgbClr val="156082"/>
                          </a:solidFill>
                          <a:latin typeface="Courier New"/>
                        </a:rPr>
                        <a:t>$bucket</a:t>
                      </a:r>
                    </a:p>
                  </a:txBody>
                  <a:tcPr marL="73152" marR="73152" marT="36576" marB="36576" anchor="ctr">
                    <a:solidFill>
                      <a:srgbClr val="F2F5F9"/>
                    </a:solidFill>
                  </a:tcPr>
                </a:tc>
                <a:tc>
                  <a:txBody>
                    <a:bodyPr wrap="square"/>
                    <a:lstStyle/>
                    <a:p>
                      <a:r>
                        <a:rPr sz="1300" b="0" i="0">
                          <a:solidFill>
                            <a:srgbClr val="0E2841"/>
                          </a:solidFill>
                        </a:rPr>
                        <a:t>histogram bins</a:t>
                      </a:r>
                    </a:p>
                  </a:txBody>
                  <a:tcPr marL="73152" marR="73152" marT="36576" marB="36576" anchor="ctr">
                    <a:solidFill>
                      <a:srgbClr val="F2F5F9"/>
                    </a:solidFill>
                  </a:tcPr>
                </a:tc>
                <a:tc>
                  <a:txBody>
                    <a:bodyPr wrap="square"/>
                    <a:lstStyle/>
                    <a:p>
                      <a:r>
                        <a:rPr sz="1300" b="0" i="0">
                          <a:solidFill>
                            <a:srgbClr val="156082"/>
                          </a:solidFill>
                          <a:latin typeface="Courier New"/>
                        </a:rPr>
                        <a:t>CASE WHEN</a:t>
                      </a:r>
                      <a:r>
                        <a:rPr sz="1300" b="0" i="0">
                          <a:solidFill>
                            <a:srgbClr val="0E2841"/>
                          </a:solidFill>
                        </a:rPr>
                        <a:t> + </a:t>
                      </a:r>
                      <a:r>
                        <a:rPr sz="1300" b="0" i="0">
                          <a:solidFill>
                            <a:srgbClr val="156082"/>
                          </a:solidFill>
                          <a:latin typeface="Courier New"/>
                        </a:rPr>
                        <a:t>GROUP BY</a:t>
                      </a:r>
                    </a:p>
                  </a:txBody>
                  <a:tcPr marL="73152" marR="73152" marT="36576" marB="36576" anchor="ctr">
                    <a:solidFill>
                      <a:srgbClr val="F2F5F9"/>
                    </a:solidFill>
                  </a:tcPr>
                </a:tc>
              </a:tr>
              <a:tr h="384048">
                <a:tc>
                  <a:txBody>
                    <a:bodyPr wrap="square"/>
                    <a:lstStyle/>
                    <a:p>
                      <a:r>
                        <a:rPr sz="1300" b="0" i="0">
                          <a:solidFill>
                            <a:srgbClr val="156082"/>
                          </a:solidFill>
                          <a:latin typeface="Courier New"/>
                        </a:rPr>
                        <a:t>$lookup</a:t>
                      </a:r>
                    </a:p>
                  </a:txBody>
                  <a:tcPr marL="73152" marR="73152" marT="36576" marB="36576" anchor="ctr">
                    <a:solidFill>
                      <a:srgbClr val="FFFFFF"/>
                    </a:solidFill>
                  </a:tcPr>
                </a:tc>
                <a:tc>
                  <a:txBody>
                    <a:bodyPr wrap="square"/>
                    <a:lstStyle/>
                    <a:p>
                      <a:r>
                        <a:rPr sz="1300" b="0" i="0">
                          <a:solidFill>
                            <a:srgbClr val="0E2841"/>
                          </a:solidFill>
                        </a:rPr>
                        <a:t>left outer join with another collection (same database)</a:t>
                      </a:r>
                    </a:p>
                  </a:txBody>
                  <a:tcPr marL="73152" marR="73152" marT="36576" marB="36576" anchor="ctr">
                    <a:solidFill>
                      <a:srgbClr val="FFFFFF"/>
                    </a:solidFill>
                  </a:tcPr>
                </a:tc>
                <a:tc>
                  <a:txBody>
                    <a:bodyPr wrap="square"/>
                    <a:lstStyle/>
                    <a:p>
                      <a:r>
                        <a:rPr sz="1300" b="0" i="0">
                          <a:solidFill>
                            <a:srgbClr val="156082"/>
                          </a:solidFill>
                          <a:latin typeface="Courier New"/>
                        </a:rPr>
                        <a:t>LEFT JOIN</a:t>
                      </a:r>
                    </a:p>
                  </a:txBody>
                  <a:tcPr marL="73152" marR="73152" marT="36576" marB="36576" anchor="ctr">
                    <a:solidFill>
                      <a:srgbClr val="FFFFFF"/>
                    </a:solidFill>
                  </a:tcPr>
                </a:tc>
              </a:tr>
              <a:tr h="384048">
                <a:tc>
                  <a:txBody>
                    <a:bodyPr wrap="square"/>
                    <a:lstStyle/>
                    <a:p>
                      <a:r>
                        <a:rPr sz="1300" b="0" i="0">
                          <a:solidFill>
                            <a:srgbClr val="156082"/>
                          </a:solidFill>
                          <a:latin typeface="Courier New"/>
                        </a:rPr>
                        <a:t>$out</a:t>
                      </a:r>
                      <a:r>
                        <a:rPr sz="1300" b="0" i="0">
                          <a:solidFill>
                            <a:srgbClr val="0E2841"/>
                          </a:solidFill>
                        </a:rPr>
                        <a:t> </a:t>
                      </a:r>
                      <a:r>
                        <a:rPr sz="1300" b="0" i="0">
                          <a:solidFill>
                            <a:srgbClr val="156082"/>
                          </a:solidFill>
                          <a:latin typeface="Courier New"/>
                        </a:rPr>
                        <a:t>$merge</a:t>
                      </a:r>
                    </a:p>
                  </a:txBody>
                  <a:tcPr marL="73152" marR="73152" marT="36576" marB="36576" anchor="ctr">
                    <a:solidFill>
                      <a:srgbClr val="F2F5F9"/>
                    </a:solidFill>
                  </a:tcPr>
                </a:tc>
                <a:tc>
                  <a:txBody>
                    <a:bodyPr wrap="square"/>
                    <a:lstStyle/>
                    <a:p>
                      <a:r>
                        <a:rPr sz="1300" b="0" i="0">
                          <a:solidFill>
                            <a:srgbClr val="0E2841"/>
                          </a:solidFill>
                        </a:rPr>
                        <a:t>write the result into a collection</a:t>
                      </a:r>
                    </a:p>
                  </a:txBody>
                  <a:tcPr marL="73152" marR="73152" marT="36576" marB="36576" anchor="ctr">
                    <a:solidFill>
                      <a:srgbClr val="F2F5F9"/>
                    </a:solidFill>
                  </a:tcPr>
                </a:tc>
                <a:tc>
                  <a:txBody>
                    <a:bodyPr wrap="square"/>
                    <a:lstStyle/>
                    <a:p>
                      <a:r>
                        <a:rPr sz="1300" b="0" i="0">
                          <a:solidFill>
                            <a:srgbClr val="156082"/>
                          </a:solidFill>
                          <a:latin typeface="Courier New"/>
                        </a:rPr>
                        <a:t>CREATE TABLE AS</a:t>
                      </a:r>
                    </a:p>
                  </a:txBody>
                  <a:tcPr marL="73152" marR="73152" marT="36576" marB="36576" anchor="ctr">
                    <a:solidFill>
                      <a:srgbClr val="F2F5F9"/>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Aggregation ≈ bcftools stats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AGGREGATE</a:t>
            </a:r>
          </a:p>
        </p:txBody>
      </p:sp>
      <p:pic>
        <p:nvPicPr>
          <p:cNvPr id="6" name="spectrum" descr="mongo_spectrum.png"/>
          <p:cNvPicPr>
            <a:picLocks noChangeAspect="1"/>
          </p:cNvPicPr>
          <p:nvPr/>
        </p:nvPicPr>
        <p:blipFill>
          <a:blip r:embed="rId3"/>
          <a:stretch>
            <a:fillRect/>
          </a:stretch>
        </p:blipFill>
        <p:spPr>
          <a:xfrm>
            <a:off x="911612" y="1325880"/>
            <a:ext cx="4669014" cy="2834640"/>
          </a:xfrm>
          <a:prstGeom prst="rect">
            <a:avLst/>
          </a:prstGeom>
        </p:spPr>
      </p:pic>
      <p:pic>
        <p:nvPicPr>
          <p:cNvPr id="7" name="qual" descr="mongo_qual.png"/>
          <p:cNvPicPr>
            <a:picLocks noChangeAspect="1"/>
          </p:cNvPicPr>
          <p:nvPr/>
        </p:nvPicPr>
        <p:blipFill>
          <a:blip r:embed="rId4"/>
          <a:stretch>
            <a:fillRect/>
          </a:stretch>
        </p:blipFill>
        <p:spPr>
          <a:xfrm>
            <a:off x="6429339" y="1325880"/>
            <a:ext cx="4972121" cy="2834640"/>
          </a:xfrm>
          <a:prstGeom prst="rect">
            <a:avLst/>
          </a:prstGeom>
        </p:spPr>
      </p:pic>
      <p:sp>
        <p:nvSpPr>
          <p:cNvPr id="8" name="spectrum code bg"/>
          <p:cNvSpPr/>
          <p:nvPr/>
        </p:nvSpPr>
        <p:spPr>
          <a:xfrm>
            <a:off x="548640" y="4297680"/>
            <a:ext cx="6675120" cy="1965960"/>
          </a:xfrm>
          <a:prstGeom prst="roundRect">
            <a:avLst>
              <a:gd name="adj" fmla="val 232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pectrum code"/>
          <p:cNvSpPr txBox="1"/>
          <p:nvPr/>
        </p:nvSpPr>
        <p:spPr>
          <a:xfrm>
            <a:off x="640080" y="4361688"/>
            <a:ext cx="6492240" cy="1837943"/>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variants.aggregate([</a:t>
            </a:r>
          </a:p>
          <a:p>
            <a:pPr algn="l">
              <a:spcAft>
                <a:spcPts val="0"/>
              </a:spcAft>
            </a:pPr>
            <a:r>
              <a:rPr sz="1200" b="0" i="0">
                <a:solidFill>
                  <a:srgbClr val="1F2937"/>
                </a:solidFill>
                <a:latin typeface="Courier New"/>
              </a:rPr>
              <a:t>  {"$match": {"type": "SNV"}},</a:t>
            </a:r>
          </a:p>
          <a:p>
            <a:pPr algn="l">
              <a:spcAft>
                <a:spcPts val="0"/>
              </a:spcAft>
            </a:pPr>
            <a:r>
              <a:rPr sz="1200" b="0" i="0">
                <a:solidFill>
                  <a:srgbClr val="1F2937"/>
                </a:solidFill>
                <a:latin typeface="Courier New"/>
              </a:rPr>
              <a:t>  {"$unwind": "$alt"},                  # one doc per ALT allele</a:t>
            </a:r>
          </a:p>
          <a:p>
            <a:pPr algn="l">
              <a:spcAft>
                <a:spcPts val="0"/>
              </a:spcAft>
            </a:pPr>
            <a:r>
              <a:rPr sz="1200" b="0" i="0">
                <a:solidFill>
                  <a:srgbClr val="1F2937"/>
                </a:solidFill>
                <a:latin typeface="Courier New"/>
              </a:rPr>
              <a:t>  {"$addFields": {"sub": {"$concat": ["$ref", "&gt;", "$alt"]}}},</a:t>
            </a:r>
          </a:p>
          <a:p>
            <a:pPr algn="l">
              <a:spcAft>
                <a:spcPts val="0"/>
              </a:spcAft>
            </a:pPr>
            <a:r>
              <a:rPr sz="1200" b="0" i="0">
                <a:solidFill>
                  <a:srgbClr val="1F2937"/>
                </a:solidFill>
                <a:latin typeface="Courier New"/>
              </a:rPr>
              <a:t>  {"$group": {"_id": "$sub", "n": {"$sum": 1}}},</a:t>
            </a:r>
          </a:p>
          <a:p>
            <a:pPr algn="l">
              <a:spcAft>
                <a:spcPts val="0"/>
              </a:spcAft>
            </a:pPr>
            <a:r>
              <a:rPr sz="1200" b="0" i="0">
                <a:solidFill>
                  <a:srgbClr val="1F2937"/>
                </a:solidFill>
                <a:latin typeface="Courier New"/>
              </a:rPr>
              <a:t>  {"$sort": {"n": -1}}])</a:t>
            </a:r>
          </a:p>
        </p:txBody>
      </p:sp>
      <p:sp>
        <p:nvSpPr>
          <p:cNvPr id="10" name="tstv bg"/>
          <p:cNvSpPr/>
          <p:nvPr/>
        </p:nvSpPr>
        <p:spPr>
          <a:xfrm>
            <a:off x="7498079" y="4297680"/>
            <a:ext cx="4114800" cy="1965960"/>
          </a:xfrm>
          <a:prstGeom prst="roundRect">
            <a:avLst>
              <a:gd name="adj" fmla="val 279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stv"/>
          <p:cNvSpPr txBox="1"/>
          <p:nvPr/>
        </p:nvSpPr>
        <p:spPr>
          <a:xfrm>
            <a:off x="7635240" y="4343400"/>
            <a:ext cx="3840480" cy="822960"/>
          </a:xfrm>
          <a:prstGeom prst="rect">
            <a:avLst/>
          </a:prstGeom>
          <a:noFill/>
        </p:spPr>
        <p:txBody>
          <a:bodyPr wrap="square" lIns="45720" rIns="45720" tIns="27432" bIns="27432" anchor="t">
            <a:spAutoFit/>
          </a:bodyPr>
          <a:lstStyle/>
          <a:p>
            <a:pPr algn="l">
              <a:spcAft>
                <a:spcPts val="600"/>
              </a:spcAft>
            </a:pPr>
            <a:r>
              <a:rPr sz="3200" b="1" i="0">
                <a:solidFill>
                  <a:srgbClr val="156082"/>
                </a:solidFill>
              </a:rPr>
              <a:t>Ts/Tv = 2.12</a:t>
            </a:r>
          </a:p>
        </p:txBody>
      </p:sp>
      <p:sp>
        <p:nvSpPr>
          <p:cNvPr id="12" name="tstv text"/>
          <p:cNvSpPr txBox="1"/>
          <p:nvPr/>
        </p:nvSpPr>
        <p:spPr>
          <a:xfrm>
            <a:off x="7635240" y="5166360"/>
            <a:ext cx="3840480" cy="1051560"/>
          </a:xfrm>
          <a:prstGeom prst="rect">
            <a:avLst/>
          </a:prstGeom>
          <a:noFill/>
        </p:spPr>
        <p:txBody>
          <a:bodyPr wrap="square" lIns="45720" rIns="45720" tIns="27432" bIns="27432" anchor="t">
            <a:spAutoFit/>
          </a:bodyPr>
          <a:lstStyle/>
          <a:p>
            <a:pPr algn="l">
              <a:spcAft>
                <a:spcPts val="600"/>
              </a:spcAft>
            </a:pPr>
            <a:r>
              <a:rPr sz="1400" b="0" i="0">
                <a:solidFill>
                  <a:srgbClr val="0E2841"/>
                </a:solidFill>
              </a:rPr>
              <a:t>157 transitions / 74 transversions. Real human data: ≈ 2.0 – 2.1; much lower ⇒ many false positives.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Per-sample stats, joins and saving results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AGGREGATE</a:t>
            </a:r>
          </a:p>
        </p:txBody>
      </p:sp>
      <p:graphicFrame>
        <p:nvGraphicFramePr>
          <p:cNvPr id="6" name="per sample"/>
          <p:cNvGraphicFramePr>
            <a:graphicFrameLocks noGrp="1"/>
          </p:cNvGraphicFramePr>
          <p:nvPr/>
        </p:nvGraphicFramePr>
        <p:xfrm>
          <a:off x="548640" y="1371600"/>
          <a:ext cx="9509760" cy="1563624"/>
        </p:xfrm>
        <a:graphic>
          <a:graphicData uri="http://schemas.openxmlformats.org/drawingml/2006/table">
            <a:tbl>
              <a:tblPr firstRow="0" bandRow="0">
                <a:tableStyleId>{5C22544A-7EE6-4342-B048-85BDC9FD1C3A}</a:tableStyleId>
              </a:tblPr>
              <a:tblGrid>
                <a:gridCol w="2011680"/>
                <a:gridCol w="1280160"/>
                <a:gridCol w="1463040"/>
                <a:gridCol w="1463040"/>
                <a:gridCol w="1463040"/>
                <a:gridCol w="1828800"/>
              </a:tblGrid>
              <a:tr h="411480">
                <a:tc>
                  <a:txBody>
                    <a:bodyPr wrap="square"/>
                    <a:lstStyle/>
                    <a:p>
                      <a:r>
                        <a:rPr sz="1400" b="1" i="0">
                          <a:solidFill>
                            <a:srgbClr val="FFFFFF"/>
                          </a:solidFill>
                        </a:rPr>
                        <a:t>sample</a:t>
                      </a:r>
                    </a:p>
                  </a:txBody>
                  <a:tcPr marL="73152" marR="73152" marT="36576" marB="36576" anchor="ctr">
                    <a:solidFill>
                      <a:srgbClr val="0E2841"/>
                    </a:solidFill>
                  </a:tcPr>
                </a:tc>
                <a:tc>
                  <a:txBody>
                    <a:bodyPr wrap="square"/>
                    <a:lstStyle/>
                    <a:p>
                      <a:pPr algn="r"/>
                      <a:r>
                        <a:rPr sz="1400" b="1" i="0">
                          <a:solidFill>
                            <a:srgbClr val="FFFFFF"/>
                          </a:solidFill>
                        </a:rPr>
                        <a:t>het</a:t>
                      </a:r>
                    </a:p>
                  </a:txBody>
                  <a:tcPr marL="73152" marR="73152" marT="36576" marB="36576" anchor="ctr">
                    <a:solidFill>
                      <a:srgbClr val="0E2841"/>
                    </a:solidFill>
                  </a:tcPr>
                </a:tc>
                <a:tc>
                  <a:txBody>
                    <a:bodyPr wrap="square"/>
                    <a:lstStyle/>
                    <a:p>
                      <a:pPr algn="r"/>
                      <a:r>
                        <a:rPr sz="1400" b="1" i="0">
                          <a:solidFill>
                            <a:srgbClr val="FFFFFF"/>
                          </a:solidFill>
                        </a:rPr>
                        <a:t>hom_alt</a:t>
                      </a:r>
                    </a:p>
                  </a:txBody>
                  <a:tcPr marL="73152" marR="73152" marT="36576" marB="36576" anchor="ctr">
                    <a:solidFill>
                      <a:srgbClr val="0E2841"/>
                    </a:solidFill>
                  </a:tcPr>
                </a:tc>
                <a:tc>
                  <a:txBody>
                    <a:bodyPr wrap="square"/>
                    <a:lstStyle/>
                    <a:p>
                      <a:pPr algn="r"/>
                      <a:r>
                        <a:rPr sz="1400" b="1" i="0">
                          <a:solidFill>
                            <a:srgbClr val="FFFFFF"/>
                          </a:solidFill>
                        </a:rPr>
                        <a:t>hom_ref</a:t>
                      </a:r>
                    </a:p>
                  </a:txBody>
                  <a:tcPr marL="73152" marR="73152" marT="36576" marB="36576" anchor="ctr">
                    <a:solidFill>
                      <a:srgbClr val="0E2841"/>
                    </a:solidFill>
                  </a:tcPr>
                </a:tc>
                <a:tc>
                  <a:txBody>
                    <a:bodyPr wrap="square"/>
                    <a:lstStyle/>
                    <a:p>
                      <a:pPr algn="r"/>
                      <a:r>
                        <a:rPr sz="1400" b="1" i="0">
                          <a:solidFill>
                            <a:srgbClr val="FFFFFF"/>
                          </a:solidFill>
                        </a:rPr>
                        <a:t>missing</a:t>
                      </a:r>
                    </a:p>
                  </a:txBody>
                  <a:tcPr marL="73152" marR="73152" marT="36576" marB="36576" anchor="ctr">
                    <a:solidFill>
                      <a:srgbClr val="0E2841"/>
                    </a:solidFill>
                  </a:tcPr>
                </a:tc>
                <a:tc>
                  <a:txBody>
                    <a:bodyPr wrap="square"/>
                    <a:lstStyle/>
                    <a:p>
                      <a:pPr algn="r"/>
                      <a:r>
                        <a:rPr sz="1400" b="1" i="0">
                          <a:solidFill>
                            <a:srgbClr val="FFFFFF"/>
                          </a:solidFill>
                        </a:rPr>
                        <a:t>het / hom_alt</a:t>
                      </a:r>
                    </a:p>
                  </a:txBody>
                  <a:tcPr marL="73152" marR="73152" marT="36576" marB="36576" anchor="ctr">
                    <a:solidFill>
                      <a:srgbClr val="0E2841"/>
                    </a:solidFill>
                  </a:tcPr>
                </a:tc>
              </a:tr>
              <a:tr h="384048">
                <a:tc>
                  <a:txBody>
                    <a:bodyPr wrap="square"/>
                    <a:lstStyle/>
                    <a:p>
                      <a:r>
                        <a:rPr sz="1400" b="0" i="0">
                          <a:solidFill>
                            <a:srgbClr val="156082"/>
                          </a:solidFill>
                          <a:latin typeface="Courier New"/>
                        </a:rPr>
                        <a:t>SAMPLE_A</a:t>
                      </a:r>
                    </a:p>
                  </a:txBody>
                  <a:tcPr marL="73152" marR="73152" marT="36576" marB="36576" anchor="ctr">
                    <a:solidFill>
                      <a:srgbClr val="FFFFFF"/>
                    </a:solidFill>
                  </a:tcPr>
                </a:tc>
                <a:tc>
                  <a:txBody>
                    <a:bodyPr wrap="square"/>
                    <a:lstStyle/>
                    <a:p>
                      <a:pPr algn="r"/>
                      <a:r>
                        <a:rPr sz="1400" b="0" i="0">
                          <a:solidFill>
                            <a:srgbClr val="0E2841"/>
                          </a:solidFill>
                        </a:rPr>
                        <a:t>89</a:t>
                      </a:r>
                    </a:p>
                  </a:txBody>
                  <a:tcPr marL="73152" marR="73152" marT="36576" marB="36576" anchor="ctr">
                    <a:solidFill>
                      <a:srgbClr val="FFFFFF"/>
                    </a:solidFill>
                  </a:tcPr>
                </a:tc>
                <a:tc>
                  <a:txBody>
                    <a:bodyPr wrap="square"/>
                    <a:lstStyle/>
                    <a:p>
                      <a:pPr algn="r"/>
                      <a:r>
                        <a:rPr sz="1400" b="0" i="0">
                          <a:solidFill>
                            <a:srgbClr val="0E2841"/>
                          </a:solidFill>
                        </a:rPr>
                        <a:t>73</a:t>
                      </a:r>
                    </a:p>
                  </a:txBody>
                  <a:tcPr marL="73152" marR="73152" marT="36576" marB="36576" anchor="ctr">
                    <a:solidFill>
                      <a:srgbClr val="FFFFFF"/>
                    </a:solidFill>
                  </a:tcPr>
                </a:tc>
                <a:tc>
                  <a:txBody>
                    <a:bodyPr wrap="square"/>
                    <a:lstStyle/>
                    <a:p>
                      <a:pPr algn="r"/>
                      <a:r>
                        <a:rPr sz="1400" b="0" i="0">
                          <a:solidFill>
                            <a:srgbClr val="0E2841"/>
                          </a:solidFill>
                        </a:rPr>
                        <a:t>82</a:t>
                      </a:r>
                    </a:p>
                  </a:txBody>
                  <a:tcPr marL="73152" marR="73152" marT="36576" marB="36576" anchor="ctr">
                    <a:solidFill>
                      <a:srgbClr val="FFFFFF"/>
                    </a:solidFill>
                  </a:tcPr>
                </a:tc>
                <a:tc>
                  <a:txBody>
                    <a:bodyPr wrap="square"/>
                    <a:lstStyle/>
                    <a:p>
                      <a:pPr algn="r"/>
                      <a:r>
                        <a:rPr sz="1400" b="0" i="0">
                          <a:solidFill>
                            <a:srgbClr val="0E2841"/>
                          </a:solidFill>
                        </a:rPr>
                        <a:t>6</a:t>
                      </a:r>
                    </a:p>
                  </a:txBody>
                  <a:tcPr marL="73152" marR="73152" marT="36576" marB="36576" anchor="ctr">
                    <a:solidFill>
                      <a:srgbClr val="FFFFFF"/>
                    </a:solidFill>
                  </a:tcPr>
                </a:tc>
                <a:tc>
                  <a:txBody>
                    <a:bodyPr wrap="square"/>
                    <a:lstStyle/>
                    <a:p>
                      <a:pPr algn="r"/>
                      <a:r>
                        <a:rPr sz="1400" b="0" i="0">
                          <a:solidFill>
                            <a:srgbClr val="0E2841"/>
                          </a:solidFill>
                        </a:rPr>
                        <a:t>1.22</a:t>
                      </a:r>
                    </a:p>
                  </a:txBody>
                  <a:tcPr marL="73152" marR="73152" marT="36576" marB="36576" anchor="ctr">
                    <a:solidFill>
                      <a:srgbClr val="FFFFFF"/>
                    </a:solidFill>
                  </a:tcPr>
                </a:tc>
              </a:tr>
              <a:tr h="384048">
                <a:tc>
                  <a:txBody>
                    <a:bodyPr wrap="square"/>
                    <a:lstStyle/>
                    <a:p>
                      <a:r>
                        <a:rPr sz="1400" b="0" i="0">
                          <a:solidFill>
                            <a:srgbClr val="156082"/>
                          </a:solidFill>
                          <a:latin typeface="Courier New"/>
                        </a:rPr>
                        <a:t>SAMPLE_B</a:t>
                      </a:r>
                    </a:p>
                  </a:txBody>
                  <a:tcPr marL="73152" marR="73152" marT="36576" marB="36576" anchor="ctr">
                    <a:solidFill>
                      <a:srgbClr val="F2F5F9"/>
                    </a:solidFill>
                  </a:tcPr>
                </a:tc>
                <a:tc>
                  <a:txBody>
                    <a:bodyPr wrap="square"/>
                    <a:lstStyle/>
                    <a:p>
                      <a:pPr algn="r"/>
                      <a:r>
                        <a:rPr sz="1400" b="0" i="0">
                          <a:solidFill>
                            <a:srgbClr val="0E2841"/>
                          </a:solidFill>
                        </a:rPr>
                        <a:t>93</a:t>
                      </a:r>
                    </a:p>
                  </a:txBody>
                  <a:tcPr marL="73152" marR="73152" marT="36576" marB="36576" anchor="ctr">
                    <a:solidFill>
                      <a:srgbClr val="F2F5F9"/>
                    </a:solidFill>
                  </a:tcPr>
                </a:tc>
                <a:tc>
                  <a:txBody>
                    <a:bodyPr wrap="square"/>
                    <a:lstStyle/>
                    <a:p>
                      <a:pPr algn="r"/>
                      <a:r>
                        <a:rPr sz="1400" b="0" i="0">
                          <a:solidFill>
                            <a:srgbClr val="0E2841"/>
                          </a:solidFill>
                        </a:rPr>
                        <a:t>69</a:t>
                      </a:r>
                    </a:p>
                  </a:txBody>
                  <a:tcPr marL="73152" marR="73152" marT="36576" marB="36576" anchor="ctr">
                    <a:solidFill>
                      <a:srgbClr val="F2F5F9"/>
                    </a:solidFill>
                  </a:tcPr>
                </a:tc>
                <a:tc>
                  <a:txBody>
                    <a:bodyPr wrap="square"/>
                    <a:lstStyle/>
                    <a:p>
                      <a:pPr algn="r"/>
                      <a:r>
                        <a:rPr sz="1400" b="0" i="0">
                          <a:solidFill>
                            <a:srgbClr val="0E2841"/>
                          </a:solidFill>
                        </a:rPr>
                        <a:t>80</a:t>
                      </a:r>
                    </a:p>
                  </a:txBody>
                  <a:tcPr marL="73152" marR="73152" marT="36576" marB="36576" anchor="ctr">
                    <a:solidFill>
                      <a:srgbClr val="F2F5F9"/>
                    </a:solidFill>
                  </a:tcPr>
                </a:tc>
                <a:tc>
                  <a:txBody>
                    <a:bodyPr wrap="square"/>
                    <a:lstStyle/>
                    <a:p>
                      <a:pPr algn="r"/>
                      <a:r>
                        <a:rPr sz="1400" b="0" i="0">
                          <a:solidFill>
                            <a:srgbClr val="0E2841"/>
                          </a:solidFill>
                        </a:rPr>
                        <a:t>8</a:t>
                      </a:r>
                    </a:p>
                  </a:txBody>
                  <a:tcPr marL="73152" marR="73152" marT="36576" marB="36576" anchor="ctr">
                    <a:solidFill>
                      <a:srgbClr val="F2F5F9"/>
                    </a:solidFill>
                  </a:tcPr>
                </a:tc>
                <a:tc>
                  <a:txBody>
                    <a:bodyPr wrap="square"/>
                    <a:lstStyle/>
                    <a:p>
                      <a:pPr algn="r"/>
                      <a:r>
                        <a:rPr sz="1400" b="0" i="0">
                          <a:solidFill>
                            <a:srgbClr val="0E2841"/>
                          </a:solidFill>
                        </a:rPr>
                        <a:t>1.35</a:t>
                      </a:r>
                    </a:p>
                  </a:txBody>
                  <a:tcPr marL="73152" marR="73152" marT="36576" marB="36576" anchor="ctr">
                    <a:solidFill>
                      <a:srgbClr val="F2F5F9"/>
                    </a:solidFill>
                  </a:tcPr>
                </a:tc>
              </a:tr>
              <a:tr h="384048">
                <a:tc>
                  <a:txBody>
                    <a:bodyPr wrap="square"/>
                    <a:lstStyle/>
                    <a:p>
                      <a:r>
                        <a:rPr sz="1400" b="0" i="0">
                          <a:solidFill>
                            <a:srgbClr val="156082"/>
                          </a:solidFill>
                          <a:latin typeface="Courier New"/>
                        </a:rPr>
                        <a:t>SAMPLE_C</a:t>
                      </a:r>
                    </a:p>
                  </a:txBody>
                  <a:tcPr marL="73152" marR="73152" marT="36576" marB="36576" anchor="ctr">
                    <a:solidFill>
                      <a:srgbClr val="FFFFFF"/>
                    </a:solidFill>
                  </a:tcPr>
                </a:tc>
                <a:tc>
                  <a:txBody>
                    <a:bodyPr wrap="square"/>
                    <a:lstStyle/>
                    <a:p>
                      <a:pPr algn="r"/>
                      <a:r>
                        <a:rPr sz="1400" b="0" i="0">
                          <a:solidFill>
                            <a:srgbClr val="0E2841"/>
                          </a:solidFill>
                        </a:rPr>
                        <a:t>95</a:t>
                      </a:r>
                    </a:p>
                  </a:txBody>
                  <a:tcPr marL="73152" marR="73152" marT="36576" marB="36576" anchor="ctr">
                    <a:solidFill>
                      <a:srgbClr val="FFFFFF"/>
                    </a:solidFill>
                  </a:tcPr>
                </a:tc>
                <a:tc>
                  <a:txBody>
                    <a:bodyPr wrap="square"/>
                    <a:lstStyle/>
                    <a:p>
                      <a:pPr algn="r"/>
                      <a:r>
                        <a:rPr sz="1400" b="0" i="0">
                          <a:solidFill>
                            <a:srgbClr val="0E2841"/>
                          </a:solidFill>
                        </a:rPr>
                        <a:t>66</a:t>
                      </a:r>
                    </a:p>
                  </a:txBody>
                  <a:tcPr marL="73152" marR="73152" marT="36576" marB="36576" anchor="ctr">
                    <a:solidFill>
                      <a:srgbClr val="FFFFFF"/>
                    </a:solidFill>
                  </a:tcPr>
                </a:tc>
                <a:tc>
                  <a:txBody>
                    <a:bodyPr wrap="square"/>
                    <a:lstStyle/>
                    <a:p>
                      <a:pPr algn="r"/>
                      <a:r>
                        <a:rPr sz="1400" b="0" i="0">
                          <a:solidFill>
                            <a:srgbClr val="0E2841"/>
                          </a:solidFill>
                        </a:rPr>
                        <a:t>80</a:t>
                      </a:r>
                    </a:p>
                  </a:txBody>
                  <a:tcPr marL="73152" marR="73152" marT="36576" marB="36576" anchor="ctr">
                    <a:solidFill>
                      <a:srgbClr val="FFFFFF"/>
                    </a:solidFill>
                  </a:tcPr>
                </a:tc>
                <a:tc>
                  <a:txBody>
                    <a:bodyPr wrap="square"/>
                    <a:lstStyle/>
                    <a:p>
                      <a:pPr algn="r"/>
                      <a:r>
                        <a:rPr sz="1400" b="0" i="0">
                          <a:solidFill>
                            <a:srgbClr val="0E2841"/>
                          </a:solidFill>
                        </a:rPr>
                        <a:t>9</a:t>
                      </a:r>
                    </a:p>
                  </a:txBody>
                  <a:tcPr marL="73152" marR="73152" marT="36576" marB="36576" anchor="ctr">
                    <a:solidFill>
                      <a:srgbClr val="FFFFFF"/>
                    </a:solidFill>
                  </a:tcPr>
                </a:tc>
                <a:tc>
                  <a:txBody>
                    <a:bodyPr wrap="square"/>
                    <a:lstStyle/>
                    <a:p>
                      <a:pPr algn="r"/>
                      <a:r>
                        <a:rPr sz="1400" b="0" i="0">
                          <a:solidFill>
                            <a:srgbClr val="0E2841"/>
                          </a:solidFill>
                        </a:rPr>
                        <a:t>1.44</a:t>
                      </a:r>
                    </a:p>
                  </a:txBody>
                  <a:tcPr marL="73152" marR="73152" marT="36576" marB="36576" anchor="ctr">
                    <a:solidFill>
                      <a:srgbClr val="FFFFFF"/>
                    </a:solidFill>
                  </a:tcPr>
                </a:tc>
              </a:tr>
            </a:tbl>
          </a:graphicData>
        </a:graphic>
      </p:graphicFrame>
      <p:sp>
        <p:nvSpPr>
          <p:cNvPr id="7" name="bcf note"/>
          <p:cNvSpPr txBox="1"/>
          <p:nvPr/>
        </p:nvSpPr>
        <p:spPr>
          <a:xfrm>
            <a:off x="548640" y="2971800"/>
            <a:ext cx="9509760" cy="365760"/>
          </a:xfrm>
          <a:prstGeom prst="rect">
            <a:avLst/>
          </a:prstGeom>
          <a:noFill/>
        </p:spPr>
        <p:txBody>
          <a:bodyPr wrap="square" lIns="45720" rIns="45720" tIns="27432" bIns="27432" anchor="t">
            <a:spAutoFit/>
          </a:bodyPr>
          <a:lstStyle/>
          <a:p>
            <a:pPr algn="l">
              <a:spcAft>
                <a:spcPts val="600"/>
              </a:spcAft>
            </a:pPr>
            <a:r>
              <a:rPr sz="1400" b="0" i="0">
                <a:solidFill>
                  <a:srgbClr val="595959"/>
                </a:solidFill>
              </a:rPr>
              <a:t>≈ </a:t>
            </a:r>
            <a:r>
              <a:rPr sz="1400" b="0" i="0">
                <a:solidFill>
                  <a:srgbClr val="595959"/>
                </a:solidFill>
                <a:latin typeface="Courier New"/>
              </a:rPr>
              <a:t>bcftools stats -s</a:t>
            </a:r>
            <a:r>
              <a:rPr sz="1400" b="0" i="0">
                <a:solidFill>
                  <a:srgbClr val="595959"/>
                </a:solidFill>
              </a:rPr>
              <a:t> : genotype counts per sample, with no join</a:t>
            </a:r>
          </a:p>
        </p:txBody>
      </p:sp>
      <p:sp>
        <p:nvSpPr>
          <p:cNvPr id="8" name="agg code bg"/>
          <p:cNvSpPr/>
          <p:nvPr/>
        </p:nvSpPr>
        <p:spPr>
          <a:xfrm>
            <a:off x="548640" y="3474720"/>
            <a:ext cx="5486400" cy="2788920"/>
          </a:xfrm>
          <a:prstGeom prst="roundRect">
            <a:avLst>
              <a:gd name="adj" fmla="val 1639"/>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gg code"/>
          <p:cNvSpPr txBox="1"/>
          <p:nvPr/>
        </p:nvSpPr>
        <p:spPr>
          <a:xfrm>
            <a:off x="640080" y="3538727"/>
            <a:ext cx="5303520" cy="2660903"/>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 per sample: one document per (variant, sample)</a:t>
            </a:r>
          </a:p>
          <a:p>
            <a:pPr algn="l">
              <a:spcAft>
                <a:spcPts val="0"/>
              </a:spcAft>
            </a:pPr>
            <a:r>
              <a:rPr sz="1200" b="0" i="0">
                <a:solidFill>
                  <a:srgbClr val="1F2937"/>
                </a:solidFill>
                <a:latin typeface="Courier New"/>
              </a:rPr>
              <a:t>[{"$unwind": "$calls"},</a:t>
            </a:r>
          </a:p>
          <a:p>
            <a:pPr algn="l">
              <a:spcAft>
                <a:spcPts val="0"/>
              </a:spcAft>
            </a:pPr>
            <a:r>
              <a:rPr sz="1200" b="0" i="0">
                <a:solidFill>
                  <a:srgbClr val="1F2937"/>
                </a:solidFill>
                <a:latin typeface="Courier New"/>
              </a:rPr>
              <a:t> {"$group": {"_id": {"sample": "$calls.sample",</a:t>
            </a:r>
          </a:p>
          <a:p>
            <a:pPr algn="l">
              <a:spcAft>
                <a:spcPts val="0"/>
              </a:spcAft>
            </a:pPr>
            <a:r>
              <a:rPr sz="1200" b="0" i="0">
                <a:solidFill>
                  <a:srgbClr val="1F2937"/>
                </a:solidFill>
                <a:latin typeface="Courier New"/>
              </a:rPr>
              <a:t>                     "zygosity": "$calls.zygosity"},</a:t>
            </a:r>
          </a:p>
          <a:p>
            <a:pPr algn="l">
              <a:spcAft>
                <a:spcPts val="0"/>
              </a:spcAft>
            </a:pPr>
            <a:r>
              <a:rPr sz="1200" b="0" i="0">
                <a:solidFill>
                  <a:srgbClr val="1F2937"/>
                </a:solidFill>
                <a:latin typeface="Courier New"/>
              </a:rPr>
              <a:t>             "n": {"$sum": 1}}}]</a:t>
            </a:r>
          </a:p>
          <a:p>
            <a:pPr algn="l">
              <a:spcAft>
                <a:spcPts val="0"/>
              </a:spcAft>
            </a:pPr>
          </a:p>
          <a:p>
            <a:pPr algn="l">
              <a:spcAft>
                <a:spcPts val="0"/>
              </a:spcAft>
            </a:pPr>
            <a:r>
              <a:rPr sz="1200" b="0" i="0">
                <a:solidFill>
                  <a:srgbClr val="1F2937"/>
                </a:solidFill>
                <a:latin typeface="Courier New"/>
              </a:rPr>
              <a:t># $lookup: left outer join (same database!)</a:t>
            </a:r>
          </a:p>
          <a:p>
            <a:pPr algn="l">
              <a:spcAft>
                <a:spcPts val="0"/>
              </a:spcAft>
            </a:pPr>
            <a:r>
              <a:rPr sz="1200" b="0" i="0">
                <a:solidFill>
                  <a:srgbClr val="1F2937"/>
                </a:solidFill>
                <a:latin typeface="Courier New"/>
              </a:rPr>
              <a:t>{"$lookup": {"from": "samples",</a:t>
            </a:r>
          </a:p>
          <a:p>
            <a:pPr algn="l">
              <a:spcAft>
                <a:spcPts val="0"/>
              </a:spcAft>
            </a:pPr>
            <a:r>
              <a:rPr sz="1200" b="0" i="0">
                <a:solidFill>
                  <a:srgbClr val="1F2937"/>
                </a:solidFill>
                <a:latin typeface="Courier New"/>
              </a:rPr>
              <a:t>             "localField": "_id",</a:t>
            </a:r>
          </a:p>
          <a:p>
            <a:pPr algn="l">
              <a:spcAft>
                <a:spcPts val="0"/>
              </a:spcAft>
            </a:pPr>
            <a:r>
              <a:rPr sz="1200" b="0" i="0">
                <a:solidFill>
                  <a:srgbClr val="1F2937"/>
                </a:solidFill>
                <a:latin typeface="Courier New"/>
              </a:rPr>
              <a:t>             "foreignField": "_id", "as": "meta"}}</a:t>
            </a:r>
          </a:p>
        </p:txBody>
      </p:sp>
      <p:sp>
        <p:nvSpPr>
          <p:cNvPr id="10" name="out code bg"/>
          <p:cNvSpPr/>
          <p:nvPr/>
        </p:nvSpPr>
        <p:spPr>
          <a:xfrm>
            <a:off x="6217920" y="3474720"/>
            <a:ext cx="5394960" cy="1554480"/>
          </a:xfrm>
          <a:prstGeom prst="roundRect">
            <a:avLst>
              <a:gd name="adj" fmla="val 2941"/>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ut code"/>
          <p:cNvSpPr txBox="1"/>
          <p:nvPr/>
        </p:nvSpPr>
        <p:spPr>
          <a:xfrm>
            <a:off x="6309359" y="3538727"/>
            <a:ext cx="5212080" cy="142646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 save a result as a collection</a:t>
            </a:r>
          </a:p>
          <a:p>
            <a:pPr algn="l">
              <a:spcAft>
                <a:spcPts val="0"/>
              </a:spcAft>
            </a:pPr>
            <a:r>
              <a:rPr sz="1200" b="0" i="0">
                <a:solidFill>
                  <a:srgbClr val="1F2937"/>
                </a:solidFill>
                <a:latin typeface="Courier New"/>
              </a:rPr>
              <a:t>variants.aggregate([</a:t>
            </a:r>
          </a:p>
          <a:p>
            <a:pPr algn="l">
              <a:spcAft>
                <a:spcPts val="0"/>
              </a:spcAft>
            </a:pPr>
            <a:r>
              <a:rPr sz="1200" b="0" i="0">
                <a:solidFill>
                  <a:srgbClr val="1F2937"/>
                </a:solidFill>
                <a:latin typeface="Courier New"/>
              </a:rPr>
              <a:t>  {"$match": {"filter": "PASS"}},</a:t>
            </a:r>
          </a:p>
          <a:p>
            <a:pPr algn="l">
              <a:spcAft>
                <a:spcPts val="0"/>
              </a:spcAft>
            </a:pPr>
            <a:r>
              <a:rPr sz="1200" b="0" i="0">
                <a:solidFill>
                  <a:srgbClr val="1F2937"/>
                </a:solidFill>
                <a:latin typeface="Courier New"/>
              </a:rPr>
              <a:t>  {"$group": {"_id": "$chrom", "n_pass": {"$sum": 1}}},</a:t>
            </a:r>
          </a:p>
          <a:p>
            <a:pPr algn="l">
              <a:spcAft>
                <a:spcPts val="0"/>
              </a:spcAft>
            </a:pPr>
            <a:r>
              <a:rPr sz="1200" b="0" i="0">
                <a:solidFill>
                  <a:srgbClr val="1F2937"/>
                </a:solidFill>
                <a:latin typeface="Courier New"/>
              </a:rPr>
              <a:t>  {"$out": "variant_stats"}])</a:t>
            </a:r>
          </a:p>
        </p:txBody>
      </p:sp>
      <p:sp>
        <p:nvSpPr>
          <p:cNvPr id="12" name="join note bg"/>
          <p:cNvSpPr/>
          <p:nvPr/>
        </p:nvSpPr>
        <p:spPr>
          <a:xfrm>
            <a:off x="6217920" y="5166360"/>
            <a:ext cx="5394960" cy="1097280"/>
          </a:xfrm>
          <a:prstGeom prst="roundRect">
            <a:avLst>
              <a:gd name="adj" fmla="val 5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join note title"/>
          <p:cNvSpPr txBox="1"/>
          <p:nvPr/>
        </p:nvSpPr>
        <p:spPr>
          <a:xfrm>
            <a:off x="6327648" y="5239512"/>
            <a:ext cx="5175504" cy="411480"/>
          </a:xfrm>
          <a:prstGeom prst="rect">
            <a:avLst/>
          </a:prstGeom>
          <a:noFill/>
        </p:spPr>
        <p:txBody>
          <a:bodyPr wrap="square" lIns="45720" rIns="45720" tIns="27432" bIns="27432" anchor="t">
            <a:spAutoFit/>
          </a:bodyPr>
          <a:lstStyle/>
          <a:p>
            <a:pPr algn="l">
              <a:spcAft>
                <a:spcPts val="600"/>
              </a:spcAft>
            </a:pPr>
            <a:r>
              <a:rPr sz="1500" b="1" i="0">
                <a:solidFill>
                  <a:srgbClr val="E97132"/>
                </a:solidFill>
              </a:rPr>
              <a:t>Joins across databases are not allowed</a:t>
            </a:r>
          </a:p>
        </p:txBody>
      </p:sp>
      <p:sp>
        <p:nvSpPr>
          <p:cNvPr id="14" name="join note body"/>
          <p:cNvSpPr txBox="1"/>
          <p:nvPr/>
        </p:nvSpPr>
        <p:spPr>
          <a:xfrm>
            <a:off x="6327648" y="5623560"/>
            <a:ext cx="5175504" cy="548640"/>
          </a:xfrm>
          <a:prstGeom prst="rect">
            <a:avLst/>
          </a:prstGeom>
          <a:noFill/>
        </p:spPr>
        <p:txBody>
          <a:bodyPr wrap="square" lIns="45720" rIns="45720" tIns="27432" bIns="27432" anchor="t">
            <a:spAutoFit/>
          </a:bodyPr>
          <a:lstStyle/>
          <a:p>
            <a:pPr algn="l">
              <a:spcAft>
                <a:spcPts val="400"/>
              </a:spcAft>
            </a:pPr>
            <a:r>
              <a:rPr sz="1300" b="0" i="0">
                <a:solidFill>
                  <a:srgbClr val="0E2841"/>
                </a:solidFill>
              </a:rPr>
              <a:t>Copy the small reference collection (</a:t>
            </a:r>
            <a:r>
              <a:rPr sz="1300" b="0" i="0">
                <a:solidFill>
                  <a:srgbClr val="156082"/>
                </a:solidFill>
                <a:latin typeface="Courier New"/>
              </a:rPr>
              <a:t>public.samples</a:t>
            </a:r>
            <a:r>
              <a:rPr sz="1300" b="0" i="0">
                <a:solidFill>
                  <a:srgbClr val="0E2841"/>
                </a:solidFill>
              </a:rPr>
              <a:t>) into your own database first.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Cheat sheet: bcftools ↔ MongoDB ↔ SQL</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graphicFrame>
        <p:nvGraphicFramePr>
          <p:cNvPr id="5" name="translation"/>
          <p:cNvGraphicFramePr>
            <a:graphicFrameLocks noGrp="1"/>
          </p:cNvGraphicFramePr>
          <p:nvPr/>
        </p:nvGraphicFramePr>
        <p:xfrm>
          <a:off x="548640" y="1325880"/>
          <a:ext cx="11064240" cy="3566160"/>
        </p:xfrm>
        <a:graphic>
          <a:graphicData uri="http://schemas.openxmlformats.org/drawingml/2006/table">
            <a:tbl>
              <a:tblPr firstRow="0" bandRow="0">
                <a:tableStyleId>{5C22544A-7EE6-4342-B048-85BDC9FD1C3A}</a:tableStyleId>
              </a:tblPr>
              <a:tblGrid>
                <a:gridCol w="1828800"/>
                <a:gridCol w="2834640"/>
                <a:gridCol w="4023360"/>
                <a:gridCol w="2377440"/>
              </a:tblGrid>
              <a:tr h="365760">
                <a:tc>
                  <a:txBody>
                    <a:bodyPr wrap="square"/>
                    <a:lstStyle/>
                    <a:p>
                      <a:r>
                        <a:rPr sz="1100" b="1" i="0">
                          <a:solidFill>
                            <a:srgbClr val="FFFFFF"/>
                          </a:solidFill>
                        </a:rPr>
                        <a:t>goal</a:t>
                      </a:r>
                    </a:p>
                  </a:txBody>
                  <a:tcPr marL="73152" marR="73152" marT="36576" marB="36576" anchor="ctr">
                    <a:solidFill>
                      <a:srgbClr val="0E2841"/>
                    </a:solidFill>
                  </a:tcPr>
                </a:tc>
                <a:tc>
                  <a:txBody>
                    <a:bodyPr wrap="square"/>
                    <a:lstStyle/>
                    <a:p>
                      <a:r>
                        <a:rPr sz="1100" b="1" i="0">
                          <a:solidFill>
                            <a:srgbClr val="FFFFFF"/>
                          </a:solidFill>
                          <a:latin typeface="Courier New"/>
                        </a:rPr>
                        <a:t>bcftools</a:t>
                      </a:r>
                    </a:p>
                  </a:txBody>
                  <a:tcPr marL="73152" marR="73152" marT="36576" marB="36576" anchor="ctr">
                    <a:solidFill>
                      <a:srgbClr val="0E2841"/>
                    </a:solidFill>
                  </a:tcPr>
                </a:tc>
                <a:tc>
                  <a:txBody>
                    <a:bodyPr wrap="square"/>
                    <a:lstStyle/>
                    <a:p>
                      <a:r>
                        <a:rPr sz="1100" b="1" i="0">
                          <a:solidFill>
                            <a:srgbClr val="FFFFFF"/>
                          </a:solidFill>
                        </a:rPr>
                        <a:t>MongoDB (PyMongo)</a:t>
                      </a:r>
                    </a:p>
                  </a:txBody>
                  <a:tcPr marL="73152" marR="73152" marT="36576" marB="36576" anchor="ctr">
                    <a:solidFill>
                      <a:srgbClr val="0E2841"/>
                    </a:solidFill>
                  </a:tcPr>
                </a:tc>
                <a:tc>
                  <a:txBody>
                    <a:bodyPr wrap="square"/>
                    <a:lstStyle/>
                    <a:p>
                      <a:r>
                        <a:rPr sz="1100" b="1" i="0">
                          <a:solidFill>
                            <a:srgbClr val="FFFFFF"/>
                          </a:solidFill>
                        </a:rPr>
                        <a:t>SQL</a:t>
                      </a:r>
                    </a:p>
                  </a:txBody>
                  <a:tcPr marL="73152" marR="73152" marT="36576" marB="36576" anchor="ctr">
                    <a:solidFill>
                      <a:srgbClr val="0E2841"/>
                    </a:solidFill>
                  </a:tcPr>
                </a:tc>
              </a:tr>
              <a:tr h="457200">
                <a:tc>
                  <a:txBody>
                    <a:bodyPr wrap="square"/>
                    <a:lstStyle/>
                    <a:p>
                      <a:r>
                        <a:rPr sz="1100" b="0" i="0">
                          <a:solidFill>
                            <a:srgbClr val="0E2841"/>
                          </a:solidFill>
                        </a:rPr>
                        <a:t>some columns</a:t>
                      </a:r>
                    </a:p>
                  </a:txBody>
                  <a:tcPr marL="73152" marR="73152" marT="36576" marB="36576" anchor="ctr">
                    <a:solidFill>
                      <a:srgbClr val="FFFFFF"/>
                    </a:solidFill>
                  </a:tcPr>
                </a:tc>
                <a:tc>
                  <a:txBody>
                    <a:bodyPr wrap="square"/>
                    <a:lstStyle/>
                    <a:p>
                      <a:r>
                        <a:rPr sz="1100" b="0" i="0">
                          <a:solidFill>
                            <a:srgbClr val="156082"/>
                          </a:solidFill>
                          <a:latin typeface="Courier New"/>
                        </a:rPr>
                        <a:t>query -f '%CHROM\t%POS…'</a:t>
                      </a:r>
                    </a:p>
                  </a:txBody>
                  <a:tcPr marL="73152" marR="73152" marT="36576" marB="36576" anchor="ctr">
                    <a:solidFill>
                      <a:srgbClr val="FFFFFF"/>
                    </a:solidFill>
                  </a:tcPr>
                </a:tc>
                <a:tc>
                  <a:txBody>
                    <a:bodyPr wrap="square"/>
                    <a:lstStyle/>
                    <a:p>
                      <a:r>
                        <a:rPr sz="1100" b="0" i="0">
                          <a:solidFill>
                            <a:srgbClr val="156082"/>
                          </a:solidFill>
                          <a:latin typeface="Courier New"/>
                        </a:rPr>
                        <a:t>find({}, {"chrom":1,"pos":1})</a:t>
                      </a:r>
                    </a:p>
                  </a:txBody>
                  <a:tcPr marL="73152" marR="73152" marT="36576" marB="36576" anchor="ctr">
                    <a:solidFill>
                      <a:srgbClr val="FFFFFF"/>
                    </a:solidFill>
                  </a:tcPr>
                </a:tc>
                <a:tc>
                  <a:txBody>
                    <a:bodyPr wrap="square"/>
                    <a:lstStyle/>
                    <a:p>
                      <a:r>
                        <a:rPr sz="1100" b="0" i="0">
                          <a:solidFill>
                            <a:srgbClr val="156082"/>
                          </a:solidFill>
                          <a:latin typeface="Courier New"/>
                        </a:rPr>
                        <a:t>SELECT chrom, pos</a:t>
                      </a:r>
                    </a:p>
                  </a:txBody>
                  <a:tcPr marL="73152" marR="73152" marT="36576" marB="36576" anchor="ctr">
                    <a:solidFill>
                      <a:srgbClr val="FFFFFF"/>
                    </a:solidFill>
                  </a:tcPr>
                </a:tc>
              </a:tr>
              <a:tr h="457200">
                <a:tc>
                  <a:txBody>
                    <a:bodyPr wrap="square"/>
                    <a:lstStyle/>
                    <a:p>
                      <a:r>
                        <a:rPr sz="1100" b="0" i="0">
                          <a:solidFill>
                            <a:srgbClr val="0E2841"/>
                          </a:solidFill>
                        </a:rPr>
                        <a:t>PASS records</a:t>
                      </a:r>
                    </a:p>
                  </a:txBody>
                  <a:tcPr marL="73152" marR="73152" marT="36576" marB="36576" anchor="ctr">
                    <a:solidFill>
                      <a:srgbClr val="F2F5F9"/>
                    </a:solidFill>
                  </a:tcPr>
                </a:tc>
                <a:tc>
                  <a:txBody>
                    <a:bodyPr wrap="square"/>
                    <a:lstStyle/>
                    <a:p>
                      <a:r>
                        <a:rPr sz="1100" b="0" i="0">
                          <a:solidFill>
                            <a:srgbClr val="156082"/>
                          </a:solidFill>
                          <a:latin typeface="Courier New"/>
                        </a:rPr>
                        <a:t>view -f PASS</a:t>
                      </a:r>
                    </a:p>
                  </a:txBody>
                  <a:tcPr marL="73152" marR="73152" marT="36576" marB="36576" anchor="ctr">
                    <a:solidFill>
                      <a:srgbClr val="F2F5F9"/>
                    </a:solidFill>
                  </a:tcPr>
                </a:tc>
                <a:tc>
                  <a:txBody>
                    <a:bodyPr wrap="square"/>
                    <a:lstStyle/>
                    <a:p>
                      <a:r>
                        <a:rPr sz="1100" b="0" i="0">
                          <a:solidFill>
                            <a:srgbClr val="156082"/>
                          </a:solidFill>
                          <a:latin typeface="Courier New"/>
                        </a:rPr>
                        <a:t>find({"filter": "PASS"})</a:t>
                      </a:r>
                    </a:p>
                  </a:txBody>
                  <a:tcPr marL="73152" marR="73152" marT="36576" marB="36576" anchor="ctr">
                    <a:solidFill>
                      <a:srgbClr val="F2F5F9"/>
                    </a:solidFill>
                  </a:tcPr>
                </a:tc>
                <a:tc>
                  <a:txBody>
                    <a:bodyPr wrap="square"/>
                    <a:lstStyle/>
                    <a:p>
                      <a:r>
                        <a:rPr sz="1100" b="0" i="0">
                          <a:solidFill>
                            <a:srgbClr val="156082"/>
                          </a:solidFill>
                          <a:latin typeface="Courier New"/>
                        </a:rPr>
                        <a:t>WHERE filter = 'PASS'</a:t>
                      </a:r>
                    </a:p>
                  </a:txBody>
                  <a:tcPr marL="73152" marR="73152" marT="36576" marB="36576" anchor="ctr">
                    <a:solidFill>
                      <a:srgbClr val="F2F5F9"/>
                    </a:solidFill>
                  </a:tcPr>
                </a:tc>
              </a:tr>
              <a:tr h="457200">
                <a:tc>
                  <a:txBody>
                    <a:bodyPr wrap="square"/>
                    <a:lstStyle/>
                    <a:p>
                      <a:r>
                        <a:rPr sz="1100" b="0" i="0">
                          <a:solidFill>
                            <a:srgbClr val="0E2841"/>
                          </a:solidFill>
                        </a:rPr>
                        <a:t>a region</a:t>
                      </a:r>
                    </a:p>
                  </a:txBody>
                  <a:tcPr marL="73152" marR="73152" marT="36576" marB="36576" anchor="ctr">
                    <a:solidFill>
                      <a:srgbClr val="FFFFFF"/>
                    </a:solidFill>
                  </a:tcPr>
                </a:tc>
                <a:tc>
                  <a:txBody>
                    <a:bodyPr wrap="square"/>
                    <a:lstStyle/>
                    <a:p>
                      <a:r>
                        <a:rPr sz="1100" b="0" i="0">
                          <a:solidFill>
                            <a:srgbClr val="156082"/>
                          </a:solidFill>
                          <a:latin typeface="Courier New"/>
                        </a:rPr>
                        <a:t>view -r 17:10000000-30000000</a:t>
                      </a:r>
                    </a:p>
                  </a:txBody>
                  <a:tcPr marL="73152" marR="73152" marT="36576" marB="36576" anchor="ctr">
                    <a:solidFill>
                      <a:srgbClr val="FFFFFF"/>
                    </a:solidFill>
                  </a:tcPr>
                </a:tc>
                <a:tc>
                  <a:txBody>
                    <a:bodyPr wrap="square"/>
                    <a:lstStyle/>
                    <a:p>
                      <a:r>
                        <a:rPr sz="1100" b="0" i="0">
                          <a:solidFill>
                            <a:srgbClr val="156082"/>
                          </a:solidFill>
                          <a:latin typeface="Courier New"/>
                        </a:rPr>
                        <a:t>find({"chrom":"17","pos":{"$gte":…,"$lte":…}})</a:t>
                      </a:r>
                    </a:p>
                  </a:txBody>
                  <a:tcPr marL="73152" marR="73152" marT="36576" marB="36576" anchor="ctr">
                    <a:solidFill>
                      <a:srgbClr val="FFFFFF"/>
                    </a:solidFill>
                  </a:tcPr>
                </a:tc>
                <a:tc>
                  <a:txBody>
                    <a:bodyPr wrap="square"/>
                    <a:lstStyle/>
                    <a:p>
                      <a:r>
                        <a:rPr sz="1100" b="0" i="0">
                          <a:solidFill>
                            <a:srgbClr val="156082"/>
                          </a:solidFill>
                          <a:latin typeface="Courier New"/>
                        </a:rPr>
                        <a:t>WHERE chrom = '17' AND pos BETWEEN …</a:t>
                      </a:r>
                    </a:p>
                  </a:txBody>
                  <a:tcPr marL="73152" marR="73152" marT="36576" marB="36576" anchor="ctr">
                    <a:solidFill>
                      <a:srgbClr val="FFFFFF"/>
                    </a:solidFill>
                  </a:tcPr>
                </a:tc>
              </a:tr>
              <a:tr h="457200">
                <a:tc>
                  <a:txBody>
                    <a:bodyPr wrap="square"/>
                    <a:lstStyle/>
                    <a:p>
                      <a:r>
                        <a:rPr sz="1100" b="0" i="0">
                          <a:solidFill>
                            <a:srgbClr val="0E2841"/>
                          </a:solidFill>
                        </a:rPr>
                        <a:t>SNVs only</a:t>
                      </a:r>
                    </a:p>
                  </a:txBody>
                  <a:tcPr marL="73152" marR="73152" marT="36576" marB="36576" anchor="ctr">
                    <a:solidFill>
                      <a:srgbClr val="F2F5F9"/>
                    </a:solidFill>
                  </a:tcPr>
                </a:tc>
                <a:tc>
                  <a:txBody>
                    <a:bodyPr wrap="square"/>
                    <a:lstStyle/>
                    <a:p>
                      <a:r>
                        <a:rPr sz="1100" b="0" i="0">
                          <a:solidFill>
                            <a:srgbClr val="156082"/>
                          </a:solidFill>
                          <a:latin typeface="Courier New"/>
                        </a:rPr>
                        <a:t>view -v snps</a:t>
                      </a:r>
                    </a:p>
                  </a:txBody>
                  <a:tcPr marL="73152" marR="73152" marT="36576" marB="36576" anchor="ctr">
                    <a:solidFill>
                      <a:srgbClr val="F2F5F9"/>
                    </a:solidFill>
                  </a:tcPr>
                </a:tc>
                <a:tc>
                  <a:txBody>
                    <a:bodyPr wrap="square"/>
                    <a:lstStyle/>
                    <a:p>
                      <a:r>
                        <a:rPr sz="1100" b="0" i="0">
                          <a:solidFill>
                            <a:srgbClr val="156082"/>
                          </a:solidFill>
                          <a:latin typeface="Courier New"/>
                        </a:rPr>
                        <a:t>find({"type": "SNV"})</a:t>
                      </a:r>
                    </a:p>
                  </a:txBody>
                  <a:tcPr marL="73152" marR="73152" marT="36576" marB="36576" anchor="ctr">
                    <a:solidFill>
                      <a:srgbClr val="F2F5F9"/>
                    </a:solidFill>
                  </a:tcPr>
                </a:tc>
                <a:tc>
                  <a:txBody>
                    <a:bodyPr wrap="square"/>
                    <a:lstStyle/>
                    <a:p>
                      <a:r>
                        <a:rPr sz="1100" b="0" i="0">
                          <a:solidFill>
                            <a:srgbClr val="156082"/>
                          </a:solidFill>
                          <a:latin typeface="Courier New"/>
                        </a:rPr>
                        <a:t>WHERE type = 'SNV'</a:t>
                      </a:r>
                    </a:p>
                  </a:txBody>
                  <a:tcPr marL="73152" marR="73152" marT="36576" marB="36576" anchor="ctr">
                    <a:solidFill>
                      <a:srgbClr val="F2F5F9"/>
                    </a:solidFill>
                  </a:tcPr>
                </a:tc>
              </a:tr>
              <a:tr h="457200">
                <a:tc>
                  <a:txBody>
                    <a:bodyPr wrap="square"/>
                    <a:lstStyle/>
                    <a:p>
                      <a:r>
                        <a:rPr sz="1100" b="0" i="0">
                          <a:solidFill>
                            <a:srgbClr val="0E2841"/>
                          </a:solidFill>
                        </a:rPr>
                        <a:t>an expression</a:t>
                      </a:r>
                    </a:p>
                  </a:txBody>
                  <a:tcPr marL="73152" marR="73152" marT="36576" marB="36576" anchor="ctr">
                    <a:solidFill>
                      <a:srgbClr val="FFFFFF"/>
                    </a:solidFill>
                  </a:tcPr>
                </a:tc>
                <a:tc>
                  <a:txBody>
                    <a:bodyPr wrap="square"/>
                    <a:lstStyle/>
                    <a:p>
                      <a:r>
                        <a:rPr sz="1100" b="0" i="0">
                          <a:solidFill>
                            <a:srgbClr val="156082"/>
                          </a:solidFill>
                          <a:latin typeface="Courier New"/>
                        </a:rPr>
                        <a:t>view -i 'QUAL&gt;=50 &amp;&amp; DP&gt;=20'</a:t>
                      </a:r>
                    </a:p>
                  </a:txBody>
                  <a:tcPr marL="73152" marR="73152" marT="36576" marB="36576" anchor="ctr">
                    <a:solidFill>
                      <a:srgbClr val="FFFFFF"/>
                    </a:solidFill>
                  </a:tcPr>
                </a:tc>
                <a:tc>
                  <a:txBody>
                    <a:bodyPr wrap="square"/>
                    <a:lstStyle/>
                    <a:p>
                      <a:r>
                        <a:rPr sz="1100" b="0" i="0">
                          <a:solidFill>
                            <a:srgbClr val="156082"/>
                          </a:solidFill>
                          <a:latin typeface="Courier New"/>
                        </a:rPr>
                        <a:t>find({"qual":{"$gte":50},"info.DP":{"$gte":20}})</a:t>
                      </a:r>
                    </a:p>
                  </a:txBody>
                  <a:tcPr marL="73152" marR="73152" marT="36576" marB="36576" anchor="ctr">
                    <a:solidFill>
                      <a:srgbClr val="FFFFFF"/>
                    </a:solidFill>
                  </a:tcPr>
                </a:tc>
                <a:tc>
                  <a:txBody>
                    <a:bodyPr wrap="square"/>
                    <a:lstStyle/>
                    <a:p>
                      <a:r>
                        <a:rPr sz="1100" b="0" i="0">
                          <a:solidFill>
                            <a:srgbClr val="156082"/>
                          </a:solidFill>
                          <a:latin typeface="Courier New"/>
                        </a:rPr>
                        <a:t>WHERE qual &gt;= 50 AND dp &gt;= 20</a:t>
                      </a:r>
                    </a:p>
                  </a:txBody>
                  <a:tcPr marL="73152" marR="73152" marT="36576" marB="36576" anchor="ctr">
                    <a:solidFill>
                      <a:srgbClr val="FFFFFF"/>
                    </a:solidFill>
                  </a:tcPr>
                </a:tc>
              </a:tr>
              <a:tr h="457200">
                <a:tc>
                  <a:txBody>
                    <a:bodyPr wrap="square"/>
                    <a:lstStyle/>
                    <a:p>
                      <a:r>
                        <a:rPr sz="1100" b="0" i="0">
                          <a:solidFill>
                            <a:srgbClr val="0E2841"/>
                          </a:solidFill>
                        </a:rPr>
                        <a:t>count records</a:t>
                      </a:r>
                    </a:p>
                  </a:txBody>
                  <a:tcPr marL="73152" marR="73152" marT="36576" marB="36576" anchor="ctr">
                    <a:solidFill>
                      <a:srgbClr val="F2F5F9"/>
                    </a:solidFill>
                  </a:tcPr>
                </a:tc>
                <a:tc>
                  <a:txBody>
                    <a:bodyPr wrap="square"/>
                    <a:lstStyle/>
                    <a:p>
                      <a:r>
                        <a:rPr sz="1100" b="0" i="0">
                          <a:solidFill>
                            <a:srgbClr val="156082"/>
                          </a:solidFill>
                          <a:latin typeface="Courier New"/>
                        </a:rPr>
                        <a:t>view -H | wc -l</a:t>
                      </a:r>
                    </a:p>
                  </a:txBody>
                  <a:tcPr marL="73152" marR="73152" marT="36576" marB="36576" anchor="ctr">
                    <a:solidFill>
                      <a:srgbClr val="F2F5F9"/>
                    </a:solidFill>
                  </a:tcPr>
                </a:tc>
                <a:tc>
                  <a:txBody>
                    <a:bodyPr wrap="square"/>
                    <a:lstStyle/>
                    <a:p>
                      <a:r>
                        <a:rPr sz="1100" b="0" i="0">
                          <a:solidFill>
                            <a:srgbClr val="156082"/>
                          </a:solidFill>
                          <a:latin typeface="Courier New"/>
                        </a:rPr>
                        <a:t>count_documents({})</a:t>
                      </a:r>
                    </a:p>
                  </a:txBody>
                  <a:tcPr marL="73152" marR="73152" marT="36576" marB="36576" anchor="ctr">
                    <a:solidFill>
                      <a:srgbClr val="F2F5F9"/>
                    </a:solidFill>
                  </a:tcPr>
                </a:tc>
                <a:tc>
                  <a:txBody>
                    <a:bodyPr wrap="square"/>
                    <a:lstStyle/>
                    <a:p>
                      <a:r>
                        <a:rPr sz="1100" b="0" i="0">
                          <a:solidFill>
                            <a:srgbClr val="156082"/>
                          </a:solidFill>
                          <a:latin typeface="Courier New"/>
                        </a:rPr>
                        <a:t>SELECT COUNT(*)</a:t>
                      </a:r>
                    </a:p>
                  </a:txBody>
                  <a:tcPr marL="73152" marR="73152" marT="36576" marB="36576" anchor="ctr">
                    <a:solidFill>
                      <a:srgbClr val="F2F5F9"/>
                    </a:solidFill>
                  </a:tcPr>
                </a:tc>
              </a:tr>
              <a:tr h="457200">
                <a:tc>
                  <a:txBody>
                    <a:bodyPr wrap="square"/>
                    <a:lstStyle/>
                    <a:p>
                      <a:r>
                        <a:rPr sz="1100" b="0" i="0">
                          <a:solidFill>
                            <a:srgbClr val="0E2841"/>
                          </a:solidFill>
                        </a:rPr>
                        <a:t>count per chromosome</a:t>
                      </a:r>
                    </a:p>
                  </a:txBody>
                  <a:tcPr marL="73152" marR="73152" marT="36576" marB="36576" anchor="ctr">
                    <a:solidFill>
                      <a:srgbClr val="FFFFFF"/>
                    </a:solidFill>
                  </a:tcPr>
                </a:tc>
                <a:tc>
                  <a:txBody>
                    <a:bodyPr wrap="square"/>
                    <a:lstStyle/>
                    <a:p>
                      <a:r>
                        <a:rPr sz="1100" b="0" i="0">
                          <a:solidFill>
                            <a:srgbClr val="156082"/>
                          </a:solidFill>
                          <a:latin typeface="Courier New"/>
                        </a:rPr>
                        <a:t>query -f '%CHROM\n' | sort | uniq -c</a:t>
                      </a:r>
                    </a:p>
                  </a:txBody>
                  <a:tcPr marL="73152" marR="73152" marT="36576" marB="36576" anchor="ctr">
                    <a:solidFill>
                      <a:srgbClr val="FFFFFF"/>
                    </a:solidFill>
                  </a:tcPr>
                </a:tc>
                <a:tc>
                  <a:txBody>
                    <a:bodyPr wrap="square"/>
                    <a:lstStyle/>
                    <a:p>
                      <a:r>
                        <a:rPr sz="1100" b="0" i="0">
                          <a:solidFill>
                            <a:srgbClr val="156082"/>
                          </a:solidFill>
                          <a:latin typeface="Courier New"/>
                        </a:rPr>
                        <a:t>aggregate([{"$group": {"_id": "$chrom", …}}])</a:t>
                      </a:r>
                    </a:p>
                  </a:txBody>
                  <a:tcPr marL="73152" marR="73152" marT="36576" marB="36576" anchor="ctr">
                    <a:solidFill>
                      <a:srgbClr val="FFFFFF"/>
                    </a:solidFill>
                  </a:tcPr>
                </a:tc>
                <a:tc>
                  <a:txBody>
                    <a:bodyPr wrap="square"/>
                    <a:lstStyle/>
                    <a:p>
                      <a:r>
                        <a:rPr sz="1100" b="0" i="0">
                          <a:solidFill>
                            <a:srgbClr val="156082"/>
                          </a:solidFill>
                          <a:latin typeface="Courier New"/>
                        </a:rPr>
                        <a:t>GROUP BY chrom</a:t>
                      </a:r>
                    </a:p>
                  </a:txBody>
                  <a:tcPr marL="73152" marR="73152" marT="36576" marB="36576" anchor="ctr">
                    <a:solidFill>
                      <a:srgbClr val="FFFFFF"/>
                    </a:solidFill>
                  </a:tcPr>
                </a:tc>
              </a:tr>
            </a:tbl>
          </a:graphicData>
        </a:graphic>
      </p:graphicFrame>
      <p:graphicFrame>
        <p:nvGraphicFramePr>
          <p:cNvPr id="6" name="crud"/>
          <p:cNvGraphicFramePr>
            <a:graphicFrameLocks noGrp="1"/>
          </p:cNvGraphicFramePr>
          <p:nvPr/>
        </p:nvGraphicFramePr>
        <p:xfrm>
          <a:off x="548640" y="5394960"/>
          <a:ext cx="11064240" cy="877824"/>
        </p:xfrm>
        <a:graphic>
          <a:graphicData uri="http://schemas.openxmlformats.org/drawingml/2006/table">
            <a:tbl>
              <a:tblPr firstRow="0" bandRow="0">
                <a:tableStyleId>{5C22544A-7EE6-4342-B048-85BDC9FD1C3A}</a:tableStyleId>
              </a:tblPr>
              <a:tblGrid>
                <a:gridCol w="2377440"/>
                <a:gridCol w="3931920"/>
                <a:gridCol w="2651760"/>
                <a:gridCol w="2103120"/>
              </a:tblGrid>
              <a:tr h="329184">
                <a:tc>
                  <a:txBody>
                    <a:bodyPr wrap="square"/>
                    <a:lstStyle/>
                    <a:p>
                      <a:r>
                        <a:rPr sz="1200" b="1" i="0">
                          <a:solidFill>
                            <a:srgbClr val="FFFFFF"/>
                          </a:solidFill>
                        </a:rPr>
                        <a:t>C</a:t>
                      </a:r>
                    </a:p>
                  </a:txBody>
                  <a:tcPr marL="73152" marR="73152" marT="36576" marB="36576" anchor="ctr">
                    <a:solidFill>
                      <a:srgbClr val="2E8B3E"/>
                    </a:solidFill>
                  </a:tcPr>
                </a:tc>
                <a:tc>
                  <a:txBody>
                    <a:bodyPr wrap="square"/>
                    <a:lstStyle/>
                    <a:p>
                      <a:r>
                        <a:rPr sz="1200" b="1" i="0">
                          <a:solidFill>
                            <a:srgbClr val="FFFFFF"/>
                          </a:solidFill>
                        </a:rPr>
                        <a:t>R</a:t>
                      </a:r>
                    </a:p>
                  </a:txBody>
                  <a:tcPr marL="73152" marR="73152" marT="36576" marB="36576" anchor="ctr">
                    <a:solidFill>
                      <a:srgbClr val="2E8B3E"/>
                    </a:solidFill>
                  </a:tcPr>
                </a:tc>
                <a:tc>
                  <a:txBody>
                    <a:bodyPr wrap="square"/>
                    <a:lstStyle/>
                    <a:p>
                      <a:r>
                        <a:rPr sz="1200" b="1" i="0">
                          <a:solidFill>
                            <a:srgbClr val="FFFFFF"/>
                          </a:solidFill>
                        </a:rPr>
                        <a:t>U</a:t>
                      </a:r>
                    </a:p>
                  </a:txBody>
                  <a:tcPr marL="73152" marR="73152" marT="36576" marB="36576" anchor="ctr">
                    <a:solidFill>
                      <a:srgbClr val="2E8B3E"/>
                    </a:solidFill>
                  </a:tcPr>
                </a:tc>
                <a:tc>
                  <a:txBody>
                    <a:bodyPr wrap="square"/>
                    <a:lstStyle/>
                    <a:p>
                      <a:r>
                        <a:rPr sz="1200" b="1" i="0">
                          <a:solidFill>
                            <a:srgbClr val="FFFFFF"/>
                          </a:solidFill>
                        </a:rPr>
                        <a:t>D</a:t>
                      </a:r>
                    </a:p>
                  </a:txBody>
                  <a:tcPr marL="73152" marR="73152" marT="36576" marB="36576" anchor="ctr">
                    <a:solidFill>
                      <a:srgbClr val="2E8B3E"/>
                    </a:solidFill>
                  </a:tcPr>
                </a:tc>
              </a:tr>
              <a:tr h="548640">
                <a:tc>
                  <a:txBody>
                    <a:bodyPr wrap="square"/>
                    <a:lstStyle/>
                    <a:p>
                      <a:r>
                        <a:rPr sz="1200" b="0" i="0">
                          <a:solidFill>
                            <a:srgbClr val="156082"/>
                          </a:solidFill>
                          <a:latin typeface="Courier New"/>
                        </a:rPr>
                        <a:t>insert_one</a:t>
                      </a:r>
                      <a:r>
                        <a:rPr sz="1200" b="0" i="0">
                          <a:solidFill>
                            <a:srgbClr val="0E2841"/>
                          </a:solidFill>
                        </a:rPr>
                        <a:t> </a:t>
                      </a:r>
                      <a:r>
                        <a:rPr sz="1200" b="0" i="0">
                          <a:solidFill>
                            <a:srgbClr val="156082"/>
                          </a:solidFill>
                          <a:latin typeface="Courier New"/>
                        </a:rPr>
                        <a:t>insert_many</a:t>
                      </a:r>
                      <a:r>
                        <a:rPr sz="1200" b="0" i="0">
                          <a:solidFill>
                            <a:srgbClr val="0E2841"/>
                          </a:solidFill>
                        </a:rPr>
                        <a:t> </a:t>
                      </a:r>
                      <a:r>
                        <a:rPr sz="1200" b="0" i="0">
                          <a:solidFill>
                            <a:srgbClr val="156082"/>
                          </a:solidFill>
                          <a:latin typeface="Courier New"/>
                        </a:rPr>
                        <a:t>upsert</a:t>
                      </a:r>
                    </a:p>
                  </a:txBody>
                  <a:tcPr marL="73152" marR="73152" marT="36576" marB="36576" anchor="ctr">
                    <a:solidFill>
                      <a:srgbClr val="FFFFFF"/>
                    </a:solidFill>
                  </a:tcPr>
                </a:tc>
                <a:tc>
                  <a:txBody>
                    <a:bodyPr wrap="square"/>
                    <a:lstStyle/>
                    <a:p>
                      <a:r>
                        <a:rPr sz="1200" b="0" i="0">
                          <a:solidFill>
                            <a:srgbClr val="156082"/>
                          </a:solidFill>
                          <a:latin typeface="Courier New"/>
                        </a:rPr>
                        <a:t>find</a:t>
                      </a:r>
                      <a:r>
                        <a:rPr sz="1200" b="0" i="0">
                          <a:solidFill>
                            <a:srgbClr val="0E2841"/>
                          </a:solidFill>
                        </a:rPr>
                        <a:t> </a:t>
                      </a:r>
                      <a:r>
                        <a:rPr sz="1200" b="0" i="0">
                          <a:solidFill>
                            <a:srgbClr val="156082"/>
                          </a:solidFill>
                          <a:latin typeface="Courier New"/>
                        </a:rPr>
                        <a:t>find_one</a:t>
                      </a:r>
                      <a:r>
                        <a:rPr sz="1200" b="0" i="0">
                          <a:solidFill>
                            <a:srgbClr val="0E2841"/>
                          </a:solidFill>
                        </a:rPr>
                        <a:t> </a:t>
                      </a:r>
                      <a:r>
                        <a:rPr sz="1200" b="0" i="0">
                          <a:solidFill>
                            <a:srgbClr val="156082"/>
                          </a:solidFill>
                          <a:latin typeface="Courier New"/>
                        </a:rPr>
                        <a:t>count_documents</a:t>
                      </a:r>
                      <a:r>
                        <a:rPr sz="1200" b="0" i="0">
                          <a:solidFill>
                            <a:srgbClr val="0E2841"/>
                          </a:solidFill>
                        </a:rPr>
                        <a:t> </a:t>
                      </a:r>
                      <a:r>
                        <a:rPr sz="1200" b="0" i="0">
                          <a:solidFill>
                            <a:srgbClr val="156082"/>
                          </a:solidFill>
                          <a:latin typeface="Courier New"/>
                        </a:rPr>
                        <a:t>distinct</a:t>
                      </a:r>
                      <a:r>
                        <a:rPr sz="1200" b="0" i="0">
                          <a:solidFill>
                            <a:srgbClr val="0E2841"/>
                          </a:solidFill>
                        </a:rPr>
                        <a:t> </a:t>
                      </a:r>
                      <a:r>
                        <a:rPr sz="1200" b="0" i="0">
                          <a:solidFill>
                            <a:srgbClr val="156082"/>
                          </a:solidFill>
                          <a:latin typeface="Courier New"/>
                        </a:rPr>
                        <a:t>aggregate</a:t>
                      </a:r>
                    </a:p>
                  </a:txBody>
                  <a:tcPr marL="73152" marR="73152" marT="36576" marB="36576" anchor="ctr">
                    <a:solidFill>
                      <a:srgbClr val="FFFFFF"/>
                    </a:solidFill>
                  </a:tcPr>
                </a:tc>
                <a:tc>
                  <a:txBody>
                    <a:bodyPr wrap="square"/>
                    <a:lstStyle/>
                    <a:p>
                      <a:r>
                        <a:rPr sz="1200" b="0" i="0">
                          <a:solidFill>
                            <a:srgbClr val="156082"/>
                          </a:solidFill>
                          <a:latin typeface="Courier New"/>
                        </a:rPr>
                        <a:t>update_one</a:t>
                      </a:r>
                      <a:r>
                        <a:rPr sz="1200" b="0" i="0">
                          <a:solidFill>
                            <a:srgbClr val="0E2841"/>
                          </a:solidFill>
                        </a:rPr>
                        <a:t> </a:t>
                      </a:r>
                      <a:r>
                        <a:rPr sz="1200" b="0" i="0">
                          <a:solidFill>
                            <a:srgbClr val="156082"/>
                          </a:solidFill>
                          <a:latin typeface="Courier New"/>
                        </a:rPr>
                        <a:t>update_many</a:t>
                      </a:r>
                      <a:r>
                        <a:rPr sz="1200" b="0" i="0">
                          <a:solidFill>
                            <a:srgbClr val="0E2841"/>
                          </a:solidFill>
                        </a:rPr>
                        <a:t> </a:t>
                      </a:r>
                      <a:r>
                        <a:rPr sz="1200" b="0" i="0">
                          <a:solidFill>
                            <a:srgbClr val="156082"/>
                          </a:solidFill>
                          <a:latin typeface="Courier New"/>
                        </a:rPr>
                        <a:t>replace_one</a:t>
                      </a:r>
                    </a:p>
                  </a:txBody>
                  <a:tcPr marL="73152" marR="73152" marT="36576" marB="36576" anchor="ctr">
                    <a:solidFill>
                      <a:srgbClr val="FFFFFF"/>
                    </a:solidFill>
                  </a:tcPr>
                </a:tc>
                <a:tc>
                  <a:txBody>
                    <a:bodyPr wrap="square"/>
                    <a:lstStyle/>
                    <a:p>
                      <a:r>
                        <a:rPr sz="1200" b="0" i="0">
                          <a:solidFill>
                            <a:srgbClr val="156082"/>
                          </a:solidFill>
                          <a:latin typeface="Courier New"/>
                        </a:rPr>
                        <a:t>delete_one</a:t>
                      </a:r>
                      <a:r>
                        <a:rPr sz="1200" b="0" i="0">
                          <a:solidFill>
                            <a:srgbClr val="0E2841"/>
                          </a:solidFill>
                        </a:rPr>
                        <a:t> </a:t>
                      </a:r>
                      <a:r>
                        <a:rPr sz="1200" b="0" i="0">
                          <a:solidFill>
                            <a:srgbClr val="156082"/>
                          </a:solidFill>
                          <a:latin typeface="Courier New"/>
                        </a:rPr>
                        <a:t>delete_many</a:t>
                      </a:r>
                      <a:r>
                        <a:rPr sz="1200" b="0" i="0">
                          <a:solidFill>
                            <a:srgbClr val="0E2841"/>
                          </a:solidFill>
                        </a:rPr>
                        <a:t> </a:t>
                      </a:r>
                      <a:r>
                        <a:rPr sz="1200" b="0" i="0">
                          <a:solidFill>
                            <a:srgbClr val="156082"/>
                          </a:solidFill>
                          <a:latin typeface="Courier New"/>
                        </a:rPr>
                        <a:t>drop()</a:t>
                      </a:r>
                    </a:p>
                  </a:txBody>
                  <a:tcPr marL="73152" marR="73152" marT="36576" marB="36576"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Assignment</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task1 bg"/>
          <p:cNvSpPr/>
          <p:nvPr/>
        </p:nvSpPr>
        <p:spPr>
          <a:xfrm>
            <a:off x="548640" y="1371600"/>
            <a:ext cx="5440680" cy="3200400"/>
          </a:xfrm>
          <a:prstGeom prst="roundRect">
            <a:avLst>
              <a:gd name="adj" fmla="val 1714"/>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ask1 title"/>
          <p:cNvSpPr txBox="1"/>
          <p:nvPr/>
        </p:nvSpPr>
        <p:spPr>
          <a:xfrm>
            <a:off x="658368" y="1444752"/>
            <a:ext cx="5221224" cy="411480"/>
          </a:xfrm>
          <a:prstGeom prst="rect">
            <a:avLst/>
          </a:prstGeom>
          <a:noFill/>
        </p:spPr>
        <p:txBody>
          <a:bodyPr wrap="square" lIns="45720" rIns="45720" tIns="27432" bIns="27432" anchor="t">
            <a:spAutoFit/>
          </a:bodyPr>
          <a:lstStyle/>
          <a:p>
            <a:pPr algn="l">
              <a:spcAft>
                <a:spcPts val="600"/>
              </a:spcAft>
            </a:pPr>
            <a:r>
              <a:rPr sz="2000" b="1" i="0">
                <a:solidFill>
                  <a:srgbClr val="156082"/>
                </a:solidFill>
              </a:rPr>
              <a:t>Task 1 · 2%</a:t>
            </a:r>
          </a:p>
        </p:txBody>
      </p:sp>
      <p:sp>
        <p:nvSpPr>
          <p:cNvPr id="7" name="task1 body"/>
          <p:cNvSpPr txBox="1"/>
          <p:nvPr/>
        </p:nvSpPr>
        <p:spPr>
          <a:xfrm>
            <a:off x="658368" y="1859280"/>
            <a:ext cx="5221224" cy="2621279"/>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600" b="0" i="0">
                <a:solidFill>
                  <a:srgbClr val="0E2841"/>
                </a:solidFill>
              </a:rPr>
              <a:t>Fetch </a:t>
            </a:r>
            <a:r>
              <a:rPr sz="1600" b="0" i="0">
                <a:solidFill>
                  <a:srgbClr val="156082"/>
                </a:solidFill>
                <a:latin typeface="Courier New"/>
              </a:rPr>
              <a:t>assignment.vcf</a:t>
            </a:r>
            <a:r>
              <a:rPr sz="1600" b="0" i="0">
                <a:solidFill>
                  <a:srgbClr val="0E2841"/>
                </a:solidFill>
              </a:rPr>
              <a:t> from </a:t>
            </a:r>
            <a:r>
              <a:rPr sz="1600" b="0" i="0">
                <a:solidFill>
                  <a:srgbClr val="156082"/>
                </a:solidFill>
                <a:latin typeface="Courier New"/>
              </a:rPr>
              <a:t>public.example</a:t>
            </a:r>
          </a:p>
          <a:p>
            <a:pPr algn="l" marL="256032" indent="-256032">
              <a:spcAft>
                <a:spcPts val="800"/>
              </a:spcAft>
              <a:buFont typeface="Arial"/>
              <a:buChar char="•"/>
            </a:pPr>
            <a:r>
              <a:rPr sz="1600" b="1" i="0">
                <a:solidFill>
                  <a:srgbClr val="0E2841"/>
                </a:solidFill>
              </a:rPr>
              <a:t>Slice</a:t>
            </a:r>
            <a:r>
              <a:rPr sz="1600" b="0" i="0">
                <a:solidFill>
                  <a:srgbClr val="0E2841"/>
                </a:solidFill>
              </a:rPr>
              <a:t>: chromosomes </a:t>
            </a:r>
            <a:r>
              <a:rPr sz="1600" b="1" i="0">
                <a:solidFill>
                  <a:srgbClr val="0E2841"/>
                </a:solidFill>
              </a:rPr>
              <a:t>22</a:t>
            </a:r>
            <a:r>
              <a:rPr sz="1600" b="0" i="0">
                <a:solidFill>
                  <a:srgbClr val="0E2841"/>
                </a:solidFill>
              </a:rPr>
              <a:t> and </a:t>
            </a:r>
            <a:r>
              <a:rPr sz="1600" b="1" i="0">
                <a:solidFill>
                  <a:srgbClr val="0E2841"/>
                </a:solidFill>
              </a:rPr>
              <a:t>7</a:t>
            </a:r>
            <a:r>
              <a:rPr sz="1600" b="0" i="0">
                <a:solidFill>
                  <a:srgbClr val="0E2841"/>
                </a:solidFill>
              </a:rPr>
              <a:t>, 10 Mb – 60 Mb</a:t>
            </a:r>
          </a:p>
          <a:p>
            <a:pPr algn="l" marL="256032" indent="-256032">
              <a:spcAft>
                <a:spcPts val="800"/>
              </a:spcAft>
              <a:buFont typeface="Arial"/>
              <a:buChar char="•"/>
            </a:pPr>
            <a:r>
              <a:rPr sz="1600" b="0" i="0">
                <a:solidFill>
                  <a:srgbClr val="0E2841"/>
                </a:solidFill>
              </a:rPr>
              <a:t>Process with </a:t>
            </a:r>
            <a:r>
              <a:rPr sz="1600" b="0" i="0">
                <a:solidFill>
                  <a:srgbClr val="156082"/>
                </a:solidFill>
                <a:latin typeface="Courier New"/>
              </a:rPr>
              <a:t>parse_vcf()</a:t>
            </a:r>
          </a:p>
          <a:p>
            <a:pPr algn="l" marL="256032" indent="-256032">
              <a:spcAft>
                <a:spcPts val="800"/>
              </a:spcAft>
              <a:buFont typeface="Arial"/>
              <a:buChar char="•"/>
            </a:pPr>
            <a:r>
              <a:rPr sz="1600" b="1" i="0">
                <a:solidFill>
                  <a:srgbClr val="0E2841"/>
                </a:solidFill>
              </a:rPr>
              <a:t>Insert</a:t>
            </a:r>
            <a:r>
              <a:rPr sz="1600" b="0" i="0">
                <a:solidFill>
                  <a:srgbClr val="0E2841"/>
                </a:solidFill>
              </a:rPr>
              <a:t> into </a:t>
            </a:r>
            <a:r>
              <a:rPr sz="1600" b="0" i="0">
                <a:solidFill>
                  <a:srgbClr val="156082"/>
                </a:solidFill>
                <a:latin typeface="Courier New"/>
              </a:rPr>
              <a:t>student_db.assignment_variants</a:t>
            </a:r>
          </a:p>
        </p:txBody>
      </p:sp>
      <p:sp>
        <p:nvSpPr>
          <p:cNvPr id="8" name="task2 bg"/>
          <p:cNvSpPr/>
          <p:nvPr/>
        </p:nvSpPr>
        <p:spPr>
          <a:xfrm>
            <a:off x="6172200" y="1371600"/>
            <a:ext cx="5440680" cy="3200400"/>
          </a:xfrm>
          <a:prstGeom prst="roundRect">
            <a:avLst>
              <a:gd name="adj" fmla="val 1714"/>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ask2 title"/>
          <p:cNvSpPr txBox="1"/>
          <p:nvPr/>
        </p:nvSpPr>
        <p:spPr>
          <a:xfrm>
            <a:off x="6281928" y="1444752"/>
            <a:ext cx="5221224" cy="411480"/>
          </a:xfrm>
          <a:prstGeom prst="rect">
            <a:avLst/>
          </a:prstGeom>
          <a:noFill/>
        </p:spPr>
        <p:txBody>
          <a:bodyPr wrap="square" lIns="45720" rIns="45720" tIns="27432" bIns="27432" anchor="t">
            <a:spAutoFit/>
          </a:bodyPr>
          <a:lstStyle/>
          <a:p>
            <a:pPr algn="l">
              <a:spcAft>
                <a:spcPts val="600"/>
              </a:spcAft>
            </a:pPr>
            <a:r>
              <a:rPr sz="2000" b="1" i="0">
                <a:solidFill>
                  <a:srgbClr val="2E8B3E"/>
                </a:solidFill>
              </a:rPr>
              <a:t>Task 2 · 3%</a:t>
            </a:r>
          </a:p>
        </p:txBody>
      </p:sp>
      <p:sp>
        <p:nvSpPr>
          <p:cNvPr id="10" name="task2 body"/>
          <p:cNvSpPr txBox="1"/>
          <p:nvPr/>
        </p:nvSpPr>
        <p:spPr>
          <a:xfrm>
            <a:off x="6281928" y="1859280"/>
            <a:ext cx="5221224" cy="2621279"/>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600" b="0" i="0">
                <a:solidFill>
                  <a:srgbClr val="0E2841"/>
                </a:solidFill>
              </a:rPr>
              <a:t>Number of variants </a:t>
            </a:r>
            <a:r>
              <a:rPr sz="1600" b="1" i="0">
                <a:solidFill>
                  <a:srgbClr val="0E2841"/>
                </a:solidFill>
              </a:rPr>
              <a:t>per chromosome</a:t>
            </a:r>
          </a:p>
          <a:p>
            <a:pPr algn="l" marL="256032" indent="-256032">
              <a:spcAft>
                <a:spcPts val="800"/>
              </a:spcAft>
              <a:buFont typeface="Arial"/>
              <a:buChar char="•"/>
            </a:pPr>
            <a:r>
              <a:rPr sz="1600" b="1" i="0">
                <a:solidFill>
                  <a:srgbClr val="0E2841"/>
                </a:solidFill>
              </a:rPr>
              <a:t>QUAL distribution</a:t>
            </a:r>
            <a:r>
              <a:rPr sz="1600" b="0" i="0">
                <a:solidFill>
                  <a:srgbClr val="0E2841"/>
                </a:solidFill>
              </a:rPr>
              <a:t> (</a:t>
            </a:r>
            <a:r>
              <a:rPr sz="1600" b="0" i="0">
                <a:solidFill>
                  <a:srgbClr val="156082"/>
                </a:solidFill>
                <a:latin typeface="Courier New"/>
              </a:rPr>
              <a:t>$bucket</a:t>
            </a:r>
            <a:r>
              <a:rPr sz="1600" b="0" i="0">
                <a:solidFill>
                  <a:srgbClr val="0E2841"/>
                </a:solidFill>
              </a:rPr>
              <a:t>)</a:t>
            </a:r>
          </a:p>
          <a:p>
            <a:pPr algn="l" marL="256032" indent="-256032">
              <a:spcAft>
                <a:spcPts val="800"/>
              </a:spcAft>
              <a:buFont typeface="Arial"/>
              <a:buChar char="•"/>
            </a:pPr>
            <a:r>
              <a:rPr sz="1600" b="0" i="0">
                <a:solidFill>
                  <a:srgbClr val="0E2841"/>
                </a:solidFill>
              </a:rPr>
              <a:t>Distribution of the </a:t>
            </a:r>
            <a:r>
              <a:rPr sz="1600" b="1" i="0">
                <a:solidFill>
                  <a:srgbClr val="0E2841"/>
                </a:solidFill>
              </a:rPr>
              <a:t>number of ALT alleles</a:t>
            </a:r>
            <a:r>
              <a:rPr sz="1600" b="0" i="0">
                <a:solidFill>
                  <a:srgbClr val="0E2841"/>
                </a:solidFill>
              </a:rPr>
              <a:t> (</a:t>
            </a:r>
            <a:r>
              <a:rPr sz="1600" b="0" i="0">
                <a:solidFill>
                  <a:srgbClr val="156082"/>
                </a:solidFill>
                <a:latin typeface="Courier New"/>
              </a:rPr>
              <a:t>$size</a:t>
            </a:r>
            <a:r>
              <a:rPr sz="1600" b="0" i="0">
                <a:solidFill>
                  <a:srgbClr val="0E2841"/>
                </a:solidFill>
              </a:rPr>
              <a:t> of </a:t>
            </a:r>
            <a:r>
              <a:rPr sz="1600" b="0" i="0">
                <a:solidFill>
                  <a:srgbClr val="156082"/>
                </a:solidFill>
                <a:latin typeface="Courier New"/>
              </a:rPr>
              <a:t>alt</a:t>
            </a:r>
            <a:r>
              <a:rPr sz="1600" b="0" i="0">
                <a:solidFill>
                  <a:srgbClr val="0E2841"/>
                </a:solidFill>
              </a:rPr>
              <a:t>)</a:t>
            </a:r>
          </a:p>
          <a:p>
            <a:pPr algn="l" marL="256032" indent="-256032">
              <a:spcAft>
                <a:spcPts val="800"/>
              </a:spcAft>
              <a:buFont typeface="Arial"/>
              <a:buChar char="•"/>
            </a:pPr>
            <a:r>
              <a:rPr sz="1600" b="0" i="0">
                <a:solidFill>
                  <a:srgbClr val="0E2841"/>
                </a:solidFill>
              </a:rPr>
              <a:t>One DataFrame and one </a:t>
            </a:r>
            <a:r>
              <a:rPr sz="1600" b="1" i="0">
                <a:solidFill>
                  <a:srgbClr val="0E2841"/>
                </a:solidFill>
              </a:rPr>
              <a:t>plot</a:t>
            </a:r>
            <a:r>
              <a:rPr sz="1600" b="0" i="0">
                <a:solidFill>
                  <a:srgbClr val="0E2841"/>
                </a:solidFill>
              </a:rPr>
              <a:t> for each</a:t>
            </a:r>
          </a:p>
        </p:txBody>
      </p:sp>
      <p:sp>
        <p:nvSpPr>
          <p:cNvPr id="11" name="starter"/>
          <p:cNvSpPr/>
          <p:nvPr/>
        </p:nvSpPr>
        <p:spPr>
          <a:xfrm>
            <a:off x="548640" y="4800600"/>
            <a:ext cx="11064240" cy="1463040"/>
          </a:xfrm>
          <a:prstGeom prst="roundRect">
            <a:avLst>
              <a:gd name="adj" fmla="val 375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arter text"/>
          <p:cNvSpPr txBox="1"/>
          <p:nvPr/>
        </p:nvSpPr>
        <p:spPr>
          <a:xfrm>
            <a:off x="731520" y="4846320"/>
            <a:ext cx="10698480" cy="1371600"/>
          </a:xfrm>
          <a:prstGeom prst="rect">
            <a:avLst/>
          </a:prstGeom>
          <a:noFill/>
        </p:spPr>
        <p:txBody>
          <a:bodyPr wrap="square" lIns="45720" rIns="45720" tIns="27432" bIns="27432" anchor="t">
            <a:spAutoFit/>
          </a:bodyPr>
          <a:lstStyle/>
          <a:p>
            <a:pPr algn="l" marL="256032" indent="-256032">
              <a:spcAft>
                <a:spcPts val="600"/>
              </a:spcAft>
              <a:buFont typeface="Arial"/>
              <a:buChar char="•"/>
            </a:pPr>
            <a:r>
              <a:rPr sz="1500" b="1" i="0">
                <a:solidFill>
                  <a:srgbClr val="0E2841"/>
                </a:solidFill>
              </a:rPr>
              <a:t>Data:</a:t>
            </a:r>
            <a:r>
              <a:rPr sz="1500" b="0" i="0">
                <a:solidFill>
                  <a:srgbClr val="0E2841"/>
                </a:solidFill>
              </a:rPr>
              <a:t> 800 synthetic variants on chromosomes 7, 12, 19, 22; samples </a:t>
            </a:r>
            <a:r>
              <a:rPr sz="1500" b="0" i="0">
                <a:solidFill>
                  <a:srgbClr val="156082"/>
                </a:solidFill>
                <a:latin typeface="Courier New"/>
              </a:rPr>
              <a:t>SAMPLE_D/E/F</a:t>
            </a:r>
          </a:p>
          <a:p>
            <a:pPr algn="l" marL="256032" indent="-256032">
              <a:spcAft>
                <a:spcPts val="600"/>
              </a:spcAft>
              <a:buFont typeface="Arial"/>
              <a:buChar char="•"/>
            </a:pPr>
            <a:r>
              <a:rPr sz="1500" b="1" i="0">
                <a:solidFill>
                  <a:srgbClr val="0E2841"/>
                </a:solidFill>
              </a:rPr>
              <a:t>Starter code and a self-check cell</a:t>
            </a:r>
            <a:r>
              <a:rPr sz="1500" b="0" i="0">
                <a:solidFill>
                  <a:srgbClr val="0E2841"/>
                </a:solidFill>
              </a:rPr>
              <a:t> are in the last cells of the workbook: ✅ / ❌ for each task</a:t>
            </a:r>
          </a:p>
          <a:p>
            <a:pPr algn="l" marL="256032" indent="-256032">
              <a:spcAft>
                <a:spcPts val="600"/>
              </a:spcAft>
              <a:buFont typeface="Arial"/>
              <a:buChar char="•"/>
            </a:pPr>
            <a:r>
              <a:rPr sz="1500" b="0" i="0">
                <a:solidFill>
                  <a:srgbClr val="0E2841"/>
                </a:solidFill>
              </a:rPr>
              <a:t>Use the aggregation examples of this lecture (Ts/Tv, QUAL histogram) as templates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Recap and what comes next</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25  ·  MongoDB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graphicFrame>
        <p:nvGraphicFramePr>
          <p:cNvPr id="5" name="recap"/>
          <p:cNvGraphicFramePr>
            <a:graphicFrameLocks noGrp="1"/>
          </p:cNvGraphicFramePr>
          <p:nvPr/>
        </p:nvGraphicFramePr>
        <p:xfrm>
          <a:off x="548640" y="1371600"/>
          <a:ext cx="11064240" cy="3840480"/>
        </p:xfrm>
        <a:graphic>
          <a:graphicData uri="http://schemas.openxmlformats.org/drawingml/2006/table">
            <a:tbl>
              <a:tblPr firstRow="0" bandRow="0">
                <a:tableStyleId>{5C22544A-7EE6-4342-B048-85BDC9FD1C3A}</a:tableStyleId>
              </a:tblPr>
              <a:tblGrid>
                <a:gridCol w="2743200"/>
                <a:gridCol w="8321040"/>
              </a:tblGrid>
              <a:tr h="411480">
                <a:tc>
                  <a:txBody>
                    <a:bodyPr wrap="square"/>
                    <a:lstStyle/>
                    <a:p>
                      <a:r>
                        <a:rPr sz="1600" b="1" i="0">
                          <a:solidFill>
                            <a:srgbClr val="FFFFFF"/>
                          </a:solidFill>
                        </a:rPr>
                        <a:t>Objective</a:t>
                      </a:r>
                    </a:p>
                  </a:txBody>
                  <a:tcPr marL="73152" marR="73152" marT="36576" marB="36576" anchor="ctr">
                    <a:solidFill>
                      <a:srgbClr val="0E2841"/>
                    </a:solidFill>
                  </a:tcPr>
                </a:tc>
                <a:tc>
                  <a:txBody>
                    <a:bodyPr wrap="square"/>
                    <a:lstStyle/>
                    <a:p>
                      <a:r>
                        <a:rPr sz="1600" b="1" i="0">
                          <a:solidFill>
                            <a:srgbClr val="FFFFFF"/>
                          </a:solidFill>
                        </a:rPr>
                        <a:t>What you can do now</a:t>
                      </a:r>
                    </a:p>
                  </a:txBody>
                  <a:tcPr marL="73152" marR="73152" marT="36576" marB="36576" anchor="ctr">
                    <a:solidFill>
                      <a:srgbClr val="0E2841"/>
                    </a:solidFill>
                  </a:tcPr>
                </a:tc>
              </a:tr>
              <a:tr h="685800">
                <a:tc>
                  <a:txBody>
                    <a:bodyPr wrap="square"/>
                    <a:lstStyle/>
                    <a:p>
                      <a:r>
                        <a:rPr sz="1600" b="1" i="0">
                          <a:solidFill>
                            <a:srgbClr val="0E2841"/>
                          </a:solidFill>
                        </a:rPr>
                        <a:t>Explain RBAC</a:t>
                      </a:r>
                    </a:p>
                  </a:txBody>
                  <a:tcPr marL="73152" marR="73152" marT="36576" marB="36576" anchor="ctr">
                    <a:solidFill>
                      <a:srgbClr val="FFFFFF"/>
                    </a:solidFill>
                  </a:tcPr>
                </a:tc>
                <a:tc>
                  <a:txBody>
                    <a:bodyPr wrap="square"/>
                    <a:lstStyle/>
                    <a:p>
                      <a:r>
                        <a:rPr sz="1600" b="0" i="0">
                          <a:solidFill>
                            <a:srgbClr val="0E2841"/>
                          </a:solidFill>
                        </a:rPr>
                        <a:t>roles per database (</a:t>
                      </a:r>
                      <a:r>
                        <a:rPr sz="1600" b="0" i="0">
                          <a:solidFill>
                            <a:srgbClr val="156082"/>
                          </a:solidFill>
                          <a:latin typeface="Courier New"/>
                        </a:rPr>
                        <a:t>read</a:t>
                      </a:r>
                      <a:r>
                        <a:rPr sz="1600" b="0" i="0">
                          <a:solidFill>
                            <a:srgbClr val="0E2841"/>
                          </a:solidFill>
                        </a:rPr>
                        <a:t>, </a:t>
                      </a:r>
                      <a:r>
                        <a:rPr sz="1600" b="0" i="0">
                          <a:solidFill>
                            <a:srgbClr val="156082"/>
                          </a:solidFill>
                          <a:latin typeface="Courier New"/>
                        </a:rPr>
                        <a:t>readWrite</a:t>
                      </a:r>
                      <a:r>
                        <a:rPr sz="1600" b="0" i="0">
                          <a:solidFill>
                            <a:srgbClr val="0E2841"/>
                          </a:solidFill>
                        </a:rPr>
                        <a:t>, </a:t>
                      </a:r>
                      <a:r>
                        <a:rPr sz="1600" b="0" i="0">
                          <a:solidFill>
                            <a:srgbClr val="156082"/>
                          </a:solidFill>
                          <a:latin typeface="Courier New"/>
                        </a:rPr>
                        <a:t>dbAdmin</a:t>
                      </a:r>
                      <a:r>
                        <a:rPr sz="1600" b="0" i="0">
                          <a:solidFill>
                            <a:srgbClr val="0E2841"/>
                          </a:solidFill>
                        </a:rPr>
                        <a:t>, </a:t>
                      </a:r>
                      <a:r>
                        <a:rPr sz="1600" b="0" i="0">
                          <a:solidFill>
                            <a:srgbClr val="156082"/>
                          </a:solidFill>
                          <a:latin typeface="Courier New"/>
                        </a:rPr>
                        <a:t>root</a:t>
                      </a:r>
                      <a:r>
                        <a:rPr sz="1600" b="0" i="0">
                          <a:solidFill>
                            <a:srgbClr val="0E2841"/>
                          </a:solidFill>
                        </a:rPr>
                        <a:t>), least privilege, error code </a:t>
                      </a:r>
                      <a:r>
                        <a:rPr sz="1600" b="1" i="0">
                          <a:solidFill>
                            <a:srgbClr val="0E2841"/>
                          </a:solidFill>
                        </a:rPr>
                        <a:t>13</a:t>
                      </a:r>
                    </a:p>
                  </a:txBody>
                  <a:tcPr marL="73152" marR="73152" marT="36576" marB="36576" anchor="ctr">
                    <a:solidFill>
                      <a:srgbClr val="FFFFFF"/>
                    </a:solidFill>
                  </a:tcPr>
                </a:tc>
              </a:tr>
              <a:tr h="685800">
                <a:tc>
                  <a:txBody>
                    <a:bodyPr wrap="square"/>
                    <a:lstStyle/>
                    <a:p>
                      <a:r>
                        <a:rPr sz="1600" b="1" i="0">
                          <a:solidFill>
                            <a:srgbClr val="0E2841"/>
                          </a:solidFill>
                        </a:rPr>
                        <a:t>CRUD</a:t>
                      </a:r>
                    </a:p>
                  </a:txBody>
                  <a:tcPr marL="73152" marR="73152" marT="36576" marB="36576" anchor="ctr">
                    <a:solidFill>
                      <a:srgbClr val="F2F5F9"/>
                    </a:solidFill>
                  </a:tcPr>
                </a:tc>
                <a:tc>
                  <a:txBody>
                    <a:bodyPr wrap="square"/>
                    <a:lstStyle/>
                    <a:p>
                      <a:r>
                        <a:rPr sz="1600" b="0" i="0">
                          <a:solidFill>
                            <a:srgbClr val="156082"/>
                          </a:solidFill>
                          <a:latin typeface="Courier New"/>
                        </a:rPr>
                        <a:t>insert_many</a:t>
                      </a:r>
                      <a:r>
                        <a:rPr sz="1600" b="0" i="0">
                          <a:solidFill>
                            <a:srgbClr val="0E2841"/>
                          </a:solidFill>
                        </a:rPr>
                        <a:t> · </a:t>
                      </a:r>
                      <a:r>
                        <a:rPr sz="1600" b="0" i="0">
                          <a:solidFill>
                            <a:srgbClr val="156082"/>
                          </a:solidFill>
                          <a:latin typeface="Courier New"/>
                        </a:rPr>
                        <a:t>find</a:t>
                      </a:r>
                      <a:r>
                        <a:rPr sz="1600" b="0" i="0">
                          <a:solidFill>
                            <a:srgbClr val="0E2841"/>
                          </a:solidFill>
                        </a:rPr>
                        <a:t> + operators + </a:t>
                      </a:r>
                      <a:r>
                        <a:rPr sz="1600" b="0" i="0">
                          <a:solidFill>
                            <a:srgbClr val="156082"/>
                          </a:solidFill>
                          <a:latin typeface="Courier New"/>
                        </a:rPr>
                        <a:t>$elemMatch</a:t>
                      </a:r>
                      <a:r>
                        <a:rPr sz="1600" b="0" i="0">
                          <a:solidFill>
                            <a:srgbClr val="0E2841"/>
                          </a:solidFill>
                        </a:rPr>
                        <a:t> · </a:t>
                      </a:r>
                      <a:r>
                        <a:rPr sz="1600" b="0" i="0">
                          <a:solidFill>
                            <a:srgbClr val="156082"/>
                          </a:solidFill>
                          <a:latin typeface="Courier New"/>
                        </a:rPr>
                        <a:t>$set</a:t>
                      </a:r>
                      <a:r>
                        <a:rPr sz="1600" b="0" i="0">
                          <a:solidFill>
                            <a:srgbClr val="0E2841"/>
                          </a:solidFill>
                        </a:rPr>
                        <a:t> / pipeline updates · count-first deletes</a:t>
                      </a:r>
                    </a:p>
                  </a:txBody>
                  <a:tcPr marL="73152" marR="73152" marT="36576" marB="36576" anchor="ctr">
                    <a:solidFill>
                      <a:srgbClr val="F2F5F9"/>
                    </a:solidFill>
                  </a:tcPr>
                </a:tc>
              </a:tr>
              <a:tr h="685800">
                <a:tc>
                  <a:txBody>
                    <a:bodyPr wrap="square"/>
                    <a:lstStyle/>
                    <a:p>
                      <a:r>
                        <a:rPr sz="1600" b="1" i="0">
                          <a:solidFill>
                            <a:srgbClr val="0E2841"/>
                          </a:solidFill>
                        </a:rPr>
                        <a:t>Explore the schema</a:t>
                      </a:r>
                    </a:p>
                  </a:txBody>
                  <a:tcPr marL="73152" marR="73152" marT="36576" marB="36576" anchor="ctr">
                    <a:solidFill>
                      <a:srgbClr val="FFFFFF"/>
                    </a:solidFill>
                  </a:tcPr>
                </a:tc>
                <a:tc>
                  <a:txBody>
                    <a:bodyPr wrap="square"/>
                    <a:lstStyle/>
                    <a:p>
                      <a:r>
                        <a:rPr sz="1600" b="0" i="0">
                          <a:solidFill>
                            <a:srgbClr val="156082"/>
                          </a:solidFill>
                          <a:latin typeface="Courier New"/>
                        </a:rPr>
                        <a:t>$sample</a:t>
                      </a:r>
                      <a:r>
                        <a:rPr sz="1600" b="0" i="0">
                          <a:solidFill>
                            <a:srgbClr val="0E2841"/>
                          </a:solidFill>
                        </a:rPr>
                        <a:t> + type tally; design documents: nested, arrays, </a:t>
                      </a:r>
                      <a:r>
                        <a:rPr sz="1600" b="1" i="0">
                          <a:solidFill>
                            <a:srgbClr val="0E2841"/>
                          </a:solidFill>
                        </a:rPr>
                        <a:t>embed vs reference</a:t>
                      </a:r>
                    </a:p>
                  </a:txBody>
                  <a:tcPr marL="73152" marR="73152" marT="36576" marB="36576" anchor="ctr">
                    <a:solidFill>
                      <a:srgbClr val="FFFFFF"/>
                    </a:solidFill>
                  </a:tcPr>
                </a:tc>
              </a:tr>
              <a:tr h="685800">
                <a:tc>
                  <a:txBody>
                    <a:bodyPr wrap="square"/>
                    <a:lstStyle/>
                    <a:p>
                      <a:r>
                        <a:rPr sz="1600" b="1" i="0">
                          <a:solidFill>
                            <a:srgbClr val="0E2841"/>
                          </a:solidFill>
                        </a:rPr>
                        <a:t>Query with Python</a:t>
                      </a:r>
                    </a:p>
                  </a:txBody>
                  <a:tcPr marL="73152" marR="73152" marT="36576" marB="36576" anchor="ctr">
                    <a:solidFill>
                      <a:srgbClr val="F2F5F9"/>
                    </a:solidFill>
                  </a:tcPr>
                </a:tc>
                <a:tc>
                  <a:txBody>
                    <a:bodyPr wrap="square"/>
                    <a:lstStyle/>
                    <a:p>
                      <a:r>
                        <a:rPr sz="1600" b="0" i="0">
                          <a:solidFill>
                            <a:srgbClr val="0E2841"/>
                          </a:solidFill>
                        </a:rPr>
                        <a:t>filters, projections, sort, </a:t>
                      </a:r>
                      <a:r>
                        <a:rPr sz="1600" b="0" i="0">
                          <a:solidFill>
                            <a:srgbClr val="156082"/>
                          </a:solidFill>
                          <a:latin typeface="Courier New"/>
                        </a:rPr>
                        <a:t>explain()</a:t>
                      </a:r>
                      <a:r>
                        <a:rPr sz="1600" b="0" i="0">
                          <a:solidFill>
                            <a:srgbClr val="0E2841"/>
                          </a:solidFill>
                        </a:rPr>
                        <a:t>: </a:t>
                      </a:r>
                      <a:r>
                        <a:rPr sz="1600" b="0" i="0">
                          <a:solidFill>
                            <a:srgbClr val="156082"/>
                          </a:solidFill>
                          <a:latin typeface="Courier New"/>
                        </a:rPr>
                        <a:t>COLLSCAN</a:t>
                      </a:r>
                      <a:r>
                        <a:rPr sz="1600" b="0" i="0">
                          <a:solidFill>
                            <a:srgbClr val="0E2841"/>
                          </a:solidFill>
                        </a:rPr>
                        <a:t> → </a:t>
                      </a:r>
                      <a:r>
                        <a:rPr sz="1600" b="0" i="0">
                          <a:solidFill>
                            <a:srgbClr val="156082"/>
                          </a:solidFill>
                          <a:latin typeface="Courier New"/>
                        </a:rPr>
                        <a:t>IXSCAN</a:t>
                      </a:r>
                    </a:p>
                  </a:txBody>
                  <a:tcPr marL="73152" marR="73152" marT="36576" marB="36576" anchor="ctr">
                    <a:solidFill>
                      <a:srgbClr val="F2F5F9"/>
                    </a:solidFill>
                  </a:tcPr>
                </a:tc>
              </a:tr>
              <a:tr h="685800">
                <a:tc>
                  <a:txBody>
                    <a:bodyPr wrap="square"/>
                    <a:lstStyle/>
                    <a:p>
                      <a:r>
                        <a:rPr sz="1600" b="1" i="0">
                          <a:solidFill>
                            <a:srgbClr val="0E2841"/>
                          </a:solidFill>
                        </a:rPr>
                        <a:t>Aggregation</a:t>
                      </a:r>
                    </a:p>
                  </a:txBody>
                  <a:tcPr marL="73152" marR="73152" marT="36576" marB="36576" anchor="ctr">
                    <a:solidFill>
                      <a:srgbClr val="FFFFFF"/>
                    </a:solidFill>
                  </a:tcPr>
                </a:tc>
                <a:tc>
                  <a:txBody>
                    <a:bodyPr wrap="square"/>
                    <a:lstStyle/>
                    <a:p>
                      <a:r>
                        <a:rPr sz="1600" b="0" i="0">
                          <a:solidFill>
                            <a:srgbClr val="156082"/>
                          </a:solidFill>
                          <a:latin typeface="Courier New"/>
                        </a:rPr>
                        <a:t>$match</a:t>
                      </a:r>
                      <a:r>
                        <a:rPr sz="1600" b="0" i="0">
                          <a:solidFill>
                            <a:srgbClr val="0E2841"/>
                          </a:solidFill>
                        </a:rPr>
                        <a:t> → </a:t>
                      </a:r>
                      <a:r>
                        <a:rPr sz="1600" b="0" i="0">
                          <a:solidFill>
                            <a:srgbClr val="156082"/>
                          </a:solidFill>
                          <a:latin typeface="Courier New"/>
                        </a:rPr>
                        <a:t>$group</a:t>
                      </a:r>
                      <a:r>
                        <a:rPr sz="1600" b="0" i="0">
                          <a:solidFill>
                            <a:srgbClr val="0E2841"/>
                          </a:solidFill>
                        </a:rPr>
                        <a:t> → </a:t>
                      </a:r>
                      <a:r>
                        <a:rPr sz="1600" b="0" i="0">
                          <a:solidFill>
                            <a:srgbClr val="156082"/>
                          </a:solidFill>
                          <a:latin typeface="Courier New"/>
                        </a:rPr>
                        <a:t>$sort</a:t>
                      </a:r>
                      <a:r>
                        <a:rPr sz="1600" b="0" i="0">
                          <a:solidFill>
                            <a:srgbClr val="0E2841"/>
                          </a:solidFill>
                        </a:rPr>
                        <a:t>; </a:t>
                      </a:r>
                      <a:r>
                        <a:rPr sz="1600" b="0" i="0">
                          <a:solidFill>
                            <a:srgbClr val="156082"/>
                          </a:solidFill>
                          <a:latin typeface="Courier New"/>
                        </a:rPr>
                        <a:t>$unwind</a:t>
                      </a:r>
                      <a:r>
                        <a:rPr sz="1600" b="0" i="0">
                          <a:solidFill>
                            <a:srgbClr val="0E2841"/>
                          </a:solidFill>
                        </a:rPr>
                        <a:t>, </a:t>
                      </a:r>
                      <a:r>
                        <a:rPr sz="1600" b="0" i="0">
                          <a:solidFill>
                            <a:srgbClr val="156082"/>
                          </a:solidFill>
                          <a:latin typeface="Courier New"/>
                        </a:rPr>
                        <a:t>$bucket</a:t>
                      </a:r>
                      <a:r>
                        <a:rPr sz="1600" b="0" i="0">
                          <a:solidFill>
                            <a:srgbClr val="0E2841"/>
                          </a:solidFill>
                        </a:rPr>
                        <a:t>, </a:t>
                      </a:r>
                      <a:r>
                        <a:rPr sz="1600" b="0" i="0">
                          <a:solidFill>
                            <a:srgbClr val="156082"/>
                          </a:solidFill>
                          <a:latin typeface="Courier New"/>
                        </a:rPr>
                        <a:t>$lookup</a:t>
                      </a:r>
                      <a:r>
                        <a:rPr sz="1600" b="0" i="0">
                          <a:solidFill>
                            <a:srgbClr val="0E2841"/>
                          </a:solidFill>
                        </a:rPr>
                        <a:t>, </a:t>
                      </a:r>
                      <a:r>
                        <a:rPr sz="1600" b="0" i="0">
                          <a:solidFill>
                            <a:srgbClr val="156082"/>
                          </a:solidFill>
                          <a:latin typeface="Courier New"/>
                        </a:rPr>
                        <a:t>$out</a:t>
                      </a:r>
                      <a:r>
                        <a:rPr sz="1600" b="0" i="0">
                          <a:solidFill>
                            <a:srgbClr val="0E2841"/>
                          </a:solidFill>
                        </a:rPr>
                        <a:t>: ≈ </a:t>
                      </a:r>
                      <a:r>
                        <a:rPr sz="1600" b="0" i="0">
                          <a:solidFill>
                            <a:srgbClr val="156082"/>
                          </a:solidFill>
                          <a:latin typeface="Courier New"/>
                        </a:rPr>
                        <a:t>bcftools stats</a:t>
                      </a:r>
                    </a:p>
                  </a:txBody>
                  <a:tcPr marL="73152" marR="73152" marT="36576" marB="36576" anchor="ctr">
                    <a:solidFill>
                      <a:srgbClr val="FFFFFF"/>
                    </a:solidFill>
                  </a:tcPr>
                </a:tc>
              </a:tr>
            </a:tbl>
          </a:graphicData>
        </a:graphic>
      </p:graphicFrame>
      <p:sp>
        <p:nvSpPr>
          <p:cNvPr id="6" name="next bg"/>
          <p:cNvSpPr/>
          <p:nvPr/>
        </p:nvSpPr>
        <p:spPr>
          <a:xfrm>
            <a:off x="548640" y="5486400"/>
            <a:ext cx="11064240" cy="777240"/>
          </a:xfrm>
          <a:prstGeom prst="roundRect">
            <a:avLst>
              <a:gd name="adj" fmla="val 7058"/>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next text"/>
          <p:cNvSpPr txBox="1"/>
          <p:nvPr/>
        </p:nvSpPr>
        <p:spPr>
          <a:xfrm>
            <a:off x="731520" y="5532120"/>
            <a:ext cx="10698480" cy="685800"/>
          </a:xfrm>
          <a:prstGeom prst="rect">
            <a:avLst/>
          </a:prstGeom>
          <a:noFill/>
        </p:spPr>
        <p:txBody>
          <a:bodyPr wrap="square" lIns="45720" rIns="45720" tIns="27432" bIns="27432" anchor="ctr">
            <a:spAutoFit/>
          </a:bodyPr>
          <a:lstStyle/>
          <a:p>
            <a:pPr algn="l">
              <a:spcAft>
                <a:spcPts val="600"/>
              </a:spcAft>
            </a:pPr>
            <a:r>
              <a:rPr sz="1900" b="0" i="0">
                <a:solidFill>
                  <a:srgbClr val="FFFFFF"/>
                </a:solidFill>
              </a:rPr>
              <a:t>Next lecture: </a:t>
            </a:r>
            <a:r>
              <a:rPr sz="1900" b="1" i="0">
                <a:solidFill>
                  <a:srgbClr val="FFFFFF"/>
                </a:solidFill>
              </a:rPr>
              <a:t>graph databases</a:t>
            </a:r>
            <a:r>
              <a:rPr sz="1900" b="0" i="0">
                <a:solidFill>
                  <a:srgbClr val="FFFFFF"/>
                </a:solidFill>
              </a:rPr>
              <a:t>, where the </a:t>
            </a:r>
            <a:r>
              <a:rPr sz="1900" b="0" i="1">
                <a:solidFill>
                  <a:srgbClr val="FFFFFF"/>
                </a:solidFill>
              </a:rPr>
              <a:t>relationships</a:t>
            </a:r>
            <a:r>
              <a:rPr sz="1900" b="0" i="0">
                <a:solidFill>
                  <a:srgbClr val="FFFFFF"/>
                </a:solidFill>
              </a:rPr>
              <a:t> between records matter most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5ce1208-e929-4ec4-be64-9138d78922c0}" enabled="1" method="Standard" siteId="{22340fa8-9226-4871-b677-d3b3e377af72}" removed="0"/>
</clbl:labelList>
</file>

<file path=docProps/app.xml><?xml version="1.0" encoding="utf-8"?>
<Properties xmlns="http://schemas.openxmlformats.org/officeDocument/2006/extended-properties" xmlns:vt="http://schemas.openxmlformats.org/officeDocument/2006/docPropsVTypes">
  <TotalTime>14698</TotalTime>
  <Words>1067</Words>
  <Application>Microsoft Macintosh PowerPoint</Application>
  <PresentationFormat>Widescreen</PresentationFormat>
  <Paragraphs>101</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Times New Roman</vt:lpstr>
      <vt:lpstr>Wingdings</vt:lpstr>
      <vt:lpstr>Office Theme</vt:lpstr>
      <vt:lpstr>NoSQL Databases for Bioinformatics </vt:lpstr>
      <vt:lpstr>Learning Objectives </vt:lpstr>
      <vt:lpstr>Before we go …</vt:lpstr>
      <vt:lpstr>Why using a database?</vt:lpstr>
      <vt:lpstr>What is a good database?</vt:lpstr>
      <vt:lpstr>MongoDB is a good database, in some cases</vt:lpstr>
      <vt:lpstr>Connect to MongoDB</vt:lpstr>
      <vt:lpstr>MongoDB Hands-on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Ziang</dc:creator>
  <cp:lastModifiedBy>Zhang, Ziang</cp:lastModifiedBy>
  <cp:revision>5</cp:revision>
  <dcterms:created xsi:type="dcterms:W3CDTF">2025-07-25T02:03:29Z</dcterms:created>
  <dcterms:modified xsi:type="dcterms:W3CDTF">2025-10-21T02:22:09Z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St. Jude - Confidential</vt:lpwstr>
  </property>
</Properties>
</file>