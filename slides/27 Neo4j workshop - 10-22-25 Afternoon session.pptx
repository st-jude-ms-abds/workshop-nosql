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59" r:id="rId3"/>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9"/>
    <p:sldId id="284" r:id="rId8"/>
    <p:sldId id="285" r:id="rId7"/>
    <p:sldId id="286" r:id="rId6"/>
    <p:sldId id="287"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4134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712"/>
    <p:restoredTop sz="87465"/>
  </p:normalViewPr>
  <p:slideViewPr>
    <p:cSldViewPr snapToGrid="0">
      <p:cViewPr varScale="1">
        <p:scale>
          <a:sx n="107" d="100"/>
          <a:sy n="107" d="100"/>
        </p:scale>
        <p:origin x="320"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5" Type="http://schemas.openxmlformats.org/officeDocument/2006/relationships/slide" Target="slides/slide30.xml"/><Relationship Id="rId6" Type="http://schemas.openxmlformats.org/officeDocument/2006/relationships/slide" Target="slides/slide29.xml"/><Relationship Id="rId7" Type="http://schemas.openxmlformats.org/officeDocument/2006/relationships/slide" Target="slides/slide28.xml"/><Relationship Id="rId8" Type="http://schemas.openxmlformats.org/officeDocument/2006/relationships/slide" Target="slides/slide27.xml"/><Relationship Id="rId9" Type="http://schemas.openxmlformats.org/officeDocument/2006/relationships/slide" Target="slides/slide26.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 Id="rId38"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hang, Ziang" userId="86022b89-3620-4733-abee-95d8d72b2d97" providerId="ADAL" clId="{48F4A9CE-C642-5EFE-B34D-78AF252C9260}"/>
    <pc:docChg chg="undo custSel mod addSld delSld modSld modMainMaster">
      <pc:chgData name="Zhang, Ziang" userId="86022b89-3620-4733-abee-95d8d72b2d97" providerId="ADAL" clId="{48F4A9CE-C642-5EFE-B34D-78AF252C9260}" dt="2025-10-22T17:52:54.037" v="44" actId="1076"/>
      <pc:docMkLst>
        <pc:docMk/>
      </pc:docMkLst>
      <pc:sldChg chg="modSp add mod">
        <pc:chgData name="Zhang, Ziang" userId="86022b89-3620-4733-abee-95d8d72b2d97" providerId="ADAL" clId="{48F4A9CE-C642-5EFE-B34D-78AF252C9260}" dt="2025-10-22T17:52:19.026" v="38" actId="14100"/>
        <pc:sldMkLst>
          <pc:docMk/>
          <pc:sldMk cId="0" sldId="297"/>
        </pc:sldMkLst>
        <pc:picChg chg="mod">
          <ac:chgData name="Zhang, Ziang" userId="86022b89-3620-4733-abee-95d8d72b2d97" providerId="ADAL" clId="{48F4A9CE-C642-5EFE-B34D-78AF252C9260}" dt="2025-10-22T17:52:19.026" v="38" actId="14100"/>
          <ac:picMkLst>
            <pc:docMk/>
            <pc:sldMk cId="0" sldId="297"/>
            <ac:picMk id="552" creationId="{00000000-0000-0000-0000-000000000000}"/>
          </ac:picMkLst>
        </pc:picChg>
      </pc:sldChg>
      <pc:sldChg chg="modSp mod">
        <pc:chgData name="Zhang, Ziang" userId="86022b89-3620-4733-abee-95d8d72b2d97" providerId="ADAL" clId="{48F4A9CE-C642-5EFE-B34D-78AF252C9260}" dt="2025-10-22T17:52:38.735" v="41" actId="14100"/>
        <pc:sldMkLst>
          <pc:docMk/>
          <pc:sldMk cId="0" sldId="301"/>
        </pc:sldMkLst>
        <pc:picChg chg="mod">
          <ac:chgData name="Zhang, Ziang" userId="86022b89-3620-4733-abee-95d8d72b2d97" providerId="ADAL" clId="{48F4A9CE-C642-5EFE-B34D-78AF252C9260}" dt="2025-10-22T17:52:38.735" v="41" actId="14100"/>
          <ac:picMkLst>
            <pc:docMk/>
            <pc:sldMk cId="0" sldId="301"/>
            <ac:picMk id="581" creationId="{00000000-0000-0000-0000-000000000000}"/>
          </ac:picMkLst>
        </pc:picChg>
      </pc:sldChg>
      <pc:sldChg chg="modSp mod">
        <pc:chgData name="Zhang, Ziang" userId="86022b89-3620-4733-abee-95d8d72b2d97" providerId="ADAL" clId="{48F4A9CE-C642-5EFE-B34D-78AF252C9260}" dt="2025-10-22T17:52:54.037" v="44" actId="1076"/>
        <pc:sldMkLst>
          <pc:docMk/>
          <pc:sldMk cId="0" sldId="308"/>
        </pc:sldMkLst>
        <pc:picChg chg="mod">
          <ac:chgData name="Zhang, Ziang" userId="86022b89-3620-4733-abee-95d8d72b2d97" providerId="ADAL" clId="{48F4A9CE-C642-5EFE-B34D-78AF252C9260}" dt="2025-10-22T17:52:54.037" v="44" actId="1076"/>
          <ac:picMkLst>
            <pc:docMk/>
            <pc:sldMk cId="0" sldId="308"/>
            <ac:picMk id="632" creationId="{00000000-0000-0000-0000-000000000000}"/>
          </ac:picMkLst>
        </pc:picChg>
      </pc:sldChg>
      <pc:sldMasterChg chg="addSp mod">
        <pc:chgData name="Zhang, Ziang" userId="86022b89-3620-4733-abee-95d8d72b2d97" providerId="ADAL" clId="{48F4A9CE-C642-5EFE-B34D-78AF252C9260}" dt="2025-10-22T17:52:38.784" v="42" actId="33475"/>
        <pc:sldMasterMkLst>
          <pc:docMk/>
          <pc:sldMasterMk cId="4135623836" sldId="2147483648"/>
        </pc:sldMasterMkLst>
        <pc:spChg chg="add">
          <ac:chgData name="Zhang, Ziang" userId="86022b89-3620-4733-abee-95d8d72b2d97" providerId="ADAL" clId="{48F4A9CE-C642-5EFE-B34D-78AF252C9260}" dt="2025-10-22T17:52:38.784" v="42" actId="33475"/>
          <ac:spMkLst>
            <pc:docMk/>
            <pc:sldMasterMk cId="4135623836" sldId="2147483648"/>
            <ac:spMk id="8" creationId="{E12D256B-52DB-CBB2-1748-175BCE5DD05B}"/>
          </ac:spMkLst>
        </pc:sp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306857-204C-AC47-96FD-9722BEC647FD}" type="datetimeFigureOut">
              <a:rPr lang="en-US" smtClean="0"/>
              <a:t>10/22/25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784608-109B-AB47-A93C-DEA587F8BA7F}" type="slidenum">
              <a:rPr lang="en-US" smtClean="0"/>
              <a:t>‹#›</a:t>
            </a:fld>
            <a:endParaRPr lang="en-US"/>
          </a:p>
        </p:txBody>
      </p:sp>
    </p:spTree>
    <p:extLst>
      <p:ext uri="{BB962C8B-B14F-4D97-AF65-F5344CB8AC3E}">
        <p14:creationId xmlns:p14="http://schemas.microsoft.com/office/powerpoint/2010/main" val="24325871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Greeting. Introduce the lecturers and the HPC Support team. Read the title: today is the second hands-on session: after MongoDB (documents) we use a graph database to answer biological questions about genomes.</a:t>
            </a:r>
          </a:p>
          <a:p>
            <a:r>
              <a:t>Everything runs on the students' laptops: Docker (Neo4j) + JupyterLab. The workbook is 4-neo4j-workshop/workbook.ipynb; SETUP.md in the repository explains the installation.</a:t>
            </a:r>
          </a:p>
        </p:txBody>
      </p:sp>
      <p:sp>
        <p:nvSpPr>
          <p:cNvPr id="4" name="Slide Number Placeholder 3"/>
          <p:cNvSpPr>
            <a:spLocks noGrp="1"/>
          </p:cNvSpPr>
          <p:nvPr>
            <p:ph type="sldNum" sz="quarter" idx="5"/>
          </p:nvPr>
        </p:nvSpPr>
        <p:spPr/>
        <p:txBody>
          <a:bodyPr/>
          <a:lstStyle/>
          <a:p>
            <a:fld id="{5F784608-109B-AB47-A93C-DEA587F8BA7F}" type="slidenum">
              <a:rPr lang="en-US" smtClean="0"/>
              <a:t>1</a:t>
            </a:fld>
            <a:endParaRPr lang="en-US"/>
          </a:p>
        </p:txBody>
      </p:sp>
    </p:spTree>
    <p:extLst>
      <p:ext uri="{BB962C8B-B14F-4D97-AF65-F5344CB8AC3E}">
        <p14:creationId xmlns:p14="http://schemas.microsoft.com/office/powerpoint/2010/main" val="36880621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three objectives of the session. Model: draw the whiteboard model of genomes, KOs and the tree. Build: import the data into Neo4j and verify it. Insights: (1) which genomes are similar, based on shared KO annotations; (2) how KO distributions evolved across the taxonomic tree.</a:t>
            </a:r>
          </a:p>
          <a:p>
            <a:r>
              <a:t>The roadmap on the next slide follows the same order: Model, Import, Explore, Query.</a:t>
            </a:r>
          </a:p>
        </p:txBody>
      </p:sp>
      <p:sp>
        <p:nvSpPr>
          <p:cNvPr id="4" name="Slide Number Placeholder 3"/>
          <p:cNvSpPr>
            <a:spLocks noGrp="1"/>
          </p:cNvSpPr>
          <p:nvPr>
            <p:ph type="sldNum" sz="quarter" idx="5"/>
          </p:nvPr>
        </p:nvSpPr>
        <p:spPr/>
        <p:txBody>
          <a:bodyPr/>
          <a:lstStyle/>
          <a:p>
            <a:fld id="{5F784608-109B-AB47-A93C-DEA587F8BA7F}" type="slidenum">
              <a:rPr lang="en-US" smtClean="0"/>
              <a:t>2</a:t>
            </a:fld>
            <a:endParaRPr lang="en-US"/>
          </a:p>
        </p:txBody>
      </p:sp>
    </p:spTree>
    <p:extLst>
      <p:ext uri="{BB962C8B-B14F-4D97-AF65-F5344CB8AC3E}">
        <p14:creationId xmlns:p14="http://schemas.microsoft.com/office/powerpoint/2010/main" val="4116216035"/>
      </p:ext>
    </p:extLst>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we follow the four steps of every graph project: MODEL the data on a whiteboard, IMPORT it into Neo4j, EXPLORE what we built, and finally QUERY it to answer biological questions.</a:t>
            </a:r>
          </a:p>
          <a:p>
            <a:r>
              <a:t>Each step matches a section of the workbook (4-neo4j-workshop/workbook.ipynb), so you can always find the code that belongs to a slide.</a:t>
            </a:r>
          </a:p>
          <a:p>
            <a:r>
              <a:t>Everything runs on your laptop: the database is a Docker container (docker compose up -d) and the notebook is JupyterLab; no cloud account is needed. If your setup is not ready yet, SETUP.md in the repository explains it step by step and scripts/check_setup.py tests it.</a:t>
            </a:r>
          </a:p>
          <a:p>
            <a:r>
              <a:t>Time plan (about 3 hours): Model 35 min, Import 30 min, Explore 20 min, Query 1 40 min, Query 2 45 min, wrap-up 10 min.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drawing any graph we need to understand what the data means.</a:t>
            </a:r>
          </a:p>
          <a:p>
            <a:r>
              <a:t>A genome is the full DNA of an organism. We predict its genes, and for each gene product we ask: what does it do?</a:t>
            </a:r>
          </a:p>
          <a:p>
            <a:r>
              <a:t>KEGG Orthology (KO) is a catalogue of gene functions, like part numbers in a parts catalogue. K04077 is the chaperonin GroEL, K02703 is the photosystem II D1 protein (psbA). If a genome has a gene labelled K04077, it can do that job. So each genome can be summarised by the set of KOs it carries, a functional fingerprint. E. coli K-12 has about 4,300 protein genes but 3,047 distinct KOs (some genes have no KO, some KOs are carried by several genes).</a:t>
            </a:r>
          </a:p>
          <a:p>
            <a:r>
              <a:t>Life is a tree: related organisms share recent ancestors and therefore share genes. We use the NCBI taxonomy as our tree. It is not a perfect phylogeny (a real one is inferred from sequence alignments) but it follows evolution closely and it is a real hierarchy, which a graph handles beautifully.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graph projects start from questions, because the questions tell us which connections must be easy to follow.</a:t>
            </a:r>
          </a:p>
          <a:p>
            <a:r>
              <a:t>Q1: which genomes have similar functional repertoires? Two genomes are similar when they are linked to many of the same KO nodes: a two-hop pattern Genome -&gt; KO &lt;- Genome.</a:t>
            </a:r>
          </a:p>
          <a:p>
            <a:r>
              <a:t>Q2: how are KOs distributed over the tree? If we take every genome that carries a KO and walk up the tree, where do they meet? A KO whose carriers meet low in the tree, and which every member of that clade has, is a clade innovation. If the carriers only meet at the root, the KO is either ancient and often lost, or it moved between lineages (horizontal gene transfer).</a:t>
            </a:r>
          </a:p>
          <a:p>
            <a:r>
              <a:t>Notice that both questions are about relationships, not about single records: that is the reason to use a graph.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the workshop needs is in the data/neo4j folder of the repository; nothing has to be downloaded. The files were prepared from KEGG (genome to KO annotations, KO names, pathways) and the NCBI Taxonomy (the lineage of each genome) by the script data/prepare/build_genome_graph_data.py.</a:t>
            </a:r>
          </a:p>
          <a:p>
            <a:r>
              <a:t>Read the table as a data detective: what is one row? what identifies it? which column points to another file?</a:t>
            </a:r>
          </a:p>
          <a:p>
            <a:r>
              <a:t>The key observation is in the last column: three files (genome_ko, taxon_tree, ko_pathway) are nothing but lists of connections between two things. In a relational database these are link tables that you JOIN again and again; in a graph database a connection is a first-class citizen. The last file column, species_taxid in genomes.csv, gives the 65 CLASSIFIED_AS relationships.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motivation for the whole afternoon. The question 'which genomes share KOs?' needs a self-join of the biggest table in SQL. The question 'what are all the ancestors of this taxon?' needs a recursive query because the depth of the tree is not known in advance.</a:t>
            </a:r>
          </a:p>
          <a:p>
            <a:r>
              <a:t>In Cypher both are drawn as patterns. In MATCH (a:Genome)-[:CONTAINS_KO]-&gt;(k:KO)&lt;-[:CONTAINS_KO]-(b:Genome) the round brackets are nodes and the arrows are relationships: the query looks like the picture you would draw on a whiteboard. -[:CHILD_OF*]-&gt; means 'follow CHILD_OF one or more times'.</a:t>
            </a:r>
          </a:p>
          <a:p>
            <a:r>
              <a:t>You can do both in SQL; the point is that the graph version is shorter, closer to the question, and stays fast when the data grows because following a stored connection does not require computing a join.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Graph modelling is easiest on a whiteboard. The recipe has four questions.</a:t>
            </a:r>
          </a:p>
          <a:p>
            <a:r>
              <a:t>1. What are the things in my data? The nouns become nodes, and every kind of thing gets a label (Genome, KO, Taxon, Pathway).</a:t>
            </a:r>
          </a:p>
          <a:p>
            <a:r>
              <a:t>2. How are the things connected? The verbs become relationships. A relationship has a type, a direction and can carry properties.</a:t>
            </a:r>
          </a:p>
          <a:p>
            <a:r>
              <a:t>3. What do I know about each thing or connection? These attributes become properties (key-value pairs), on nodes and on relationships.</a:t>
            </a:r>
          </a:p>
          <a:p>
            <a:r>
              <a:t>4. Which questions will I ask? If a question often follows a link, that link should be a relationship, not a property.</a:t>
            </a:r>
          </a:p>
          <a:p>
            <a:r>
              <a:t>The right column shows the answers for our data. Pause here and let students propose the model before showing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model we will build. Four kinds of nodes: Genome, KO, Taxon (a group in the tree of life) and Pathway.</a:t>
            </a:r>
          </a:p>
          <a:p>
            <a:r>
              <a:t>Four kinds of relationships. CONTAINS_KO connects a genome to the KOs it carries and has a property, copies, the number of genes with that function. CLASSIFIED_AS connects a genome to its species. CHILD_OF links each taxon to its parent: the whole tree of life is stored as nodes and CHILD_OF relationships. IN_PATHWAY connects a KO to the KEGG pathways it takes part in.</a:t>
            </a:r>
          </a:p>
          <a:p>
            <a:r>
              <a:t>Properties are written next to the node they belong to. Note that every node type has a 'name' property: this is only a convenience, it gives every node a readable caption in drawings.</a:t>
            </a:r>
          </a:p>
          <a:p>
            <a:r>
              <a:t>Neo4j can draw its own schema from the data (CALL db.schema.visualization()), which is a good check that the loaded graph looks like the whiteboard model.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choices matter more than syntax. Ask the students to defend the opposite choice.</a:t>
            </a:r>
          </a:p>
          <a:p>
            <a:r>
              <a:t>1. KO as a node, not a list property on the genome. With a list, 'which genomes have K04077?' scans every genome and searches its list. As a node, K04077 knows its genomes, and Q1 becomes a two-step walk.</a:t>
            </a:r>
          </a:p>
          <a:p>
            <a:r>
              <a:t>2. copies on the relationship. Copy number describes the pair (this genome, this KO), not the genome and not the KO alone.</a:t>
            </a:r>
          </a:p>
          <a:p>
            <a:r>
              <a:t>3. A tree of Taxon nodes instead of columns phylum/class/... in the genome table. Columns only answer questions about ranks you foresaw. A tree answers questions about any clade at any depth with one pattern, and adding a rank later changes no query.</a:t>
            </a:r>
          </a:p>
          <a:p>
            <a:r>
              <a:t>4. A genome links only to its species. Ancestors are one traversal away, so we store each fact once instead of keeping redundant links in sync.</a:t>
            </a:r>
          </a:p>
          <a:p>
            <a:r>
              <a:t>Extra: arrow direction is only how the relationship is stored. You can traverse it in either direction, or ignore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importing 98,000 relationships we build a graph so small that every answer can be verified by eye: 4 genomes and 5 KOs, all real KEGG Orthology IDs. groEL and rpoB are universal. fliC (flagellin) is in E. coli and B. subtilis. spo0A (sporulation) is only in B. subtilis. psbA (photosystem II) is only in Synechocystis.</a:t>
            </a:r>
          </a:p>
          <a:p>
            <a:r>
              <a:t>In the workbook this graph is created with MERGE statements (get-or-create), drawn with the interactive viewer, and queried: starting at E. coli, walk to its KOs, then to the other genomes that carry the same KOs, and count.</a:t>
            </a:r>
          </a:p>
          <a:p>
            <a:r>
              <a:t>The table on the right shows the answer. By raw count B. subtilis wins (3 shared KOs). But look at the Jaccard column: M. genitalium (only 2 KOs, both shared with E. coli) looks more similar to E. coli than Synechocystis does, simply because it is tiny. We will meet this problem again with real data.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Cypher draws patterns with characters: parentheses are circles (nodes) and arrows are relationships. Inside the parentheses, a name before the colon is a variable you choose, the word after the colon is the label, and curly braces hold properties. Relationships are written in square brackets with their type.</a:t>
            </a:r>
          </a:p>
          <a:p>
            <a:r>
              <a:t>The keywords you need today: MATCH finds patterns; WHERE filters; RETURN gives results back; CREATE always makes something new (run it twice and you get two); MERGE is get-or-create and is safe to re-run, so use it to load data; SET adds or changes properties.</a:t>
            </a:r>
          </a:p>
          <a:p>
            <a:r>
              <a:t>There is no GROUP BY in Cypher: as soon as you use an aggregate (count, collect, ...), every non-aggregated column in RETURN becomes the grouping key.</a:t>
            </a:r>
          </a:p>
          <a:p>
            <a:r>
              <a:t>A cheat sheet with more syntax is on the last slide and in Appendix A of the workbook.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loading any data we create uniqueness constraints: 'no two Genome nodes may have the same genome_id', and so on for KO, Taxon and Pathway.</a:t>
            </a:r>
          </a:p>
          <a:p>
            <a:r>
              <a:t>Two benefits. Integrity: a typo or a repeated import cannot silently create duplicates. Speed: Neo4j automatically builds an index behind each constraint. When the second wave of the import says MATCH (g:Genome {genome_id: 'eco'}), it jumps straight to that node instead of scanning all genomes. Without these indexes, the 90,000 relationships (two look-ups each) would take minutes instead of seconds.</a:t>
            </a:r>
          </a:p>
          <a:p>
            <a:r>
              <a:t>The IF NOT EXISTS clause makes each statement safe to repeat, which keeps the whole notebook re-runnable. The workbook starts the import by emptying the database (MATCH (n) DETACH DELETE n), so you can always start over.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import is two waves. Wave 1 creates the nodes (Genome, KO, Taxon, Pathway). Wave 2 creates the relationships, because a relationship needs both end nodes to exist.</a:t>
            </a:r>
          </a:p>
          <a:p>
            <a:r>
              <a:t>Python reads the CSV into a list of dictionaries (csv.DictReader). Everything the csv module returns is text, so numbers must be converted in Python (int(...)); otherwise Neo4j would store the text '4288' and a comparison like n_protein_genes &gt; 4000 would not work.</a:t>
            </a:r>
          </a:p>
          <a:p>
            <a:r>
              <a:t>The rows are sent to Neo4j in batches of 5,000. One row per query would need 90,000 network round-trips, and one giant transaction needs a lot of memory; a few thousand rows per transaction is the usual sweet spot.</a:t>
            </a:r>
          </a:p>
          <a:p>
            <a:r>
              <a:t>UNWIND $rows AS row turns a list parameter into one result row per item, and the rest of the query then runs once per row, like a for-loop written in Cypher. We use MERGE, so running the import twice does not create duplicates. Putting only the identifying property inside the MERGE braces and using SET for the rest is the safe pattern.</a:t>
            </a:r>
          </a:p>
          <a:p>
            <a:r>
              <a:t>Neo4j can also read CSV files itself (LOAD CSV); the workbook shows a read-only preview, and the import folder is mounted by docker-compose.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classic data-engineering rule: compare what is in the database with what was in the files. Any difference means a bug in the import. The table is the output of the check cell in the workbook: counts per label and per relationship type in the database, against the number of rows in the CSV files, with a check mark when they agree.</a:t>
            </a:r>
          </a:p>
          <a:p>
            <a:r>
              <a:t>The whole import took about 6 seconds on a laptop: 9,685 nodes and 98,358 relationships.</a:t>
            </a:r>
          </a:p>
          <a:p>
            <a:r>
              <a:t>Two more checks: Neo4j can draw its own schema from the loaded data (CALL db.schema.visualization()) which you can compare with the whiteboard model; and a spot check of a record you know. E. coli K-12 should have 4,288 protein genes and 3,047 distinct KOs.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asking clever questions, look around. Two numbers shape everything that follows.</a:t>
            </a:r>
          </a:p>
          <a:p>
            <a:r>
              <a:t>How many KOs does a genome have? From 362 (Mycoplasma genitalium) to 3,047 (E. coli), a factor of 8. The smallest repertoires (shown in red) belong to parasites and endosymbionts that live inside other cells and threw away functions their host provides: Mycoplasma, Borrelia, Chlamydia, Treponema, Buchnera, Rickettsia, Wolbachia.</a:t>
            </a:r>
          </a:p>
          <a:p>
            <a:r>
              <a:t>How many genomes share each KO? The distribution is U-shaped, the signature of microbial pan-genomes: a small core of 43 KOs that every one of the 65 genomes has (ribosomal proteins, tRNA synthetases, chaperones) and a huge cloud of rare functions: 2,109 KOs occur in a single genome.</a:t>
            </a:r>
          </a:p>
          <a:p>
            <a:r>
              <a:t>In the workbook we also draw neighbourhoods with the interactive viewer (always add LIMIT when drawing: a genome has about 3,000 neighbours).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Q1 is answered by a two-hop pattern: start at a genome, walk to each KO it carries, then walk to every other genome that carries the same KO, and count how many KOs we passed through for each other genome.</a:t>
            </a:r>
          </a:p>
          <a:p>
            <a:r>
              <a:t>In Cypher the sentence is drawn as the pattern (a:Genome)-[:CONTAINS_KO]-&gt;(k:KO)&lt;-[:CONTAINS_KO]-(b:Genome). The WHERE a &lt;&gt; b clause skips the comparison of the genome with itself. count(k) counts the shared KOs per pair; COUNT { (a)-[:CONTAINS_KO]-&gt;() } is a counting sub-query that gives the size of each repertoire (the degree of the node).</a:t>
            </a:r>
          </a:p>
          <a:p>
            <a:r>
              <a:t>For E. coli the best matches are its relatives: E. coli O157:H7 (Jaccard 0.87), Shigella (0.79), Salmonella (0.75), Klebsiella (0.71), then Yersinia. The graph rediscovered taxonomy using only KO annotations.</a:t>
            </a:r>
          </a:p>
          <a:p>
            <a:r>
              <a:t>The score in the last column, the Jaccard index, is explained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genome with 3,000 KOs will share a lot with everybody; a genome with 400 KOs can never share more than 400. So the number of shared KOs mostly measures size.</a:t>
            </a:r>
          </a:p>
          <a:p>
            <a:r>
              <a:t>Buchnera is an aphid endosymbiont with only 571 KOs. By raw count its closest genomes are the big famous ones: Salmonella, E. coli, Yersinia, Shigella share about 560 of its 571 KOs, but they have 3,000 KOs each, so most of what they carry is irrelevant to Buchnera. By Jaccard index the winners are Wolbachia, Rickettsia, Chlamydia, Aquifex and Treponema: small, host-dependent genomes whose repertoires have the same shape as Buchnera's.</a:t>
            </a:r>
          </a:p>
          <a:p>
            <a:r>
              <a:t>The Jaccard index measures overlap relative to the union of the two sets: shared / (size A + size B - shared). It is 1 for identical repertoires and 0 for nothing in common. The union is A + B - shared because the shared KOs would otherwise be counted twice.</a:t>
            </a:r>
          </a:p>
          <a:p>
            <a:r>
              <a:t>Discussion point: is similar functional repertoire the same as closely related? Buchnera and Chlamydia are in different phyla, but both lost most of their metabolism after moving into host cells: convergent genome reduction. Functional similarity captures lifestyle as well as ancestry.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computed the Jaccard index for all 2,080 pairs of genomes in one Cypher query (one row per pair, each pair once) and drew the matrix. The genomes are sorted by taxonomy (domain, phylum, class, ...), not by similarity, yet bright blocks appear along the diagonal: the archaea in the top-left corner, the Actinomycetota, the Bacillota, the cyanobacteria, the E. coli / Shigella / Salmonella / Klebsiella square, the Mycoplasma pair. The KO repertoire is a good fingerprint of ancestry.</a:t>
            </a:r>
          </a:p>
          <a:p>
            <a:r>
              <a:t>A quantitative check: for each genome we looked at its single most similar genome. In 83% of the cases it is in the same phylum. Of the 11 exceptions, 9 are phyla represented by only one genome in our sample, so a same-phylum neighbour does not exist: the method had no chance to be right. The agreement drops at the genus and family level mainly because most genera in our sample have a single genome.</a:t>
            </a:r>
          </a:p>
          <a:p>
            <a:r>
              <a:t>In the workbook we also build a dendrogram (hierarchical clustering with distance 1 - Jaccard), where same-coloured labels end up together.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Computing all-pairs similarity is cheap here, but with millions of genomes it would not be. A very common pattern is to materialise a result as new relationships so that later queries can simply follow them. We link each genome to its three nearest neighbours with a SIMILAR_TO relationship that carries the Jaccard score: a k-nearest-neighbour graph, computed entirely inside Neo4j.</a:t>
            </a:r>
          </a:p>
          <a:p>
            <a:r>
              <a:t>The query sorts the pairs by genome and score, keeps the first three per genome with collect(...)[0..3], unwinds them and MERGEs the relationships. The picture shows the whole kNN graph (drawn with networkx, coloured by phylum): clusters of the same colour are groups of related genomes; reduced genomes such as Mycoplasma and Borrelia / Treponema attract each other.</a:t>
            </a:r>
          </a:p>
          <a:p>
            <a:r>
              <a:t>In the Neo4j Browser or in the workbook you can explore the same neighbourhood interactively, for example (:Genome {genome_id:'eco'})-[:SIMILAR_TO*1..2]-(:Genome).</a:t>
            </a:r>
          </a:p>
          <a:p>
            <a:r>
              <a:t>Takeaways of Query 1: similarity search is a 2-hop pattern with no join tables; normalise (Jaccard) before you interpret counts; results can be written back into the graph; functional similarity mirrors, but is not identical to, ancestry.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Q2 needs the tree. In the graph, the tree of life is just Taxon nodes connected by CHILD_OF relationships that point from a group to its parent. A genome is attached to its species with CLASSIFIED_AS.</a:t>
            </a:r>
          </a:p>
          <a:p>
            <a:r>
              <a:t>Walking up the tree is a variable-length pattern: -[:CHILD_OF*]-&gt; means 'follow CHILD_OF as many times as needed'. *0.. includes the node itself. In SQL the same question needs a recursive query. In a graph with cycles an unbounded star can explode, so get used to bounding long paths (*..10); our tree has no cycles, so it is safe.</a:t>
            </a:r>
          </a:p>
          <a:p>
            <a:r>
              <a:t>The left side shows the full lineage of E. coli K-12, from species up to the root, which is the result of</a:t>
            </a:r>
          </a:p>
          <a:p>
            <a:r>
              <a:t>MATCH p = (:Genome {genome_id:'eco'})-[:CLASSIFIED_AS]-&gt;(:Taxon)-[:CHILD_OF*0..]-&gt;(:Taxon {rank:'root'}).</a:t>
            </a:r>
          </a:p>
          <a:p>
            <a:r>
              <a:t>We also store the number of genomes below each taxon as a property (n_genomes), computed once with OPTIONAL MATCH and count(DISTINCT g), because later queries use 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one KO we walk up from every genome that carries it to the clades above, and count per phylum how many of the clade's genomes have it. The same query gives very different pictures.</a:t>
            </a:r>
          </a:p>
          <a:p>
            <a:r>
              <a:t>psbA (photosystem II, photosynthesis) is found only in the Cyanobacteriota, and in all four of them: one innovation, inherited by the whole clade.</a:t>
            </a:r>
          </a:p>
          <a:p>
            <a:r>
              <a:t>spo0A (master regulator of sporulation) is found only in Bacillota, but only 4 of its 10 genomes have it: an innovation of a sub-group, the spore formers; the others lost it or never had it.</a:t>
            </a:r>
          </a:p>
          <a:p>
            <a:r>
              <a:t>nifH (nitrogenase, fixes nitrogen gas) is found in 9 genomes spread over 6 phyla and both domains, a minority within each of the large phyla (2 of 20 Pseudomonadota, 1 of 10 Bacillota): a patchy distribution, explained by many losses and/or horizontal gene transfer.</a:t>
            </a:r>
          </a:p>
          <a:p>
            <a:r>
              <a:t>groEL (chaperonin) is in all 65 genomes: ancestral and essential.</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Can we summarise 'where does this KO live in the tree' as one relationship? We use parsimony, 'the simplest explanation'. Find the smallest clade that contains every genome that has the KO: their lowest common ancestor (LCA). The simplest story is that the KO first appeared in the ancestor of that clade. Then measure the coverage: genomes with the KO divided by all genomes in that clade.</a:t>
            </a:r>
          </a:p>
          <a:p>
            <a:r>
              <a:t>Left example: carriers a1, a2, a3. The smallest clade containing them is clade A and coverage is 3 of 3: one gain in the ancestor of A, inherited by everyone. Right example: carriers a1 and b2. The smallest clade containing them is the root and coverage is 2 of 5 = 0.4: patchy. Either the KO was gained at the root and lost three times, or it was gained twice independently (or transferred).</a:t>
            </a:r>
          </a:p>
          <a:p>
            <a:r>
              <a:t>In Cypher: (1) collect the carriers of each KO; (2) from each carrier walk up CHILD_OF*0.. to every ancestor and count how many carriers sit below it; (3) keep the ancestors above ALL carriers; (4) order by rank_level descending and keep the first: the deepest, i.e. the lowest common ancestor. We store the result as (:KO)-[:ORIGIN_CLADE {carriers, clade_size, coverage}]-&gt;(:Taxon) for all 8,994 KOs in about one second.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one ORIGIN_CLADE relationship per KO, classifying every KO is a simple CASE expression: private (the origin clade is a single species), universal (origin is the root and coverage at least 0.9), clade-specific and conserved (origin below the root, coverage at least 0.9), mostly conserved (coverage 0.5 to 0.9) and patchy (coverage below 0.5). The thresholds are our own choice; students should change them and see how the numbers move.</a:t>
            </a:r>
          </a:p>
          <a:p>
            <a:r>
              <a:t>Result: only 1.4% of the KOs are universal and 9% are clean clade-specific innovations; 24% are private to one species; and almost half (46%) are patchy. The flexible part of bacterial genomes is shaped by horizontal gene transfer and repeated gene loss, not by tidy inheritance: microbial evolution is often described as a network rather than a tree.</a:t>
            </a:r>
          </a:p>
          <a:p>
            <a:r>
              <a:t>The table gives six case studies: groEL is ancestral to everything (coverage 1.0); rpoB is ancestral to Bacteria; psbA is a textbook clade innovation (Cyanophyceae is the only class of the phylum in our sample, so it has the same four genomes); spo0A belongs to Bacillota with coverage 0.4; fliC (flagellin) is patchy in Bacteria; nifH is very patchy over the whole tree.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Which KOs are present in every member of a clade, and only there? These are the signature functions of the clade. With ORIGIN_CLADE this is a clean condition: the KO's origin clade must be the clade or a clade inside it (variable-length path CHILD_OF*0.. from the origin clade), and the number of carriers must equal the number of genomes in the clade: every member has it and nobody outside does.</a:t>
            </a:r>
          </a:p>
          <a:p>
            <a:r>
              <a:t>For the Cyanobacteriota there are 104 signature KOs. Neo4j knows no biology, yet when we add a third hop (KO -&gt; Pathway) the top pathway is Photosynthesis with 38 KOs, followed by oxidative phosphorylation and porphyrin metabolism (chlorophyll synthesis). The KOs themselves read like a textbook: psaA to psaL (photosystem I), psbA to psbZ (photosystem II), petA to petN (cytochrome b6f), and even hgdD, the heterocyst glycolipid deposition protein of the nitrogen-fixing filamentous cyanobacteria.</a:t>
            </a:r>
          </a:p>
          <a:p>
            <a:r>
              <a:t>Caveat: with a clade of only 2 genomes, 'every member has it' is easy to satisfy by chance, so the workbook asks for a minimum number of carriers (3).</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the core of a clade is the set of KOs carried by at least 90% of its genomes. Walking up the lineage of E. coli, from the root down to the Gammaproteobacteria, the core grows (122, 232, 500, 708 KOs): narrower groups share more. Then comes a surprise: the order Enterobacterales has a smaller core (518) than the family Enterobacteriaceae (2,071). Why? The order also contains Buchnera, the aphid endosymbiont with only about 570 KOs. A KO can only be in the core if almost every member has it, so one heavily reduced genome caps the core of the whole clade.</a:t>
            </a:r>
          </a:p>
          <a:p>
            <a:r>
              <a:t>Right: gene loss between close relatives. Mycobacterium tuberculosis and M. leprae are close relatives, but M. leprae has a famously decayed genome. 668 KOs of M. tuberculosis are missing in M. leprae, while only 15 KOs are found only in M. leprae: reductive evolution is mostly loss. Adding the Pathway hop shows which functions disappeared: steroid degradation, two-component signalling, ABC transporters, oxidative phosphorylation. M. leprae lives inside human cells, where it no longer needs to catabolise diverse nutrients or sense a changing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analysis has limits. Taxonomy is not phylogeny: a real tree is inferred from sequence alignments, for example the GTDB tree; the same graph model works, you would replace taxon_tree.csv by the nodes and branches of a Newick tree with branch lengths as relationship properties. KO annotation is incomplete and biased towards well-studied organisms, so 'absent' can mean 'not annotated'. Presence/absence ignores gene order, copy number and sequence divergence. Our 65 genomes are a small, uneven sample, so statements about single-genome clades are anecdotes. Parsimony is a simplification; horizontal gene transfer breaks the 'one gain, then inherited' assumption, and patchy KOs are exactly where this matters.</a:t>
            </a:r>
          </a:p>
          <a:p>
            <a:r>
              <a:t>Next steps: the Neo4j Graph Data Science library (node similarity, community detection, embeddings) to run Q1 on thousands of genomes; more node types (genes, proteins, phenotypes, habitats, resistance genes) are just new labels and a few relationships, no schema migration; pangenome graphs, where the sequence itself is a graph (the pgv example from the previous lecture); knowledge graphs such as Hetionet that connect genes, diseases, drugs and tissues.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 back to the learning objectives of the session and tick them off. We modelled genomic data as a graph with a whiteboard recipe and design decisions; we built a graph database with constraints, batch UNWIND ... MERGE import and verification; we found similar genomes with the Genome -&gt; KO &lt;- Genome pattern and normalised with the Jaccard index; and we inferred evolutionary patterns of KOs across the taxonomic tree with variable-length paths, the lowest common ancestor ('origin clade') and its coverage, signature KOs, core shrinkage and gene loss.</a:t>
            </a:r>
          </a:p>
          <a:p>
            <a:r>
              <a:t>The key sentence to remember: the questions of today were about relationships, and in a graph database the relationships are stored, so following them is cheap and the queries look like the question.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 Question 1: B. KOs are shared entities, so they deserve their own nodes and the connection is a relationship (workbook section 2.2). Question 2: C. Traverse Genome -&gt; KO -&gt; Genome and count the shared KOs; counting relationships on one genome gives its size, not its similarity. Question 3: B. The number of shared KOs favours genomes with large repertoires; normalise, for example with the Jaccard index. Question 4: a variable-length path, -[:CHILD_OF*0..]-&gt;, starting at the genome's species; the same pattern works at any depth.</a:t>
            </a:r>
          </a:p>
          <a:p>
            <a:r>
              <a:t>Practice at home: the workbook has exercises in sections 3, 5, 6 and 7 with folded solutions, Appendix A (Cypher cheat sheet), Appendix B (practice quizzes with answers) and Appendix C (troubleshooting).</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slide. Nodes and relationships at a glance: () any node; (n) with a variable; (:Genome) with a label; (:Genome {genome_id:'eco'}) with a property; -[r:CONTAINS_KO {copies:1}]-&gt; with variable, type and property. The same ideas appear in the workbook, Appendix A, together with a comparison with SQL. The official reference card is at https://neo4j.com/docs/cypher-cheat-sheet/ .</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44D13-0AF5-47F0-2154-DEEE798AB6F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ED7F924-BF3D-5B36-5DC4-608CDB5A463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09B1FBE-3F45-CA79-D23B-8E5974315474}"/>
              </a:ext>
            </a:extLst>
          </p:cNvPr>
          <p:cNvSpPr>
            <a:spLocks noGrp="1"/>
          </p:cNvSpPr>
          <p:nvPr>
            <p:ph type="dt" sz="half" idx="10"/>
          </p:nvPr>
        </p:nvSpPr>
        <p:spPr/>
        <p:txBody>
          <a:bodyPr/>
          <a:lstStyle/>
          <a:p>
            <a:fld id="{154F0F4B-3552-6348-A459-82F3827CA3A8}" type="datetimeFigureOut">
              <a:rPr lang="en-US" smtClean="0"/>
              <a:t>10/22/25</a:t>
            </a:fld>
            <a:endParaRPr lang="en-US"/>
          </a:p>
        </p:txBody>
      </p:sp>
      <p:sp>
        <p:nvSpPr>
          <p:cNvPr id="5" name="Footer Placeholder 4">
            <a:extLst>
              <a:ext uri="{FF2B5EF4-FFF2-40B4-BE49-F238E27FC236}">
                <a16:creationId xmlns:a16="http://schemas.microsoft.com/office/drawing/2014/main" id="{7423A7D1-9D94-05B0-4D46-AE1147C5E7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10AB79-8B4E-5342-AEB8-44CF898470D5}"/>
              </a:ext>
            </a:extLst>
          </p:cNvPr>
          <p:cNvSpPr>
            <a:spLocks noGrp="1"/>
          </p:cNvSpPr>
          <p:nvPr>
            <p:ph type="sldNum" sz="quarter" idx="12"/>
          </p:nvPr>
        </p:nvSpPr>
        <p:spPr/>
        <p:txBody>
          <a:bodyPr/>
          <a:lstStyle/>
          <a:p>
            <a:fld id="{E6BE4B7F-C25D-E74A-A11E-9EDAC9D4396D}" type="slidenum">
              <a:rPr lang="en-US" smtClean="0"/>
              <a:t>‹#›</a:t>
            </a:fld>
            <a:endParaRPr lang="en-US"/>
          </a:p>
        </p:txBody>
      </p:sp>
    </p:spTree>
    <p:extLst>
      <p:ext uri="{BB962C8B-B14F-4D97-AF65-F5344CB8AC3E}">
        <p14:creationId xmlns:p14="http://schemas.microsoft.com/office/powerpoint/2010/main" val="37757417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39940-A560-E2E7-DDD7-05BF822197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AD9329C-8D59-1596-4134-12EA9B347B7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A29BAB-2993-0D65-BCA4-8DF00C8C88E9}"/>
              </a:ext>
            </a:extLst>
          </p:cNvPr>
          <p:cNvSpPr>
            <a:spLocks noGrp="1"/>
          </p:cNvSpPr>
          <p:nvPr>
            <p:ph type="dt" sz="half" idx="10"/>
          </p:nvPr>
        </p:nvSpPr>
        <p:spPr/>
        <p:txBody>
          <a:bodyPr/>
          <a:lstStyle/>
          <a:p>
            <a:fld id="{154F0F4B-3552-6348-A459-82F3827CA3A8}" type="datetimeFigureOut">
              <a:rPr lang="en-US" smtClean="0"/>
              <a:t>10/22/25</a:t>
            </a:fld>
            <a:endParaRPr lang="en-US"/>
          </a:p>
        </p:txBody>
      </p:sp>
      <p:sp>
        <p:nvSpPr>
          <p:cNvPr id="5" name="Footer Placeholder 4">
            <a:extLst>
              <a:ext uri="{FF2B5EF4-FFF2-40B4-BE49-F238E27FC236}">
                <a16:creationId xmlns:a16="http://schemas.microsoft.com/office/drawing/2014/main" id="{DE3D3EF9-9A0A-DD9B-CB88-11AF441AFB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50B04C-643B-81F1-F377-8C2B89622C6D}"/>
              </a:ext>
            </a:extLst>
          </p:cNvPr>
          <p:cNvSpPr>
            <a:spLocks noGrp="1"/>
          </p:cNvSpPr>
          <p:nvPr>
            <p:ph type="sldNum" sz="quarter" idx="12"/>
          </p:nvPr>
        </p:nvSpPr>
        <p:spPr/>
        <p:txBody>
          <a:bodyPr/>
          <a:lstStyle/>
          <a:p>
            <a:fld id="{E6BE4B7F-C25D-E74A-A11E-9EDAC9D4396D}" type="slidenum">
              <a:rPr lang="en-US" smtClean="0"/>
              <a:t>‹#›</a:t>
            </a:fld>
            <a:endParaRPr lang="en-US"/>
          </a:p>
        </p:txBody>
      </p:sp>
    </p:spTree>
    <p:extLst>
      <p:ext uri="{BB962C8B-B14F-4D97-AF65-F5344CB8AC3E}">
        <p14:creationId xmlns:p14="http://schemas.microsoft.com/office/powerpoint/2010/main" val="3546113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5B155-6E8E-376C-26CB-3D865588897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12015B3-E391-6D15-8A78-316E2F4D143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53EF4DC-101A-B984-05D7-DD1BAFEB4118}"/>
              </a:ext>
            </a:extLst>
          </p:cNvPr>
          <p:cNvSpPr>
            <a:spLocks noGrp="1"/>
          </p:cNvSpPr>
          <p:nvPr>
            <p:ph type="dt" sz="half" idx="10"/>
          </p:nvPr>
        </p:nvSpPr>
        <p:spPr/>
        <p:txBody>
          <a:bodyPr/>
          <a:lstStyle/>
          <a:p>
            <a:fld id="{154F0F4B-3552-6348-A459-82F3827CA3A8}" type="datetimeFigureOut">
              <a:rPr lang="en-US" smtClean="0"/>
              <a:t>10/22/25</a:t>
            </a:fld>
            <a:endParaRPr lang="en-US"/>
          </a:p>
        </p:txBody>
      </p:sp>
      <p:sp>
        <p:nvSpPr>
          <p:cNvPr id="5" name="Footer Placeholder 4">
            <a:extLst>
              <a:ext uri="{FF2B5EF4-FFF2-40B4-BE49-F238E27FC236}">
                <a16:creationId xmlns:a16="http://schemas.microsoft.com/office/drawing/2014/main" id="{D45B6271-FF54-8C23-3A90-27D5FF9E9C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B36372-ECF6-3C7F-B309-F357A010C563}"/>
              </a:ext>
            </a:extLst>
          </p:cNvPr>
          <p:cNvSpPr>
            <a:spLocks noGrp="1"/>
          </p:cNvSpPr>
          <p:nvPr>
            <p:ph type="sldNum" sz="quarter" idx="12"/>
          </p:nvPr>
        </p:nvSpPr>
        <p:spPr/>
        <p:txBody>
          <a:bodyPr/>
          <a:lstStyle/>
          <a:p>
            <a:fld id="{E6BE4B7F-C25D-E74A-A11E-9EDAC9D4396D}" type="slidenum">
              <a:rPr lang="en-US" smtClean="0"/>
              <a:t>‹#›</a:t>
            </a:fld>
            <a:endParaRPr lang="en-US"/>
          </a:p>
        </p:txBody>
      </p:sp>
    </p:spTree>
    <p:extLst>
      <p:ext uri="{BB962C8B-B14F-4D97-AF65-F5344CB8AC3E}">
        <p14:creationId xmlns:p14="http://schemas.microsoft.com/office/powerpoint/2010/main" val="13792497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B3846-017D-106B-84B5-24D10B0B84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877E763-2A29-3D0E-842A-58B63DA1323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C94DA7A-DA73-8FE2-49B7-365AB47F89B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04BF4BA-D9BF-6AC4-4A89-7B2C25AEB8EB}"/>
              </a:ext>
            </a:extLst>
          </p:cNvPr>
          <p:cNvSpPr>
            <a:spLocks noGrp="1"/>
          </p:cNvSpPr>
          <p:nvPr>
            <p:ph type="dt" sz="half" idx="10"/>
          </p:nvPr>
        </p:nvSpPr>
        <p:spPr/>
        <p:txBody>
          <a:bodyPr/>
          <a:lstStyle/>
          <a:p>
            <a:fld id="{154F0F4B-3552-6348-A459-82F3827CA3A8}" type="datetimeFigureOut">
              <a:rPr lang="en-US" smtClean="0"/>
              <a:t>10/22/25</a:t>
            </a:fld>
            <a:endParaRPr lang="en-US"/>
          </a:p>
        </p:txBody>
      </p:sp>
      <p:sp>
        <p:nvSpPr>
          <p:cNvPr id="6" name="Footer Placeholder 5">
            <a:extLst>
              <a:ext uri="{FF2B5EF4-FFF2-40B4-BE49-F238E27FC236}">
                <a16:creationId xmlns:a16="http://schemas.microsoft.com/office/drawing/2014/main" id="{1E183F5F-AAC5-3E0E-B3AA-9C980FD1A9A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C5408D-10B3-6105-1D03-7A26B17860CF}"/>
              </a:ext>
            </a:extLst>
          </p:cNvPr>
          <p:cNvSpPr>
            <a:spLocks noGrp="1"/>
          </p:cNvSpPr>
          <p:nvPr>
            <p:ph type="sldNum" sz="quarter" idx="12"/>
          </p:nvPr>
        </p:nvSpPr>
        <p:spPr/>
        <p:txBody>
          <a:bodyPr/>
          <a:lstStyle/>
          <a:p>
            <a:fld id="{E6BE4B7F-C25D-E74A-A11E-9EDAC9D4396D}" type="slidenum">
              <a:rPr lang="en-US" smtClean="0"/>
              <a:t>‹#›</a:t>
            </a:fld>
            <a:endParaRPr lang="en-US"/>
          </a:p>
        </p:txBody>
      </p:sp>
    </p:spTree>
    <p:extLst>
      <p:ext uri="{BB962C8B-B14F-4D97-AF65-F5344CB8AC3E}">
        <p14:creationId xmlns:p14="http://schemas.microsoft.com/office/powerpoint/2010/main" val="36182188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CC433-06F8-E695-0C23-87CC6D0D8C1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5AD5F79-D6C5-DDC9-0886-8A01B176E5D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B407BD-463E-F7FC-A36C-6586270DC9E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F390DBE-DDF1-FAA8-03D2-E38663C2D15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B25112C-78C2-90D4-CA10-0777929D1EA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9460DEC-3586-CAE4-66A8-449CC374F6C6}"/>
              </a:ext>
            </a:extLst>
          </p:cNvPr>
          <p:cNvSpPr>
            <a:spLocks noGrp="1"/>
          </p:cNvSpPr>
          <p:nvPr>
            <p:ph type="dt" sz="half" idx="10"/>
          </p:nvPr>
        </p:nvSpPr>
        <p:spPr/>
        <p:txBody>
          <a:bodyPr/>
          <a:lstStyle/>
          <a:p>
            <a:fld id="{154F0F4B-3552-6348-A459-82F3827CA3A8}" type="datetimeFigureOut">
              <a:rPr lang="en-US" smtClean="0"/>
              <a:t>10/22/25</a:t>
            </a:fld>
            <a:endParaRPr lang="en-US"/>
          </a:p>
        </p:txBody>
      </p:sp>
      <p:sp>
        <p:nvSpPr>
          <p:cNvPr id="8" name="Footer Placeholder 7">
            <a:extLst>
              <a:ext uri="{FF2B5EF4-FFF2-40B4-BE49-F238E27FC236}">
                <a16:creationId xmlns:a16="http://schemas.microsoft.com/office/drawing/2014/main" id="{BF12A016-B8A1-0DAF-D862-FC300467557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303DA9C-442F-83F5-C93D-7DE100E7F1F3}"/>
              </a:ext>
            </a:extLst>
          </p:cNvPr>
          <p:cNvSpPr>
            <a:spLocks noGrp="1"/>
          </p:cNvSpPr>
          <p:nvPr>
            <p:ph type="sldNum" sz="quarter" idx="12"/>
          </p:nvPr>
        </p:nvSpPr>
        <p:spPr/>
        <p:txBody>
          <a:bodyPr/>
          <a:lstStyle/>
          <a:p>
            <a:fld id="{E6BE4B7F-C25D-E74A-A11E-9EDAC9D4396D}" type="slidenum">
              <a:rPr lang="en-US" smtClean="0"/>
              <a:t>‹#›</a:t>
            </a:fld>
            <a:endParaRPr lang="en-US"/>
          </a:p>
        </p:txBody>
      </p:sp>
    </p:spTree>
    <p:extLst>
      <p:ext uri="{BB962C8B-B14F-4D97-AF65-F5344CB8AC3E}">
        <p14:creationId xmlns:p14="http://schemas.microsoft.com/office/powerpoint/2010/main" val="27184553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7A5A5-98E1-60E5-E817-7C6DFC75D1E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11AAD21-240E-4E28-8D8B-BD9B230D9DD6}"/>
              </a:ext>
            </a:extLst>
          </p:cNvPr>
          <p:cNvSpPr>
            <a:spLocks noGrp="1"/>
          </p:cNvSpPr>
          <p:nvPr>
            <p:ph type="dt" sz="half" idx="10"/>
          </p:nvPr>
        </p:nvSpPr>
        <p:spPr/>
        <p:txBody>
          <a:bodyPr/>
          <a:lstStyle/>
          <a:p>
            <a:fld id="{154F0F4B-3552-6348-A459-82F3827CA3A8}" type="datetimeFigureOut">
              <a:rPr lang="en-US" smtClean="0"/>
              <a:t>10/22/25</a:t>
            </a:fld>
            <a:endParaRPr lang="en-US"/>
          </a:p>
        </p:txBody>
      </p:sp>
      <p:sp>
        <p:nvSpPr>
          <p:cNvPr id="4" name="Footer Placeholder 3">
            <a:extLst>
              <a:ext uri="{FF2B5EF4-FFF2-40B4-BE49-F238E27FC236}">
                <a16:creationId xmlns:a16="http://schemas.microsoft.com/office/drawing/2014/main" id="{C9D699FA-3E5E-9BD8-744C-66E8294B8C6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92028DD-7A5E-9B20-D393-EE4E75E1BB70}"/>
              </a:ext>
            </a:extLst>
          </p:cNvPr>
          <p:cNvSpPr>
            <a:spLocks noGrp="1"/>
          </p:cNvSpPr>
          <p:nvPr>
            <p:ph type="sldNum" sz="quarter" idx="12"/>
          </p:nvPr>
        </p:nvSpPr>
        <p:spPr/>
        <p:txBody>
          <a:bodyPr/>
          <a:lstStyle/>
          <a:p>
            <a:fld id="{E6BE4B7F-C25D-E74A-A11E-9EDAC9D4396D}" type="slidenum">
              <a:rPr lang="en-US" smtClean="0"/>
              <a:t>‹#›</a:t>
            </a:fld>
            <a:endParaRPr lang="en-US"/>
          </a:p>
        </p:txBody>
      </p:sp>
    </p:spTree>
    <p:extLst>
      <p:ext uri="{BB962C8B-B14F-4D97-AF65-F5344CB8AC3E}">
        <p14:creationId xmlns:p14="http://schemas.microsoft.com/office/powerpoint/2010/main" val="28458537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FAB1358-3613-13C9-C0B7-004C584EE157}"/>
              </a:ext>
            </a:extLst>
          </p:cNvPr>
          <p:cNvSpPr>
            <a:spLocks noGrp="1"/>
          </p:cNvSpPr>
          <p:nvPr>
            <p:ph type="dt" sz="half" idx="10"/>
          </p:nvPr>
        </p:nvSpPr>
        <p:spPr/>
        <p:txBody>
          <a:bodyPr/>
          <a:lstStyle/>
          <a:p>
            <a:fld id="{154F0F4B-3552-6348-A459-82F3827CA3A8}" type="datetimeFigureOut">
              <a:rPr lang="en-US" smtClean="0"/>
              <a:t>10/22/25</a:t>
            </a:fld>
            <a:endParaRPr lang="en-US"/>
          </a:p>
        </p:txBody>
      </p:sp>
      <p:sp>
        <p:nvSpPr>
          <p:cNvPr id="3" name="Footer Placeholder 2">
            <a:extLst>
              <a:ext uri="{FF2B5EF4-FFF2-40B4-BE49-F238E27FC236}">
                <a16:creationId xmlns:a16="http://schemas.microsoft.com/office/drawing/2014/main" id="{05EBEEDD-FBF9-64FF-AB78-FEBF1B64855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4618850-5319-D707-1354-A44DB7F170AD}"/>
              </a:ext>
            </a:extLst>
          </p:cNvPr>
          <p:cNvSpPr>
            <a:spLocks noGrp="1"/>
          </p:cNvSpPr>
          <p:nvPr>
            <p:ph type="sldNum" sz="quarter" idx="12"/>
          </p:nvPr>
        </p:nvSpPr>
        <p:spPr/>
        <p:txBody>
          <a:bodyPr/>
          <a:lstStyle/>
          <a:p>
            <a:fld id="{E6BE4B7F-C25D-E74A-A11E-9EDAC9D4396D}" type="slidenum">
              <a:rPr lang="en-US" smtClean="0"/>
              <a:t>‹#›</a:t>
            </a:fld>
            <a:endParaRPr lang="en-US"/>
          </a:p>
        </p:txBody>
      </p:sp>
    </p:spTree>
    <p:extLst>
      <p:ext uri="{BB962C8B-B14F-4D97-AF65-F5344CB8AC3E}">
        <p14:creationId xmlns:p14="http://schemas.microsoft.com/office/powerpoint/2010/main" val="10365378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27E20-43D5-C764-70E7-119B8C126B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61AD1B9-29A7-66B6-5260-FE5B7EECC34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F4B2D96-26C8-F12F-C61F-4C72247943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DAC8492-E391-D49F-DC61-DBDC541E8D4F}"/>
              </a:ext>
            </a:extLst>
          </p:cNvPr>
          <p:cNvSpPr>
            <a:spLocks noGrp="1"/>
          </p:cNvSpPr>
          <p:nvPr>
            <p:ph type="dt" sz="half" idx="10"/>
          </p:nvPr>
        </p:nvSpPr>
        <p:spPr/>
        <p:txBody>
          <a:bodyPr/>
          <a:lstStyle/>
          <a:p>
            <a:fld id="{154F0F4B-3552-6348-A459-82F3827CA3A8}" type="datetimeFigureOut">
              <a:rPr lang="en-US" smtClean="0"/>
              <a:t>10/22/25</a:t>
            </a:fld>
            <a:endParaRPr lang="en-US"/>
          </a:p>
        </p:txBody>
      </p:sp>
      <p:sp>
        <p:nvSpPr>
          <p:cNvPr id="6" name="Footer Placeholder 5">
            <a:extLst>
              <a:ext uri="{FF2B5EF4-FFF2-40B4-BE49-F238E27FC236}">
                <a16:creationId xmlns:a16="http://schemas.microsoft.com/office/drawing/2014/main" id="{9C8040B7-491C-5862-8257-FF839B3F69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04FE5F6-D920-CE6A-DF40-F3230961B0F7}"/>
              </a:ext>
            </a:extLst>
          </p:cNvPr>
          <p:cNvSpPr>
            <a:spLocks noGrp="1"/>
          </p:cNvSpPr>
          <p:nvPr>
            <p:ph type="sldNum" sz="quarter" idx="12"/>
          </p:nvPr>
        </p:nvSpPr>
        <p:spPr/>
        <p:txBody>
          <a:bodyPr/>
          <a:lstStyle/>
          <a:p>
            <a:fld id="{E6BE4B7F-C25D-E74A-A11E-9EDAC9D4396D}" type="slidenum">
              <a:rPr lang="en-US" smtClean="0"/>
              <a:t>‹#›</a:t>
            </a:fld>
            <a:endParaRPr lang="en-US"/>
          </a:p>
        </p:txBody>
      </p:sp>
    </p:spTree>
    <p:extLst>
      <p:ext uri="{BB962C8B-B14F-4D97-AF65-F5344CB8AC3E}">
        <p14:creationId xmlns:p14="http://schemas.microsoft.com/office/powerpoint/2010/main" val="31089894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064CB-02D7-67C6-1187-217524B956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A55BF9C-BFB1-7176-D5BD-1401A6A080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D67268B-5579-224D-3C04-6D638C5B52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39A34E-CD93-4E68-66CE-72F31E91021B}"/>
              </a:ext>
            </a:extLst>
          </p:cNvPr>
          <p:cNvSpPr>
            <a:spLocks noGrp="1"/>
          </p:cNvSpPr>
          <p:nvPr>
            <p:ph type="dt" sz="half" idx="10"/>
          </p:nvPr>
        </p:nvSpPr>
        <p:spPr/>
        <p:txBody>
          <a:bodyPr/>
          <a:lstStyle/>
          <a:p>
            <a:fld id="{154F0F4B-3552-6348-A459-82F3827CA3A8}" type="datetimeFigureOut">
              <a:rPr lang="en-US" smtClean="0"/>
              <a:t>10/22/25</a:t>
            </a:fld>
            <a:endParaRPr lang="en-US"/>
          </a:p>
        </p:txBody>
      </p:sp>
      <p:sp>
        <p:nvSpPr>
          <p:cNvPr id="6" name="Footer Placeholder 5">
            <a:extLst>
              <a:ext uri="{FF2B5EF4-FFF2-40B4-BE49-F238E27FC236}">
                <a16:creationId xmlns:a16="http://schemas.microsoft.com/office/drawing/2014/main" id="{EDD6924A-BD6C-86C4-11CF-0E15EAD5E6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376B134-9AA5-3BFD-CABD-21DADF99FA0A}"/>
              </a:ext>
            </a:extLst>
          </p:cNvPr>
          <p:cNvSpPr>
            <a:spLocks noGrp="1"/>
          </p:cNvSpPr>
          <p:nvPr>
            <p:ph type="sldNum" sz="quarter" idx="12"/>
          </p:nvPr>
        </p:nvSpPr>
        <p:spPr/>
        <p:txBody>
          <a:bodyPr/>
          <a:lstStyle/>
          <a:p>
            <a:fld id="{E6BE4B7F-C25D-E74A-A11E-9EDAC9D4396D}" type="slidenum">
              <a:rPr lang="en-US" smtClean="0"/>
              <a:t>‹#›</a:t>
            </a:fld>
            <a:endParaRPr lang="en-US"/>
          </a:p>
        </p:txBody>
      </p:sp>
    </p:spTree>
    <p:extLst>
      <p:ext uri="{BB962C8B-B14F-4D97-AF65-F5344CB8AC3E}">
        <p14:creationId xmlns:p14="http://schemas.microsoft.com/office/powerpoint/2010/main" val="6537815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034A4-7FBC-300F-A6B2-9827080A758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FCC1AF9-FA4C-4625-BA29-317CA723CA7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EFA009-4915-B8F0-2B28-12C40C0969C8}"/>
              </a:ext>
            </a:extLst>
          </p:cNvPr>
          <p:cNvSpPr>
            <a:spLocks noGrp="1"/>
          </p:cNvSpPr>
          <p:nvPr>
            <p:ph type="dt" sz="half" idx="10"/>
          </p:nvPr>
        </p:nvSpPr>
        <p:spPr/>
        <p:txBody>
          <a:bodyPr/>
          <a:lstStyle/>
          <a:p>
            <a:fld id="{154F0F4B-3552-6348-A459-82F3827CA3A8}" type="datetimeFigureOut">
              <a:rPr lang="en-US" smtClean="0"/>
              <a:t>10/22/25</a:t>
            </a:fld>
            <a:endParaRPr lang="en-US"/>
          </a:p>
        </p:txBody>
      </p:sp>
      <p:sp>
        <p:nvSpPr>
          <p:cNvPr id="5" name="Footer Placeholder 4">
            <a:extLst>
              <a:ext uri="{FF2B5EF4-FFF2-40B4-BE49-F238E27FC236}">
                <a16:creationId xmlns:a16="http://schemas.microsoft.com/office/drawing/2014/main" id="{886208DF-491D-B73A-6462-D7B50B4C2E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FDC0A0-7C24-D6AC-3539-5456C8DC670E}"/>
              </a:ext>
            </a:extLst>
          </p:cNvPr>
          <p:cNvSpPr>
            <a:spLocks noGrp="1"/>
          </p:cNvSpPr>
          <p:nvPr>
            <p:ph type="sldNum" sz="quarter" idx="12"/>
          </p:nvPr>
        </p:nvSpPr>
        <p:spPr/>
        <p:txBody>
          <a:bodyPr/>
          <a:lstStyle/>
          <a:p>
            <a:fld id="{E6BE4B7F-C25D-E74A-A11E-9EDAC9D4396D}" type="slidenum">
              <a:rPr lang="en-US" smtClean="0"/>
              <a:t>‹#›</a:t>
            </a:fld>
            <a:endParaRPr lang="en-US"/>
          </a:p>
        </p:txBody>
      </p:sp>
    </p:spTree>
    <p:extLst>
      <p:ext uri="{BB962C8B-B14F-4D97-AF65-F5344CB8AC3E}">
        <p14:creationId xmlns:p14="http://schemas.microsoft.com/office/powerpoint/2010/main" val="31454960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D9FFA73-D82D-7E4D-01F0-3CB1E6EF844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D7CFF21-A84B-7FEC-A2D6-34627ADA612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03EE14-D5B7-B0D7-59FA-03CA58E2C519}"/>
              </a:ext>
            </a:extLst>
          </p:cNvPr>
          <p:cNvSpPr>
            <a:spLocks noGrp="1"/>
          </p:cNvSpPr>
          <p:nvPr>
            <p:ph type="dt" sz="half" idx="10"/>
          </p:nvPr>
        </p:nvSpPr>
        <p:spPr/>
        <p:txBody>
          <a:bodyPr/>
          <a:lstStyle/>
          <a:p>
            <a:fld id="{154F0F4B-3552-6348-A459-82F3827CA3A8}" type="datetimeFigureOut">
              <a:rPr lang="en-US" smtClean="0"/>
              <a:t>10/22/25</a:t>
            </a:fld>
            <a:endParaRPr lang="en-US"/>
          </a:p>
        </p:txBody>
      </p:sp>
      <p:sp>
        <p:nvSpPr>
          <p:cNvPr id="5" name="Footer Placeholder 4">
            <a:extLst>
              <a:ext uri="{FF2B5EF4-FFF2-40B4-BE49-F238E27FC236}">
                <a16:creationId xmlns:a16="http://schemas.microsoft.com/office/drawing/2014/main" id="{18284A9E-F68E-339E-54E7-4A1BA4A9E1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00ACD3-038C-7BAD-C0A3-AC45790649EF}"/>
              </a:ext>
            </a:extLst>
          </p:cNvPr>
          <p:cNvSpPr>
            <a:spLocks noGrp="1"/>
          </p:cNvSpPr>
          <p:nvPr>
            <p:ph type="sldNum" sz="quarter" idx="12"/>
          </p:nvPr>
        </p:nvSpPr>
        <p:spPr/>
        <p:txBody>
          <a:bodyPr/>
          <a:lstStyle/>
          <a:p>
            <a:fld id="{E6BE4B7F-C25D-E74A-A11E-9EDAC9D4396D}" type="slidenum">
              <a:rPr lang="en-US" smtClean="0"/>
              <a:t>‹#›</a:t>
            </a:fld>
            <a:endParaRPr lang="en-US"/>
          </a:p>
        </p:txBody>
      </p:sp>
    </p:spTree>
    <p:extLst>
      <p:ext uri="{BB962C8B-B14F-4D97-AF65-F5344CB8AC3E}">
        <p14:creationId xmlns:p14="http://schemas.microsoft.com/office/powerpoint/2010/main" val="1802222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plit Thirds - Stats" type="twoColTx">
  <p:cSld name="Split Thirds - Stats">
    <p:spTree>
      <p:nvGrpSpPr>
        <p:cNvPr id="1" name="Shape 31"/>
        <p:cNvGrpSpPr/>
        <p:nvPr/>
      </p:nvGrpSpPr>
      <p:grpSpPr>
        <a:xfrm>
          <a:off x="0" y="0"/>
          <a:ext cx="0" cy="0"/>
          <a:chOff x="0" y="0"/>
          <a:chExt cx="0" cy="0"/>
        </a:xfrm>
      </p:grpSpPr>
      <p:pic>
        <p:nvPicPr>
          <p:cNvPr id="32" name="Google Shape;32;p6"/>
          <p:cNvPicPr preferRelativeResize="0"/>
          <p:nvPr/>
        </p:nvPicPr>
        <p:blipFill rotWithShape="1">
          <a:blip r:embed="rId2">
            <a:alphaModFix/>
          </a:blip>
          <a:srcRect t="56174" r="41741"/>
          <a:stretch/>
        </p:blipFill>
        <p:spPr>
          <a:xfrm>
            <a:off x="9221300" y="-102899"/>
            <a:ext cx="3112168" cy="1728500"/>
          </a:xfrm>
          <a:prstGeom prst="rect">
            <a:avLst/>
          </a:prstGeom>
          <a:noFill/>
          <a:ln>
            <a:noFill/>
          </a:ln>
        </p:spPr>
      </p:pic>
      <p:sp>
        <p:nvSpPr>
          <p:cNvPr id="33" name="Google Shape;33;p6"/>
          <p:cNvSpPr/>
          <p:nvPr/>
        </p:nvSpPr>
        <p:spPr>
          <a:xfrm>
            <a:off x="137800" y="-424500"/>
            <a:ext cx="4060000" cy="6858000"/>
          </a:xfrm>
          <a:prstGeom prst="rect">
            <a:avLst/>
          </a:prstGeom>
          <a:solidFill>
            <a:srgbClr val="018B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4" name="Google Shape;34;p6"/>
          <p:cNvSpPr txBox="1">
            <a:spLocks noGrp="1"/>
          </p:cNvSpPr>
          <p:nvPr>
            <p:ph type="sldNum" idx="12"/>
          </p:nvPr>
        </p:nvSpPr>
        <p:spPr>
          <a:xfrm>
            <a:off x="37" y="6315343"/>
            <a:ext cx="464800" cy="524800"/>
          </a:xfrm>
          <a:prstGeom prst="rect">
            <a:avLst/>
          </a:prstGeom>
        </p:spPr>
        <p:txBody>
          <a:bodyPr spcFirstLastPara="1" wrap="square" lIns="0" tIns="0" rIns="0" bIns="0"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algn="ctr"/>
            <a:fld id="{00000000-1234-1234-1234-123412341234}" type="slidenum">
              <a:rPr lang="en" smtClean="0"/>
              <a:pPr algn="ctr"/>
              <a:t>‹#›</a:t>
            </a:fld>
            <a:endParaRPr lang="en"/>
          </a:p>
        </p:txBody>
      </p:sp>
      <p:sp>
        <p:nvSpPr>
          <p:cNvPr id="35" name="Google Shape;35;p6"/>
          <p:cNvSpPr txBox="1">
            <a:spLocks noGrp="1"/>
          </p:cNvSpPr>
          <p:nvPr>
            <p:ph type="title"/>
          </p:nvPr>
        </p:nvSpPr>
        <p:spPr>
          <a:xfrm>
            <a:off x="4667467" y="491767"/>
            <a:ext cx="6966000" cy="763600"/>
          </a:xfrm>
          <a:prstGeom prst="rect">
            <a:avLst/>
          </a:prstGeom>
          <a:noFill/>
          <a:ln>
            <a:noFill/>
          </a:ln>
        </p:spPr>
        <p:txBody>
          <a:bodyPr spcFirstLastPara="1" wrap="square" lIns="91425" tIns="91425" rIns="91425" bIns="91425" anchor="t" anchorCtr="0">
            <a:normAutofit/>
          </a:bodyPr>
          <a:lstStyle>
            <a:lvl1pPr lvl="0" rtl="0">
              <a:spcBef>
                <a:spcPts val="0"/>
              </a:spcBef>
              <a:spcAft>
                <a:spcPts val="0"/>
              </a:spcAft>
              <a:buClr>
                <a:srgbClr val="333333"/>
              </a:buClr>
              <a:buSzPts val="2400"/>
              <a:buNone/>
              <a:defRPr sz="3200" b="1">
                <a:solidFill>
                  <a:srgbClr val="333333"/>
                </a:solidFill>
              </a:defRPr>
            </a:lvl1pPr>
            <a:lvl2pPr lvl="1" rtl="0">
              <a:spcBef>
                <a:spcPts val="0"/>
              </a:spcBef>
              <a:spcAft>
                <a:spcPts val="0"/>
              </a:spcAft>
              <a:buClr>
                <a:schemeClr val="dk1"/>
              </a:buClr>
              <a:buSzPts val="2800"/>
              <a:buNone/>
              <a:defRPr sz="3733">
                <a:solidFill>
                  <a:schemeClr val="dk1"/>
                </a:solidFill>
              </a:defRPr>
            </a:lvl2pPr>
            <a:lvl3pPr lvl="2" rtl="0">
              <a:spcBef>
                <a:spcPts val="0"/>
              </a:spcBef>
              <a:spcAft>
                <a:spcPts val="0"/>
              </a:spcAft>
              <a:buClr>
                <a:schemeClr val="dk1"/>
              </a:buClr>
              <a:buSzPts val="2800"/>
              <a:buNone/>
              <a:defRPr sz="3733">
                <a:solidFill>
                  <a:schemeClr val="dk1"/>
                </a:solidFill>
              </a:defRPr>
            </a:lvl3pPr>
            <a:lvl4pPr lvl="3" rtl="0">
              <a:spcBef>
                <a:spcPts val="0"/>
              </a:spcBef>
              <a:spcAft>
                <a:spcPts val="0"/>
              </a:spcAft>
              <a:buClr>
                <a:schemeClr val="dk1"/>
              </a:buClr>
              <a:buSzPts val="2800"/>
              <a:buNone/>
              <a:defRPr sz="3733">
                <a:solidFill>
                  <a:schemeClr val="dk1"/>
                </a:solidFill>
              </a:defRPr>
            </a:lvl4pPr>
            <a:lvl5pPr lvl="4" rtl="0">
              <a:spcBef>
                <a:spcPts val="0"/>
              </a:spcBef>
              <a:spcAft>
                <a:spcPts val="0"/>
              </a:spcAft>
              <a:buClr>
                <a:schemeClr val="dk1"/>
              </a:buClr>
              <a:buSzPts val="2800"/>
              <a:buNone/>
              <a:defRPr sz="3733">
                <a:solidFill>
                  <a:schemeClr val="dk1"/>
                </a:solidFill>
              </a:defRPr>
            </a:lvl5pPr>
            <a:lvl6pPr lvl="5" rtl="0">
              <a:spcBef>
                <a:spcPts val="0"/>
              </a:spcBef>
              <a:spcAft>
                <a:spcPts val="0"/>
              </a:spcAft>
              <a:buClr>
                <a:schemeClr val="dk1"/>
              </a:buClr>
              <a:buSzPts val="2800"/>
              <a:buNone/>
              <a:defRPr sz="3733">
                <a:solidFill>
                  <a:schemeClr val="dk1"/>
                </a:solidFill>
              </a:defRPr>
            </a:lvl6pPr>
            <a:lvl7pPr lvl="6" rtl="0">
              <a:spcBef>
                <a:spcPts val="0"/>
              </a:spcBef>
              <a:spcAft>
                <a:spcPts val="0"/>
              </a:spcAft>
              <a:buClr>
                <a:schemeClr val="dk1"/>
              </a:buClr>
              <a:buSzPts val="2800"/>
              <a:buNone/>
              <a:defRPr sz="3733">
                <a:solidFill>
                  <a:schemeClr val="dk1"/>
                </a:solidFill>
              </a:defRPr>
            </a:lvl7pPr>
            <a:lvl8pPr lvl="7" rtl="0">
              <a:spcBef>
                <a:spcPts val="0"/>
              </a:spcBef>
              <a:spcAft>
                <a:spcPts val="0"/>
              </a:spcAft>
              <a:buClr>
                <a:schemeClr val="dk1"/>
              </a:buClr>
              <a:buSzPts val="2800"/>
              <a:buNone/>
              <a:defRPr sz="3733">
                <a:solidFill>
                  <a:schemeClr val="dk1"/>
                </a:solidFill>
              </a:defRPr>
            </a:lvl8pPr>
            <a:lvl9pPr lvl="8" rtl="0">
              <a:spcBef>
                <a:spcPts val="0"/>
              </a:spcBef>
              <a:spcAft>
                <a:spcPts val="0"/>
              </a:spcAft>
              <a:buClr>
                <a:schemeClr val="dk1"/>
              </a:buClr>
              <a:buSzPts val="2800"/>
              <a:buNone/>
              <a:defRPr sz="3733">
                <a:solidFill>
                  <a:schemeClr val="dk1"/>
                </a:solidFill>
              </a:defRPr>
            </a:lvl9pPr>
          </a:lstStyle>
          <a:p>
            <a:endParaRPr/>
          </a:p>
        </p:txBody>
      </p:sp>
      <p:sp>
        <p:nvSpPr>
          <p:cNvPr id="36" name="Google Shape;36;p6"/>
          <p:cNvSpPr txBox="1">
            <a:spLocks noGrp="1"/>
          </p:cNvSpPr>
          <p:nvPr>
            <p:ph type="body" idx="1"/>
          </p:nvPr>
        </p:nvSpPr>
        <p:spPr>
          <a:xfrm>
            <a:off x="4667467" y="1424567"/>
            <a:ext cx="7071600" cy="4640400"/>
          </a:xfrm>
          <a:prstGeom prst="rect">
            <a:avLst/>
          </a:prstGeom>
          <a:noFill/>
          <a:ln>
            <a:noFill/>
          </a:ln>
        </p:spPr>
        <p:txBody>
          <a:bodyPr spcFirstLastPara="1" wrap="square" lIns="91425" tIns="91425" rIns="91425" bIns="91425" anchor="t" anchorCtr="0">
            <a:normAutofit/>
          </a:bodyPr>
          <a:lstStyle>
            <a:lvl1pPr marL="609585" lvl="0" indent="-457189" rtl="0">
              <a:lnSpc>
                <a:spcPct val="115000"/>
              </a:lnSpc>
              <a:spcBef>
                <a:spcPts val="0"/>
              </a:spcBef>
              <a:spcAft>
                <a:spcPts val="0"/>
              </a:spcAft>
              <a:buClr>
                <a:srgbClr val="333333"/>
              </a:buClr>
              <a:buSzPts val="1800"/>
              <a:buChar char="•"/>
              <a:defRPr sz="2400">
                <a:solidFill>
                  <a:srgbClr val="333333"/>
                </a:solidFill>
              </a:defRPr>
            </a:lvl1pPr>
            <a:lvl2pPr marL="1219170" lvl="1" indent="-440256" rtl="0">
              <a:lnSpc>
                <a:spcPct val="115000"/>
              </a:lnSpc>
              <a:spcBef>
                <a:spcPts val="0"/>
              </a:spcBef>
              <a:spcAft>
                <a:spcPts val="0"/>
              </a:spcAft>
              <a:buClr>
                <a:srgbClr val="333333"/>
              </a:buClr>
              <a:buSzPts val="1600"/>
              <a:buChar char="◦"/>
              <a:defRPr sz="2133">
                <a:solidFill>
                  <a:srgbClr val="333333"/>
                </a:solidFill>
              </a:defRPr>
            </a:lvl2pPr>
            <a:lvl3pPr marL="1828754" lvl="2" indent="-423323" rtl="0">
              <a:lnSpc>
                <a:spcPct val="115000"/>
              </a:lnSpc>
              <a:spcBef>
                <a:spcPts val="0"/>
              </a:spcBef>
              <a:spcAft>
                <a:spcPts val="0"/>
              </a:spcAft>
              <a:buClr>
                <a:srgbClr val="333333"/>
              </a:buClr>
              <a:buSzPts val="1400"/>
              <a:buChar char="•"/>
              <a:defRPr>
                <a:solidFill>
                  <a:srgbClr val="333333"/>
                </a:solidFill>
              </a:defRPr>
            </a:lvl3pPr>
            <a:lvl4pPr marL="2438339" lvl="3" indent="-414856" rtl="0">
              <a:lnSpc>
                <a:spcPct val="115000"/>
              </a:lnSpc>
              <a:spcBef>
                <a:spcPts val="0"/>
              </a:spcBef>
              <a:spcAft>
                <a:spcPts val="0"/>
              </a:spcAft>
              <a:buClr>
                <a:srgbClr val="333333"/>
              </a:buClr>
              <a:buSzPts val="1300"/>
              <a:buChar char="◦"/>
              <a:defRPr sz="1733">
                <a:solidFill>
                  <a:srgbClr val="333333"/>
                </a:solidFill>
              </a:defRPr>
            </a:lvl4pPr>
            <a:lvl5pPr marL="3047924" lvl="4" indent="-406390" rtl="0">
              <a:lnSpc>
                <a:spcPct val="115000"/>
              </a:lnSpc>
              <a:spcBef>
                <a:spcPts val="0"/>
              </a:spcBef>
              <a:spcAft>
                <a:spcPts val="0"/>
              </a:spcAft>
              <a:buClr>
                <a:srgbClr val="333333"/>
              </a:buClr>
              <a:buSzPts val="1200"/>
              <a:buChar char="•"/>
              <a:defRPr sz="1600">
                <a:solidFill>
                  <a:srgbClr val="333333"/>
                </a:solidFill>
              </a:defRPr>
            </a:lvl5pPr>
            <a:lvl6pPr marL="3657509" lvl="5" indent="-397923" rtl="0">
              <a:lnSpc>
                <a:spcPct val="115000"/>
              </a:lnSpc>
              <a:spcBef>
                <a:spcPts val="0"/>
              </a:spcBef>
              <a:spcAft>
                <a:spcPts val="0"/>
              </a:spcAft>
              <a:buClr>
                <a:srgbClr val="333333"/>
              </a:buClr>
              <a:buSzPts val="1100"/>
              <a:buChar char="◦"/>
              <a:defRPr sz="1467">
                <a:solidFill>
                  <a:srgbClr val="333333"/>
                </a:solidFill>
              </a:defRPr>
            </a:lvl6pPr>
            <a:lvl7pPr marL="4267093" lvl="6" indent="-397923" rtl="0">
              <a:lnSpc>
                <a:spcPct val="115000"/>
              </a:lnSpc>
              <a:spcBef>
                <a:spcPts val="0"/>
              </a:spcBef>
              <a:spcAft>
                <a:spcPts val="0"/>
              </a:spcAft>
              <a:buClr>
                <a:srgbClr val="333333"/>
              </a:buClr>
              <a:buSzPts val="1100"/>
              <a:buChar char="•"/>
              <a:defRPr sz="1467">
                <a:solidFill>
                  <a:srgbClr val="333333"/>
                </a:solidFill>
              </a:defRPr>
            </a:lvl7pPr>
            <a:lvl8pPr marL="4876678" lvl="7" indent="-397923" rtl="0">
              <a:lnSpc>
                <a:spcPct val="115000"/>
              </a:lnSpc>
              <a:spcBef>
                <a:spcPts val="0"/>
              </a:spcBef>
              <a:spcAft>
                <a:spcPts val="0"/>
              </a:spcAft>
              <a:buClr>
                <a:srgbClr val="333333"/>
              </a:buClr>
              <a:buSzPts val="1100"/>
              <a:buChar char="◦"/>
              <a:defRPr sz="1467">
                <a:solidFill>
                  <a:srgbClr val="333333"/>
                </a:solidFill>
              </a:defRPr>
            </a:lvl8pPr>
            <a:lvl9pPr marL="5486263" lvl="8" indent="-397923" rtl="0">
              <a:lnSpc>
                <a:spcPct val="115000"/>
              </a:lnSpc>
              <a:spcBef>
                <a:spcPts val="0"/>
              </a:spcBef>
              <a:spcAft>
                <a:spcPts val="0"/>
              </a:spcAft>
              <a:buClr>
                <a:srgbClr val="333333"/>
              </a:buClr>
              <a:buSzPts val="1100"/>
              <a:buChar char="•"/>
              <a:defRPr sz="1467">
                <a:solidFill>
                  <a:srgbClr val="333333"/>
                </a:solidFill>
              </a:defRPr>
            </a:lvl9pPr>
          </a:lstStyle>
          <a:p>
            <a:endParaRPr/>
          </a:p>
        </p:txBody>
      </p:sp>
      <p:sp>
        <p:nvSpPr>
          <p:cNvPr id="37" name="Google Shape;37;p6"/>
          <p:cNvSpPr txBox="1">
            <a:spLocks noGrp="1"/>
          </p:cNvSpPr>
          <p:nvPr>
            <p:ph type="body" idx="2"/>
          </p:nvPr>
        </p:nvSpPr>
        <p:spPr>
          <a:xfrm>
            <a:off x="520633" y="1718801"/>
            <a:ext cx="3018800" cy="4244400"/>
          </a:xfrm>
          <a:prstGeom prst="rect">
            <a:avLst/>
          </a:prstGeom>
          <a:noFill/>
          <a:ln>
            <a:noFill/>
          </a:ln>
        </p:spPr>
        <p:txBody>
          <a:bodyPr spcFirstLastPara="1" wrap="square" lIns="91425" tIns="0" rIns="91425" bIns="91425" anchor="t" anchorCtr="0">
            <a:normAutofit/>
          </a:bodyPr>
          <a:lstStyle>
            <a:lvl1pPr marL="609585" lvl="0" indent="-457189" rtl="0">
              <a:lnSpc>
                <a:spcPct val="100000"/>
              </a:lnSpc>
              <a:spcBef>
                <a:spcPts val="0"/>
              </a:spcBef>
              <a:spcAft>
                <a:spcPts val="0"/>
              </a:spcAft>
              <a:buClr>
                <a:srgbClr val="333333"/>
              </a:buClr>
              <a:buSzPts val="1800"/>
              <a:buChar char="•"/>
              <a:defRPr sz="2400">
                <a:solidFill>
                  <a:srgbClr val="333333"/>
                </a:solidFill>
              </a:defRPr>
            </a:lvl1pPr>
            <a:lvl2pPr marL="1219170" lvl="1" indent="-440256" rtl="0">
              <a:lnSpc>
                <a:spcPct val="100000"/>
              </a:lnSpc>
              <a:spcBef>
                <a:spcPts val="0"/>
              </a:spcBef>
              <a:spcAft>
                <a:spcPts val="0"/>
              </a:spcAft>
              <a:buClr>
                <a:srgbClr val="333333"/>
              </a:buClr>
              <a:buSzPts val="1600"/>
              <a:buChar char="◦"/>
              <a:defRPr sz="2133">
                <a:solidFill>
                  <a:srgbClr val="333333"/>
                </a:solidFill>
              </a:defRPr>
            </a:lvl2pPr>
            <a:lvl3pPr marL="1828754" lvl="2" indent="-423323" rtl="0">
              <a:lnSpc>
                <a:spcPct val="100000"/>
              </a:lnSpc>
              <a:spcBef>
                <a:spcPts val="0"/>
              </a:spcBef>
              <a:spcAft>
                <a:spcPts val="0"/>
              </a:spcAft>
              <a:buClr>
                <a:srgbClr val="333333"/>
              </a:buClr>
              <a:buSzPts val="1400"/>
              <a:buChar char="•"/>
              <a:defRPr>
                <a:solidFill>
                  <a:srgbClr val="333333"/>
                </a:solidFill>
              </a:defRPr>
            </a:lvl3pPr>
            <a:lvl4pPr marL="2438339" lvl="3" indent="-414856" rtl="0">
              <a:lnSpc>
                <a:spcPct val="100000"/>
              </a:lnSpc>
              <a:spcBef>
                <a:spcPts val="0"/>
              </a:spcBef>
              <a:spcAft>
                <a:spcPts val="0"/>
              </a:spcAft>
              <a:buClr>
                <a:srgbClr val="333333"/>
              </a:buClr>
              <a:buSzPts val="1300"/>
              <a:buChar char="◦"/>
              <a:defRPr sz="1733">
                <a:solidFill>
                  <a:srgbClr val="333333"/>
                </a:solidFill>
              </a:defRPr>
            </a:lvl4pPr>
            <a:lvl5pPr marL="3047924" lvl="4" indent="-406390" rtl="0">
              <a:lnSpc>
                <a:spcPct val="100000"/>
              </a:lnSpc>
              <a:spcBef>
                <a:spcPts val="0"/>
              </a:spcBef>
              <a:spcAft>
                <a:spcPts val="0"/>
              </a:spcAft>
              <a:buClr>
                <a:srgbClr val="333333"/>
              </a:buClr>
              <a:buSzPts val="1200"/>
              <a:buChar char="•"/>
              <a:defRPr sz="1600">
                <a:solidFill>
                  <a:srgbClr val="333333"/>
                </a:solidFill>
              </a:defRPr>
            </a:lvl5pPr>
            <a:lvl6pPr marL="3657509" lvl="5" indent="-397923" rtl="0">
              <a:lnSpc>
                <a:spcPct val="100000"/>
              </a:lnSpc>
              <a:spcBef>
                <a:spcPts val="0"/>
              </a:spcBef>
              <a:spcAft>
                <a:spcPts val="0"/>
              </a:spcAft>
              <a:buClr>
                <a:srgbClr val="333333"/>
              </a:buClr>
              <a:buSzPts val="1100"/>
              <a:buChar char="◦"/>
              <a:defRPr sz="1467">
                <a:solidFill>
                  <a:srgbClr val="333333"/>
                </a:solidFill>
              </a:defRPr>
            </a:lvl6pPr>
            <a:lvl7pPr marL="4267093" lvl="6" indent="-397923" rtl="0">
              <a:lnSpc>
                <a:spcPct val="100000"/>
              </a:lnSpc>
              <a:spcBef>
                <a:spcPts val="0"/>
              </a:spcBef>
              <a:spcAft>
                <a:spcPts val="0"/>
              </a:spcAft>
              <a:buClr>
                <a:srgbClr val="FFFFFF"/>
              </a:buClr>
              <a:buSzPts val="1100"/>
              <a:buChar char="•"/>
              <a:defRPr sz="1467">
                <a:solidFill>
                  <a:srgbClr val="FFFFFF"/>
                </a:solidFill>
              </a:defRPr>
            </a:lvl7pPr>
            <a:lvl8pPr marL="4876678" lvl="7" indent="-397923" rtl="0">
              <a:lnSpc>
                <a:spcPct val="100000"/>
              </a:lnSpc>
              <a:spcBef>
                <a:spcPts val="0"/>
              </a:spcBef>
              <a:spcAft>
                <a:spcPts val="0"/>
              </a:spcAft>
              <a:buClr>
                <a:srgbClr val="FFFFFF"/>
              </a:buClr>
              <a:buSzPts val="1100"/>
              <a:buChar char="◦"/>
              <a:defRPr sz="1467">
                <a:solidFill>
                  <a:srgbClr val="FFFFFF"/>
                </a:solidFill>
              </a:defRPr>
            </a:lvl8pPr>
            <a:lvl9pPr marL="5486263" lvl="8" indent="-397923" rtl="0">
              <a:lnSpc>
                <a:spcPct val="100000"/>
              </a:lnSpc>
              <a:spcBef>
                <a:spcPts val="0"/>
              </a:spcBef>
              <a:spcAft>
                <a:spcPts val="0"/>
              </a:spcAft>
              <a:buClr>
                <a:srgbClr val="FFFFFF"/>
              </a:buClr>
              <a:buSzPts val="1100"/>
              <a:buChar char="•"/>
              <a:defRPr sz="1467">
                <a:solidFill>
                  <a:srgbClr val="FFFFFF"/>
                </a:solidFill>
              </a:defRPr>
            </a:lvl9pPr>
          </a:lstStyle>
          <a:p>
            <a:endParaRPr/>
          </a:p>
        </p:txBody>
      </p:sp>
      <p:sp>
        <p:nvSpPr>
          <p:cNvPr id="38" name="Google Shape;38;p6"/>
          <p:cNvSpPr txBox="1">
            <a:spLocks noGrp="1"/>
          </p:cNvSpPr>
          <p:nvPr>
            <p:ph type="title" idx="3"/>
          </p:nvPr>
        </p:nvSpPr>
        <p:spPr>
          <a:xfrm>
            <a:off x="1008133" y="2106891"/>
            <a:ext cx="3018800" cy="1478400"/>
          </a:xfrm>
          <a:prstGeom prst="rect">
            <a:avLst/>
          </a:prstGeom>
          <a:noFill/>
          <a:ln>
            <a:noFill/>
          </a:ln>
        </p:spPr>
        <p:txBody>
          <a:bodyPr spcFirstLastPara="1" wrap="square" lIns="91425" tIns="0" rIns="91425" bIns="91425" anchor="t" anchorCtr="0">
            <a:noAutofit/>
          </a:bodyPr>
          <a:lstStyle>
            <a:lvl1pPr lvl="0" rtl="0">
              <a:spcBef>
                <a:spcPts val="0"/>
              </a:spcBef>
              <a:spcAft>
                <a:spcPts val="0"/>
              </a:spcAft>
              <a:buClr>
                <a:srgbClr val="333333"/>
              </a:buClr>
              <a:buSzPts val="6200"/>
              <a:buNone/>
              <a:defRPr sz="8266" b="1">
                <a:solidFill>
                  <a:srgbClr val="333333"/>
                </a:solidFill>
              </a:defRPr>
            </a:lvl1pPr>
            <a:lvl2pPr lvl="1" rtl="0">
              <a:spcBef>
                <a:spcPts val="0"/>
              </a:spcBef>
              <a:spcAft>
                <a:spcPts val="0"/>
              </a:spcAft>
              <a:buClr>
                <a:srgbClr val="FFFFFF"/>
              </a:buClr>
              <a:buSzPts val="6200"/>
              <a:buNone/>
              <a:defRPr sz="8266" b="1">
                <a:solidFill>
                  <a:srgbClr val="FFFFFF"/>
                </a:solidFill>
              </a:defRPr>
            </a:lvl2pPr>
            <a:lvl3pPr lvl="2" rtl="0">
              <a:spcBef>
                <a:spcPts val="0"/>
              </a:spcBef>
              <a:spcAft>
                <a:spcPts val="0"/>
              </a:spcAft>
              <a:buClr>
                <a:srgbClr val="FFFFFF"/>
              </a:buClr>
              <a:buSzPts val="6200"/>
              <a:buNone/>
              <a:defRPr sz="8266" b="1">
                <a:solidFill>
                  <a:srgbClr val="FFFFFF"/>
                </a:solidFill>
              </a:defRPr>
            </a:lvl3pPr>
            <a:lvl4pPr lvl="3" rtl="0">
              <a:spcBef>
                <a:spcPts val="0"/>
              </a:spcBef>
              <a:spcAft>
                <a:spcPts val="0"/>
              </a:spcAft>
              <a:buClr>
                <a:srgbClr val="FFFFFF"/>
              </a:buClr>
              <a:buSzPts val="6200"/>
              <a:buNone/>
              <a:defRPr sz="8266" b="1">
                <a:solidFill>
                  <a:srgbClr val="FFFFFF"/>
                </a:solidFill>
              </a:defRPr>
            </a:lvl4pPr>
            <a:lvl5pPr lvl="4" rtl="0">
              <a:spcBef>
                <a:spcPts val="0"/>
              </a:spcBef>
              <a:spcAft>
                <a:spcPts val="0"/>
              </a:spcAft>
              <a:buClr>
                <a:srgbClr val="FFFFFF"/>
              </a:buClr>
              <a:buSzPts val="6200"/>
              <a:buNone/>
              <a:defRPr sz="8266" b="1">
                <a:solidFill>
                  <a:srgbClr val="FFFFFF"/>
                </a:solidFill>
              </a:defRPr>
            </a:lvl5pPr>
            <a:lvl6pPr lvl="5" rtl="0">
              <a:spcBef>
                <a:spcPts val="0"/>
              </a:spcBef>
              <a:spcAft>
                <a:spcPts val="0"/>
              </a:spcAft>
              <a:buClr>
                <a:srgbClr val="FFFFFF"/>
              </a:buClr>
              <a:buSzPts val="6200"/>
              <a:buNone/>
              <a:defRPr sz="8266" b="1">
                <a:solidFill>
                  <a:srgbClr val="FFFFFF"/>
                </a:solidFill>
              </a:defRPr>
            </a:lvl6pPr>
            <a:lvl7pPr lvl="6" rtl="0">
              <a:spcBef>
                <a:spcPts val="0"/>
              </a:spcBef>
              <a:spcAft>
                <a:spcPts val="0"/>
              </a:spcAft>
              <a:buClr>
                <a:srgbClr val="FFFFFF"/>
              </a:buClr>
              <a:buSzPts val="6200"/>
              <a:buNone/>
              <a:defRPr sz="8266" b="1">
                <a:solidFill>
                  <a:srgbClr val="FFFFFF"/>
                </a:solidFill>
              </a:defRPr>
            </a:lvl7pPr>
            <a:lvl8pPr lvl="7" rtl="0">
              <a:spcBef>
                <a:spcPts val="0"/>
              </a:spcBef>
              <a:spcAft>
                <a:spcPts val="0"/>
              </a:spcAft>
              <a:buClr>
                <a:srgbClr val="FFFFFF"/>
              </a:buClr>
              <a:buSzPts val="6200"/>
              <a:buNone/>
              <a:defRPr sz="8266" b="1">
                <a:solidFill>
                  <a:srgbClr val="FFFFFF"/>
                </a:solidFill>
              </a:defRPr>
            </a:lvl8pPr>
            <a:lvl9pPr lvl="8" rtl="0">
              <a:spcBef>
                <a:spcPts val="0"/>
              </a:spcBef>
              <a:spcAft>
                <a:spcPts val="0"/>
              </a:spcAft>
              <a:buClr>
                <a:srgbClr val="FFFFFF"/>
              </a:buClr>
              <a:buSzPts val="6200"/>
              <a:buNone/>
              <a:defRPr sz="8266" b="1">
                <a:solidFill>
                  <a:srgbClr val="FFFFFF"/>
                </a:solidFill>
              </a:defRPr>
            </a:lvl9pPr>
          </a:lstStyle>
          <a:p>
            <a:endParaRPr/>
          </a:p>
        </p:txBody>
      </p:sp>
    </p:spTree>
    <p:extLst>
      <p:ext uri="{BB962C8B-B14F-4D97-AF65-F5344CB8AC3E}">
        <p14:creationId xmlns:p14="http://schemas.microsoft.com/office/powerpoint/2010/main" val="1377334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p:cSld name="1_Title Only">
    <p:spTree>
      <p:nvGrpSpPr>
        <p:cNvPr id="1" name="Shape 54"/>
        <p:cNvGrpSpPr/>
        <p:nvPr/>
      </p:nvGrpSpPr>
      <p:grpSpPr>
        <a:xfrm>
          <a:off x="0" y="0"/>
          <a:ext cx="0" cy="0"/>
          <a:chOff x="0" y="0"/>
          <a:chExt cx="0" cy="0"/>
        </a:xfrm>
      </p:grpSpPr>
      <p:sp>
        <p:nvSpPr>
          <p:cNvPr id="55" name="Google Shape;55;p9"/>
          <p:cNvSpPr/>
          <p:nvPr/>
        </p:nvSpPr>
        <p:spPr>
          <a:xfrm>
            <a:off x="33" y="-33"/>
            <a:ext cx="464800" cy="6858000"/>
          </a:xfrm>
          <a:prstGeom prst="rect">
            <a:avLst/>
          </a:prstGeom>
          <a:solidFill>
            <a:srgbClr val="018B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6" name="Google Shape;56;p9"/>
          <p:cNvSpPr txBox="1">
            <a:spLocks noGrp="1"/>
          </p:cNvSpPr>
          <p:nvPr>
            <p:ph type="sldNum" idx="12"/>
          </p:nvPr>
        </p:nvSpPr>
        <p:spPr>
          <a:xfrm>
            <a:off x="37" y="6314699"/>
            <a:ext cx="464800" cy="524800"/>
          </a:xfrm>
          <a:prstGeom prst="rect">
            <a:avLst/>
          </a:prstGeom>
        </p:spPr>
        <p:txBody>
          <a:bodyPr spcFirstLastPara="1" wrap="square" lIns="0" tIns="0" rIns="0" bIns="0"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algn="ctr"/>
            <a:fld id="{00000000-1234-1234-1234-123412341234}" type="slidenum">
              <a:rPr lang="en" smtClean="0"/>
              <a:pPr algn="ctr"/>
              <a:t>‹#›</a:t>
            </a:fld>
            <a:endParaRPr lang="en"/>
          </a:p>
        </p:txBody>
      </p:sp>
      <p:pic>
        <p:nvPicPr>
          <p:cNvPr id="57" name="Google Shape;57;p9"/>
          <p:cNvPicPr preferRelativeResize="0"/>
          <p:nvPr/>
        </p:nvPicPr>
        <p:blipFill rotWithShape="1">
          <a:blip r:embed="rId2">
            <a:alphaModFix/>
          </a:blip>
          <a:srcRect t="56174" r="41741"/>
          <a:stretch/>
        </p:blipFill>
        <p:spPr>
          <a:xfrm>
            <a:off x="9221300" y="-102899"/>
            <a:ext cx="3112168" cy="1728500"/>
          </a:xfrm>
          <a:prstGeom prst="rect">
            <a:avLst/>
          </a:prstGeom>
          <a:noFill/>
          <a:ln>
            <a:noFill/>
          </a:ln>
        </p:spPr>
      </p:pic>
      <p:sp>
        <p:nvSpPr>
          <p:cNvPr id="58" name="Google Shape;58;p9"/>
          <p:cNvSpPr txBox="1">
            <a:spLocks noGrp="1"/>
          </p:cNvSpPr>
          <p:nvPr>
            <p:ph type="title"/>
          </p:nvPr>
        </p:nvSpPr>
        <p:spPr>
          <a:xfrm>
            <a:off x="904067" y="491767"/>
            <a:ext cx="10729200" cy="763600"/>
          </a:xfrm>
          <a:prstGeom prst="rect">
            <a:avLst/>
          </a:prstGeom>
          <a:noFill/>
          <a:ln>
            <a:noFill/>
          </a:ln>
        </p:spPr>
        <p:txBody>
          <a:bodyPr spcFirstLastPara="1" wrap="square" lIns="91425" tIns="91425" rIns="91425" bIns="91425" anchor="t" anchorCtr="0">
            <a:normAutofit/>
          </a:bodyPr>
          <a:lstStyle>
            <a:lvl1pPr lvl="0" rtl="0">
              <a:spcBef>
                <a:spcPts val="0"/>
              </a:spcBef>
              <a:spcAft>
                <a:spcPts val="0"/>
              </a:spcAft>
              <a:buClr>
                <a:srgbClr val="333333"/>
              </a:buClr>
              <a:buSzPts val="2400"/>
              <a:buNone/>
              <a:defRPr sz="3200" b="1">
                <a:solidFill>
                  <a:srgbClr val="333333"/>
                </a:solidFill>
              </a:defRPr>
            </a:lvl1pPr>
            <a:lvl2pPr lvl="1" rtl="0">
              <a:spcBef>
                <a:spcPts val="0"/>
              </a:spcBef>
              <a:spcAft>
                <a:spcPts val="0"/>
              </a:spcAft>
              <a:buClr>
                <a:schemeClr val="dk1"/>
              </a:buClr>
              <a:buSzPts val="2800"/>
              <a:buNone/>
              <a:defRPr sz="3733">
                <a:solidFill>
                  <a:schemeClr val="dk1"/>
                </a:solidFill>
              </a:defRPr>
            </a:lvl2pPr>
            <a:lvl3pPr lvl="2" rtl="0">
              <a:spcBef>
                <a:spcPts val="0"/>
              </a:spcBef>
              <a:spcAft>
                <a:spcPts val="0"/>
              </a:spcAft>
              <a:buClr>
                <a:schemeClr val="dk1"/>
              </a:buClr>
              <a:buSzPts val="2800"/>
              <a:buNone/>
              <a:defRPr sz="3733">
                <a:solidFill>
                  <a:schemeClr val="dk1"/>
                </a:solidFill>
              </a:defRPr>
            </a:lvl3pPr>
            <a:lvl4pPr lvl="3" rtl="0">
              <a:spcBef>
                <a:spcPts val="0"/>
              </a:spcBef>
              <a:spcAft>
                <a:spcPts val="0"/>
              </a:spcAft>
              <a:buClr>
                <a:schemeClr val="dk1"/>
              </a:buClr>
              <a:buSzPts val="2800"/>
              <a:buNone/>
              <a:defRPr sz="3733">
                <a:solidFill>
                  <a:schemeClr val="dk1"/>
                </a:solidFill>
              </a:defRPr>
            </a:lvl4pPr>
            <a:lvl5pPr lvl="4" rtl="0">
              <a:spcBef>
                <a:spcPts val="0"/>
              </a:spcBef>
              <a:spcAft>
                <a:spcPts val="0"/>
              </a:spcAft>
              <a:buClr>
                <a:schemeClr val="dk1"/>
              </a:buClr>
              <a:buSzPts val="2800"/>
              <a:buNone/>
              <a:defRPr sz="3733">
                <a:solidFill>
                  <a:schemeClr val="dk1"/>
                </a:solidFill>
              </a:defRPr>
            </a:lvl5pPr>
            <a:lvl6pPr lvl="5" rtl="0">
              <a:spcBef>
                <a:spcPts val="0"/>
              </a:spcBef>
              <a:spcAft>
                <a:spcPts val="0"/>
              </a:spcAft>
              <a:buClr>
                <a:schemeClr val="dk1"/>
              </a:buClr>
              <a:buSzPts val="2800"/>
              <a:buNone/>
              <a:defRPr sz="3733">
                <a:solidFill>
                  <a:schemeClr val="dk1"/>
                </a:solidFill>
              </a:defRPr>
            </a:lvl6pPr>
            <a:lvl7pPr lvl="6" rtl="0">
              <a:spcBef>
                <a:spcPts val="0"/>
              </a:spcBef>
              <a:spcAft>
                <a:spcPts val="0"/>
              </a:spcAft>
              <a:buClr>
                <a:schemeClr val="dk1"/>
              </a:buClr>
              <a:buSzPts val="2800"/>
              <a:buNone/>
              <a:defRPr sz="3733">
                <a:solidFill>
                  <a:schemeClr val="dk1"/>
                </a:solidFill>
              </a:defRPr>
            </a:lvl7pPr>
            <a:lvl8pPr lvl="7" rtl="0">
              <a:spcBef>
                <a:spcPts val="0"/>
              </a:spcBef>
              <a:spcAft>
                <a:spcPts val="0"/>
              </a:spcAft>
              <a:buClr>
                <a:schemeClr val="dk1"/>
              </a:buClr>
              <a:buSzPts val="2800"/>
              <a:buNone/>
              <a:defRPr sz="3733">
                <a:solidFill>
                  <a:schemeClr val="dk1"/>
                </a:solidFill>
              </a:defRPr>
            </a:lvl8pPr>
            <a:lvl9pPr lvl="8" rtl="0">
              <a:spcBef>
                <a:spcPts val="0"/>
              </a:spcBef>
              <a:spcAft>
                <a:spcPts val="0"/>
              </a:spcAft>
              <a:buClr>
                <a:schemeClr val="dk1"/>
              </a:buClr>
              <a:buSzPts val="2800"/>
              <a:buNone/>
              <a:defRPr sz="3733">
                <a:solidFill>
                  <a:schemeClr val="dk1"/>
                </a:solidFill>
              </a:defRPr>
            </a:lvl9pPr>
          </a:lstStyle>
          <a:p>
            <a:endParaRPr/>
          </a:p>
        </p:txBody>
      </p:sp>
    </p:spTree>
    <p:extLst>
      <p:ext uri="{BB962C8B-B14F-4D97-AF65-F5344CB8AC3E}">
        <p14:creationId xmlns:p14="http://schemas.microsoft.com/office/powerpoint/2010/main" val="197455236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BE5405-6037-EE6E-D727-D6686B85FFD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4C2CAE8-BE39-4227-66CD-4396168819E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125CE9-8491-BCBB-1709-1D87D693613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54F0F4B-3552-6348-A459-82F3827CA3A8}" type="datetimeFigureOut">
              <a:rPr lang="en-US" smtClean="0"/>
              <a:t>10/22/25</a:t>
            </a:fld>
            <a:endParaRPr lang="en-US"/>
          </a:p>
        </p:txBody>
      </p:sp>
      <p:sp>
        <p:nvSpPr>
          <p:cNvPr id="5" name="Footer Placeholder 4">
            <a:extLst>
              <a:ext uri="{FF2B5EF4-FFF2-40B4-BE49-F238E27FC236}">
                <a16:creationId xmlns:a16="http://schemas.microsoft.com/office/drawing/2014/main" id="{FCEA9951-2D4E-21B8-2877-E266D2AD424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4F427C4-DC15-99A2-0E9E-75F25EF73EC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BE4B7F-C25D-E74A-A11E-9EDAC9D4396D}" type="slidenum">
              <a:rPr lang="en-US" smtClean="0"/>
              <a:t>‹#›</a:t>
            </a:fld>
            <a:endParaRPr lang="en-US"/>
          </a:p>
        </p:txBody>
      </p:sp>
      <p:sp>
        <p:nvSpPr>
          <p:cNvPr id="8" name="TextBox 7">
            <a:extLst>
              <a:ext uri="{FF2B5EF4-FFF2-40B4-BE49-F238E27FC236}">
                <a16:creationId xmlns:a16="http://schemas.microsoft.com/office/drawing/2014/main" id="{E12D256B-52DB-CBB2-1748-175BCE5DD05B}"/>
              </a:ext>
            </a:extLst>
          </p:cNvPr>
          <p:cNvSpPr txBox="1"/>
          <p:nvPr userDrawn="1">
            <p:extLst>
              <p:ext uri="{1162E1C5-73C7-4A58-AE30-91384D911F3F}">
                <p184:classification xmlns:p184="http://schemas.microsoft.com/office/powerpoint/2018/4/main" val="ftr"/>
              </p:ext>
            </p:extLst>
          </p:nvPr>
        </p:nvSpPr>
        <p:spPr>
          <a:xfrm>
            <a:off x="63500" y="6642100"/>
            <a:ext cx="1220788"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St. Jude - Confidential</a:t>
            </a:r>
          </a:p>
        </p:txBody>
      </p:sp>
    </p:spTree>
    <p:extLst>
      <p:ext uri="{BB962C8B-B14F-4D97-AF65-F5344CB8AC3E}">
        <p14:creationId xmlns:p14="http://schemas.microsoft.com/office/powerpoint/2010/main" val="41356238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8.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9.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 Id="rId3" Type="http://schemas.openxmlformats.org/officeDocument/2006/relationships/image" Target="../media/image1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 Id="rId3" Type="http://schemas.openxmlformats.org/officeDocument/2006/relationships/image" Target="../media/image1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 Id="rId3" Type="http://schemas.openxmlformats.org/officeDocument/2006/relationships/image" Target="../media/image15.png"/><Relationship Id="rId4" Type="http://schemas.openxmlformats.org/officeDocument/2006/relationships/image" Target="../media/image1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62CCF75-A32F-6D3E-356A-4F6CF28F53AF}"/>
              </a:ext>
            </a:extLst>
          </p:cNvPr>
          <p:cNvSpPr>
            <a:spLocks noGrp="1"/>
          </p:cNvSpPr>
          <p:nvPr>
            <p:ph type="ctrTitle"/>
          </p:nvPr>
        </p:nvSpPr>
        <p:spPr>
          <a:xfrm>
            <a:off x="6574282" y="1100818"/>
            <a:ext cx="4805996" cy="1297115"/>
          </a:xfrm>
        </p:spPr>
        <p:txBody>
          <a:bodyPr anchor="t">
            <a:normAutofit/>
          </a:bodyPr>
          <a:lstStyle/>
          <a:p>
            <a:pPr algn="l"/>
            <a:r>
              <a:rPr lang="en-US" sz="4000" dirty="0">
                <a:solidFill>
                  <a:schemeClr val="tx2"/>
                </a:solidFill>
              </a:rPr>
              <a:t>NoSQL Databases for Bioinformatics</a:t>
            </a:r>
            <a:r>
              <a:rPr lang="en-US" sz="4000" dirty="0">
                <a:solidFill>
                  <a:schemeClr val="tx2"/>
                </a:solidFill>
                <a:effectLst/>
              </a:rPr>
              <a:t> </a:t>
            </a:r>
            <a:endParaRPr lang="en-US" sz="4000" dirty="0">
              <a:solidFill>
                <a:schemeClr val="tx2"/>
              </a:solidFill>
            </a:endParaRPr>
          </a:p>
        </p:txBody>
      </p:sp>
      <p:sp>
        <p:nvSpPr>
          <p:cNvPr id="4" name="Rectangle 3">
            <a:extLst>
              <a:ext uri="{FF2B5EF4-FFF2-40B4-BE49-F238E27FC236}">
                <a16:creationId xmlns:a16="http://schemas.microsoft.com/office/drawing/2014/main" id="{0F89DE96-BD63-5DF4-75A8-78E5DF718320}"/>
              </a:ext>
            </a:extLst>
          </p:cNvPr>
          <p:cNvSpPr/>
          <p:nvPr/>
        </p:nvSpPr>
        <p:spPr>
          <a:xfrm>
            <a:off x="132994" y="3965861"/>
            <a:ext cx="3608842" cy="1624237"/>
          </a:xfrm>
          <a:prstGeom prst="rect">
            <a:avLst/>
          </a:prstGeom>
          <a:solidFill>
            <a:srgbClr val="D413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04117F24-66B9-F755-8690-F8EDDD63AE17}"/>
              </a:ext>
            </a:extLst>
          </p:cNvPr>
          <p:cNvSpPr>
            <a:spLocks noGrp="1"/>
          </p:cNvSpPr>
          <p:nvPr>
            <p:ph type="subTitle" idx="1"/>
          </p:nvPr>
        </p:nvSpPr>
        <p:spPr>
          <a:xfrm>
            <a:off x="6604973" y="2283702"/>
            <a:ext cx="4805691" cy="838831"/>
          </a:xfrm>
        </p:spPr>
        <p:txBody>
          <a:bodyPr anchor="b">
            <a:noAutofit/>
          </a:bodyPr>
          <a:lstStyle/>
          <a:p>
            <a:pPr algn="l"/>
            <a:r>
              <a:rPr lang="en-US" dirty="0">
                <a:solidFill>
                  <a:schemeClr val="tx2"/>
                </a:solidFill>
              </a:rPr>
              <a:t>Neo4j workshop</a:t>
            </a:r>
            <a:endParaRPr lang="en-US" dirty="0">
              <a:solidFill>
                <a:schemeClr val="tx2"/>
              </a:solidFill>
              <a:effectLst/>
            </a:endParaRPr>
          </a:p>
        </p:txBody>
      </p:sp>
      <p:pic>
        <p:nvPicPr>
          <p:cNvPr id="6" name="Picture 5">
            <a:extLst>
              <a:ext uri="{FF2B5EF4-FFF2-40B4-BE49-F238E27FC236}">
                <a16:creationId xmlns:a16="http://schemas.microsoft.com/office/drawing/2014/main" id="{0BCAC87D-BE74-14F2-47C6-B5516D0E5B4B}"/>
              </a:ext>
            </a:extLst>
          </p:cNvPr>
          <p:cNvPicPr>
            <a:picLocks noChangeAspect="1"/>
          </p:cNvPicPr>
          <p:nvPr/>
        </p:nvPicPr>
        <p:blipFill>
          <a:blip r:embed="rId3"/>
          <a:stretch>
            <a:fillRect/>
          </a:stretch>
        </p:blipFill>
        <p:spPr>
          <a:xfrm>
            <a:off x="276300" y="2117618"/>
            <a:ext cx="4141760" cy="1459970"/>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15" name="Group 14">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53" y="-5977"/>
            <a:ext cx="6238675" cy="6863979"/>
            <a:chOff x="305" y="-5977"/>
            <a:chExt cx="6238675" cy="6863979"/>
          </a:xfrm>
        </p:grpSpPr>
        <p:sp>
          <p:nvSpPr>
            <p:cNvPr id="16" name="Freeform: Shape 15">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extBox 4">
            <a:extLst>
              <a:ext uri="{FF2B5EF4-FFF2-40B4-BE49-F238E27FC236}">
                <a16:creationId xmlns:a16="http://schemas.microsoft.com/office/drawing/2014/main" id="{603EC705-FED4-B532-631E-6EB9FDCD9F12}"/>
              </a:ext>
            </a:extLst>
          </p:cNvPr>
          <p:cNvSpPr txBox="1"/>
          <p:nvPr/>
        </p:nvSpPr>
        <p:spPr>
          <a:xfrm>
            <a:off x="-4253" y="6400800"/>
            <a:ext cx="12196253" cy="497111"/>
          </a:xfrm>
          <a:prstGeom prst="rect">
            <a:avLst/>
          </a:prstGeom>
          <a:solidFill>
            <a:srgbClr val="000000">
              <a:alpha val="50000"/>
            </a:srgbClr>
          </a:solidFill>
          <a:ln>
            <a:noFill/>
          </a:ln>
        </p:spPr>
        <p:txBody>
          <a:bodyPr wrap="square">
            <a:noAutofit/>
          </a:bodyPr>
          <a:lstStyle/>
          <a:p>
            <a:pPr algn="ctr">
              <a:spcAft>
                <a:spcPts val="600"/>
              </a:spcAft>
            </a:pPr>
            <a:r>
              <a:rPr lang="en-US" sz="2400" b="1" dirty="0">
                <a:solidFill>
                  <a:srgbClr val="FFFFFF"/>
                </a:solidFill>
              </a:rPr>
              <a:t>Data Bases and Data Wrangling Series.  Lecture#27</a:t>
            </a:r>
          </a:p>
        </p:txBody>
      </p:sp>
      <p:grpSp>
        <p:nvGrpSpPr>
          <p:cNvPr id="10" name="Group 9">
            <a:extLst>
              <a:ext uri="{FF2B5EF4-FFF2-40B4-BE49-F238E27FC236}">
                <a16:creationId xmlns:a16="http://schemas.microsoft.com/office/drawing/2014/main" id="{CA514136-51C1-DB95-EF15-31D96C91756B}"/>
              </a:ext>
            </a:extLst>
          </p:cNvPr>
          <p:cNvGrpSpPr/>
          <p:nvPr/>
        </p:nvGrpSpPr>
        <p:grpSpPr>
          <a:xfrm>
            <a:off x="6573977" y="5205034"/>
            <a:ext cx="2490469" cy="585398"/>
            <a:chOff x="6869852" y="4458043"/>
            <a:chExt cx="2490469" cy="585398"/>
          </a:xfrm>
        </p:grpSpPr>
        <p:pic>
          <p:nvPicPr>
            <p:cNvPr id="1026" name="Picture 2">
              <a:extLst>
                <a:ext uri="{FF2B5EF4-FFF2-40B4-BE49-F238E27FC236}">
                  <a16:creationId xmlns:a16="http://schemas.microsoft.com/office/drawing/2014/main" id="{A45DF704-9241-D370-D1C2-7757764ADBD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69852" y="4494801"/>
              <a:ext cx="548640" cy="54864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87AD7D6A-0A13-9BA1-C7FE-AA069D576572}"/>
                </a:ext>
              </a:extLst>
            </p:cNvPr>
            <p:cNvSpPr txBox="1"/>
            <p:nvPr/>
          </p:nvSpPr>
          <p:spPr>
            <a:xfrm>
              <a:off x="7459288" y="4458043"/>
              <a:ext cx="1901033" cy="584775"/>
            </a:xfrm>
            <a:prstGeom prst="rect">
              <a:avLst/>
            </a:prstGeom>
            <a:noFill/>
          </p:spPr>
          <p:txBody>
            <a:bodyPr wrap="none" rtlCol="0">
              <a:spAutoFit/>
            </a:bodyPr>
            <a:lstStyle/>
            <a:p>
              <a:r>
                <a:rPr lang="en-US" sz="3200" dirty="0"/>
                <a:t>Yawei Hui</a:t>
              </a:r>
            </a:p>
          </p:txBody>
        </p:sp>
      </p:grpSp>
      <p:grpSp>
        <p:nvGrpSpPr>
          <p:cNvPr id="14" name="Group 13">
            <a:extLst>
              <a:ext uri="{FF2B5EF4-FFF2-40B4-BE49-F238E27FC236}">
                <a16:creationId xmlns:a16="http://schemas.microsoft.com/office/drawing/2014/main" id="{742227D3-F0DD-3D14-1B7F-15F4604223D0}"/>
              </a:ext>
            </a:extLst>
          </p:cNvPr>
          <p:cNvGrpSpPr/>
          <p:nvPr/>
        </p:nvGrpSpPr>
        <p:grpSpPr>
          <a:xfrm>
            <a:off x="9274424" y="5200075"/>
            <a:ext cx="2917271" cy="584775"/>
            <a:chOff x="9274424" y="5200075"/>
            <a:chExt cx="2917271" cy="584775"/>
          </a:xfrm>
        </p:grpSpPr>
        <p:pic>
          <p:nvPicPr>
            <p:cNvPr id="1028" name="Picture 4">
              <a:extLst>
                <a:ext uri="{FF2B5EF4-FFF2-40B4-BE49-F238E27FC236}">
                  <a16:creationId xmlns:a16="http://schemas.microsoft.com/office/drawing/2014/main" id="{03B96E4B-60E8-C395-D33B-7EEE67CF48F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74424" y="5205034"/>
              <a:ext cx="548640" cy="54864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9493716A-E960-4C7D-607F-DA4214854DDB}"/>
                </a:ext>
              </a:extLst>
            </p:cNvPr>
            <p:cNvSpPr txBox="1"/>
            <p:nvPr/>
          </p:nvSpPr>
          <p:spPr>
            <a:xfrm>
              <a:off x="9891065" y="5200075"/>
              <a:ext cx="2300630" cy="584775"/>
            </a:xfrm>
            <a:prstGeom prst="rect">
              <a:avLst/>
            </a:prstGeom>
            <a:noFill/>
          </p:spPr>
          <p:txBody>
            <a:bodyPr wrap="none" rtlCol="0">
              <a:spAutoFit/>
            </a:bodyPr>
            <a:lstStyle/>
            <a:p>
              <a:r>
                <a:rPr lang="en-US" sz="3200" dirty="0"/>
                <a:t>Ziang Zhang</a:t>
              </a:r>
            </a:p>
          </p:txBody>
        </p:sp>
      </p:grpSp>
      <p:sp>
        <p:nvSpPr>
          <p:cNvPr id="20" name="TextBox 19">
            <a:extLst>
              <a:ext uri="{FF2B5EF4-FFF2-40B4-BE49-F238E27FC236}">
                <a16:creationId xmlns:a16="http://schemas.microsoft.com/office/drawing/2014/main" id="{6381C003-B846-E9BF-C90E-F6CCB39663C4}"/>
              </a:ext>
            </a:extLst>
          </p:cNvPr>
          <p:cNvSpPr txBox="1"/>
          <p:nvPr/>
        </p:nvSpPr>
        <p:spPr>
          <a:xfrm>
            <a:off x="132994" y="5110709"/>
            <a:ext cx="3540841" cy="461665"/>
          </a:xfrm>
          <a:prstGeom prst="rect">
            <a:avLst/>
          </a:prstGeom>
          <a:noFill/>
        </p:spPr>
        <p:txBody>
          <a:bodyPr wrap="none" rtlCol="0">
            <a:spAutoFit/>
          </a:bodyPr>
          <a:lstStyle/>
          <a:p>
            <a:r>
              <a:rPr lang="en-US" sz="2400" i="1" dirty="0">
                <a:solidFill>
                  <a:schemeClr val="bg1"/>
                </a:solidFill>
              </a:rPr>
              <a:t>H</a:t>
            </a:r>
            <a:r>
              <a:rPr lang="en-US" sz="1400" i="1" dirty="0">
                <a:solidFill>
                  <a:schemeClr val="bg1"/>
                </a:solidFill>
              </a:rPr>
              <a:t>igh </a:t>
            </a:r>
            <a:r>
              <a:rPr lang="en-US" sz="2400" i="1" dirty="0">
                <a:solidFill>
                  <a:schemeClr val="bg1"/>
                </a:solidFill>
              </a:rPr>
              <a:t>P</a:t>
            </a:r>
            <a:r>
              <a:rPr lang="en-US" sz="1400" i="1" dirty="0">
                <a:solidFill>
                  <a:schemeClr val="bg1"/>
                </a:solidFill>
              </a:rPr>
              <a:t>erformance </a:t>
            </a:r>
            <a:r>
              <a:rPr lang="en-US" sz="2400" i="1" dirty="0">
                <a:solidFill>
                  <a:schemeClr val="bg1"/>
                </a:solidFill>
              </a:rPr>
              <a:t>C</a:t>
            </a:r>
            <a:r>
              <a:rPr lang="en-US" sz="1400" i="1" dirty="0">
                <a:solidFill>
                  <a:schemeClr val="bg1"/>
                </a:solidFill>
              </a:rPr>
              <a:t>omputing </a:t>
            </a:r>
            <a:r>
              <a:rPr lang="en-US" sz="2400" i="1" dirty="0">
                <a:solidFill>
                  <a:schemeClr val="bg1"/>
                </a:solidFill>
              </a:rPr>
              <a:t>S</a:t>
            </a:r>
            <a:r>
              <a:rPr lang="en-US" sz="1400" i="1" dirty="0">
                <a:solidFill>
                  <a:schemeClr val="bg1"/>
                </a:solidFill>
              </a:rPr>
              <a:t>upport</a:t>
            </a:r>
          </a:p>
        </p:txBody>
      </p:sp>
      <p:pic>
        <p:nvPicPr>
          <p:cNvPr id="8" name="Graphic 7">
            <a:extLst>
              <a:ext uri="{FF2B5EF4-FFF2-40B4-BE49-F238E27FC236}">
                <a16:creationId xmlns:a16="http://schemas.microsoft.com/office/drawing/2014/main" id="{386C0F30-25DA-EA4D-71A5-EE973ADB9E0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37260" y="3959883"/>
            <a:ext cx="1012152" cy="1012152"/>
          </a:xfrm>
          <a:prstGeom prst="rect">
            <a:avLst/>
          </a:prstGeom>
        </p:spPr>
      </p:pic>
      <p:sp>
        <p:nvSpPr>
          <p:cNvPr id="21" name="TextBox 20">
            <a:extLst>
              <a:ext uri="{FF2B5EF4-FFF2-40B4-BE49-F238E27FC236}">
                <a16:creationId xmlns:a16="http://schemas.microsoft.com/office/drawing/2014/main" id="{86A84C94-EE15-E071-8D54-E70F1EF18F77}"/>
              </a:ext>
            </a:extLst>
          </p:cNvPr>
          <p:cNvSpPr txBox="1"/>
          <p:nvPr/>
        </p:nvSpPr>
        <p:spPr>
          <a:xfrm>
            <a:off x="230580" y="4737905"/>
            <a:ext cx="1415340" cy="430887"/>
          </a:xfrm>
          <a:prstGeom prst="rect">
            <a:avLst/>
          </a:prstGeom>
          <a:noFill/>
        </p:spPr>
        <p:txBody>
          <a:bodyPr wrap="square" rtlCol="0">
            <a:spAutoFit/>
          </a:bodyPr>
          <a:lstStyle/>
          <a:p>
            <a:r>
              <a:rPr lang="en-US" sz="1100" dirty="0">
                <a:solidFill>
                  <a:schemeClr val="bg1"/>
                </a:solidFill>
                <a:latin typeface="Times New Roman" panose="02020603050405020304" pitchFamily="18" charset="0"/>
                <a:cs typeface="Times New Roman" panose="02020603050405020304" pitchFamily="18" charset="0"/>
              </a:rPr>
              <a:t>St. Jude Children’s Research Hospital</a:t>
            </a:r>
          </a:p>
        </p:txBody>
      </p:sp>
      <p:sp>
        <p:nvSpPr>
          <p:cNvPr id="22" name="TextBox 21">
            <a:extLst>
              <a:ext uri="{FF2B5EF4-FFF2-40B4-BE49-F238E27FC236}">
                <a16:creationId xmlns:a16="http://schemas.microsoft.com/office/drawing/2014/main" id="{0146AEE2-38F9-1A41-DBA9-871A2EAC2D07}"/>
              </a:ext>
            </a:extLst>
          </p:cNvPr>
          <p:cNvSpPr txBox="1"/>
          <p:nvPr/>
        </p:nvSpPr>
        <p:spPr>
          <a:xfrm>
            <a:off x="1605369" y="4230266"/>
            <a:ext cx="2546371" cy="837665"/>
          </a:xfrm>
          <a:prstGeom prst="rect">
            <a:avLst/>
          </a:prstGeom>
          <a:noFill/>
        </p:spPr>
        <p:txBody>
          <a:bodyPr wrap="square" rtlCol="0">
            <a:spAutoFit/>
          </a:bodyPr>
          <a:lstStyle/>
          <a:p>
            <a:pPr>
              <a:spcAft>
                <a:spcPts val="600"/>
              </a:spcAft>
            </a:pPr>
            <a:r>
              <a:rPr lang="en-US" sz="2600" b="1" dirty="0">
                <a:solidFill>
                  <a:schemeClr val="bg1"/>
                </a:solidFill>
                <a:latin typeface="Arial" panose="020B0604020202020204" pitchFamily="34" charset="0"/>
                <a:ea typeface="Verdana" panose="020B0604030504040204" pitchFamily="34" charset="0"/>
                <a:cs typeface="Arial" panose="020B0604020202020204" pitchFamily="34" charset="0"/>
              </a:rPr>
              <a:t>Information </a:t>
            </a:r>
          </a:p>
          <a:p>
            <a:pPr>
              <a:lnSpc>
                <a:spcPts val="2020"/>
              </a:lnSpc>
              <a:spcAft>
                <a:spcPts val="600"/>
              </a:spcAft>
            </a:pPr>
            <a:r>
              <a:rPr lang="en-US" sz="2600" b="1" dirty="0">
                <a:solidFill>
                  <a:schemeClr val="bg1"/>
                </a:solidFill>
                <a:latin typeface="Arial" panose="020B0604020202020204" pitchFamily="34" charset="0"/>
                <a:ea typeface="Verdana" panose="020B0604030504040204" pitchFamily="34" charset="0"/>
                <a:cs typeface="Arial" panose="020B0604020202020204" pitchFamily="34" charset="0"/>
              </a:rPr>
              <a:t>Services</a:t>
            </a:r>
          </a:p>
        </p:txBody>
      </p:sp>
      <p:cxnSp>
        <p:nvCxnSpPr>
          <p:cNvPr id="25" name="Straight Connector 24">
            <a:extLst>
              <a:ext uri="{FF2B5EF4-FFF2-40B4-BE49-F238E27FC236}">
                <a16:creationId xmlns:a16="http://schemas.microsoft.com/office/drawing/2014/main" id="{F1D151AA-1106-8BFC-1C6D-BD7B569F8E53}"/>
              </a:ext>
            </a:extLst>
          </p:cNvPr>
          <p:cNvCxnSpPr/>
          <p:nvPr/>
        </p:nvCxnSpPr>
        <p:spPr>
          <a:xfrm flipV="1">
            <a:off x="1565329" y="4254285"/>
            <a:ext cx="0" cy="790413"/>
          </a:xfrm>
          <a:prstGeom prst="line">
            <a:avLst/>
          </a:prstGeom>
          <a:ln>
            <a:solidFill>
              <a:schemeClr val="bg1"/>
            </a:solidFill>
          </a:ln>
        </p:spPr>
        <p:style>
          <a:lnRef idx="2">
            <a:schemeClr val="accent4"/>
          </a:lnRef>
          <a:fillRef idx="0">
            <a:schemeClr val="accent4"/>
          </a:fillRef>
          <a:effectRef idx="1">
            <a:schemeClr val="accent4"/>
          </a:effectRef>
          <a:fontRef idx="minor">
            <a:schemeClr val="tx1"/>
          </a:fontRef>
        </p:style>
      </p:cxnSp>
    </p:spTree>
    <p:extLst>
      <p:ext uri="{BB962C8B-B14F-4D97-AF65-F5344CB8AC3E}">
        <p14:creationId xmlns:p14="http://schemas.microsoft.com/office/powerpoint/2010/main" val="25308472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32777C1-2C22-5788-A2AC-238F5FCA8338}"/>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245A9F99-D9B1-4094-A2E2-B90AC1DB7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B7FAF607-473A-4A43-A23D-BBFF5C411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909A58A-BDE9-3576-8D56-65261A24286D}"/>
              </a:ext>
            </a:extLst>
          </p:cNvPr>
          <p:cNvSpPr>
            <a:spLocks noGrp="1"/>
          </p:cNvSpPr>
          <p:nvPr>
            <p:ph type="title"/>
          </p:nvPr>
        </p:nvSpPr>
        <p:spPr>
          <a:xfrm>
            <a:off x="6094105" y="802955"/>
            <a:ext cx="4977976" cy="1454051"/>
          </a:xfrm>
        </p:spPr>
        <p:txBody>
          <a:bodyPr>
            <a:normAutofit/>
          </a:bodyPr>
          <a:lstStyle/>
          <a:p>
            <a:r>
              <a:rPr lang="en-US" sz="3600" dirty="0">
                <a:solidFill>
                  <a:schemeClr val="tx2"/>
                </a:solidFill>
              </a:rPr>
              <a:t>Learning Objectives </a:t>
            </a:r>
          </a:p>
        </p:txBody>
      </p:sp>
      <p:pic>
        <p:nvPicPr>
          <p:cNvPr id="21" name="Graphic 20" descr="Database">
            <a:extLst>
              <a:ext uri="{FF2B5EF4-FFF2-40B4-BE49-F238E27FC236}">
                <a16:creationId xmlns:a16="http://schemas.microsoft.com/office/drawing/2014/main" id="{CBF2D29C-C293-65C1-A399-C3423462AAE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86951" y="1793846"/>
            <a:ext cx="3620021" cy="3620021"/>
          </a:xfrm>
          <a:prstGeom prst="rect">
            <a:avLst/>
          </a:prstGeom>
        </p:spPr>
      </p:pic>
      <p:sp>
        <p:nvSpPr>
          <p:cNvPr id="3" name="Content Placeholder 2">
            <a:extLst>
              <a:ext uri="{FF2B5EF4-FFF2-40B4-BE49-F238E27FC236}">
                <a16:creationId xmlns:a16="http://schemas.microsoft.com/office/drawing/2014/main" id="{9D541AE3-87E5-D467-9399-6EFE23CD1F5E}"/>
              </a:ext>
            </a:extLst>
          </p:cNvPr>
          <p:cNvSpPr>
            <a:spLocks noGrp="1"/>
          </p:cNvSpPr>
          <p:nvPr>
            <p:ph idx="1"/>
          </p:nvPr>
        </p:nvSpPr>
        <p:spPr>
          <a:xfrm>
            <a:off x="6094102" y="1254852"/>
            <a:ext cx="5928606" cy="4536348"/>
          </a:xfrm>
        </p:spPr>
        <p:txBody>
          <a:bodyPr anchor="ctr">
            <a:normAutofit/>
          </a:bodyPr>
          <a:lstStyle/>
          <a:p>
            <a:pPr marL="0" indent="0">
              <a:buNone/>
            </a:pPr>
            <a:r>
              <a:rPr lang="en-US" sz="2000" dirty="0">
                <a:solidFill>
                  <a:schemeClr val="tx2"/>
                </a:solidFill>
              </a:rPr>
              <a:t>At the end of the session, you will be able to:</a:t>
            </a:r>
          </a:p>
          <a:p>
            <a:pPr>
              <a:buFont typeface="Wingdings" pitchFamily="2" charset="2"/>
              <a:buChar char="q"/>
            </a:pPr>
            <a:r>
              <a:rPr lang="en-US" sz="2000" b="1" dirty="0">
                <a:solidFill>
                  <a:schemeClr val="tx2"/>
                </a:solidFill>
              </a:rPr>
              <a:t>Model </a:t>
            </a:r>
            <a:r>
              <a:rPr lang="en-US" sz="2000" dirty="0">
                <a:solidFill>
                  <a:schemeClr val="tx2"/>
                </a:solidFill>
              </a:rPr>
              <a:t>genomic data as a graph</a:t>
            </a:r>
          </a:p>
          <a:p>
            <a:pPr>
              <a:buFont typeface="Wingdings" pitchFamily="2" charset="2"/>
              <a:buChar char="q"/>
            </a:pPr>
            <a:r>
              <a:rPr lang="en-US" sz="2000" b="1" dirty="0">
                <a:solidFill>
                  <a:schemeClr val="tx2"/>
                </a:solidFill>
              </a:rPr>
              <a:t>Build </a:t>
            </a:r>
            <a:r>
              <a:rPr lang="en-US" sz="2000" dirty="0">
                <a:solidFill>
                  <a:schemeClr val="tx2"/>
                </a:solidFill>
              </a:rPr>
              <a:t>genomic graph database with neo4j</a:t>
            </a:r>
          </a:p>
          <a:p>
            <a:pPr>
              <a:buFont typeface="Wingdings" pitchFamily="2" charset="2"/>
              <a:buChar char="q"/>
            </a:pPr>
            <a:r>
              <a:rPr lang="en-US" sz="2000" b="1" dirty="0">
                <a:solidFill>
                  <a:schemeClr val="tx2"/>
                </a:solidFill>
              </a:rPr>
              <a:t>Perform</a:t>
            </a:r>
            <a:r>
              <a:rPr lang="en-US" sz="2000" dirty="0">
                <a:solidFill>
                  <a:schemeClr val="tx2"/>
                </a:solidFill>
              </a:rPr>
              <a:t> Biological insights via graph querying</a:t>
            </a:r>
            <a:br>
              <a:rPr lang="en-US" sz="2000" dirty="0">
                <a:solidFill>
                  <a:schemeClr val="tx2"/>
                </a:solidFill>
              </a:rPr>
            </a:br>
            <a:r>
              <a:rPr lang="en-US" sz="2000" dirty="0">
                <a:solidFill>
                  <a:schemeClr val="tx2"/>
                </a:solidFill>
              </a:rPr>
              <a:t>    • Identify similar genomes based on shared KOs annotations</a:t>
            </a:r>
            <a:br>
              <a:rPr lang="en-US" sz="2000" dirty="0">
                <a:solidFill>
                  <a:schemeClr val="tx2"/>
                </a:solidFill>
              </a:rPr>
            </a:br>
            <a:r>
              <a:rPr lang="en-US" sz="2000" dirty="0">
                <a:solidFill>
                  <a:schemeClr val="tx2"/>
                </a:solidFill>
              </a:rPr>
              <a:t>    • Infer evolutionary patterns of KOs across a </a:t>
            </a:r>
            <a:r>
              <a:rPr lang="en-US" sz="2000">
                <a:solidFill>
                  <a:schemeClr val="tx2"/>
                </a:solidFill>
              </a:rPr>
              <a:t>phylogenetic</a:t>
            </a:r>
            <a:r>
              <a:rPr lang="en-US" sz="2000" dirty="0">
                <a:solidFill>
                  <a:schemeClr val="tx2"/>
                </a:solidFill>
              </a:rPr>
              <a:t> structure.</a:t>
            </a:r>
            <a:br>
              <a:rPr lang="en-US" sz="2000" dirty="0">
                <a:solidFill>
                  <a:schemeClr val="tx2"/>
                </a:solidFill>
              </a:rPr>
            </a:br>
            <a:endParaRPr lang="en-US" sz="2000" dirty="0">
              <a:solidFill>
                <a:schemeClr val="tx2"/>
              </a:solidFill>
            </a:endParaRPr>
          </a:p>
        </p:txBody>
      </p:sp>
      <p:grpSp>
        <p:nvGrpSpPr>
          <p:cNvPr id="28" name="Group 27">
            <a:extLst>
              <a:ext uri="{FF2B5EF4-FFF2-40B4-BE49-F238E27FC236}">
                <a16:creationId xmlns:a16="http://schemas.microsoft.com/office/drawing/2014/main" id="{C5F6476F-D303-44D3-B30F-1BA348F0F6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2635" y="52996"/>
            <a:ext cx="5928607" cy="6805005"/>
            <a:chOff x="6095999" y="52996"/>
            <a:chExt cx="6093363" cy="6805005"/>
          </a:xfrm>
          <a:solidFill>
            <a:schemeClr val="accent5">
              <a:alpha val="10000"/>
            </a:schemeClr>
          </a:solidFill>
        </p:grpSpPr>
        <p:sp>
          <p:nvSpPr>
            <p:cNvPr id="29" name="Freeform: Shape 28">
              <a:extLst>
                <a:ext uri="{FF2B5EF4-FFF2-40B4-BE49-F238E27FC236}">
                  <a16:creationId xmlns:a16="http://schemas.microsoft.com/office/drawing/2014/main" id="{C972EB4B-0539-4430-9340-8117B9D7C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ACA5348F-9FF6-485F-898D-1BED7EC727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33B89F41-1D91-447A-88C5-8A917809FE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475010393"/>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11064240" cy="777240"/>
          </a:xfrm>
        </p:spPr>
        <p:txBody>
          <a:bodyPr wrap="square" anchor="ctr"/>
          <a:lstStyle/>
          <a:p>
            <a:pPr algn="l"/>
            <a:r>
              <a:rPr sz="3000" b="1" i="0">
                <a:solidFill>
                  <a:srgbClr val="0E2841"/>
                </a:solidFill>
              </a:rPr>
              <a:t>Roadmap: from a table to insight in four steps</a:t>
            </a:r>
          </a:p>
        </p:txBody>
      </p:sp>
      <p:sp>
        <p:nvSpPr>
          <p:cNvPr id="3" name="footer"/>
          <p:cNvSpPr txBox="1"/>
          <p:nvPr/>
        </p:nvSpPr>
        <p:spPr>
          <a:xfrm>
            <a:off x="548640" y="6455664"/>
            <a:ext cx="8686800" cy="274320"/>
          </a:xfrm>
          <a:prstGeom prst="rect">
            <a:avLst/>
          </a:prstGeom>
          <a:noFill/>
        </p:spPr>
        <p:txBody>
          <a:bodyPr wrap="square" lIns="45720" rIns="45720" tIns="27432" bIns="27432" anchor="t">
            <a:spAutoFit/>
          </a:bodyPr>
          <a:lstStyle/>
          <a:p>
            <a:pPr algn="l">
              <a:spcAft>
                <a:spcPts val="600"/>
              </a:spcAft>
            </a:pPr>
            <a:r>
              <a:rPr sz="1000" b="0" i="0">
                <a:solidFill>
                  <a:srgbClr val="595959"/>
                </a:solidFill>
              </a:rPr>
              <a:t>NoSQL Databases for Bioinformatics  ·  Lecture 27  ·  Neo4j genome workshop</a:t>
            </a:r>
          </a:p>
        </p:txBody>
      </p:sp>
      <p:sp>
        <p:nvSpPr>
          <p:cNvPr id="4" name="slide number"/>
          <p:cNvSpPr txBox="1"/>
          <p:nvPr/>
        </p:nvSpPr>
        <p:spPr>
          <a:xfrm>
            <a:off x="10698480" y="6455664"/>
            <a:ext cx="914400" cy="274320"/>
          </a:xfrm>
          <a:prstGeom prst="rect">
            <a:avLst/>
          </a:prstGeom>
          <a:noFill/>
        </p:spPr>
        <p:txBody>
          <a:bodyPr wrap="square" lIns="45720" rIns="45720" tIns="27432" bIns="27432" anchor="t">
            <a:spAutoFit/>
          </a:bodyPr>
          <a:lstStyle/>
          <a:p>
            <a:pPr algn="r">
              <a:spcAft>
                <a:spcPts val="600"/>
              </a:spcAft>
            </a:pPr>
            <a:fld id="{B6F15528-21DE-4FAA-801E-634DDDAF4B2B}" type="slidenum">
              <a:rPr lang="en-US" sz="1000">
                <a:solidFill>
                  <a:srgbClr val="595959"/>
                </a:solidFill>
              </a:rPr>
              <a:t>‹#›</a:t>
            </a:fld>
          </a:p>
        </p:txBody>
      </p:sp>
      <p:sp>
        <p:nvSpPr>
          <p:cNvPr id="5" name="step 1"/>
          <p:cNvSpPr/>
          <p:nvPr/>
        </p:nvSpPr>
        <p:spPr>
          <a:xfrm>
            <a:off x="548640" y="1371600"/>
            <a:ext cx="2697480" cy="777240"/>
          </a:xfrm>
          <a:prstGeom prst="homePlat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2000" b="1" i="0">
                <a:solidFill>
                  <a:srgbClr val="FFFFFF"/>
                </a:solidFill>
              </a:rPr>
              <a:t>1  MODEL</a:t>
            </a:r>
          </a:p>
        </p:txBody>
      </p:sp>
      <p:sp>
        <p:nvSpPr>
          <p:cNvPr id="6" name="step 1 card"/>
          <p:cNvSpPr/>
          <p:nvPr/>
        </p:nvSpPr>
        <p:spPr>
          <a:xfrm>
            <a:off x="548640" y="2331720"/>
            <a:ext cx="2606040" cy="3063240"/>
          </a:xfrm>
          <a:prstGeom prst="roundRect">
            <a:avLst>
              <a:gd name="adj" fmla="val 2105"/>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f"/>
          <p:cNvSpPr txBox="1"/>
          <p:nvPr/>
        </p:nvSpPr>
        <p:spPr>
          <a:xfrm>
            <a:off x="658368" y="2423160"/>
            <a:ext cx="2377440" cy="320040"/>
          </a:xfrm>
          <a:prstGeom prst="rect">
            <a:avLst/>
          </a:prstGeom>
          <a:noFill/>
        </p:spPr>
        <p:txBody>
          <a:bodyPr wrap="square" lIns="45720" rIns="45720" tIns="27432" bIns="27432" anchor="t">
            <a:spAutoFit/>
          </a:bodyPr>
          <a:lstStyle/>
          <a:p>
            <a:pPr algn="l">
              <a:spcAft>
                <a:spcPts val="600"/>
              </a:spcAft>
            </a:pPr>
            <a:r>
              <a:rPr sz="1300" b="1" i="0">
                <a:solidFill>
                  <a:srgbClr val="595959"/>
                </a:solidFill>
              </a:rPr>
              <a:t>Workbook §1-3</a:t>
            </a:r>
          </a:p>
        </p:txBody>
      </p:sp>
      <p:sp>
        <p:nvSpPr>
          <p:cNvPr id="8" name="step 1 bullets"/>
          <p:cNvSpPr txBox="1"/>
          <p:nvPr/>
        </p:nvSpPr>
        <p:spPr>
          <a:xfrm>
            <a:off x="658368" y="2788920"/>
            <a:ext cx="2377440" cy="2560320"/>
          </a:xfrm>
          <a:prstGeom prst="rect">
            <a:avLst/>
          </a:prstGeom>
          <a:noFill/>
        </p:spPr>
        <p:txBody>
          <a:bodyPr wrap="square" lIns="45720" rIns="45720" tIns="27432" bIns="27432" anchor="t">
            <a:spAutoFit/>
          </a:bodyPr>
          <a:lstStyle/>
          <a:p>
            <a:pPr algn="l" marL="256032" indent="-256032">
              <a:spcAft>
                <a:spcPts val="800"/>
              </a:spcAft>
              <a:buFont typeface="Arial"/>
              <a:buChar char="•"/>
            </a:pPr>
            <a:r>
              <a:rPr sz="1500" b="0" i="0">
                <a:solidFill>
                  <a:srgbClr val="0E2841"/>
                </a:solidFill>
              </a:rPr>
              <a:t>Understand the data and the two questions</a:t>
            </a:r>
          </a:p>
          <a:p>
            <a:pPr algn="l" marL="256032" indent="-256032">
              <a:spcAft>
                <a:spcPts val="800"/>
              </a:spcAft>
              <a:buFont typeface="Arial"/>
              <a:buChar char="•"/>
            </a:pPr>
            <a:r>
              <a:rPr sz="1500" b="0" i="0">
                <a:solidFill>
                  <a:srgbClr val="0E2841"/>
                </a:solidFill>
              </a:rPr>
              <a:t>Whiteboard recipe: nouns → nodes, verbs → relationships</a:t>
            </a:r>
          </a:p>
          <a:p>
            <a:pPr algn="l" marL="256032" indent="-256032">
              <a:spcAft>
                <a:spcPts val="800"/>
              </a:spcAft>
              <a:buFont typeface="Arial"/>
              <a:buChar char="•"/>
            </a:pPr>
            <a:r>
              <a:rPr sz="1500" b="0" i="0">
                <a:solidFill>
                  <a:srgbClr val="0E2841"/>
                </a:solidFill>
              </a:rPr>
              <a:t>Warm-up: 4 genomes × 5 KOs, by hand</a:t>
            </a:r>
          </a:p>
        </p:txBody>
      </p:sp>
      <p:sp>
        <p:nvSpPr>
          <p:cNvPr id="9" name="step 2"/>
          <p:cNvSpPr/>
          <p:nvPr/>
        </p:nvSpPr>
        <p:spPr>
          <a:xfrm>
            <a:off x="3364992" y="1371600"/>
            <a:ext cx="2697480" cy="777240"/>
          </a:xfrm>
          <a:prstGeom prst="homePlat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2000" b="1" i="0">
                <a:solidFill>
                  <a:srgbClr val="FFFFFF"/>
                </a:solidFill>
              </a:rPr>
              <a:t>2  IMPORT</a:t>
            </a:r>
          </a:p>
        </p:txBody>
      </p:sp>
      <p:sp>
        <p:nvSpPr>
          <p:cNvPr id="10" name="step 2 card"/>
          <p:cNvSpPr/>
          <p:nvPr/>
        </p:nvSpPr>
        <p:spPr>
          <a:xfrm>
            <a:off x="3364992" y="2331720"/>
            <a:ext cx="2606040" cy="3063240"/>
          </a:xfrm>
          <a:prstGeom prst="roundRect">
            <a:avLst>
              <a:gd name="adj" fmla="val 2105"/>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f"/>
          <p:cNvSpPr txBox="1"/>
          <p:nvPr/>
        </p:nvSpPr>
        <p:spPr>
          <a:xfrm>
            <a:off x="3474720" y="2423160"/>
            <a:ext cx="2377440" cy="320040"/>
          </a:xfrm>
          <a:prstGeom prst="rect">
            <a:avLst/>
          </a:prstGeom>
          <a:noFill/>
        </p:spPr>
        <p:txBody>
          <a:bodyPr wrap="square" lIns="45720" rIns="45720" tIns="27432" bIns="27432" anchor="t">
            <a:spAutoFit/>
          </a:bodyPr>
          <a:lstStyle/>
          <a:p>
            <a:pPr algn="l">
              <a:spcAft>
                <a:spcPts val="600"/>
              </a:spcAft>
            </a:pPr>
            <a:r>
              <a:rPr sz="1300" b="1" i="0">
                <a:solidFill>
                  <a:srgbClr val="595959"/>
                </a:solidFill>
              </a:rPr>
              <a:t>Workbook §4</a:t>
            </a:r>
          </a:p>
        </p:txBody>
      </p:sp>
      <p:sp>
        <p:nvSpPr>
          <p:cNvPr id="12" name="step 2 bullets"/>
          <p:cNvSpPr txBox="1"/>
          <p:nvPr/>
        </p:nvSpPr>
        <p:spPr>
          <a:xfrm>
            <a:off x="3474720" y="2788920"/>
            <a:ext cx="2377440" cy="2560320"/>
          </a:xfrm>
          <a:prstGeom prst="rect">
            <a:avLst/>
          </a:prstGeom>
          <a:noFill/>
        </p:spPr>
        <p:txBody>
          <a:bodyPr wrap="square" lIns="45720" rIns="45720" tIns="27432" bIns="27432" anchor="t">
            <a:spAutoFit/>
          </a:bodyPr>
          <a:lstStyle/>
          <a:p>
            <a:pPr algn="l" marL="256032" indent="-256032">
              <a:spcAft>
                <a:spcPts val="800"/>
              </a:spcAft>
              <a:buFont typeface="Arial"/>
              <a:buChar char="•"/>
            </a:pPr>
            <a:r>
              <a:rPr sz="1500" b="0" i="0">
                <a:solidFill>
                  <a:srgbClr val="0E2841"/>
                </a:solidFill>
              </a:rPr>
              <a:t>Constraints: uniqueness + index</a:t>
            </a:r>
          </a:p>
          <a:p>
            <a:pPr algn="l" marL="256032" indent="-256032">
              <a:spcAft>
                <a:spcPts val="800"/>
              </a:spcAft>
              <a:buFont typeface="Arial"/>
              <a:buChar char="•"/>
            </a:pPr>
            <a:r>
              <a:rPr sz="1500" b="0" i="0">
                <a:solidFill>
                  <a:srgbClr val="0E2841"/>
                </a:solidFill>
              </a:rPr>
              <a:t>Batch import with UNWIND … MERGE</a:t>
            </a:r>
          </a:p>
          <a:p>
            <a:pPr algn="l" marL="256032" indent="-256032">
              <a:spcAft>
                <a:spcPts val="800"/>
              </a:spcAft>
              <a:buFont typeface="Arial"/>
              <a:buChar char="•"/>
            </a:pPr>
            <a:r>
              <a:rPr sz="1500" b="0" i="0">
                <a:solidFill>
                  <a:srgbClr val="0E2841"/>
                </a:solidFill>
              </a:rPr>
              <a:t>Verify against the CSV files</a:t>
            </a:r>
          </a:p>
        </p:txBody>
      </p:sp>
      <p:sp>
        <p:nvSpPr>
          <p:cNvPr id="13" name="step 3"/>
          <p:cNvSpPr/>
          <p:nvPr/>
        </p:nvSpPr>
        <p:spPr>
          <a:xfrm>
            <a:off x="6181344" y="1371600"/>
            <a:ext cx="2697480" cy="777240"/>
          </a:xfrm>
          <a:prstGeom prst="homePlate">
            <a:avLst/>
          </a:prstGeom>
          <a:solidFill>
            <a:srgbClr val="2E8B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2000" b="1" i="0">
                <a:solidFill>
                  <a:srgbClr val="FFFFFF"/>
                </a:solidFill>
              </a:rPr>
              <a:t>3  EXPLORE</a:t>
            </a:r>
          </a:p>
        </p:txBody>
      </p:sp>
      <p:sp>
        <p:nvSpPr>
          <p:cNvPr id="14" name="step 3 card"/>
          <p:cNvSpPr/>
          <p:nvPr/>
        </p:nvSpPr>
        <p:spPr>
          <a:xfrm>
            <a:off x="6181344" y="2331720"/>
            <a:ext cx="2606040" cy="3063240"/>
          </a:xfrm>
          <a:prstGeom prst="roundRect">
            <a:avLst>
              <a:gd name="adj" fmla="val 2105"/>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f"/>
          <p:cNvSpPr txBox="1"/>
          <p:nvPr/>
        </p:nvSpPr>
        <p:spPr>
          <a:xfrm>
            <a:off x="6291072" y="2423160"/>
            <a:ext cx="2377440" cy="320040"/>
          </a:xfrm>
          <a:prstGeom prst="rect">
            <a:avLst/>
          </a:prstGeom>
          <a:noFill/>
        </p:spPr>
        <p:txBody>
          <a:bodyPr wrap="square" lIns="45720" rIns="45720" tIns="27432" bIns="27432" anchor="t">
            <a:spAutoFit/>
          </a:bodyPr>
          <a:lstStyle/>
          <a:p>
            <a:pPr algn="l">
              <a:spcAft>
                <a:spcPts val="600"/>
              </a:spcAft>
            </a:pPr>
            <a:r>
              <a:rPr sz="1300" b="1" i="0">
                <a:solidFill>
                  <a:srgbClr val="595959"/>
                </a:solidFill>
              </a:rPr>
              <a:t>Workbook §5</a:t>
            </a:r>
          </a:p>
        </p:txBody>
      </p:sp>
      <p:sp>
        <p:nvSpPr>
          <p:cNvPr id="16" name="step 3 bullets"/>
          <p:cNvSpPr txBox="1"/>
          <p:nvPr/>
        </p:nvSpPr>
        <p:spPr>
          <a:xfrm>
            <a:off x="6291072" y="2788920"/>
            <a:ext cx="2377440" cy="2560320"/>
          </a:xfrm>
          <a:prstGeom prst="rect">
            <a:avLst/>
          </a:prstGeom>
          <a:noFill/>
        </p:spPr>
        <p:txBody>
          <a:bodyPr wrap="square" lIns="45720" rIns="45720" tIns="27432" bIns="27432" anchor="t">
            <a:spAutoFit/>
          </a:bodyPr>
          <a:lstStyle/>
          <a:p>
            <a:pPr algn="l" marL="256032" indent="-256032">
              <a:spcAft>
                <a:spcPts val="800"/>
              </a:spcAft>
              <a:buFont typeface="Arial"/>
              <a:buChar char="•"/>
            </a:pPr>
            <a:r>
              <a:rPr sz="1500" b="0" i="0">
                <a:solidFill>
                  <a:srgbClr val="0E2841"/>
                </a:solidFill>
              </a:rPr>
              <a:t>Counts, one genome, one KO</a:t>
            </a:r>
          </a:p>
          <a:p>
            <a:pPr algn="l" marL="256032" indent="-256032">
              <a:spcAft>
                <a:spcPts val="800"/>
              </a:spcAft>
              <a:buFont typeface="Arial"/>
              <a:buChar char="•"/>
            </a:pPr>
            <a:r>
              <a:rPr sz="1500" b="0" i="0">
                <a:solidFill>
                  <a:srgbClr val="0E2841"/>
                </a:solidFill>
              </a:rPr>
              <a:t>Draw neighbourhoods and lineages</a:t>
            </a:r>
          </a:p>
          <a:p>
            <a:pPr algn="l" marL="256032" indent="-256032">
              <a:spcAft>
                <a:spcPts val="800"/>
              </a:spcAft>
              <a:buFont typeface="Arial"/>
              <a:buChar char="•"/>
            </a:pPr>
            <a:r>
              <a:rPr sz="1500" b="0" i="0">
                <a:solidFill>
                  <a:srgbClr val="0E2841"/>
                </a:solidFill>
              </a:rPr>
              <a:t>Distributions: genome size, KO sharing</a:t>
            </a:r>
          </a:p>
        </p:txBody>
      </p:sp>
      <p:sp>
        <p:nvSpPr>
          <p:cNvPr id="17" name="step 4"/>
          <p:cNvSpPr/>
          <p:nvPr/>
        </p:nvSpPr>
        <p:spPr>
          <a:xfrm>
            <a:off x="8997696" y="1371600"/>
            <a:ext cx="2697480" cy="777240"/>
          </a:xfrm>
          <a:prstGeom prst="homePlate">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2000" b="1" i="0">
                <a:solidFill>
                  <a:srgbClr val="FFFFFF"/>
                </a:solidFill>
              </a:rPr>
              <a:t>4  QUERY</a:t>
            </a:r>
          </a:p>
        </p:txBody>
      </p:sp>
      <p:sp>
        <p:nvSpPr>
          <p:cNvPr id="18" name="step 4 card"/>
          <p:cNvSpPr/>
          <p:nvPr/>
        </p:nvSpPr>
        <p:spPr>
          <a:xfrm>
            <a:off x="8997696" y="2331720"/>
            <a:ext cx="2606040" cy="3063240"/>
          </a:xfrm>
          <a:prstGeom prst="roundRect">
            <a:avLst>
              <a:gd name="adj" fmla="val 2105"/>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f"/>
          <p:cNvSpPr txBox="1"/>
          <p:nvPr/>
        </p:nvSpPr>
        <p:spPr>
          <a:xfrm>
            <a:off x="9107424" y="2423160"/>
            <a:ext cx="2377440" cy="320040"/>
          </a:xfrm>
          <a:prstGeom prst="rect">
            <a:avLst/>
          </a:prstGeom>
          <a:noFill/>
        </p:spPr>
        <p:txBody>
          <a:bodyPr wrap="square" lIns="45720" rIns="45720" tIns="27432" bIns="27432" anchor="t">
            <a:spAutoFit/>
          </a:bodyPr>
          <a:lstStyle/>
          <a:p>
            <a:pPr algn="l">
              <a:spcAft>
                <a:spcPts val="600"/>
              </a:spcAft>
            </a:pPr>
            <a:r>
              <a:rPr sz="1300" b="1" i="0">
                <a:solidFill>
                  <a:srgbClr val="595959"/>
                </a:solidFill>
              </a:rPr>
              <a:t>Workbook §6-7</a:t>
            </a:r>
          </a:p>
        </p:txBody>
      </p:sp>
      <p:sp>
        <p:nvSpPr>
          <p:cNvPr id="20" name="step 4 bullets"/>
          <p:cNvSpPr txBox="1"/>
          <p:nvPr/>
        </p:nvSpPr>
        <p:spPr>
          <a:xfrm>
            <a:off x="9107424" y="2788920"/>
            <a:ext cx="2377440" cy="2560320"/>
          </a:xfrm>
          <a:prstGeom prst="rect">
            <a:avLst/>
          </a:prstGeom>
          <a:noFill/>
        </p:spPr>
        <p:txBody>
          <a:bodyPr wrap="square" lIns="45720" rIns="45720" tIns="27432" bIns="27432" anchor="t">
            <a:spAutoFit/>
          </a:bodyPr>
          <a:lstStyle/>
          <a:p>
            <a:pPr algn="l" marL="256032" indent="-256032">
              <a:spcAft>
                <a:spcPts val="800"/>
              </a:spcAft>
              <a:buFont typeface="Arial"/>
              <a:buChar char="•"/>
            </a:pPr>
            <a:r>
              <a:rPr sz="1500" b="0" i="0">
                <a:solidFill>
                  <a:srgbClr val="0E2841"/>
                </a:solidFill>
              </a:rPr>
              <a:t>Q1: which genomes are similar?</a:t>
            </a:r>
          </a:p>
          <a:p>
            <a:pPr algn="l" marL="256032" indent="-256032">
              <a:spcAft>
                <a:spcPts val="800"/>
              </a:spcAft>
              <a:buFont typeface="Arial"/>
              <a:buChar char="•"/>
            </a:pPr>
            <a:r>
              <a:rPr sz="1500" b="0" i="0">
                <a:solidFill>
                  <a:srgbClr val="0E2841"/>
                </a:solidFill>
              </a:rPr>
              <a:t>Q2: how did KOs evolve on the tree?</a:t>
            </a:r>
          </a:p>
          <a:p>
            <a:pPr algn="l" marL="256032" indent="-256032">
              <a:spcAft>
                <a:spcPts val="800"/>
              </a:spcAft>
              <a:buFont typeface="Arial"/>
              <a:buChar char="•"/>
            </a:pPr>
            <a:r>
              <a:rPr sz="1500" b="0" i="0">
                <a:solidFill>
                  <a:srgbClr val="0E2841"/>
                </a:solidFill>
              </a:rPr>
              <a:t>Insights: origin clade, signature KOs, gene loss</a:t>
            </a:r>
          </a:p>
        </p:txBody>
      </p:sp>
      <p:sp>
        <p:nvSpPr>
          <p:cNvPr id="21" name="banner"/>
          <p:cNvSpPr/>
          <p:nvPr/>
        </p:nvSpPr>
        <p:spPr>
          <a:xfrm>
            <a:off x="548640" y="5623560"/>
            <a:ext cx="11064240" cy="640080"/>
          </a:xfrm>
          <a:prstGeom prst="roundRect">
            <a:avLst>
              <a:gd name="adj" fmla="val 8571"/>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banner text"/>
          <p:cNvSpPr txBox="1"/>
          <p:nvPr/>
        </p:nvSpPr>
        <p:spPr>
          <a:xfrm>
            <a:off x="731520" y="5669280"/>
            <a:ext cx="10698480" cy="548640"/>
          </a:xfrm>
          <a:prstGeom prst="rect">
            <a:avLst/>
          </a:prstGeom>
          <a:noFill/>
        </p:spPr>
        <p:txBody>
          <a:bodyPr wrap="square" lIns="45720" rIns="45720" tIns="27432" bIns="27432" anchor="ctr">
            <a:spAutoFit/>
          </a:bodyPr>
          <a:lstStyle/>
          <a:p>
            <a:pPr algn="l">
              <a:spcAft>
                <a:spcPts val="600"/>
              </a:spcAft>
            </a:pPr>
            <a:r>
              <a:rPr sz="1600" b="0" i="0">
                <a:solidFill>
                  <a:srgbClr val="FFFFFF"/>
                </a:solidFill>
              </a:rPr>
              <a:t>Everything is local: Docker (Neo4j) + JupyterLab  →  workbook: </a:t>
            </a:r>
            <a:r>
              <a:rPr sz="1600" b="0" i="0">
                <a:solidFill>
                  <a:srgbClr val="FFFFFF"/>
                </a:solidFill>
                <a:latin typeface="Courier New"/>
              </a:rPr>
              <a:t>4-neo4j-workshop/workbook.ipynb</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9509760" cy="777240"/>
          </a:xfrm>
        </p:spPr>
        <p:txBody>
          <a:bodyPr wrap="square" anchor="ctr"/>
          <a:lstStyle/>
          <a:p>
            <a:pPr algn="l"/>
            <a:r>
              <a:rPr sz="3000" b="1" i="0">
                <a:solidFill>
                  <a:srgbClr val="0E2841"/>
                </a:solidFill>
              </a:rPr>
              <a:t>The biology: genomes, KOs and the tree of life</a:t>
            </a:r>
          </a:p>
        </p:txBody>
      </p:sp>
      <p:sp>
        <p:nvSpPr>
          <p:cNvPr id="3" name="footer"/>
          <p:cNvSpPr txBox="1"/>
          <p:nvPr/>
        </p:nvSpPr>
        <p:spPr>
          <a:xfrm>
            <a:off x="548640" y="6455664"/>
            <a:ext cx="8686800" cy="274320"/>
          </a:xfrm>
          <a:prstGeom prst="rect">
            <a:avLst/>
          </a:prstGeom>
          <a:noFill/>
        </p:spPr>
        <p:txBody>
          <a:bodyPr wrap="square" lIns="45720" rIns="45720" tIns="27432" bIns="27432" anchor="t">
            <a:spAutoFit/>
          </a:bodyPr>
          <a:lstStyle/>
          <a:p>
            <a:pPr algn="l">
              <a:spcAft>
                <a:spcPts val="600"/>
              </a:spcAft>
            </a:pPr>
            <a:r>
              <a:rPr sz="1000" b="0" i="0">
                <a:solidFill>
                  <a:srgbClr val="595959"/>
                </a:solidFill>
              </a:rPr>
              <a:t>NoSQL Databases for Bioinformatics  ·  Lecture 27  ·  Neo4j genome workshop</a:t>
            </a:r>
          </a:p>
        </p:txBody>
      </p:sp>
      <p:sp>
        <p:nvSpPr>
          <p:cNvPr id="4" name="slide number"/>
          <p:cNvSpPr txBox="1"/>
          <p:nvPr/>
        </p:nvSpPr>
        <p:spPr>
          <a:xfrm>
            <a:off x="10698480" y="6455664"/>
            <a:ext cx="914400" cy="274320"/>
          </a:xfrm>
          <a:prstGeom prst="rect">
            <a:avLst/>
          </a:prstGeom>
          <a:noFill/>
        </p:spPr>
        <p:txBody>
          <a:bodyPr wrap="square" lIns="45720" rIns="45720" tIns="27432" bIns="27432" anchor="t">
            <a:spAutoFit/>
          </a:bodyPr>
          <a:lstStyle/>
          <a:p>
            <a:pPr algn="r">
              <a:spcAft>
                <a:spcPts val="600"/>
              </a:spcAft>
            </a:pPr>
            <a:fld id="{B6F15528-21DE-4FAA-801E-634DDDAF4B2B}" type="slidenum">
              <a:rPr lang="en-US" sz="1000">
                <a:solidFill>
                  <a:srgbClr val="595959"/>
                </a:solidFill>
              </a:rPr>
              <a:t>‹#›</a:t>
            </a:fld>
          </a:p>
        </p:txBody>
      </p:sp>
      <p:sp>
        <p:nvSpPr>
          <p:cNvPr id="5" name="step tag"/>
          <p:cNvSpPr/>
          <p:nvPr/>
        </p:nvSpPr>
        <p:spPr>
          <a:xfrm>
            <a:off x="10195560" y="411480"/>
            <a:ext cx="1417320" cy="329184"/>
          </a:xfrm>
          <a:prstGeom prst="roundRect">
            <a:avLst>
              <a:gd name="adj" fmla="val 5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MODEL</a:t>
            </a:r>
          </a:p>
        </p:txBody>
      </p:sp>
      <p:sp>
        <p:nvSpPr>
          <p:cNvPr id="6" name="card bg"/>
          <p:cNvSpPr/>
          <p:nvPr/>
        </p:nvSpPr>
        <p:spPr>
          <a:xfrm>
            <a:off x="548640" y="1371600"/>
            <a:ext cx="3520440" cy="3840480"/>
          </a:xfrm>
          <a:prstGeom prst="roundRect">
            <a:avLst>
              <a:gd name="adj" fmla="val 1558"/>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card title"/>
          <p:cNvSpPr txBox="1"/>
          <p:nvPr/>
        </p:nvSpPr>
        <p:spPr>
          <a:xfrm>
            <a:off x="658368" y="1444752"/>
            <a:ext cx="3300984" cy="411480"/>
          </a:xfrm>
          <a:prstGeom prst="rect">
            <a:avLst/>
          </a:prstGeom>
          <a:noFill/>
        </p:spPr>
        <p:txBody>
          <a:bodyPr wrap="square" lIns="45720" rIns="45720" tIns="27432" bIns="27432" anchor="t">
            <a:spAutoFit/>
          </a:bodyPr>
          <a:lstStyle/>
          <a:p>
            <a:pPr algn="l">
              <a:spcAft>
                <a:spcPts val="600"/>
              </a:spcAft>
            </a:pPr>
            <a:r>
              <a:rPr sz="1700" b="1" i="0">
                <a:solidFill>
                  <a:srgbClr val="156082"/>
                </a:solidFill>
              </a:rPr>
              <a:t>Genome</a:t>
            </a:r>
          </a:p>
        </p:txBody>
      </p:sp>
      <p:sp>
        <p:nvSpPr>
          <p:cNvPr id="8" name="card body"/>
          <p:cNvSpPr txBox="1"/>
          <p:nvPr/>
        </p:nvSpPr>
        <p:spPr>
          <a:xfrm>
            <a:off x="658368" y="1828800"/>
            <a:ext cx="3300984" cy="3291840"/>
          </a:xfrm>
          <a:prstGeom prst="rect">
            <a:avLst/>
          </a:prstGeom>
          <a:noFill/>
        </p:spPr>
        <p:txBody>
          <a:bodyPr wrap="square" lIns="45720" rIns="45720" tIns="27432" bIns="27432" anchor="t">
            <a:spAutoFit/>
          </a:bodyPr>
          <a:lstStyle/>
          <a:p>
            <a:pPr algn="l" marL="256032" indent="-256032">
              <a:spcAft>
                <a:spcPts val="800"/>
              </a:spcAft>
              <a:buFont typeface="Arial"/>
              <a:buChar char="•"/>
            </a:pPr>
            <a:r>
              <a:rPr sz="1500" b="0" i="0">
                <a:solidFill>
                  <a:srgbClr val="0E2841"/>
                </a:solidFill>
              </a:rPr>
              <a:t>The complete DNA of an organism</a:t>
            </a:r>
          </a:p>
          <a:p>
            <a:pPr algn="l" marL="256032" indent="-256032">
              <a:spcAft>
                <a:spcPts val="800"/>
              </a:spcAft>
              <a:buFont typeface="Arial"/>
              <a:buChar char="•"/>
            </a:pPr>
            <a:r>
              <a:rPr sz="1500" b="0" i="0">
                <a:solidFill>
                  <a:srgbClr val="0E2841"/>
                </a:solidFill>
              </a:rPr>
              <a:t>Predicted </a:t>
            </a:r>
            <a:r>
              <a:rPr sz="1500" b="1" i="0">
                <a:solidFill>
                  <a:srgbClr val="0E2841"/>
                </a:solidFill>
              </a:rPr>
              <a:t>genes</a:t>
            </a:r>
            <a:r>
              <a:rPr sz="1500" b="0" i="0">
                <a:solidFill>
                  <a:srgbClr val="0E2841"/>
                </a:solidFill>
              </a:rPr>
              <a:t> → proteins → </a:t>
            </a:r>
            <a:r>
              <a:rPr sz="1500" b="0" i="1">
                <a:solidFill>
                  <a:srgbClr val="0E2841"/>
                </a:solidFill>
              </a:rPr>
              <a:t>what does it do?</a:t>
            </a:r>
          </a:p>
          <a:p>
            <a:pPr algn="l" marL="256032" indent="-256032">
              <a:spcAft>
                <a:spcPts val="800"/>
              </a:spcAft>
              <a:buFont typeface="Arial"/>
              <a:buChar char="•"/>
            </a:pPr>
            <a:r>
              <a:rPr sz="1500" b="1" i="0">
                <a:solidFill>
                  <a:srgbClr val="0E2841"/>
                </a:solidFill>
              </a:rPr>
              <a:t>Our data:</a:t>
            </a:r>
            <a:r>
              <a:rPr sz="1500" b="0" i="0">
                <a:solidFill>
                  <a:srgbClr val="0E2841"/>
                </a:solidFill>
              </a:rPr>
              <a:t> 65 reference genomes (58 bacteria, 7 archaea): model organisms, pathogens, endosymbionts, cyanobacteria</a:t>
            </a:r>
          </a:p>
        </p:txBody>
      </p:sp>
      <p:sp>
        <p:nvSpPr>
          <p:cNvPr id="9" name="card bg"/>
          <p:cNvSpPr/>
          <p:nvPr/>
        </p:nvSpPr>
        <p:spPr>
          <a:xfrm>
            <a:off x="4343400" y="1371600"/>
            <a:ext cx="3520440" cy="3840480"/>
          </a:xfrm>
          <a:prstGeom prst="roundRect">
            <a:avLst>
              <a:gd name="adj" fmla="val 1558"/>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card title"/>
          <p:cNvSpPr txBox="1"/>
          <p:nvPr/>
        </p:nvSpPr>
        <p:spPr>
          <a:xfrm>
            <a:off x="4453128" y="1444752"/>
            <a:ext cx="3300984" cy="411480"/>
          </a:xfrm>
          <a:prstGeom prst="rect">
            <a:avLst/>
          </a:prstGeom>
          <a:noFill/>
        </p:spPr>
        <p:txBody>
          <a:bodyPr wrap="square" lIns="45720" rIns="45720" tIns="27432" bIns="27432" anchor="t">
            <a:spAutoFit/>
          </a:bodyPr>
          <a:lstStyle/>
          <a:p>
            <a:pPr algn="l">
              <a:spcAft>
                <a:spcPts val="600"/>
              </a:spcAft>
            </a:pPr>
            <a:r>
              <a:rPr sz="1700" b="1" i="0">
                <a:solidFill>
                  <a:srgbClr val="E97132"/>
                </a:solidFill>
              </a:rPr>
              <a:t>KO = KEGG Orthology</a:t>
            </a:r>
          </a:p>
        </p:txBody>
      </p:sp>
      <p:sp>
        <p:nvSpPr>
          <p:cNvPr id="11" name="card body"/>
          <p:cNvSpPr txBox="1"/>
          <p:nvPr/>
        </p:nvSpPr>
        <p:spPr>
          <a:xfrm>
            <a:off x="4453128" y="1828800"/>
            <a:ext cx="3300984" cy="3291840"/>
          </a:xfrm>
          <a:prstGeom prst="rect">
            <a:avLst/>
          </a:prstGeom>
          <a:noFill/>
        </p:spPr>
        <p:txBody>
          <a:bodyPr wrap="square" lIns="45720" rIns="45720" tIns="27432" bIns="27432" anchor="t">
            <a:spAutoFit/>
          </a:bodyPr>
          <a:lstStyle/>
          <a:p>
            <a:pPr algn="l" marL="256032" indent="-256032">
              <a:spcAft>
                <a:spcPts val="800"/>
              </a:spcAft>
              <a:buFont typeface="Arial"/>
              <a:buChar char="•"/>
            </a:pPr>
            <a:r>
              <a:rPr sz="1500" b="0" i="0">
                <a:solidFill>
                  <a:srgbClr val="0E2841"/>
                </a:solidFill>
              </a:rPr>
              <a:t>A catalogue of gene </a:t>
            </a:r>
            <a:r>
              <a:rPr sz="1500" b="1" i="0">
                <a:solidFill>
                  <a:srgbClr val="0E2841"/>
                </a:solidFill>
              </a:rPr>
              <a:t>functions</a:t>
            </a:r>
            <a:r>
              <a:rPr sz="1500" b="0" i="0">
                <a:solidFill>
                  <a:srgbClr val="0E2841"/>
                </a:solidFill>
              </a:rPr>
              <a:t>, like part numbers</a:t>
            </a:r>
          </a:p>
          <a:p>
            <a:pPr algn="l" marL="256032" indent="-256032">
              <a:spcAft>
                <a:spcPts val="800"/>
              </a:spcAft>
              <a:buFont typeface="Arial"/>
              <a:buChar char="•"/>
            </a:pPr>
            <a:r>
              <a:rPr sz="1500" b="0" i="0">
                <a:solidFill>
                  <a:srgbClr val="156082"/>
                </a:solidFill>
                <a:latin typeface="Courier New"/>
              </a:rPr>
              <a:t>K04077</a:t>
            </a:r>
            <a:r>
              <a:rPr sz="1500" b="0" i="0">
                <a:solidFill>
                  <a:srgbClr val="0E2841"/>
                </a:solidFill>
              </a:rPr>
              <a:t> chaperonin GroEL</a:t>
            </a:r>
          </a:p>
          <a:p>
            <a:pPr algn="l" marL="256032" indent="-256032">
              <a:spcAft>
                <a:spcPts val="800"/>
              </a:spcAft>
              <a:buFont typeface="Arial"/>
              <a:buChar char="•"/>
            </a:pPr>
            <a:r>
              <a:rPr sz="1500" b="0" i="0">
                <a:solidFill>
                  <a:srgbClr val="156082"/>
                </a:solidFill>
                <a:latin typeface="Courier New"/>
              </a:rPr>
              <a:t>K02703</a:t>
            </a:r>
            <a:r>
              <a:rPr sz="1500" b="0" i="0">
                <a:solidFill>
                  <a:srgbClr val="0E2841"/>
                </a:solidFill>
              </a:rPr>
              <a:t> photosystem II D1 (psbA)</a:t>
            </a:r>
          </a:p>
          <a:p>
            <a:pPr algn="l" marL="256032" indent="-256032">
              <a:spcAft>
                <a:spcPts val="800"/>
              </a:spcAft>
              <a:buFont typeface="Arial"/>
              <a:buChar char="•"/>
            </a:pPr>
            <a:r>
              <a:rPr sz="1500" b="0" i="0">
                <a:solidFill>
                  <a:srgbClr val="0E2841"/>
                </a:solidFill>
              </a:rPr>
              <a:t>A genome = the </a:t>
            </a:r>
            <a:r>
              <a:rPr sz="1500" b="1" i="0">
                <a:solidFill>
                  <a:srgbClr val="0E2841"/>
                </a:solidFill>
              </a:rPr>
              <a:t>set of KOs</a:t>
            </a:r>
            <a:r>
              <a:rPr sz="1500" b="0" i="0">
                <a:solidFill>
                  <a:srgbClr val="0E2841"/>
                </a:solidFill>
              </a:rPr>
              <a:t> it carries: a </a:t>
            </a:r>
            <a:r>
              <a:rPr sz="1500" b="0" i="1">
                <a:solidFill>
                  <a:srgbClr val="0E2841"/>
                </a:solidFill>
              </a:rPr>
              <a:t>functional fingerprint</a:t>
            </a:r>
            <a:r>
              <a:rPr sz="1500" b="0" i="0">
                <a:solidFill>
                  <a:srgbClr val="0E2841"/>
                </a:solidFill>
              </a:rPr>
              <a:t> (E. coli: 3,047 KOs)</a:t>
            </a:r>
          </a:p>
        </p:txBody>
      </p:sp>
      <p:sp>
        <p:nvSpPr>
          <p:cNvPr id="12" name="card bg"/>
          <p:cNvSpPr/>
          <p:nvPr/>
        </p:nvSpPr>
        <p:spPr>
          <a:xfrm>
            <a:off x="8138160" y="1371600"/>
            <a:ext cx="3474720" cy="3840480"/>
          </a:xfrm>
          <a:prstGeom prst="roundRect">
            <a:avLst>
              <a:gd name="adj" fmla="val 1578"/>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card title"/>
          <p:cNvSpPr txBox="1"/>
          <p:nvPr/>
        </p:nvSpPr>
        <p:spPr>
          <a:xfrm>
            <a:off x="8247888" y="1444752"/>
            <a:ext cx="3255263" cy="411480"/>
          </a:xfrm>
          <a:prstGeom prst="rect">
            <a:avLst/>
          </a:prstGeom>
          <a:noFill/>
        </p:spPr>
        <p:txBody>
          <a:bodyPr wrap="square" lIns="45720" rIns="45720" tIns="27432" bIns="27432" anchor="t">
            <a:spAutoFit/>
          </a:bodyPr>
          <a:lstStyle/>
          <a:p>
            <a:pPr algn="l">
              <a:spcAft>
                <a:spcPts val="600"/>
              </a:spcAft>
            </a:pPr>
            <a:r>
              <a:rPr sz="1700" b="1" i="0">
                <a:solidFill>
                  <a:srgbClr val="2E8B3E"/>
                </a:solidFill>
              </a:rPr>
              <a:t>The tree of life</a:t>
            </a:r>
          </a:p>
        </p:txBody>
      </p:sp>
      <p:sp>
        <p:nvSpPr>
          <p:cNvPr id="14" name="card body"/>
          <p:cNvSpPr txBox="1"/>
          <p:nvPr/>
        </p:nvSpPr>
        <p:spPr>
          <a:xfrm>
            <a:off x="8247888" y="1828800"/>
            <a:ext cx="3255263" cy="3291840"/>
          </a:xfrm>
          <a:prstGeom prst="rect">
            <a:avLst/>
          </a:prstGeom>
          <a:noFill/>
        </p:spPr>
        <p:txBody>
          <a:bodyPr wrap="square" lIns="45720" rIns="45720" tIns="27432" bIns="27432" anchor="t">
            <a:spAutoFit/>
          </a:bodyPr>
          <a:lstStyle/>
          <a:p>
            <a:pPr algn="l" marL="256032" indent="-256032">
              <a:spcAft>
                <a:spcPts val="800"/>
              </a:spcAft>
              <a:buFont typeface="Arial"/>
              <a:buChar char="•"/>
            </a:pPr>
            <a:r>
              <a:rPr sz="1500" b="0" i="0">
                <a:solidFill>
                  <a:srgbClr val="0E2841"/>
                </a:solidFill>
              </a:rPr>
              <a:t>Relatives share recent ancestors → share genes</a:t>
            </a:r>
          </a:p>
          <a:p>
            <a:pPr algn="l" marL="256032" indent="-256032">
              <a:spcAft>
                <a:spcPts val="800"/>
              </a:spcAft>
              <a:buFont typeface="Arial"/>
              <a:buChar char="•"/>
            </a:pPr>
            <a:r>
              <a:rPr sz="1500" b="0" i="0">
                <a:solidFill>
                  <a:srgbClr val="0E2841"/>
                </a:solidFill>
              </a:rPr>
              <a:t>NCBI taxonomy:
domain › phylum › class › order › family › genus › species</a:t>
            </a:r>
          </a:p>
          <a:p>
            <a:pPr algn="l" marL="256032" indent="-256032">
              <a:spcAft>
                <a:spcPts val="800"/>
              </a:spcAft>
              <a:buFont typeface="Arial"/>
              <a:buChar char="•"/>
            </a:pPr>
            <a:r>
              <a:rPr sz="1500" b="0" i="0">
                <a:solidFill>
                  <a:srgbClr val="0E2841"/>
                </a:solidFill>
              </a:rPr>
              <a:t>⚠ taxonomy ≈ phylogeny, not identical</a:t>
            </a:r>
          </a:p>
        </p:txBody>
      </p:sp>
      <p:sp>
        <p:nvSpPr>
          <p:cNvPr id="15" name="banner"/>
          <p:cNvSpPr/>
          <p:nvPr/>
        </p:nvSpPr>
        <p:spPr>
          <a:xfrm>
            <a:off x="548640" y="5440680"/>
            <a:ext cx="11064240" cy="777240"/>
          </a:xfrm>
          <a:prstGeom prst="roundRect">
            <a:avLst>
              <a:gd name="adj" fmla="val 7058"/>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banner text"/>
          <p:cNvSpPr txBox="1"/>
          <p:nvPr/>
        </p:nvSpPr>
        <p:spPr>
          <a:xfrm>
            <a:off x="731520" y="5486400"/>
            <a:ext cx="10698480" cy="685800"/>
          </a:xfrm>
          <a:prstGeom prst="rect">
            <a:avLst/>
          </a:prstGeom>
          <a:noFill/>
        </p:spPr>
        <p:txBody>
          <a:bodyPr wrap="square" lIns="45720" rIns="45720" tIns="27432" bIns="27432" anchor="ctr">
            <a:spAutoFit/>
          </a:bodyPr>
          <a:lstStyle/>
          <a:p>
            <a:pPr algn="l">
              <a:spcAft>
                <a:spcPts val="600"/>
              </a:spcAft>
            </a:pPr>
            <a:r>
              <a:rPr sz="1900" b="0" i="0">
                <a:solidFill>
                  <a:srgbClr val="FFFFFF"/>
                </a:solidFill>
              </a:rPr>
              <a:t>Raw material: </a:t>
            </a:r>
            <a:r>
              <a:rPr sz="1900" b="1" i="0">
                <a:solidFill>
                  <a:srgbClr val="FFFFFF"/>
                </a:solidFill>
              </a:rPr>
              <a:t>90,445</a:t>
            </a:r>
            <a:r>
              <a:rPr sz="1900" b="0" i="0">
                <a:solidFill>
                  <a:srgbClr val="FFFFFF"/>
                </a:solidFill>
              </a:rPr>
              <a:t> (genome, KO) pairs  +  a taxonomy tree  +  KEGG pathways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9509760" cy="777240"/>
          </a:xfrm>
        </p:spPr>
        <p:txBody>
          <a:bodyPr wrap="square" anchor="ctr"/>
          <a:lstStyle/>
          <a:p>
            <a:pPr algn="l"/>
            <a:r>
              <a:rPr sz="3000" b="1" i="0">
                <a:solidFill>
                  <a:srgbClr val="0E2841"/>
                </a:solidFill>
              </a:rPr>
              <a:t>Two questions we will answer</a:t>
            </a:r>
          </a:p>
        </p:txBody>
      </p:sp>
      <p:sp>
        <p:nvSpPr>
          <p:cNvPr id="3" name="footer"/>
          <p:cNvSpPr txBox="1"/>
          <p:nvPr/>
        </p:nvSpPr>
        <p:spPr>
          <a:xfrm>
            <a:off x="548640" y="6455664"/>
            <a:ext cx="8686800" cy="274320"/>
          </a:xfrm>
          <a:prstGeom prst="rect">
            <a:avLst/>
          </a:prstGeom>
          <a:noFill/>
        </p:spPr>
        <p:txBody>
          <a:bodyPr wrap="square" lIns="45720" rIns="45720" tIns="27432" bIns="27432" anchor="t">
            <a:spAutoFit/>
          </a:bodyPr>
          <a:lstStyle/>
          <a:p>
            <a:pPr algn="l">
              <a:spcAft>
                <a:spcPts val="600"/>
              </a:spcAft>
            </a:pPr>
            <a:r>
              <a:rPr sz="1000" b="0" i="0">
                <a:solidFill>
                  <a:srgbClr val="595959"/>
                </a:solidFill>
              </a:rPr>
              <a:t>NoSQL Databases for Bioinformatics  ·  Lecture 27  ·  Neo4j genome workshop</a:t>
            </a:r>
          </a:p>
        </p:txBody>
      </p:sp>
      <p:sp>
        <p:nvSpPr>
          <p:cNvPr id="4" name="slide number"/>
          <p:cNvSpPr txBox="1"/>
          <p:nvPr/>
        </p:nvSpPr>
        <p:spPr>
          <a:xfrm>
            <a:off x="10698480" y="6455664"/>
            <a:ext cx="914400" cy="274320"/>
          </a:xfrm>
          <a:prstGeom prst="rect">
            <a:avLst/>
          </a:prstGeom>
          <a:noFill/>
        </p:spPr>
        <p:txBody>
          <a:bodyPr wrap="square" lIns="45720" rIns="45720" tIns="27432" bIns="27432" anchor="t">
            <a:spAutoFit/>
          </a:bodyPr>
          <a:lstStyle/>
          <a:p>
            <a:pPr algn="r">
              <a:spcAft>
                <a:spcPts val="600"/>
              </a:spcAft>
            </a:pPr>
            <a:fld id="{B6F15528-21DE-4FAA-801E-634DDDAF4B2B}" type="slidenum">
              <a:rPr lang="en-US" sz="1000">
                <a:solidFill>
                  <a:srgbClr val="595959"/>
                </a:solidFill>
              </a:rPr>
              <a:t>‹#›</a:t>
            </a:fld>
          </a:p>
        </p:txBody>
      </p:sp>
      <p:sp>
        <p:nvSpPr>
          <p:cNvPr id="5" name="step tag"/>
          <p:cNvSpPr/>
          <p:nvPr/>
        </p:nvSpPr>
        <p:spPr>
          <a:xfrm>
            <a:off x="10195560" y="411480"/>
            <a:ext cx="1417320" cy="329184"/>
          </a:xfrm>
          <a:prstGeom prst="roundRect">
            <a:avLst>
              <a:gd name="adj" fmla="val 5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MODEL</a:t>
            </a:r>
          </a:p>
        </p:txBody>
      </p:sp>
      <p:sp>
        <p:nvSpPr>
          <p:cNvPr id="6" name="Q1 card"/>
          <p:cNvSpPr/>
          <p:nvPr/>
        </p:nvSpPr>
        <p:spPr>
          <a:xfrm>
            <a:off x="548640" y="1371600"/>
            <a:ext cx="5440680" cy="4846320"/>
          </a:xfrm>
          <a:prstGeom prst="roundRect">
            <a:avLst>
              <a:gd name="adj" fmla="val 1132"/>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Q1 tag"/>
          <p:cNvSpPr/>
          <p:nvPr/>
        </p:nvSpPr>
        <p:spPr>
          <a:xfrm>
            <a:off x="731520" y="1508760"/>
            <a:ext cx="640080" cy="457200"/>
          </a:xfrm>
          <a:prstGeom prst="roundRect">
            <a:avLst>
              <a:gd name="adj" fmla="val 16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800" b="1" i="0">
                <a:solidFill>
                  <a:srgbClr val="FFFFFF"/>
                </a:solidFill>
              </a:rPr>
              <a:t>Q1</a:t>
            </a:r>
          </a:p>
        </p:txBody>
      </p:sp>
      <p:sp>
        <p:nvSpPr>
          <p:cNvPr id="8" name="Q1 title"/>
          <p:cNvSpPr txBox="1"/>
          <p:nvPr/>
        </p:nvSpPr>
        <p:spPr>
          <a:xfrm>
            <a:off x="1463040" y="1481328"/>
            <a:ext cx="4389120" cy="548640"/>
          </a:xfrm>
          <a:prstGeom prst="rect">
            <a:avLst/>
          </a:prstGeom>
          <a:noFill/>
        </p:spPr>
        <p:txBody>
          <a:bodyPr wrap="square" lIns="45720" rIns="45720" tIns="27432" bIns="27432" anchor="ctr">
            <a:spAutoFit/>
          </a:bodyPr>
          <a:lstStyle/>
          <a:p>
            <a:pPr algn="l">
              <a:spcAft>
                <a:spcPts val="600"/>
              </a:spcAft>
            </a:pPr>
            <a:r>
              <a:rPr sz="2000" b="1" i="0">
                <a:solidFill>
                  <a:srgbClr val="0E2841"/>
                </a:solidFill>
              </a:rPr>
              <a:t>Which genomes are similar?</a:t>
            </a:r>
          </a:p>
        </p:txBody>
      </p:sp>
      <p:sp>
        <p:nvSpPr>
          <p:cNvPr id="9" name="Q1 sub"/>
          <p:cNvSpPr txBox="1"/>
          <p:nvPr/>
        </p:nvSpPr>
        <p:spPr>
          <a:xfrm>
            <a:off x="731520" y="5440680"/>
            <a:ext cx="5074920" cy="640080"/>
          </a:xfrm>
          <a:prstGeom prst="rect">
            <a:avLst/>
          </a:prstGeom>
          <a:noFill/>
        </p:spPr>
        <p:txBody>
          <a:bodyPr wrap="square" lIns="45720" rIns="45720" tIns="27432" bIns="27432" anchor="ctr">
            <a:spAutoFit/>
          </a:bodyPr>
          <a:lstStyle/>
          <a:p>
            <a:pPr algn="l">
              <a:spcAft>
                <a:spcPts val="600"/>
              </a:spcAft>
            </a:pPr>
            <a:r>
              <a:rPr sz="1600" b="0" i="0">
                <a:solidFill>
                  <a:srgbClr val="595959"/>
                </a:solidFill>
              </a:rPr>
              <a:t>Similar = many shared KOs:  Genome → KO ← Genome</a:t>
            </a:r>
          </a:p>
        </p:txBody>
      </p:sp>
      <p:sp>
        <p:nvSpPr>
          <p:cNvPr id="10" name="Q2 card"/>
          <p:cNvSpPr/>
          <p:nvPr/>
        </p:nvSpPr>
        <p:spPr>
          <a:xfrm>
            <a:off x="6172200" y="1371600"/>
            <a:ext cx="5440680" cy="4846320"/>
          </a:xfrm>
          <a:prstGeom prst="roundRect">
            <a:avLst>
              <a:gd name="adj" fmla="val 1132"/>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Q2 tag"/>
          <p:cNvSpPr/>
          <p:nvPr/>
        </p:nvSpPr>
        <p:spPr>
          <a:xfrm>
            <a:off x="6355080" y="1508760"/>
            <a:ext cx="640080" cy="457200"/>
          </a:xfrm>
          <a:prstGeom prst="roundRect">
            <a:avLst>
              <a:gd name="adj" fmla="val 16000"/>
            </a:avLst>
          </a:prstGeom>
          <a:solidFill>
            <a:srgbClr val="2E8B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800" b="1" i="0">
                <a:solidFill>
                  <a:srgbClr val="FFFFFF"/>
                </a:solidFill>
              </a:rPr>
              <a:t>Q2</a:t>
            </a:r>
          </a:p>
        </p:txBody>
      </p:sp>
      <p:sp>
        <p:nvSpPr>
          <p:cNvPr id="12" name="Q2 title"/>
          <p:cNvSpPr txBox="1"/>
          <p:nvPr/>
        </p:nvSpPr>
        <p:spPr>
          <a:xfrm>
            <a:off x="7086600" y="1481328"/>
            <a:ext cx="4389120" cy="548640"/>
          </a:xfrm>
          <a:prstGeom prst="rect">
            <a:avLst/>
          </a:prstGeom>
          <a:noFill/>
        </p:spPr>
        <p:txBody>
          <a:bodyPr wrap="square" lIns="45720" rIns="45720" tIns="27432" bIns="27432" anchor="ctr">
            <a:spAutoFit/>
          </a:bodyPr>
          <a:lstStyle/>
          <a:p>
            <a:pPr algn="l">
              <a:spcAft>
                <a:spcPts val="600"/>
              </a:spcAft>
            </a:pPr>
            <a:r>
              <a:rPr sz="2000" b="1" i="0">
                <a:solidFill>
                  <a:srgbClr val="0E2841"/>
                </a:solidFill>
              </a:rPr>
              <a:t>Where are the KOs on the tree?</a:t>
            </a:r>
          </a:p>
        </p:txBody>
      </p:sp>
      <p:sp>
        <p:nvSpPr>
          <p:cNvPr id="13" name="Q2 sub"/>
          <p:cNvSpPr txBox="1"/>
          <p:nvPr/>
        </p:nvSpPr>
        <p:spPr>
          <a:xfrm>
            <a:off x="6355080" y="5440680"/>
            <a:ext cx="5074920" cy="640080"/>
          </a:xfrm>
          <a:prstGeom prst="rect">
            <a:avLst/>
          </a:prstGeom>
          <a:noFill/>
        </p:spPr>
        <p:txBody>
          <a:bodyPr wrap="square" lIns="45720" rIns="45720" tIns="27432" bIns="27432" anchor="ctr">
            <a:spAutoFit/>
          </a:bodyPr>
          <a:lstStyle/>
          <a:p>
            <a:pPr algn="l">
              <a:spcAft>
                <a:spcPts val="600"/>
              </a:spcAft>
            </a:pPr>
            <a:r>
              <a:rPr sz="1600" b="0" i="0">
                <a:solidFill>
                  <a:srgbClr val="595959"/>
                </a:solidFill>
              </a:rPr>
              <a:t>Walk up the tree from the genomes that carry a KO</a:t>
            </a:r>
          </a:p>
        </p:txBody>
      </p:sp>
      <p:sp>
        <p:nvSpPr>
          <p:cNvPr id="14" name="node Genome A"/>
          <p:cNvSpPr/>
          <p:nvPr/>
        </p:nvSpPr>
        <p:spPr>
          <a:xfrm>
            <a:off x="1097280" y="2926079"/>
            <a:ext cx="1371600" cy="64008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i="0">
                <a:solidFill>
                  <a:srgbClr val="FFFFFF"/>
                </a:solidFill>
              </a:rPr>
              <a:t>Genome A</a:t>
            </a:r>
          </a:p>
        </p:txBody>
      </p:sp>
      <p:sp>
        <p:nvSpPr>
          <p:cNvPr id="15" name="node Genome B"/>
          <p:cNvSpPr/>
          <p:nvPr/>
        </p:nvSpPr>
        <p:spPr>
          <a:xfrm>
            <a:off x="4206240" y="2926079"/>
            <a:ext cx="1371600" cy="64008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i="0">
                <a:solidFill>
                  <a:srgbClr val="FFFFFF"/>
                </a:solidFill>
              </a:rPr>
              <a:t>Genome B</a:t>
            </a:r>
          </a:p>
        </p:txBody>
      </p:sp>
      <p:sp>
        <p:nvSpPr>
          <p:cNvPr id="16" name="node KO 1"/>
          <p:cNvSpPr/>
          <p:nvPr/>
        </p:nvSpPr>
        <p:spPr>
          <a:xfrm>
            <a:off x="2834639" y="2194560"/>
            <a:ext cx="1005840" cy="457200"/>
          </a:xfrm>
          <a:prstGeom prst="roundRect">
            <a:avLst>
              <a:gd name="adj" fmla="val 24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FFFFFF"/>
                </a:solidFill>
              </a:rPr>
              <a:t>KO 1</a:t>
            </a:r>
          </a:p>
        </p:txBody>
      </p:sp>
      <p:sp>
        <p:nvSpPr>
          <p:cNvPr id="17" name="node KO 2"/>
          <p:cNvSpPr/>
          <p:nvPr/>
        </p:nvSpPr>
        <p:spPr>
          <a:xfrm>
            <a:off x="2834639" y="3017520"/>
            <a:ext cx="1005840" cy="457200"/>
          </a:xfrm>
          <a:prstGeom prst="roundRect">
            <a:avLst>
              <a:gd name="adj" fmla="val 24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FFFFFF"/>
                </a:solidFill>
              </a:rPr>
              <a:t>KO 2</a:t>
            </a:r>
          </a:p>
        </p:txBody>
      </p:sp>
      <p:sp>
        <p:nvSpPr>
          <p:cNvPr id="18" name="node KO 3"/>
          <p:cNvSpPr/>
          <p:nvPr/>
        </p:nvSpPr>
        <p:spPr>
          <a:xfrm>
            <a:off x="2834639" y="3931920"/>
            <a:ext cx="1005840" cy="457200"/>
          </a:xfrm>
          <a:prstGeom prst="roundRect">
            <a:avLst>
              <a:gd name="adj" fmla="val 24000"/>
            </a:avLst>
          </a:prstGeom>
          <a:solidFill>
            <a:srgbClr val="BDBD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0E2841"/>
                </a:solidFill>
              </a:rPr>
              <a:t>KO 3</a:t>
            </a:r>
          </a:p>
        </p:txBody>
      </p:sp>
      <p:cxnSp>
        <p:nvCxnSpPr>
          <p:cNvPr id="19" name="edge"/>
          <p:cNvCxnSpPr/>
          <p:nvPr/>
        </p:nvCxnSpPr>
        <p:spPr>
          <a:xfrm flipV="1">
            <a:off x="2236567" y="2651760"/>
            <a:ext cx="669193" cy="354278"/>
          </a:xfrm>
          <a:prstGeom prst="line">
            <a:avLst/>
          </a:prstGeom>
          <a:ln w="25400">
            <a:solidFill>
              <a:srgbClr val="595959"/>
            </a:solidFill>
            <a:tailEnd type="triangle"/>
          </a:ln>
        </p:spPr>
        <p:style>
          <a:lnRef idx="2">
            <a:schemeClr val="accent1"/>
          </a:lnRef>
          <a:fillRef idx="0">
            <a:schemeClr val="accent1"/>
          </a:fillRef>
          <a:effectRef idx="1">
            <a:schemeClr val="accent1"/>
          </a:effectRef>
          <a:fontRef idx="minor">
            <a:schemeClr val="tx1"/>
          </a:fontRef>
        </p:style>
      </p:cxnSp>
      <p:cxnSp>
        <p:nvCxnSpPr>
          <p:cNvPr id="20" name="edge"/>
          <p:cNvCxnSpPr/>
          <p:nvPr/>
        </p:nvCxnSpPr>
        <p:spPr>
          <a:xfrm flipH="1" flipV="1">
            <a:off x="3769359" y="2651760"/>
            <a:ext cx="669193" cy="354278"/>
          </a:xfrm>
          <a:prstGeom prst="line">
            <a:avLst/>
          </a:prstGeom>
          <a:ln w="25400">
            <a:solidFill>
              <a:srgbClr val="595959"/>
            </a:solidFill>
            <a:tailEnd type="triangle"/>
          </a:ln>
        </p:spPr>
        <p:style>
          <a:lnRef idx="2">
            <a:schemeClr val="accent1"/>
          </a:lnRef>
          <a:fillRef idx="0">
            <a:schemeClr val="accent1"/>
          </a:fillRef>
          <a:effectRef idx="1">
            <a:schemeClr val="accent1"/>
          </a:effectRef>
          <a:fontRef idx="minor">
            <a:schemeClr val="tx1"/>
          </a:fontRef>
        </p:style>
      </p:cxnSp>
      <p:cxnSp>
        <p:nvCxnSpPr>
          <p:cNvPr id="21" name="edge"/>
          <p:cNvCxnSpPr/>
          <p:nvPr/>
        </p:nvCxnSpPr>
        <p:spPr>
          <a:xfrm>
            <a:off x="2468880" y="3246120"/>
            <a:ext cx="365759" cy="0"/>
          </a:xfrm>
          <a:prstGeom prst="line">
            <a:avLst/>
          </a:prstGeom>
          <a:ln w="25400">
            <a:solidFill>
              <a:srgbClr val="595959"/>
            </a:solidFill>
            <a:tailEnd type="triangle"/>
          </a:ln>
        </p:spPr>
        <p:style>
          <a:lnRef idx="2">
            <a:schemeClr val="accent1"/>
          </a:lnRef>
          <a:fillRef idx="0">
            <a:schemeClr val="accent1"/>
          </a:fillRef>
          <a:effectRef idx="1">
            <a:schemeClr val="accent1"/>
          </a:effectRef>
          <a:fontRef idx="minor">
            <a:schemeClr val="tx1"/>
          </a:fontRef>
        </p:style>
      </p:cxnSp>
      <p:cxnSp>
        <p:nvCxnSpPr>
          <p:cNvPr id="22" name="edge"/>
          <p:cNvCxnSpPr/>
          <p:nvPr/>
        </p:nvCxnSpPr>
        <p:spPr>
          <a:xfrm flipH="1">
            <a:off x="3840480" y="3246120"/>
            <a:ext cx="365760" cy="0"/>
          </a:xfrm>
          <a:prstGeom prst="line">
            <a:avLst/>
          </a:prstGeom>
          <a:ln w="25400">
            <a:solidFill>
              <a:srgbClr val="595959"/>
            </a:solidFill>
            <a:tailEnd type="triangle"/>
          </a:ln>
        </p:spPr>
        <p:style>
          <a:lnRef idx="2">
            <a:schemeClr val="accent1"/>
          </a:lnRef>
          <a:fillRef idx="0">
            <a:schemeClr val="accent1"/>
          </a:fillRef>
          <a:effectRef idx="1">
            <a:schemeClr val="accent1"/>
          </a:effectRef>
          <a:fontRef idx="minor">
            <a:schemeClr val="tx1"/>
          </a:fontRef>
        </p:style>
      </p:cxnSp>
      <p:cxnSp>
        <p:nvCxnSpPr>
          <p:cNvPr id="23" name="edge"/>
          <p:cNvCxnSpPr/>
          <p:nvPr/>
        </p:nvCxnSpPr>
        <p:spPr>
          <a:xfrm>
            <a:off x="2209308" y="3496842"/>
            <a:ext cx="739632" cy="435078"/>
          </a:xfrm>
          <a:prstGeom prst="line">
            <a:avLst/>
          </a:prstGeom>
          <a:ln w="19050">
            <a:solidFill>
              <a:srgbClr val="BDBDBD"/>
            </a:solidFill>
            <a:tailEnd type="triangle"/>
          </a:ln>
        </p:spPr>
        <p:style>
          <a:lnRef idx="2">
            <a:schemeClr val="accent1"/>
          </a:lnRef>
          <a:fillRef idx="0">
            <a:schemeClr val="accent1"/>
          </a:fillRef>
          <a:effectRef idx="1">
            <a:schemeClr val="accent1"/>
          </a:effectRef>
          <a:fontRef idx="minor">
            <a:schemeClr val="tx1"/>
          </a:fontRef>
        </p:style>
      </p:cxnSp>
      <p:sp>
        <p:nvSpPr>
          <p:cNvPr id="24" name="q1 caption"/>
          <p:cNvSpPr txBox="1"/>
          <p:nvPr/>
        </p:nvSpPr>
        <p:spPr>
          <a:xfrm>
            <a:off x="1005840" y="4709160"/>
            <a:ext cx="4937760" cy="640080"/>
          </a:xfrm>
          <a:prstGeom prst="rect">
            <a:avLst/>
          </a:prstGeom>
          <a:noFill/>
        </p:spPr>
        <p:txBody>
          <a:bodyPr wrap="square" lIns="45720" rIns="45720" tIns="27432" bIns="27432" anchor="t">
            <a:spAutoFit/>
          </a:bodyPr>
          <a:lstStyle/>
          <a:p>
            <a:pPr algn="ctr">
              <a:spcAft>
                <a:spcPts val="600"/>
              </a:spcAft>
            </a:pPr>
            <a:r>
              <a:rPr sz="1500" b="1" i="0">
                <a:solidFill>
                  <a:srgbClr val="E97132"/>
                </a:solidFill>
              </a:rPr>
              <a:t>A and B share KO 1 and KO 2</a:t>
            </a:r>
          </a:p>
        </p:txBody>
      </p:sp>
      <p:sp>
        <p:nvSpPr>
          <p:cNvPr id="25" name="node root"/>
          <p:cNvSpPr/>
          <p:nvPr/>
        </p:nvSpPr>
        <p:spPr>
          <a:xfrm>
            <a:off x="8366759" y="1965960"/>
            <a:ext cx="1005840" cy="457200"/>
          </a:xfrm>
          <a:prstGeom prst="ellipse">
            <a:avLst/>
          </a:prstGeom>
          <a:solidFill>
            <a:srgbClr val="2E8B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FFFFFF"/>
                </a:solidFill>
              </a:rPr>
              <a:t>root</a:t>
            </a:r>
          </a:p>
        </p:txBody>
      </p:sp>
      <p:sp>
        <p:nvSpPr>
          <p:cNvPr id="26" name="node clade A"/>
          <p:cNvSpPr/>
          <p:nvPr/>
        </p:nvSpPr>
        <p:spPr>
          <a:xfrm>
            <a:off x="7269480" y="2743200"/>
            <a:ext cx="1097280" cy="457200"/>
          </a:xfrm>
          <a:prstGeom prst="ellipse">
            <a:avLst/>
          </a:prstGeom>
          <a:solidFill>
            <a:srgbClr val="2E8B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FFFFFF"/>
                </a:solidFill>
              </a:rPr>
              <a:t>clade A</a:t>
            </a:r>
          </a:p>
        </p:txBody>
      </p:sp>
      <p:sp>
        <p:nvSpPr>
          <p:cNvPr id="27" name="node clade B"/>
          <p:cNvSpPr/>
          <p:nvPr/>
        </p:nvSpPr>
        <p:spPr>
          <a:xfrm>
            <a:off x="9372600" y="2743200"/>
            <a:ext cx="1097280" cy="457200"/>
          </a:xfrm>
          <a:prstGeom prst="ellipse">
            <a:avLst/>
          </a:prstGeom>
          <a:solidFill>
            <a:srgbClr val="2E8B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FFFFFF"/>
                </a:solidFill>
              </a:rPr>
              <a:t>clade B</a:t>
            </a:r>
          </a:p>
        </p:txBody>
      </p:sp>
      <p:cxnSp>
        <p:nvCxnSpPr>
          <p:cNvPr id="28" name="edge"/>
          <p:cNvCxnSpPr/>
          <p:nvPr/>
        </p:nvCxnSpPr>
        <p:spPr>
          <a:xfrm flipV="1">
            <a:off x="8087541" y="2389284"/>
            <a:ext cx="518687" cy="383378"/>
          </a:xfrm>
          <a:prstGeom prst="line">
            <a:avLst/>
          </a:prstGeom>
          <a:ln w="19050">
            <a:solidFill>
              <a:srgbClr val="595959"/>
            </a:solidFill>
            <a:tailEnd type="triangle"/>
          </a:ln>
        </p:spPr>
        <p:style>
          <a:lnRef idx="2">
            <a:schemeClr val="accent1"/>
          </a:lnRef>
          <a:fillRef idx="0">
            <a:schemeClr val="accent1"/>
          </a:fillRef>
          <a:effectRef idx="1">
            <a:schemeClr val="accent1"/>
          </a:effectRef>
          <a:fontRef idx="minor">
            <a:schemeClr val="tx1"/>
          </a:fontRef>
        </p:style>
      </p:cxnSp>
      <p:cxnSp>
        <p:nvCxnSpPr>
          <p:cNvPr id="29" name="edge"/>
          <p:cNvCxnSpPr/>
          <p:nvPr/>
        </p:nvCxnSpPr>
        <p:spPr>
          <a:xfrm flipH="1" flipV="1">
            <a:off x="9133131" y="2389284"/>
            <a:ext cx="518687" cy="383378"/>
          </a:xfrm>
          <a:prstGeom prst="line">
            <a:avLst/>
          </a:prstGeom>
          <a:ln w="19050">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30" name="node a1"/>
          <p:cNvSpPr/>
          <p:nvPr/>
        </p:nvSpPr>
        <p:spPr>
          <a:xfrm>
            <a:off x="6903720" y="3794760"/>
            <a:ext cx="822960" cy="457200"/>
          </a:xfrm>
          <a:prstGeom prst="roundRect">
            <a:avLst>
              <a:gd name="adj" fmla="val 24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FFFFFF"/>
                </a:solidFill>
              </a:rPr>
              <a:t>a1</a:t>
            </a:r>
          </a:p>
        </p:txBody>
      </p:sp>
      <p:cxnSp>
        <p:nvCxnSpPr>
          <p:cNvPr id="31" name="edge"/>
          <p:cNvCxnSpPr/>
          <p:nvPr/>
        </p:nvCxnSpPr>
        <p:spPr>
          <a:xfrm flipV="1">
            <a:off x="7424530" y="3195991"/>
            <a:ext cx="286367" cy="598769"/>
          </a:xfrm>
          <a:prstGeom prst="line">
            <a:avLst/>
          </a:prstGeom>
          <a:ln w="19050">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32" name="node a2"/>
          <p:cNvSpPr/>
          <p:nvPr/>
        </p:nvSpPr>
        <p:spPr>
          <a:xfrm>
            <a:off x="7909560" y="3794760"/>
            <a:ext cx="822960" cy="457200"/>
          </a:xfrm>
          <a:prstGeom prst="roundRect">
            <a:avLst>
              <a:gd name="adj" fmla="val 24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FFFFFF"/>
                </a:solidFill>
              </a:rPr>
              <a:t>a2</a:t>
            </a:r>
          </a:p>
        </p:txBody>
      </p:sp>
      <p:cxnSp>
        <p:nvCxnSpPr>
          <p:cNvPr id="33" name="edge"/>
          <p:cNvCxnSpPr/>
          <p:nvPr/>
        </p:nvCxnSpPr>
        <p:spPr>
          <a:xfrm flipH="1" flipV="1">
            <a:off x="7925342" y="3195991"/>
            <a:ext cx="286367" cy="598769"/>
          </a:xfrm>
          <a:prstGeom prst="line">
            <a:avLst/>
          </a:prstGeom>
          <a:ln w="19050">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34" name="node b1"/>
          <p:cNvSpPr/>
          <p:nvPr/>
        </p:nvSpPr>
        <p:spPr>
          <a:xfrm>
            <a:off x="9006840" y="3794760"/>
            <a:ext cx="822960" cy="457200"/>
          </a:xfrm>
          <a:prstGeom prst="roundRect">
            <a:avLst>
              <a:gd name="adj" fmla="val 24000"/>
            </a:avLst>
          </a:prstGeom>
          <a:solidFill>
            <a:srgbClr val="BDBD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0E2841"/>
                </a:solidFill>
              </a:rPr>
              <a:t>b1</a:t>
            </a:r>
          </a:p>
        </p:txBody>
      </p:sp>
      <p:cxnSp>
        <p:nvCxnSpPr>
          <p:cNvPr id="35" name="edge"/>
          <p:cNvCxnSpPr/>
          <p:nvPr/>
        </p:nvCxnSpPr>
        <p:spPr>
          <a:xfrm flipV="1">
            <a:off x="9527650" y="3195991"/>
            <a:ext cx="286367" cy="598769"/>
          </a:xfrm>
          <a:prstGeom prst="line">
            <a:avLst/>
          </a:prstGeom>
          <a:ln w="19050">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36" name="node b2"/>
          <p:cNvSpPr/>
          <p:nvPr/>
        </p:nvSpPr>
        <p:spPr>
          <a:xfrm>
            <a:off x="10012680" y="3794760"/>
            <a:ext cx="822960" cy="457200"/>
          </a:xfrm>
          <a:prstGeom prst="roundRect">
            <a:avLst>
              <a:gd name="adj" fmla="val 24000"/>
            </a:avLst>
          </a:prstGeom>
          <a:solidFill>
            <a:srgbClr val="BDBDB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0E2841"/>
                </a:solidFill>
              </a:rPr>
              <a:t>b2</a:t>
            </a:r>
          </a:p>
        </p:txBody>
      </p:sp>
      <p:cxnSp>
        <p:nvCxnSpPr>
          <p:cNvPr id="37" name="edge"/>
          <p:cNvCxnSpPr/>
          <p:nvPr/>
        </p:nvCxnSpPr>
        <p:spPr>
          <a:xfrm flipH="1" flipV="1">
            <a:off x="10028462" y="3195991"/>
            <a:ext cx="286367" cy="598769"/>
          </a:xfrm>
          <a:prstGeom prst="line">
            <a:avLst/>
          </a:prstGeom>
          <a:ln w="19050">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38" name="q2 caption"/>
          <p:cNvSpPr txBox="1"/>
          <p:nvPr/>
        </p:nvSpPr>
        <p:spPr>
          <a:xfrm>
            <a:off x="6858000" y="4434840"/>
            <a:ext cx="4572000" cy="822960"/>
          </a:xfrm>
          <a:prstGeom prst="rect">
            <a:avLst/>
          </a:prstGeom>
          <a:noFill/>
        </p:spPr>
        <p:txBody>
          <a:bodyPr wrap="square" lIns="45720" rIns="45720" tIns="27432" bIns="27432" anchor="t">
            <a:spAutoFit/>
          </a:bodyPr>
          <a:lstStyle/>
          <a:p>
            <a:pPr algn="ctr">
              <a:spcAft>
                <a:spcPts val="600"/>
              </a:spcAft>
            </a:pPr>
            <a:r>
              <a:rPr sz="1500" b="0" i="0">
                <a:solidFill>
                  <a:srgbClr val="E97132"/>
                </a:solidFill>
              </a:rPr>
              <a:t>Genomes a1, a2 carry the KO (orange): they meet in </a:t>
            </a:r>
            <a:r>
              <a:rPr sz="1500" b="1" i="0">
                <a:solidFill>
                  <a:srgbClr val="E97132"/>
                </a:solidFill>
              </a:rPr>
              <a:t>clade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9509760" cy="777240"/>
          </a:xfrm>
        </p:spPr>
        <p:txBody>
          <a:bodyPr wrap="square" anchor="ctr"/>
          <a:lstStyle/>
          <a:p>
            <a:pPr algn="l"/>
            <a:r>
              <a:rPr sz="3000" b="1" i="0">
                <a:solidFill>
                  <a:srgbClr val="0E2841"/>
                </a:solidFill>
              </a:rPr>
              <a:t>The data: seven CSV files, 65 genomes</a:t>
            </a:r>
          </a:p>
        </p:txBody>
      </p:sp>
      <p:sp>
        <p:nvSpPr>
          <p:cNvPr id="3" name="footer"/>
          <p:cNvSpPr txBox="1"/>
          <p:nvPr/>
        </p:nvSpPr>
        <p:spPr>
          <a:xfrm>
            <a:off x="548640" y="6455664"/>
            <a:ext cx="8686800" cy="274320"/>
          </a:xfrm>
          <a:prstGeom prst="rect">
            <a:avLst/>
          </a:prstGeom>
          <a:noFill/>
        </p:spPr>
        <p:txBody>
          <a:bodyPr wrap="square" lIns="45720" rIns="45720" tIns="27432" bIns="27432" anchor="t">
            <a:spAutoFit/>
          </a:bodyPr>
          <a:lstStyle/>
          <a:p>
            <a:pPr algn="l">
              <a:spcAft>
                <a:spcPts val="600"/>
              </a:spcAft>
            </a:pPr>
            <a:r>
              <a:rPr sz="1000" b="0" i="0">
                <a:solidFill>
                  <a:srgbClr val="595959"/>
                </a:solidFill>
              </a:rPr>
              <a:t>NoSQL Databases for Bioinformatics  ·  Lecture 27  ·  Neo4j genome workshop</a:t>
            </a:r>
          </a:p>
        </p:txBody>
      </p:sp>
      <p:sp>
        <p:nvSpPr>
          <p:cNvPr id="4" name="slide number"/>
          <p:cNvSpPr txBox="1"/>
          <p:nvPr/>
        </p:nvSpPr>
        <p:spPr>
          <a:xfrm>
            <a:off x="10698480" y="6455664"/>
            <a:ext cx="914400" cy="274320"/>
          </a:xfrm>
          <a:prstGeom prst="rect">
            <a:avLst/>
          </a:prstGeom>
          <a:noFill/>
        </p:spPr>
        <p:txBody>
          <a:bodyPr wrap="square" lIns="45720" rIns="45720" tIns="27432" bIns="27432" anchor="t">
            <a:spAutoFit/>
          </a:bodyPr>
          <a:lstStyle/>
          <a:p>
            <a:pPr algn="r">
              <a:spcAft>
                <a:spcPts val="600"/>
              </a:spcAft>
            </a:pPr>
            <a:fld id="{B6F15528-21DE-4FAA-801E-634DDDAF4B2B}" type="slidenum">
              <a:rPr lang="en-US" sz="1000">
                <a:solidFill>
                  <a:srgbClr val="595959"/>
                </a:solidFill>
              </a:rPr>
              <a:t>‹#›</a:t>
            </a:fld>
          </a:p>
        </p:txBody>
      </p:sp>
      <p:sp>
        <p:nvSpPr>
          <p:cNvPr id="5" name="step tag"/>
          <p:cNvSpPr/>
          <p:nvPr/>
        </p:nvSpPr>
        <p:spPr>
          <a:xfrm>
            <a:off x="10195560" y="411480"/>
            <a:ext cx="1417320" cy="329184"/>
          </a:xfrm>
          <a:prstGeom prst="roundRect">
            <a:avLst>
              <a:gd name="adj" fmla="val 5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MODEL</a:t>
            </a:r>
          </a:p>
        </p:txBody>
      </p:sp>
      <p:graphicFrame>
        <p:nvGraphicFramePr>
          <p:cNvPr id="6" name="data table"/>
          <p:cNvGraphicFramePr>
            <a:graphicFrameLocks noGrp="1"/>
          </p:cNvGraphicFramePr>
          <p:nvPr/>
        </p:nvGraphicFramePr>
        <p:xfrm>
          <a:off x="548640" y="1371600"/>
          <a:ext cx="11064240" cy="3355848"/>
        </p:xfrm>
        <a:graphic>
          <a:graphicData uri="http://schemas.openxmlformats.org/drawingml/2006/table">
            <a:tbl>
              <a:tblPr firstRow="0" bandRow="0">
                <a:tableStyleId>{5C22544A-7EE6-4342-B048-85BDC9FD1C3A}</a:tableStyleId>
              </a:tblPr>
              <a:tblGrid>
                <a:gridCol w="2194560"/>
                <a:gridCol w="4023360"/>
                <a:gridCol w="1005840"/>
                <a:gridCol w="3840480"/>
              </a:tblGrid>
              <a:tr h="411480">
                <a:tc>
                  <a:txBody>
                    <a:bodyPr wrap="square"/>
                    <a:lstStyle/>
                    <a:p>
                      <a:r>
                        <a:rPr sz="1500" b="1" i="0">
                          <a:solidFill>
                            <a:srgbClr val="FFFFFF"/>
                          </a:solidFill>
                        </a:rPr>
                        <a:t>File</a:t>
                      </a:r>
                    </a:p>
                  </a:txBody>
                  <a:tcPr marL="73152" marR="73152" marT="36576" marB="36576" anchor="ctr">
                    <a:solidFill>
                      <a:srgbClr val="0E2841"/>
                    </a:solidFill>
                  </a:tcPr>
                </a:tc>
                <a:tc>
                  <a:txBody>
                    <a:bodyPr wrap="square"/>
                    <a:lstStyle/>
                    <a:p>
                      <a:r>
                        <a:rPr sz="1500" b="1" i="0">
                          <a:solidFill>
                            <a:srgbClr val="FFFFFF"/>
                          </a:solidFill>
                        </a:rPr>
                        <a:t>One row is …</a:t>
                      </a:r>
                    </a:p>
                  </a:txBody>
                  <a:tcPr marL="73152" marR="73152" marT="36576" marB="36576" anchor="ctr">
                    <a:solidFill>
                      <a:srgbClr val="0E2841"/>
                    </a:solidFill>
                  </a:tcPr>
                </a:tc>
                <a:tc>
                  <a:txBody>
                    <a:bodyPr wrap="square"/>
                    <a:lstStyle/>
                    <a:p>
                      <a:pPr algn="r"/>
                      <a:r>
                        <a:rPr sz="1500" b="1" i="0">
                          <a:solidFill>
                            <a:srgbClr val="FFFFFF"/>
                          </a:solidFill>
                        </a:rPr>
                        <a:t>Rows</a:t>
                      </a:r>
                    </a:p>
                  </a:txBody>
                  <a:tcPr marL="73152" marR="73152" marT="36576" marB="36576" anchor="ctr">
                    <a:solidFill>
                      <a:srgbClr val="0E2841"/>
                    </a:solidFill>
                  </a:tcPr>
                </a:tc>
                <a:tc>
                  <a:txBody>
                    <a:bodyPr wrap="square"/>
                    <a:lstStyle/>
                    <a:p>
                      <a:r>
                        <a:rPr sz="1500" b="1" i="0">
                          <a:solidFill>
                            <a:srgbClr val="FFFFFF"/>
                          </a:solidFill>
                        </a:rPr>
                        <a:t>Becomes in the graph</a:t>
                      </a:r>
                    </a:p>
                  </a:txBody>
                  <a:tcPr marL="73152" marR="73152" marT="36576" marB="36576" anchor="ctr">
                    <a:solidFill>
                      <a:srgbClr val="0E2841"/>
                    </a:solidFill>
                  </a:tcPr>
                </a:tc>
              </a:tr>
              <a:tr h="420624">
                <a:tc>
                  <a:txBody>
                    <a:bodyPr wrap="square"/>
                    <a:lstStyle/>
                    <a:p>
                      <a:r>
                        <a:rPr sz="1500" b="0" i="0">
                          <a:solidFill>
                            <a:srgbClr val="156082"/>
                          </a:solidFill>
                          <a:latin typeface="Courier New"/>
                        </a:rPr>
                        <a:t>genomes.csv</a:t>
                      </a:r>
                    </a:p>
                  </a:txBody>
                  <a:tcPr marL="73152" marR="73152" marT="36576" marB="36576" anchor="ctr">
                    <a:solidFill>
                      <a:srgbClr val="FFFFFF"/>
                    </a:solidFill>
                  </a:tcPr>
                </a:tc>
                <a:tc>
                  <a:txBody>
                    <a:bodyPr wrap="square"/>
                    <a:lstStyle/>
                    <a:p>
                      <a:r>
                        <a:rPr sz="1500" b="0" i="0">
                          <a:solidFill>
                            <a:srgbClr val="0E2841"/>
                          </a:solidFill>
                        </a:rPr>
                        <a:t>a genome (</a:t>
                      </a:r>
                      <a:r>
                        <a:rPr sz="1500" b="0" i="0">
                          <a:solidFill>
                            <a:srgbClr val="156082"/>
                          </a:solidFill>
                          <a:latin typeface="Courier New"/>
                        </a:rPr>
                        <a:t>eco</a:t>
                      </a:r>
                      <a:r>
                        <a:rPr sz="1500" b="0" i="0">
                          <a:solidFill>
                            <a:srgbClr val="0E2841"/>
                          </a:solidFill>
                        </a:rPr>
                        <a:t>, </a:t>
                      </a:r>
                      <a:r>
                        <a:rPr sz="1500" b="0" i="0">
                          <a:solidFill>
                            <a:srgbClr val="156082"/>
                          </a:solidFill>
                          <a:latin typeface="Courier New"/>
                        </a:rPr>
                        <a:t>bsu</a:t>
                      </a:r>
                      <a:r>
                        <a:rPr sz="1500" b="0" i="0">
                          <a:solidFill>
                            <a:srgbClr val="0E2841"/>
                          </a:solidFill>
                        </a:rPr>
                        <a:t>, …)</a:t>
                      </a:r>
                    </a:p>
                  </a:txBody>
                  <a:tcPr marL="73152" marR="73152" marT="36576" marB="36576" anchor="ctr">
                    <a:solidFill>
                      <a:srgbClr val="FFFFFF"/>
                    </a:solidFill>
                  </a:tcPr>
                </a:tc>
                <a:tc>
                  <a:txBody>
                    <a:bodyPr wrap="square"/>
                    <a:lstStyle/>
                    <a:p>
                      <a:pPr algn="r"/>
                      <a:r>
                        <a:rPr sz="1500" b="0" i="0">
                          <a:solidFill>
                            <a:srgbClr val="0E2841"/>
                          </a:solidFill>
                        </a:rPr>
                        <a:t>65</a:t>
                      </a:r>
                    </a:p>
                  </a:txBody>
                  <a:tcPr marL="73152" marR="73152" marT="36576" marB="36576" anchor="ctr">
                    <a:solidFill>
                      <a:srgbClr val="FFFFFF"/>
                    </a:solidFill>
                  </a:tcPr>
                </a:tc>
                <a:tc>
                  <a:txBody>
                    <a:bodyPr wrap="square"/>
                    <a:lstStyle/>
                    <a:p>
                      <a:r>
                        <a:rPr sz="1500" b="0" i="0">
                          <a:solidFill>
                            <a:srgbClr val="156082"/>
                          </a:solidFill>
                          <a:latin typeface="Courier New"/>
                        </a:rPr>
                        <a:t>Genome</a:t>
                      </a:r>
                      <a:r>
                        <a:rPr sz="1500" b="0" i="0">
                          <a:solidFill>
                            <a:srgbClr val="0E2841"/>
                          </a:solidFill>
                        </a:rPr>
                        <a:t> nodes (+ </a:t>
                      </a:r>
                      <a:r>
                        <a:rPr sz="1500" b="0" i="0">
                          <a:solidFill>
                            <a:srgbClr val="156082"/>
                          </a:solidFill>
                          <a:latin typeface="Courier New"/>
                        </a:rPr>
                        <a:t>CLASSIFIED_AS</a:t>
                      </a:r>
                      <a:r>
                        <a:rPr sz="1500" b="0" i="0">
                          <a:solidFill>
                            <a:srgbClr val="0E2841"/>
                          </a:solidFill>
                        </a:rPr>
                        <a:t>)</a:t>
                      </a:r>
                    </a:p>
                  </a:txBody>
                  <a:tcPr marL="73152" marR="73152" marT="36576" marB="36576" anchor="ctr">
                    <a:solidFill>
                      <a:srgbClr val="FFFFFF"/>
                    </a:solidFill>
                  </a:tcPr>
                </a:tc>
              </a:tr>
              <a:tr h="420624">
                <a:tc>
                  <a:txBody>
                    <a:bodyPr wrap="square"/>
                    <a:lstStyle/>
                    <a:p>
                      <a:r>
                        <a:rPr sz="1500" b="0" i="0">
                          <a:solidFill>
                            <a:srgbClr val="156082"/>
                          </a:solidFill>
                          <a:latin typeface="Courier New"/>
                        </a:rPr>
                        <a:t>kos.csv</a:t>
                      </a:r>
                    </a:p>
                  </a:txBody>
                  <a:tcPr marL="73152" marR="73152" marT="36576" marB="36576" anchor="ctr">
                    <a:solidFill>
                      <a:srgbClr val="F2F5F9"/>
                    </a:solidFill>
                  </a:tcPr>
                </a:tc>
                <a:tc>
                  <a:txBody>
                    <a:bodyPr wrap="square"/>
                    <a:lstStyle/>
                    <a:p>
                      <a:r>
                        <a:rPr sz="1500" b="0" i="0">
                          <a:solidFill>
                            <a:srgbClr val="0E2841"/>
                          </a:solidFill>
                        </a:rPr>
                        <a:t>a KO (</a:t>
                      </a:r>
                      <a:r>
                        <a:rPr sz="1500" b="0" i="0">
                          <a:solidFill>
                            <a:srgbClr val="156082"/>
                          </a:solidFill>
                          <a:latin typeface="Courier New"/>
                        </a:rPr>
                        <a:t>K04077</a:t>
                      </a:r>
                      <a:r>
                        <a:rPr sz="1500" b="0" i="0">
                          <a:solidFill>
                            <a:srgbClr val="0E2841"/>
                          </a:solidFill>
                        </a:rPr>
                        <a:t> …)</a:t>
                      </a:r>
                    </a:p>
                  </a:txBody>
                  <a:tcPr marL="73152" marR="73152" marT="36576" marB="36576" anchor="ctr">
                    <a:solidFill>
                      <a:srgbClr val="F2F5F9"/>
                    </a:solidFill>
                  </a:tcPr>
                </a:tc>
                <a:tc>
                  <a:txBody>
                    <a:bodyPr wrap="square"/>
                    <a:lstStyle/>
                    <a:p>
                      <a:pPr algn="r"/>
                      <a:r>
                        <a:rPr sz="1500" b="0" i="0">
                          <a:solidFill>
                            <a:srgbClr val="0E2841"/>
                          </a:solidFill>
                        </a:rPr>
                        <a:t>8,994</a:t>
                      </a:r>
                    </a:p>
                  </a:txBody>
                  <a:tcPr marL="73152" marR="73152" marT="36576" marB="36576" anchor="ctr">
                    <a:solidFill>
                      <a:srgbClr val="F2F5F9"/>
                    </a:solidFill>
                  </a:tcPr>
                </a:tc>
                <a:tc>
                  <a:txBody>
                    <a:bodyPr wrap="square"/>
                    <a:lstStyle/>
                    <a:p>
                      <a:r>
                        <a:rPr sz="1500" b="0" i="0">
                          <a:solidFill>
                            <a:srgbClr val="156082"/>
                          </a:solidFill>
                          <a:latin typeface="Courier New"/>
                        </a:rPr>
                        <a:t>KO</a:t>
                      </a:r>
                      <a:r>
                        <a:rPr sz="1500" b="0" i="0">
                          <a:solidFill>
                            <a:srgbClr val="0E2841"/>
                          </a:solidFill>
                        </a:rPr>
                        <a:t> nodes</a:t>
                      </a:r>
                    </a:p>
                  </a:txBody>
                  <a:tcPr marL="73152" marR="73152" marT="36576" marB="36576" anchor="ctr">
                    <a:solidFill>
                      <a:srgbClr val="F2F5F9"/>
                    </a:solidFill>
                  </a:tcPr>
                </a:tc>
              </a:tr>
              <a:tr h="420624">
                <a:tc>
                  <a:txBody>
                    <a:bodyPr wrap="square"/>
                    <a:lstStyle/>
                    <a:p>
                      <a:r>
                        <a:rPr sz="1500" b="0" i="0">
                          <a:solidFill>
                            <a:srgbClr val="156082"/>
                          </a:solidFill>
                          <a:latin typeface="Courier New"/>
                        </a:rPr>
                        <a:t>taxa.csv</a:t>
                      </a:r>
                    </a:p>
                  </a:txBody>
                  <a:tcPr marL="73152" marR="73152" marT="36576" marB="36576" anchor="ctr">
                    <a:solidFill>
                      <a:srgbClr val="FFFFFF"/>
                    </a:solidFill>
                  </a:tcPr>
                </a:tc>
                <a:tc>
                  <a:txBody>
                    <a:bodyPr wrap="square"/>
                    <a:lstStyle/>
                    <a:p>
                      <a:r>
                        <a:rPr sz="1500" b="0" i="0">
                          <a:solidFill>
                            <a:srgbClr val="0E2841"/>
                          </a:solidFill>
                        </a:rPr>
                        <a:t>a taxonomic group</a:t>
                      </a:r>
                    </a:p>
                  </a:txBody>
                  <a:tcPr marL="73152" marR="73152" marT="36576" marB="36576" anchor="ctr">
                    <a:solidFill>
                      <a:srgbClr val="FFFFFF"/>
                    </a:solidFill>
                  </a:tcPr>
                </a:tc>
                <a:tc>
                  <a:txBody>
                    <a:bodyPr wrap="square"/>
                    <a:lstStyle/>
                    <a:p>
                      <a:pPr algn="r"/>
                      <a:r>
                        <a:rPr sz="1500" b="0" i="0">
                          <a:solidFill>
                            <a:srgbClr val="0E2841"/>
                          </a:solidFill>
                        </a:rPr>
                        <a:t>270</a:t>
                      </a:r>
                    </a:p>
                  </a:txBody>
                  <a:tcPr marL="73152" marR="73152" marT="36576" marB="36576" anchor="ctr">
                    <a:solidFill>
                      <a:srgbClr val="FFFFFF"/>
                    </a:solidFill>
                  </a:tcPr>
                </a:tc>
                <a:tc>
                  <a:txBody>
                    <a:bodyPr wrap="square"/>
                    <a:lstStyle/>
                    <a:p>
                      <a:r>
                        <a:rPr sz="1500" b="0" i="0">
                          <a:solidFill>
                            <a:srgbClr val="156082"/>
                          </a:solidFill>
                          <a:latin typeface="Courier New"/>
                        </a:rPr>
                        <a:t>Taxon</a:t>
                      </a:r>
                      <a:r>
                        <a:rPr sz="1500" b="0" i="0">
                          <a:solidFill>
                            <a:srgbClr val="0E2841"/>
                          </a:solidFill>
                        </a:rPr>
                        <a:t> nodes</a:t>
                      </a:r>
                    </a:p>
                  </a:txBody>
                  <a:tcPr marL="73152" marR="73152" marT="36576" marB="36576" anchor="ctr">
                    <a:solidFill>
                      <a:srgbClr val="FFFFFF"/>
                    </a:solidFill>
                  </a:tcPr>
                </a:tc>
              </a:tr>
              <a:tr h="420624">
                <a:tc>
                  <a:txBody>
                    <a:bodyPr wrap="square"/>
                    <a:lstStyle/>
                    <a:p>
                      <a:r>
                        <a:rPr sz="1500" b="0" i="0">
                          <a:solidFill>
                            <a:srgbClr val="156082"/>
                          </a:solidFill>
                          <a:latin typeface="Courier New"/>
                        </a:rPr>
                        <a:t>pathways.csv</a:t>
                      </a:r>
                    </a:p>
                  </a:txBody>
                  <a:tcPr marL="73152" marR="73152" marT="36576" marB="36576" anchor="ctr">
                    <a:solidFill>
                      <a:srgbClr val="F2F5F9"/>
                    </a:solidFill>
                  </a:tcPr>
                </a:tc>
                <a:tc>
                  <a:txBody>
                    <a:bodyPr wrap="square"/>
                    <a:lstStyle/>
                    <a:p>
                      <a:r>
                        <a:rPr sz="1500" b="0" i="0">
                          <a:solidFill>
                            <a:srgbClr val="0E2841"/>
                          </a:solidFill>
                        </a:rPr>
                        <a:t>a KEGG pathway</a:t>
                      </a:r>
                    </a:p>
                  </a:txBody>
                  <a:tcPr marL="73152" marR="73152" marT="36576" marB="36576" anchor="ctr">
                    <a:solidFill>
                      <a:srgbClr val="F2F5F9"/>
                    </a:solidFill>
                  </a:tcPr>
                </a:tc>
                <a:tc>
                  <a:txBody>
                    <a:bodyPr wrap="square"/>
                    <a:lstStyle/>
                    <a:p>
                      <a:pPr algn="r"/>
                      <a:r>
                        <a:rPr sz="1500" b="0" i="0">
                          <a:solidFill>
                            <a:srgbClr val="0E2841"/>
                          </a:solidFill>
                        </a:rPr>
                        <a:t>356</a:t>
                      </a:r>
                    </a:p>
                  </a:txBody>
                  <a:tcPr marL="73152" marR="73152" marT="36576" marB="36576" anchor="ctr">
                    <a:solidFill>
                      <a:srgbClr val="F2F5F9"/>
                    </a:solidFill>
                  </a:tcPr>
                </a:tc>
                <a:tc>
                  <a:txBody>
                    <a:bodyPr wrap="square"/>
                    <a:lstStyle/>
                    <a:p>
                      <a:r>
                        <a:rPr sz="1500" b="0" i="0">
                          <a:solidFill>
                            <a:srgbClr val="156082"/>
                          </a:solidFill>
                          <a:latin typeface="Courier New"/>
                        </a:rPr>
                        <a:t>Pathway</a:t>
                      </a:r>
                      <a:r>
                        <a:rPr sz="1500" b="0" i="0">
                          <a:solidFill>
                            <a:srgbClr val="0E2841"/>
                          </a:solidFill>
                        </a:rPr>
                        <a:t> nodes</a:t>
                      </a:r>
                    </a:p>
                  </a:txBody>
                  <a:tcPr marL="73152" marR="73152" marT="36576" marB="36576" anchor="ctr">
                    <a:solidFill>
                      <a:srgbClr val="F2F5F9"/>
                    </a:solidFill>
                  </a:tcPr>
                </a:tc>
              </a:tr>
              <a:tr h="420624">
                <a:tc>
                  <a:txBody>
                    <a:bodyPr wrap="square"/>
                    <a:lstStyle/>
                    <a:p>
                      <a:r>
                        <a:rPr sz="1500" b="0" i="0">
                          <a:solidFill>
                            <a:srgbClr val="156082"/>
                          </a:solidFill>
                          <a:latin typeface="Courier New"/>
                        </a:rPr>
                        <a:t>genome_ko.csv</a:t>
                      </a:r>
                    </a:p>
                  </a:txBody>
                  <a:tcPr marL="73152" marR="73152" marT="36576" marB="36576" anchor="ctr">
                    <a:solidFill>
                      <a:srgbClr val="FFFFFF"/>
                    </a:solidFill>
                  </a:tcPr>
                </a:tc>
                <a:tc>
                  <a:txBody>
                    <a:bodyPr wrap="square"/>
                    <a:lstStyle/>
                    <a:p>
                      <a:r>
                        <a:rPr sz="1500" b="0" i="0">
                          <a:solidFill>
                            <a:srgbClr val="0E2841"/>
                          </a:solidFill>
                        </a:rPr>
                        <a:t>genome </a:t>
                      </a:r>
                      <a:r>
                        <a:rPr sz="1500" b="1" i="0">
                          <a:solidFill>
                            <a:srgbClr val="0E2841"/>
                          </a:solidFill>
                        </a:rPr>
                        <a:t>carries</a:t>
                      </a:r>
                      <a:r>
                        <a:rPr sz="1500" b="0" i="0">
                          <a:solidFill>
                            <a:srgbClr val="0E2841"/>
                          </a:solidFill>
                        </a:rPr>
                        <a:t> KO (+ </a:t>
                      </a:r>
                      <a:r>
                        <a:rPr sz="1500" b="0" i="0">
                          <a:solidFill>
                            <a:srgbClr val="156082"/>
                          </a:solidFill>
                          <a:latin typeface="Courier New"/>
                        </a:rPr>
                        <a:t>copies</a:t>
                      </a:r>
                      <a:r>
                        <a:rPr sz="1500" b="0" i="0">
                          <a:solidFill>
                            <a:srgbClr val="0E2841"/>
                          </a:solidFill>
                        </a:rPr>
                        <a:t>)</a:t>
                      </a:r>
                    </a:p>
                  </a:txBody>
                  <a:tcPr marL="73152" marR="73152" marT="36576" marB="36576" anchor="ctr">
                    <a:solidFill>
                      <a:srgbClr val="FFFFFF"/>
                    </a:solidFill>
                  </a:tcPr>
                </a:tc>
                <a:tc>
                  <a:txBody>
                    <a:bodyPr wrap="square"/>
                    <a:lstStyle/>
                    <a:p>
                      <a:pPr algn="r"/>
                      <a:r>
                        <a:rPr sz="1500" b="0" i="0">
                          <a:solidFill>
                            <a:srgbClr val="0E2841"/>
                          </a:solidFill>
                        </a:rPr>
                        <a:t>90,445</a:t>
                      </a:r>
                    </a:p>
                  </a:txBody>
                  <a:tcPr marL="73152" marR="73152" marT="36576" marB="36576" anchor="ctr">
                    <a:solidFill>
                      <a:srgbClr val="FFFFFF"/>
                    </a:solidFill>
                  </a:tcPr>
                </a:tc>
                <a:tc>
                  <a:txBody>
                    <a:bodyPr wrap="square"/>
                    <a:lstStyle/>
                    <a:p>
                      <a:r>
                        <a:rPr sz="1500" b="0" i="0">
                          <a:solidFill>
                            <a:srgbClr val="156082"/>
                          </a:solidFill>
                          <a:latin typeface="Courier New"/>
                        </a:rPr>
                        <a:t>CONTAINS_KO</a:t>
                      </a:r>
                      <a:r>
                        <a:rPr sz="1500" b="0" i="0">
                          <a:solidFill>
                            <a:srgbClr val="0E2841"/>
                          </a:solidFill>
                        </a:rPr>
                        <a:t> relationships</a:t>
                      </a:r>
                    </a:p>
                  </a:txBody>
                  <a:tcPr marL="73152" marR="73152" marT="36576" marB="36576" anchor="ctr">
                    <a:solidFill>
                      <a:srgbClr val="FFFFFF"/>
                    </a:solidFill>
                  </a:tcPr>
                </a:tc>
              </a:tr>
              <a:tr h="420624">
                <a:tc>
                  <a:txBody>
                    <a:bodyPr wrap="square"/>
                    <a:lstStyle/>
                    <a:p>
                      <a:r>
                        <a:rPr sz="1500" b="0" i="0">
                          <a:solidFill>
                            <a:srgbClr val="156082"/>
                          </a:solidFill>
                          <a:latin typeface="Courier New"/>
                        </a:rPr>
                        <a:t>taxon_tree.csv</a:t>
                      </a:r>
                    </a:p>
                  </a:txBody>
                  <a:tcPr marL="73152" marR="73152" marT="36576" marB="36576" anchor="ctr">
                    <a:solidFill>
                      <a:srgbClr val="F2F5F9"/>
                    </a:solidFill>
                  </a:tcPr>
                </a:tc>
                <a:tc>
                  <a:txBody>
                    <a:bodyPr wrap="square"/>
                    <a:lstStyle/>
                    <a:p>
                      <a:r>
                        <a:rPr sz="1500" b="0" i="0">
                          <a:solidFill>
                            <a:srgbClr val="0E2841"/>
                          </a:solidFill>
                        </a:rPr>
                        <a:t>taxon </a:t>
                      </a:r>
                      <a:r>
                        <a:rPr sz="1500" b="1" i="0">
                          <a:solidFill>
                            <a:srgbClr val="0E2841"/>
                          </a:solidFill>
                        </a:rPr>
                        <a:t>is a child of</a:t>
                      </a:r>
                      <a:r>
                        <a:rPr sz="1500" b="0" i="0">
                          <a:solidFill>
                            <a:srgbClr val="0E2841"/>
                          </a:solidFill>
                        </a:rPr>
                        <a:t> taxon</a:t>
                      </a:r>
                    </a:p>
                  </a:txBody>
                  <a:tcPr marL="73152" marR="73152" marT="36576" marB="36576" anchor="ctr">
                    <a:solidFill>
                      <a:srgbClr val="F2F5F9"/>
                    </a:solidFill>
                  </a:tcPr>
                </a:tc>
                <a:tc>
                  <a:txBody>
                    <a:bodyPr wrap="square"/>
                    <a:lstStyle/>
                    <a:p>
                      <a:pPr algn="r"/>
                      <a:r>
                        <a:rPr sz="1500" b="0" i="0">
                          <a:solidFill>
                            <a:srgbClr val="0E2841"/>
                          </a:solidFill>
                        </a:rPr>
                        <a:t>269</a:t>
                      </a:r>
                    </a:p>
                  </a:txBody>
                  <a:tcPr marL="73152" marR="73152" marT="36576" marB="36576" anchor="ctr">
                    <a:solidFill>
                      <a:srgbClr val="F2F5F9"/>
                    </a:solidFill>
                  </a:tcPr>
                </a:tc>
                <a:tc>
                  <a:txBody>
                    <a:bodyPr wrap="square"/>
                    <a:lstStyle/>
                    <a:p>
                      <a:r>
                        <a:rPr sz="1500" b="0" i="0">
                          <a:solidFill>
                            <a:srgbClr val="156082"/>
                          </a:solidFill>
                          <a:latin typeface="Courier New"/>
                        </a:rPr>
                        <a:t>CHILD_OF</a:t>
                      </a:r>
                      <a:r>
                        <a:rPr sz="1500" b="0" i="0">
                          <a:solidFill>
                            <a:srgbClr val="0E2841"/>
                          </a:solidFill>
                        </a:rPr>
                        <a:t> relationships</a:t>
                      </a:r>
                    </a:p>
                  </a:txBody>
                  <a:tcPr marL="73152" marR="73152" marT="36576" marB="36576" anchor="ctr">
                    <a:solidFill>
                      <a:srgbClr val="F2F5F9"/>
                    </a:solidFill>
                  </a:tcPr>
                </a:tc>
              </a:tr>
              <a:tr h="420624">
                <a:tc>
                  <a:txBody>
                    <a:bodyPr wrap="square"/>
                    <a:lstStyle/>
                    <a:p>
                      <a:r>
                        <a:rPr sz="1500" b="0" i="0">
                          <a:solidFill>
                            <a:srgbClr val="156082"/>
                          </a:solidFill>
                          <a:latin typeface="Courier New"/>
                        </a:rPr>
                        <a:t>ko_pathway.csv</a:t>
                      </a:r>
                    </a:p>
                  </a:txBody>
                  <a:tcPr marL="73152" marR="73152" marT="36576" marB="36576" anchor="ctr">
                    <a:solidFill>
                      <a:srgbClr val="FFFFFF"/>
                    </a:solidFill>
                  </a:tcPr>
                </a:tc>
                <a:tc>
                  <a:txBody>
                    <a:bodyPr wrap="square"/>
                    <a:lstStyle/>
                    <a:p>
                      <a:r>
                        <a:rPr sz="1500" b="0" i="0">
                          <a:solidFill>
                            <a:srgbClr val="0E2841"/>
                          </a:solidFill>
                        </a:rPr>
                        <a:t>KO </a:t>
                      </a:r>
                      <a:r>
                        <a:rPr sz="1500" b="1" i="0">
                          <a:solidFill>
                            <a:srgbClr val="0E2841"/>
                          </a:solidFill>
                        </a:rPr>
                        <a:t>takes part in</a:t>
                      </a:r>
                      <a:r>
                        <a:rPr sz="1500" b="0" i="0">
                          <a:solidFill>
                            <a:srgbClr val="0E2841"/>
                          </a:solidFill>
                        </a:rPr>
                        <a:t> pathway</a:t>
                      </a:r>
                    </a:p>
                  </a:txBody>
                  <a:tcPr marL="73152" marR="73152" marT="36576" marB="36576" anchor="ctr">
                    <a:solidFill>
                      <a:srgbClr val="FFFFFF"/>
                    </a:solidFill>
                  </a:tcPr>
                </a:tc>
                <a:tc>
                  <a:txBody>
                    <a:bodyPr wrap="square"/>
                    <a:lstStyle/>
                    <a:p>
                      <a:pPr algn="r"/>
                      <a:r>
                        <a:rPr sz="1500" b="0" i="0">
                          <a:solidFill>
                            <a:srgbClr val="0E2841"/>
                          </a:solidFill>
                        </a:rPr>
                        <a:t>7,579</a:t>
                      </a:r>
                    </a:p>
                  </a:txBody>
                  <a:tcPr marL="73152" marR="73152" marT="36576" marB="36576" anchor="ctr">
                    <a:solidFill>
                      <a:srgbClr val="FFFFFF"/>
                    </a:solidFill>
                  </a:tcPr>
                </a:tc>
                <a:tc>
                  <a:txBody>
                    <a:bodyPr wrap="square"/>
                    <a:lstStyle/>
                    <a:p>
                      <a:r>
                        <a:rPr sz="1500" b="0" i="0">
                          <a:solidFill>
                            <a:srgbClr val="156082"/>
                          </a:solidFill>
                          <a:latin typeface="Courier New"/>
                        </a:rPr>
                        <a:t>IN_PATHWAY</a:t>
                      </a:r>
                      <a:r>
                        <a:rPr sz="1500" b="0" i="0">
                          <a:solidFill>
                            <a:srgbClr val="0E2841"/>
                          </a:solidFill>
                        </a:rPr>
                        <a:t> relationships</a:t>
                      </a:r>
                    </a:p>
                  </a:txBody>
                  <a:tcPr marL="73152" marR="73152" marT="36576" marB="36576" anchor="ctr">
                    <a:solidFill>
                      <a:srgbClr val="FFFFFF"/>
                    </a:solidFill>
                  </a:tcPr>
                </a:tc>
              </a:tr>
            </a:tbl>
          </a:graphicData>
        </a:graphic>
      </p:graphicFrame>
      <p:sp>
        <p:nvSpPr>
          <p:cNvPr id="7" name="insight"/>
          <p:cNvSpPr/>
          <p:nvPr/>
        </p:nvSpPr>
        <p:spPr>
          <a:xfrm>
            <a:off x="548640" y="5074920"/>
            <a:ext cx="11064240" cy="1143000"/>
          </a:xfrm>
          <a:prstGeom prst="roundRect">
            <a:avLst>
              <a:gd name="adj" fmla="val 48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insight text"/>
          <p:cNvSpPr txBox="1"/>
          <p:nvPr/>
        </p:nvSpPr>
        <p:spPr>
          <a:xfrm>
            <a:off x="731520" y="5120640"/>
            <a:ext cx="10698480" cy="1051560"/>
          </a:xfrm>
          <a:prstGeom prst="rect">
            <a:avLst/>
          </a:prstGeom>
          <a:noFill/>
        </p:spPr>
        <p:txBody>
          <a:bodyPr wrap="square" lIns="45720" rIns="45720" tIns="27432" bIns="27432" anchor="ctr">
            <a:spAutoFit/>
          </a:bodyPr>
          <a:lstStyle/>
          <a:p>
            <a:pPr algn="l">
              <a:spcAft>
                <a:spcPts val="600"/>
              </a:spcAft>
            </a:pPr>
            <a:r>
              <a:rPr sz="1700" b="0" i="0">
                <a:solidFill>
                  <a:srgbClr val="0E2841"/>
                </a:solidFill>
              </a:rPr>
              <a:t>🔎 </a:t>
            </a:r>
            <a:r>
              <a:rPr sz="1700" b="1" i="0">
                <a:solidFill>
                  <a:srgbClr val="0E2841"/>
                </a:solidFill>
              </a:rPr>
              <a:t>Look at the shape of the data.</a:t>
            </a:r>
            <a:r>
              <a:rPr sz="1700" b="0" i="0">
                <a:solidFill>
                  <a:srgbClr val="0E2841"/>
                </a:solidFill>
              </a:rPr>
              <a:t> The three bottom files are </a:t>
            </a:r>
            <a:r>
              <a:rPr sz="1700" b="0" i="1">
                <a:solidFill>
                  <a:srgbClr val="0E2841"/>
                </a:solidFill>
              </a:rPr>
              <a:t>lists of connections</a:t>
            </a:r>
            <a:r>
              <a:rPr sz="1700" b="0" i="0">
                <a:solidFill>
                  <a:srgbClr val="0E2841"/>
                </a:solidFill>
              </a:rPr>
              <a:t>. In SQL they are link tables you must JOIN again and again; in a graph database each connection is stored directly and can be followed in constant time.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9509760" cy="777240"/>
          </a:xfrm>
        </p:spPr>
        <p:txBody>
          <a:bodyPr wrap="square" anchor="ctr"/>
          <a:lstStyle/>
          <a:p>
            <a:pPr algn="l"/>
            <a:r>
              <a:rPr sz="3000" b="1" i="0">
                <a:solidFill>
                  <a:srgbClr val="0E2841"/>
                </a:solidFill>
              </a:rPr>
              <a:t>Why a graph? SQL vs Cypher</a:t>
            </a:r>
          </a:p>
        </p:txBody>
      </p:sp>
      <p:sp>
        <p:nvSpPr>
          <p:cNvPr id="3" name="footer"/>
          <p:cNvSpPr txBox="1"/>
          <p:nvPr/>
        </p:nvSpPr>
        <p:spPr>
          <a:xfrm>
            <a:off x="548640" y="6455664"/>
            <a:ext cx="8686800" cy="274320"/>
          </a:xfrm>
          <a:prstGeom prst="rect">
            <a:avLst/>
          </a:prstGeom>
          <a:noFill/>
        </p:spPr>
        <p:txBody>
          <a:bodyPr wrap="square" lIns="45720" rIns="45720" tIns="27432" bIns="27432" anchor="t">
            <a:spAutoFit/>
          </a:bodyPr>
          <a:lstStyle/>
          <a:p>
            <a:pPr algn="l">
              <a:spcAft>
                <a:spcPts val="600"/>
              </a:spcAft>
            </a:pPr>
            <a:r>
              <a:rPr sz="1000" b="0" i="0">
                <a:solidFill>
                  <a:srgbClr val="595959"/>
                </a:solidFill>
              </a:rPr>
              <a:t>NoSQL Databases for Bioinformatics  ·  Lecture 27  ·  Neo4j genome workshop</a:t>
            </a:r>
          </a:p>
        </p:txBody>
      </p:sp>
      <p:sp>
        <p:nvSpPr>
          <p:cNvPr id="4" name="slide number"/>
          <p:cNvSpPr txBox="1"/>
          <p:nvPr/>
        </p:nvSpPr>
        <p:spPr>
          <a:xfrm>
            <a:off x="10698480" y="6455664"/>
            <a:ext cx="914400" cy="274320"/>
          </a:xfrm>
          <a:prstGeom prst="rect">
            <a:avLst/>
          </a:prstGeom>
          <a:noFill/>
        </p:spPr>
        <p:txBody>
          <a:bodyPr wrap="square" lIns="45720" rIns="45720" tIns="27432" bIns="27432" anchor="t">
            <a:spAutoFit/>
          </a:bodyPr>
          <a:lstStyle/>
          <a:p>
            <a:pPr algn="r">
              <a:spcAft>
                <a:spcPts val="600"/>
              </a:spcAft>
            </a:pPr>
            <a:fld id="{B6F15528-21DE-4FAA-801E-634DDDAF4B2B}" type="slidenum">
              <a:rPr lang="en-US" sz="1000">
                <a:solidFill>
                  <a:srgbClr val="595959"/>
                </a:solidFill>
              </a:rPr>
              <a:t>‹#›</a:t>
            </a:fld>
          </a:p>
        </p:txBody>
      </p:sp>
      <p:sp>
        <p:nvSpPr>
          <p:cNvPr id="5" name="step tag"/>
          <p:cNvSpPr/>
          <p:nvPr/>
        </p:nvSpPr>
        <p:spPr>
          <a:xfrm>
            <a:off x="10195560" y="411480"/>
            <a:ext cx="1417320" cy="329184"/>
          </a:xfrm>
          <a:prstGeom prst="roundRect">
            <a:avLst>
              <a:gd name="adj" fmla="val 5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MODEL</a:t>
            </a:r>
          </a:p>
        </p:txBody>
      </p:sp>
      <p:sp>
        <p:nvSpPr>
          <p:cNvPr id="6" name="sql head"/>
          <p:cNvSpPr txBox="1"/>
          <p:nvPr/>
        </p:nvSpPr>
        <p:spPr>
          <a:xfrm>
            <a:off x="548640" y="1280160"/>
            <a:ext cx="5486400" cy="365760"/>
          </a:xfrm>
          <a:prstGeom prst="rect">
            <a:avLst/>
          </a:prstGeom>
          <a:noFill/>
        </p:spPr>
        <p:txBody>
          <a:bodyPr wrap="square" lIns="45720" rIns="45720" tIns="27432" bIns="27432" anchor="t">
            <a:spAutoFit/>
          </a:bodyPr>
          <a:lstStyle/>
          <a:p>
            <a:pPr algn="l">
              <a:spcAft>
                <a:spcPts val="600"/>
              </a:spcAft>
            </a:pPr>
            <a:r>
              <a:rPr sz="1800" b="1" i="0">
                <a:solidFill>
                  <a:srgbClr val="595959"/>
                </a:solidFill>
              </a:rPr>
              <a:t>SQL (relational)</a:t>
            </a:r>
          </a:p>
        </p:txBody>
      </p:sp>
      <p:sp>
        <p:nvSpPr>
          <p:cNvPr id="7" name="cypher head"/>
          <p:cNvSpPr txBox="1"/>
          <p:nvPr/>
        </p:nvSpPr>
        <p:spPr>
          <a:xfrm>
            <a:off x="6172200" y="1280160"/>
            <a:ext cx="5486400" cy="365760"/>
          </a:xfrm>
          <a:prstGeom prst="rect">
            <a:avLst/>
          </a:prstGeom>
          <a:noFill/>
        </p:spPr>
        <p:txBody>
          <a:bodyPr wrap="square" lIns="45720" rIns="45720" tIns="27432" bIns="27432" anchor="t">
            <a:spAutoFit/>
          </a:bodyPr>
          <a:lstStyle/>
          <a:p>
            <a:pPr algn="l">
              <a:spcAft>
                <a:spcPts val="600"/>
              </a:spcAft>
            </a:pPr>
            <a:r>
              <a:rPr sz="1800" b="1" i="0">
                <a:solidFill>
                  <a:srgbClr val="156082"/>
                </a:solidFill>
              </a:rPr>
              <a:t>Cypher (graph)</a:t>
            </a:r>
          </a:p>
        </p:txBody>
      </p:sp>
      <p:sp>
        <p:nvSpPr>
          <p:cNvPr id="8" name="sql code bg"/>
          <p:cNvSpPr/>
          <p:nvPr/>
        </p:nvSpPr>
        <p:spPr>
          <a:xfrm>
            <a:off x="548640" y="1691640"/>
            <a:ext cx="5486400" cy="3429000"/>
          </a:xfrm>
          <a:prstGeom prst="roundRect">
            <a:avLst>
              <a:gd name="adj" fmla="val 1333"/>
            </a:avLst>
          </a:prstGeom>
          <a:solidFill>
            <a:srgbClr val="F4F6F8"/>
          </a:solidFill>
          <a:ln w="9525">
            <a:solidFill>
              <a:srgbClr val="C9D1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sql code"/>
          <p:cNvSpPr txBox="1"/>
          <p:nvPr/>
        </p:nvSpPr>
        <p:spPr>
          <a:xfrm>
            <a:off x="640080" y="1755648"/>
            <a:ext cx="5303520" cy="3300984"/>
          </a:xfrm>
          <a:prstGeom prst="rect">
            <a:avLst/>
          </a:prstGeom>
          <a:noFill/>
        </p:spPr>
        <p:txBody>
          <a:bodyPr wrap="square" lIns="45720" rIns="45720" tIns="27432" bIns="27432" anchor="t">
            <a:spAutoFit/>
          </a:bodyPr>
          <a:lstStyle/>
          <a:p>
            <a:pPr algn="l">
              <a:spcAft>
                <a:spcPts val="0"/>
              </a:spcAft>
            </a:pPr>
            <a:r>
              <a:rPr sz="1200" b="0" i="0">
                <a:solidFill>
                  <a:srgbClr val="1F2937"/>
                </a:solidFill>
                <a:latin typeface="Courier New"/>
              </a:rPr>
              <a:t>-- genomes sharing KOs: a self-join</a:t>
            </a:r>
          </a:p>
          <a:p>
            <a:pPr algn="l">
              <a:spcAft>
                <a:spcPts val="0"/>
              </a:spcAft>
            </a:pPr>
            <a:r>
              <a:rPr sz="1200" b="0" i="0">
                <a:solidFill>
                  <a:srgbClr val="1F2937"/>
                </a:solidFill>
                <a:latin typeface="Courier New"/>
              </a:rPr>
              <a:t>SELECT a.genome_id, b.genome_id, COUNT(*)</a:t>
            </a:r>
          </a:p>
          <a:p>
            <a:pPr algn="l">
              <a:spcAft>
                <a:spcPts val="0"/>
              </a:spcAft>
            </a:pPr>
            <a:r>
              <a:rPr sz="1200" b="0" i="0">
                <a:solidFill>
                  <a:srgbClr val="1F2937"/>
                </a:solidFill>
                <a:latin typeface="Courier New"/>
              </a:rPr>
              <a:t>FROM genome_ko a</a:t>
            </a:r>
          </a:p>
          <a:p>
            <a:pPr algn="l">
              <a:spcAft>
                <a:spcPts val="0"/>
              </a:spcAft>
            </a:pPr>
            <a:r>
              <a:rPr sz="1200" b="0" i="0">
                <a:solidFill>
                  <a:srgbClr val="1F2937"/>
                </a:solidFill>
                <a:latin typeface="Courier New"/>
              </a:rPr>
              <a:t>JOIN genome_ko b ON a.ko_id = b.ko_id</a:t>
            </a:r>
          </a:p>
          <a:p>
            <a:pPr algn="l">
              <a:spcAft>
                <a:spcPts val="0"/>
              </a:spcAft>
            </a:pPr>
            <a:r>
              <a:rPr sz="1200" b="0" i="0">
                <a:solidFill>
                  <a:srgbClr val="1F2937"/>
                </a:solidFill>
                <a:latin typeface="Courier New"/>
              </a:rPr>
              <a:t> AND a.genome_id &lt; b.genome_id</a:t>
            </a:r>
          </a:p>
          <a:p>
            <a:pPr algn="l">
              <a:spcAft>
                <a:spcPts val="0"/>
              </a:spcAft>
            </a:pPr>
            <a:r>
              <a:rPr sz="1200" b="0" i="0">
                <a:solidFill>
                  <a:srgbClr val="1F2937"/>
                </a:solidFill>
                <a:latin typeface="Courier New"/>
              </a:rPr>
              <a:t>GROUP BY a.genome_id, b.genome_id;</a:t>
            </a:r>
          </a:p>
          <a:p>
            <a:pPr algn="l">
              <a:spcAft>
                <a:spcPts val="0"/>
              </a:spcAft>
            </a:pPr>
          </a:p>
          <a:p>
            <a:pPr algn="l">
              <a:spcAft>
                <a:spcPts val="0"/>
              </a:spcAft>
            </a:pPr>
            <a:r>
              <a:rPr sz="1200" b="0" i="0">
                <a:solidFill>
                  <a:srgbClr val="1F2937"/>
                </a:solidFill>
                <a:latin typeface="Courier New"/>
              </a:rPr>
              <a:t>-- all ancestors of a taxon: recursion</a:t>
            </a:r>
          </a:p>
          <a:p>
            <a:pPr algn="l">
              <a:spcAft>
                <a:spcPts val="0"/>
              </a:spcAft>
            </a:pPr>
            <a:r>
              <a:rPr sz="1200" b="0" i="0">
                <a:solidFill>
                  <a:srgbClr val="1F2937"/>
                </a:solidFill>
                <a:latin typeface="Courier New"/>
              </a:rPr>
              <a:t>WITH RECURSIVE up AS (</a:t>
            </a:r>
          </a:p>
          <a:p>
            <a:pPr algn="l">
              <a:spcAft>
                <a:spcPts val="0"/>
              </a:spcAft>
            </a:pPr>
            <a:r>
              <a:rPr sz="1200" b="0" i="0">
                <a:solidFill>
                  <a:srgbClr val="1F2937"/>
                </a:solidFill>
                <a:latin typeface="Courier New"/>
              </a:rPr>
              <a:t>  SELECT taxid, parent FROM tree</a:t>
            </a:r>
          </a:p>
          <a:p>
            <a:pPr algn="l">
              <a:spcAft>
                <a:spcPts val="0"/>
              </a:spcAft>
            </a:pPr>
            <a:r>
              <a:rPr sz="1200" b="0" i="0">
                <a:solidFill>
                  <a:srgbClr val="1F2937"/>
                </a:solidFill>
                <a:latin typeface="Courier New"/>
              </a:rPr>
              <a:t>  WHERE taxid = 562</a:t>
            </a:r>
          </a:p>
          <a:p>
            <a:pPr algn="l">
              <a:spcAft>
                <a:spcPts val="0"/>
              </a:spcAft>
            </a:pPr>
            <a:r>
              <a:rPr sz="1200" b="0" i="0">
                <a:solidFill>
                  <a:srgbClr val="1F2937"/>
                </a:solidFill>
                <a:latin typeface="Courier New"/>
              </a:rPr>
              <a:t>  UNION ALL</a:t>
            </a:r>
          </a:p>
          <a:p>
            <a:pPr algn="l">
              <a:spcAft>
                <a:spcPts val="0"/>
              </a:spcAft>
            </a:pPr>
            <a:r>
              <a:rPr sz="1200" b="0" i="0">
                <a:solidFill>
                  <a:srgbClr val="1F2937"/>
                </a:solidFill>
                <a:latin typeface="Courier New"/>
              </a:rPr>
              <a:t>  SELECT t.taxid, t.parent FROM tree t</a:t>
            </a:r>
          </a:p>
          <a:p>
            <a:pPr algn="l">
              <a:spcAft>
                <a:spcPts val="0"/>
              </a:spcAft>
            </a:pPr>
            <a:r>
              <a:rPr sz="1200" b="0" i="0">
                <a:solidFill>
                  <a:srgbClr val="1F2937"/>
                </a:solidFill>
                <a:latin typeface="Courier New"/>
              </a:rPr>
              <a:t>  JOIN up ON t.taxid = up.parent)</a:t>
            </a:r>
          </a:p>
          <a:p>
            <a:pPr algn="l">
              <a:spcAft>
                <a:spcPts val="0"/>
              </a:spcAft>
            </a:pPr>
            <a:r>
              <a:rPr sz="1200" b="0" i="0">
                <a:solidFill>
                  <a:srgbClr val="1F2937"/>
                </a:solidFill>
                <a:latin typeface="Courier New"/>
              </a:rPr>
              <a:t>SELECT * FROM up;</a:t>
            </a:r>
          </a:p>
        </p:txBody>
      </p:sp>
      <p:sp>
        <p:nvSpPr>
          <p:cNvPr id="10" name="cypher code bg"/>
          <p:cNvSpPr/>
          <p:nvPr/>
        </p:nvSpPr>
        <p:spPr>
          <a:xfrm>
            <a:off x="6172200" y="1691640"/>
            <a:ext cx="5440680" cy="3429000"/>
          </a:xfrm>
          <a:prstGeom prst="roundRect">
            <a:avLst>
              <a:gd name="adj" fmla="val 1333"/>
            </a:avLst>
          </a:prstGeom>
          <a:solidFill>
            <a:srgbClr val="F4F6F8"/>
          </a:solidFill>
          <a:ln w="9525">
            <a:solidFill>
              <a:srgbClr val="C9D1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cypher code"/>
          <p:cNvSpPr txBox="1"/>
          <p:nvPr/>
        </p:nvSpPr>
        <p:spPr>
          <a:xfrm>
            <a:off x="6263640" y="1755648"/>
            <a:ext cx="5257800" cy="3300984"/>
          </a:xfrm>
          <a:prstGeom prst="rect">
            <a:avLst/>
          </a:prstGeom>
          <a:noFill/>
        </p:spPr>
        <p:txBody>
          <a:bodyPr wrap="square" lIns="45720" rIns="45720" tIns="27432" bIns="27432" anchor="t">
            <a:spAutoFit/>
          </a:bodyPr>
          <a:lstStyle/>
          <a:p>
            <a:pPr algn="l">
              <a:spcAft>
                <a:spcPts val="0"/>
              </a:spcAft>
            </a:pPr>
            <a:r>
              <a:rPr sz="1400" b="0" i="0">
                <a:solidFill>
                  <a:srgbClr val="1F2937"/>
                </a:solidFill>
                <a:latin typeface="Courier New"/>
              </a:rPr>
              <a:t>// genomes sharing KOs: draw the pattern</a:t>
            </a:r>
          </a:p>
          <a:p>
            <a:pPr algn="l">
              <a:spcAft>
                <a:spcPts val="0"/>
              </a:spcAft>
            </a:pPr>
            <a:r>
              <a:rPr sz="1400" b="0" i="0">
                <a:solidFill>
                  <a:srgbClr val="1F2937"/>
                </a:solidFill>
                <a:latin typeface="Courier New"/>
              </a:rPr>
              <a:t>MATCH (a:Genome)-[:CONTAINS_KO]-&gt;(k:KO)</a:t>
            </a:r>
          </a:p>
          <a:p>
            <a:pPr algn="l">
              <a:spcAft>
                <a:spcPts val="0"/>
              </a:spcAft>
            </a:pPr>
            <a:r>
              <a:rPr sz="1400" b="0" i="0">
                <a:solidFill>
                  <a:srgbClr val="1F2937"/>
                </a:solidFill>
                <a:latin typeface="Courier New"/>
              </a:rPr>
              <a:t>      &lt;-[:CONTAINS_KO]-(b:Genome)</a:t>
            </a:r>
          </a:p>
          <a:p>
            <a:pPr algn="l">
              <a:spcAft>
                <a:spcPts val="0"/>
              </a:spcAft>
            </a:pPr>
            <a:r>
              <a:rPr sz="1400" b="0" i="0">
                <a:solidFill>
                  <a:srgbClr val="1F2937"/>
                </a:solidFill>
                <a:latin typeface="Courier New"/>
              </a:rPr>
              <a:t>WHERE a.genome_id &lt; b.genome_id</a:t>
            </a:r>
          </a:p>
          <a:p>
            <a:pPr algn="l">
              <a:spcAft>
                <a:spcPts val="0"/>
              </a:spcAft>
            </a:pPr>
            <a:r>
              <a:rPr sz="1400" b="0" i="0">
                <a:solidFill>
                  <a:srgbClr val="1F2937"/>
                </a:solidFill>
                <a:latin typeface="Courier New"/>
              </a:rPr>
              <a:t>RETURN a.genome_id, b.genome_id, count(k)</a:t>
            </a:r>
          </a:p>
          <a:p>
            <a:pPr algn="l">
              <a:spcAft>
                <a:spcPts val="0"/>
              </a:spcAft>
            </a:pPr>
          </a:p>
          <a:p>
            <a:pPr algn="l">
              <a:spcAft>
                <a:spcPts val="0"/>
              </a:spcAft>
            </a:pPr>
            <a:r>
              <a:rPr sz="1400" b="0" i="0">
                <a:solidFill>
                  <a:srgbClr val="1F2937"/>
                </a:solidFill>
                <a:latin typeface="Courier New"/>
              </a:rPr>
              <a:t>// all ancestors of a taxon</a:t>
            </a:r>
          </a:p>
          <a:p>
            <a:pPr algn="l">
              <a:spcAft>
                <a:spcPts val="0"/>
              </a:spcAft>
            </a:pPr>
            <a:r>
              <a:rPr sz="1400" b="0" i="0">
                <a:solidFill>
                  <a:srgbClr val="1F2937"/>
                </a:solidFill>
                <a:latin typeface="Courier New"/>
              </a:rPr>
              <a:t>MATCH (t:Taxon {taxid: 562})</a:t>
            </a:r>
          </a:p>
          <a:p>
            <a:pPr algn="l">
              <a:spcAft>
                <a:spcPts val="0"/>
              </a:spcAft>
            </a:pPr>
            <a:r>
              <a:rPr sz="1400" b="0" i="0">
                <a:solidFill>
                  <a:srgbClr val="1F2937"/>
                </a:solidFill>
                <a:latin typeface="Courier New"/>
              </a:rPr>
              <a:t>      -[:CHILD_OF*]-&gt;(ancestor)</a:t>
            </a:r>
          </a:p>
          <a:p>
            <a:pPr algn="l">
              <a:spcAft>
                <a:spcPts val="0"/>
              </a:spcAft>
            </a:pPr>
            <a:r>
              <a:rPr sz="1400" b="0" i="0">
                <a:solidFill>
                  <a:srgbClr val="1F2937"/>
                </a:solidFill>
                <a:latin typeface="Courier New"/>
              </a:rPr>
              <a:t>RETURN ancestor</a:t>
            </a:r>
          </a:p>
        </p:txBody>
      </p:sp>
      <p:sp>
        <p:nvSpPr>
          <p:cNvPr id="12" name="why 0 bg"/>
          <p:cNvSpPr/>
          <p:nvPr/>
        </p:nvSpPr>
        <p:spPr>
          <a:xfrm>
            <a:off x="548640" y="5303520"/>
            <a:ext cx="3566160" cy="1005840"/>
          </a:xfrm>
          <a:prstGeom prst="roundRect">
            <a:avLst>
              <a:gd name="adj" fmla="val 5454"/>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why 0 title"/>
          <p:cNvSpPr txBox="1"/>
          <p:nvPr/>
        </p:nvSpPr>
        <p:spPr>
          <a:xfrm>
            <a:off x="658368" y="5376672"/>
            <a:ext cx="3346704" cy="411480"/>
          </a:xfrm>
          <a:prstGeom prst="rect">
            <a:avLst/>
          </a:prstGeom>
          <a:noFill/>
        </p:spPr>
        <p:txBody>
          <a:bodyPr wrap="square" lIns="45720" rIns="45720" tIns="27432" bIns="27432" anchor="t">
            <a:spAutoFit/>
          </a:bodyPr>
          <a:lstStyle/>
          <a:p>
            <a:pPr algn="l">
              <a:spcAft>
                <a:spcPts val="600"/>
              </a:spcAft>
            </a:pPr>
            <a:r>
              <a:rPr sz="1500" b="1" i="0">
                <a:solidFill>
                  <a:srgbClr val="0E2841"/>
                </a:solidFill>
              </a:rPr>
              <a:t>Connections are stored</a:t>
            </a:r>
          </a:p>
        </p:txBody>
      </p:sp>
      <p:sp>
        <p:nvSpPr>
          <p:cNvPr id="14" name="why 0 body"/>
          <p:cNvSpPr txBox="1"/>
          <p:nvPr/>
        </p:nvSpPr>
        <p:spPr>
          <a:xfrm>
            <a:off x="658368" y="5760720"/>
            <a:ext cx="3346704" cy="457200"/>
          </a:xfrm>
          <a:prstGeom prst="rect">
            <a:avLst/>
          </a:prstGeom>
          <a:noFill/>
        </p:spPr>
        <p:txBody>
          <a:bodyPr wrap="square" lIns="45720" rIns="45720" tIns="27432" bIns="27432" anchor="t">
            <a:spAutoFit/>
          </a:bodyPr>
          <a:lstStyle/>
          <a:p>
            <a:pPr algn="l">
              <a:spcAft>
                <a:spcPts val="400"/>
              </a:spcAft>
            </a:pPr>
            <a:r>
              <a:rPr sz="1300" b="0" i="0">
                <a:solidFill>
                  <a:srgbClr val="0E2841"/>
                </a:solidFill>
              </a:rPr>
              <a:t>following a link is a pointer hop, not a computed JOIN</a:t>
            </a:r>
          </a:p>
        </p:txBody>
      </p:sp>
      <p:sp>
        <p:nvSpPr>
          <p:cNvPr id="15" name="why 1 bg"/>
          <p:cNvSpPr/>
          <p:nvPr/>
        </p:nvSpPr>
        <p:spPr>
          <a:xfrm>
            <a:off x="4297679" y="5303520"/>
            <a:ext cx="3566160" cy="1005840"/>
          </a:xfrm>
          <a:prstGeom prst="roundRect">
            <a:avLst>
              <a:gd name="adj" fmla="val 5454"/>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why 1 title"/>
          <p:cNvSpPr txBox="1"/>
          <p:nvPr/>
        </p:nvSpPr>
        <p:spPr>
          <a:xfrm>
            <a:off x="4407407" y="5376672"/>
            <a:ext cx="3346704" cy="411480"/>
          </a:xfrm>
          <a:prstGeom prst="rect">
            <a:avLst/>
          </a:prstGeom>
          <a:noFill/>
        </p:spPr>
        <p:txBody>
          <a:bodyPr wrap="square" lIns="45720" rIns="45720" tIns="27432" bIns="27432" anchor="t">
            <a:spAutoFit/>
          </a:bodyPr>
          <a:lstStyle/>
          <a:p>
            <a:pPr algn="l">
              <a:spcAft>
                <a:spcPts val="600"/>
              </a:spcAft>
            </a:pPr>
            <a:r>
              <a:rPr sz="1500" b="1" i="0">
                <a:solidFill>
                  <a:srgbClr val="0E2841"/>
                </a:solidFill>
              </a:rPr>
              <a:t>The query looks like the question</a:t>
            </a:r>
          </a:p>
        </p:txBody>
      </p:sp>
      <p:sp>
        <p:nvSpPr>
          <p:cNvPr id="17" name="why 1 body"/>
          <p:cNvSpPr txBox="1"/>
          <p:nvPr/>
        </p:nvSpPr>
        <p:spPr>
          <a:xfrm>
            <a:off x="4407407" y="5943599"/>
            <a:ext cx="3346704" cy="274320"/>
          </a:xfrm>
          <a:prstGeom prst="rect">
            <a:avLst/>
          </a:prstGeom>
          <a:noFill/>
        </p:spPr>
        <p:txBody>
          <a:bodyPr wrap="square" lIns="45720" rIns="45720" tIns="27432" bIns="27432" anchor="t">
            <a:spAutoFit/>
          </a:bodyPr>
          <a:lstStyle/>
          <a:p>
            <a:pPr algn="l">
              <a:spcAft>
                <a:spcPts val="400"/>
              </a:spcAft>
            </a:pPr>
            <a:r>
              <a:rPr sz="1300" b="0" i="0">
                <a:solidFill>
                  <a:srgbClr val="0E2841"/>
                </a:solidFill>
              </a:rPr>
              <a:t>draw the pattern with ASCII art</a:t>
            </a:r>
          </a:p>
        </p:txBody>
      </p:sp>
      <p:sp>
        <p:nvSpPr>
          <p:cNvPr id="18" name="why 2 bg"/>
          <p:cNvSpPr/>
          <p:nvPr/>
        </p:nvSpPr>
        <p:spPr>
          <a:xfrm>
            <a:off x="8046719" y="5303520"/>
            <a:ext cx="3566160" cy="1005840"/>
          </a:xfrm>
          <a:prstGeom prst="roundRect">
            <a:avLst>
              <a:gd name="adj" fmla="val 5454"/>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why 2 title"/>
          <p:cNvSpPr txBox="1"/>
          <p:nvPr/>
        </p:nvSpPr>
        <p:spPr>
          <a:xfrm>
            <a:off x="8156447" y="5376672"/>
            <a:ext cx="3346704" cy="411480"/>
          </a:xfrm>
          <a:prstGeom prst="rect">
            <a:avLst/>
          </a:prstGeom>
          <a:noFill/>
        </p:spPr>
        <p:txBody>
          <a:bodyPr wrap="square" lIns="45720" rIns="45720" tIns="27432" bIns="27432" anchor="t">
            <a:spAutoFit/>
          </a:bodyPr>
          <a:lstStyle/>
          <a:p>
            <a:pPr algn="l">
              <a:spcAft>
                <a:spcPts val="600"/>
              </a:spcAft>
            </a:pPr>
            <a:r>
              <a:rPr sz="1500" b="1" i="0">
                <a:solidFill>
                  <a:srgbClr val="0E2841"/>
                </a:solidFill>
              </a:rPr>
              <a:t>Depth need not be known</a:t>
            </a:r>
          </a:p>
        </p:txBody>
      </p:sp>
      <p:sp>
        <p:nvSpPr>
          <p:cNvPr id="20" name="why 2 body"/>
          <p:cNvSpPr txBox="1"/>
          <p:nvPr/>
        </p:nvSpPr>
        <p:spPr>
          <a:xfrm>
            <a:off x="8156447" y="5760720"/>
            <a:ext cx="3346704" cy="457200"/>
          </a:xfrm>
          <a:prstGeom prst="rect">
            <a:avLst/>
          </a:prstGeom>
          <a:noFill/>
        </p:spPr>
        <p:txBody>
          <a:bodyPr wrap="square" lIns="45720" rIns="45720" tIns="27432" bIns="27432" anchor="t">
            <a:spAutoFit/>
          </a:bodyPr>
          <a:lstStyle/>
          <a:p>
            <a:pPr algn="l">
              <a:spcAft>
                <a:spcPts val="400"/>
              </a:spcAft>
            </a:pPr>
            <a:r>
              <a:rPr sz="1300" b="0" i="0">
                <a:solidFill>
                  <a:srgbClr val="156082"/>
                </a:solidFill>
                <a:latin typeface="Courier New"/>
              </a:rPr>
              <a:t>*</a:t>
            </a:r>
            <a:r>
              <a:rPr sz="1300" b="0" i="0">
                <a:solidFill>
                  <a:srgbClr val="0E2841"/>
                </a:solidFill>
              </a:rPr>
              <a:t> follows a relationship any number of times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9509760" cy="777240"/>
          </a:xfrm>
        </p:spPr>
        <p:txBody>
          <a:bodyPr wrap="square" anchor="ctr"/>
          <a:lstStyle/>
          <a:p>
            <a:pPr algn="l"/>
            <a:r>
              <a:rPr sz="3000" b="1" i="0">
                <a:solidFill>
                  <a:srgbClr val="0E2841"/>
                </a:solidFill>
              </a:rPr>
              <a:t>Modelling recipe: nouns, verbs, attributes</a:t>
            </a:r>
          </a:p>
        </p:txBody>
      </p:sp>
      <p:sp>
        <p:nvSpPr>
          <p:cNvPr id="3" name="footer"/>
          <p:cNvSpPr txBox="1"/>
          <p:nvPr/>
        </p:nvSpPr>
        <p:spPr>
          <a:xfrm>
            <a:off x="548640" y="6455664"/>
            <a:ext cx="8686800" cy="274320"/>
          </a:xfrm>
          <a:prstGeom prst="rect">
            <a:avLst/>
          </a:prstGeom>
          <a:noFill/>
        </p:spPr>
        <p:txBody>
          <a:bodyPr wrap="square" lIns="45720" rIns="45720" tIns="27432" bIns="27432" anchor="t">
            <a:spAutoFit/>
          </a:bodyPr>
          <a:lstStyle/>
          <a:p>
            <a:pPr algn="l">
              <a:spcAft>
                <a:spcPts val="600"/>
              </a:spcAft>
            </a:pPr>
            <a:r>
              <a:rPr sz="1000" b="0" i="0">
                <a:solidFill>
                  <a:srgbClr val="595959"/>
                </a:solidFill>
              </a:rPr>
              <a:t>NoSQL Databases for Bioinformatics  ·  Lecture 27  ·  Neo4j genome workshop</a:t>
            </a:r>
          </a:p>
        </p:txBody>
      </p:sp>
      <p:sp>
        <p:nvSpPr>
          <p:cNvPr id="4" name="slide number"/>
          <p:cNvSpPr txBox="1"/>
          <p:nvPr/>
        </p:nvSpPr>
        <p:spPr>
          <a:xfrm>
            <a:off x="10698480" y="6455664"/>
            <a:ext cx="914400" cy="274320"/>
          </a:xfrm>
          <a:prstGeom prst="rect">
            <a:avLst/>
          </a:prstGeom>
          <a:noFill/>
        </p:spPr>
        <p:txBody>
          <a:bodyPr wrap="square" lIns="45720" rIns="45720" tIns="27432" bIns="27432" anchor="t">
            <a:spAutoFit/>
          </a:bodyPr>
          <a:lstStyle/>
          <a:p>
            <a:pPr algn="r">
              <a:spcAft>
                <a:spcPts val="600"/>
              </a:spcAft>
            </a:pPr>
            <a:fld id="{B6F15528-21DE-4FAA-801E-634DDDAF4B2B}" type="slidenum">
              <a:rPr lang="en-US" sz="1000">
                <a:solidFill>
                  <a:srgbClr val="595959"/>
                </a:solidFill>
              </a:rPr>
              <a:t>‹#›</a:t>
            </a:fld>
          </a:p>
        </p:txBody>
      </p:sp>
      <p:sp>
        <p:nvSpPr>
          <p:cNvPr id="5" name="step tag"/>
          <p:cNvSpPr/>
          <p:nvPr/>
        </p:nvSpPr>
        <p:spPr>
          <a:xfrm>
            <a:off x="10195560" y="411480"/>
            <a:ext cx="1417320" cy="329184"/>
          </a:xfrm>
          <a:prstGeom prst="roundRect">
            <a:avLst>
              <a:gd name="adj" fmla="val 5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MODEL</a:t>
            </a:r>
          </a:p>
        </p:txBody>
      </p:sp>
      <p:graphicFrame>
        <p:nvGraphicFramePr>
          <p:cNvPr id="6" name="recipe table"/>
          <p:cNvGraphicFramePr>
            <a:graphicFrameLocks noGrp="1"/>
          </p:cNvGraphicFramePr>
          <p:nvPr/>
        </p:nvGraphicFramePr>
        <p:xfrm>
          <a:off x="548640" y="1417320"/>
          <a:ext cx="11064240" cy="3337560"/>
        </p:xfrm>
        <a:graphic>
          <a:graphicData uri="http://schemas.openxmlformats.org/drawingml/2006/table">
            <a:tbl>
              <a:tblPr firstRow="0" bandRow="0">
                <a:tableStyleId>{5C22544A-7EE6-4342-B048-85BDC9FD1C3A}</a:tableStyleId>
              </a:tblPr>
              <a:tblGrid>
                <a:gridCol w="640080"/>
                <a:gridCol w="2926080"/>
                <a:gridCol w="3657600"/>
                <a:gridCol w="3840480"/>
              </a:tblGrid>
              <a:tr h="411480">
                <a:tc>
                  <a:txBody>
                    <a:bodyPr wrap="square"/>
                    <a:lstStyle/>
                    <a:p>
                      <a:pPr algn="ctr"/>
                      <a:r>
                        <a:rPr sz="1500" b="1" i="0">
                          <a:solidFill>
                            <a:srgbClr val="FFFFFF"/>
                          </a:solidFill>
                        </a:rPr>
                        <a:t>Step</a:t>
                      </a:r>
                    </a:p>
                  </a:txBody>
                  <a:tcPr marL="73152" marR="73152" marT="36576" marB="36576" anchor="ctr">
                    <a:solidFill>
                      <a:srgbClr val="0E2841"/>
                    </a:solidFill>
                  </a:tcPr>
                </a:tc>
                <a:tc>
                  <a:txBody>
                    <a:bodyPr wrap="square"/>
                    <a:lstStyle/>
                    <a:p>
                      <a:r>
                        <a:rPr sz="1500" b="1" i="0">
                          <a:solidFill>
                            <a:srgbClr val="FFFFFF"/>
                          </a:solidFill>
                        </a:rPr>
                        <a:t>Ask yourself</a:t>
                      </a:r>
                    </a:p>
                  </a:txBody>
                  <a:tcPr marL="73152" marR="73152" marT="36576" marB="36576" anchor="ctr">
                    <a:solidFill>
                      <a:srgbClr val="0E2841"/>
                    </a:solidFill>
                  </a:tcPr>
                </a:tc>
                <a:tc>
                  <a:txBody>
                    <a:bodyPr wrap="square"/>
                    <a:lstStyle/>
                    <a:p>
                      <a:r>
                        <a:rPr sz="1500" b="1" i="0">
                          <a:solidFill>
                            <a:srgbClr val="FFFFFF"/>
                          </a:solidFill>
                        </a:rPr>
                        <a:t>Rule of thumb</a:t>
                      </a:r>
                    </a:p>
                  </a:txBody>
                  <a:tcPr marL="73152" marR="73152" marT="36576" marB="36576" anchor="ctr">
                    <a:solidFill>
                      <a:srgbClr val="0E2841"/>
                    </a:solidFill>
                  </a:tcPr>
                </a:tc>
                <a:tc>
                  <a:txBody>
                    <a:bodyPr wrap="square"/>
                    <a:lstStyle/>
                    <a:p>
                      <a:r>
                        <a:rPr sz="1500" b="1" i="0">
                          <a:solidFill>
                            <a:srgbClr val="FFFFFF"/>
                          </a:solidFill>
                        </a:rPr>
                        <a:t>In our data</a:t>
                      </a:r>
                    </a:p>
                  </a:txBody>
                  <a:tcPr marL="73152" marR="73152" marT="36576" marB="36576" anchor="ctr">
                    <a:solidFill>
                      <a:srgbClr val="0E2841"/>
                    </a:solidFill>
                  </a:tcPr>
                </a:tc>
              </a:tr>
              <a:tr h="731520">
                <a:tc>
                  <a:txBody>
                    <a:bodyPr wrap="square"/>
                    <a:lstStyle/>
                    <a:p>
                      <a:pPr algn="ctr"/>
                      <a:r>
                        <a:rPr sz="1500" b="0" i="0">
                          <a:solidFill>
                            <a:srgbClr val="0E2841"/>
                          </a:solidFill>
                        </a:rPr>
                        <a:t>1</a:t>
                      </a:r>
                    </a:p>
                  </a:txBody>
                  <a:tcPr marL="73152" marR="73152" marT="36576" marB="36576" anchor="ctr">
                    <a:solidFill>
                      <a:srgbClr val="FFFFFF"/>
                    </a:solidFill>
                  </a:tcPr>
                </a:tc>
                <a:tc>
                  <a:txBody>
                    <a:bodyPr wrap="square"/>
                    <a:lstStyle/>
                    <a:p>
                      <a:r>
                        <a:rPr sz="1500" b="0" i="0">
                          <a:solidFill>
                            <a:srgbClr val="0E2841"/>
                          </a:solidFill>
                        </a:rPr>
                        <a:t>What are the </a:t>
                      </a:r>
                      <a:r>
                        <a:rPr sz="1500" b="1" i="0">
                          <a:solidFill>
                            <a:srgbClr val="0E2841"/>
                          </a:solidFill>
                        </a:rPr>
                        <a:t>things</a:t>
                      </a:r>
                      <a:r>
                        <a:rPr sz="1500" b="0" i="0">
                          <a:solidFill>
                            <a:srgbClr val="0E2841"/>
                          </a:solidFill>
                        </a:rPr>
                        <a:t>?</a:t>
                      </a:r>
                    </a:p>
                  </a:txBody>
                  <a:tcPr marL="73152" marR="73152" marT="36576" marB="36576" anchor="ctr">
                    <a:solidFill>
                      <a:srgbClr val="FFFFFF"/>
                    </a:solidFill>
                  </a:tcPr>
                </a:tc>
                <a:tc>
                  <a:txBody>
                    <a:bodyPr wrap="square"/>
                    <a:lstStyle/>
                    <a:p>
                      <a:r>
                        <a:rPr sz="1500" b="0" i="0">
                          <a:solidFill>
                            <a:srgbClr val="0E2841"/>
                          </a:solidFill>
                        </a:rPr>
                        <a:t>nouns → </a:t>
                      </a:r>
                      <a:r>
                        <a:rPr sz="1500" b="1" i="0">
                          <a:solidFill>
                            <a:srgbClr val="0E2841"/>
                          </a:solidFill>
                        </a:rPr>
                        <a:t>nodes</a:t>
                      </a:r>
                      <a:r>
                        <a:rPr sz="1500" b="0" i="0">
                          <a:solidFill>
                            <a:srgbClr val="0E2841"/>
                          </a:solidFill>
                        </a:rPr>
                        <a:t> (each kind gets a </a:t>
                      </a:r>
                      <a:r>
                        <a:rPr sz="1500" b="0" i="1">
                          <a:solidFill>
                            <a:srgbClr val="0E2841"/>
                          </a:solidFill>
                        </a:rPr>
                        <a:t>label</a:t>
                      </a:r>
                      <a:r>
                        <a:rPr sz="1500" b="0" i="0">
                          <a:solidFill>
                            <a:srgbClr val="0E2841"/>
                          </a:solidFill>
                        </a:rPr>
                        <a:t>)</a:t>
                      </a:r>
                    </a:p>
                  </a:txBody>
                  <a:tcPr marL="73152" marR="73152" marT="36576" marB="36576" anchor="ctr">
                    <a:solidFill>
                      <a:srgbClr val="FFFFFF"/>
                    </a:solidFill>
                  </a:tcPr>
                </a:tc>
                <a:tc>
                  <a:txBody>
                    <a:bodyPr wrap="square"/>
                    <a:lstStyle/>
                    <a:p>
                      <a:r>
                        <a:rPr sz="1500" b="0" i="0">
                          <a:solidFill>
                            <a:srgbClr val="156082"/>
                          </a:solidFill>
                          <a:latin typeface="Courier New"/>
                        </a:rPr>
                        <a:t>Genome</a:t>
                      </a:r>
                      <a:r>
                        <a:rPr sz="1500" b="0" i="0">
                          <a:solidFill>
                            <a:srgbClr val="0E2841"/>
                          </a:solidFill>
                        </a:rPr>
                        <a:t>, </a:t>
                      </a:r>
                      <a:r>
                        <a:rPr sz="1500" b="0" i="0">
                          <a:solidFill>
                            <a:srgbClr val="156082"/>
                          </a:solidFill>
                          <a:latin typeface="Courier New"/>
                        </a:rPr>
                        <a:t>KO</a:t>
                      </a:r>
                      <a:r>
                        <a:rPr sz="1500" b="0" i="0">
                          <a:solidFill>
                            <a:srgbClr val="0E2841"/>
                          </a:solidFill>
                        </a:rPr>
                        <a:t>, </a:t>
                      </a:r>
                      <a:r>
                        <a:rPr sz="1500" b="0" i="0">
                          <a:solidFill>
                            <a:srgbClr val="156082"/>
                          </a:solidFill>
                          <a:latin typeface="Courier New"/>
                        </a:rPr>
                        <a:t>Taxon</a:t>
                      </a:r>
                      <a:r>
                        <a:rPr sz="1500" b="0" i="0">
                          <a:solidFill>
                            <a:srgbClr val="0E2841"/>
                          </a:solidFill>
                        </a:rPr>
                        <a:t>, </a:t>
                      </a:r>
                      <a:r>
                        <a:rPr sz="1500" b="0" i="0">
                          <a:solidFill>
                            <a:srgbClr val="156082"/>
                          </a:solidFill>
                          <a:latin typeface="Courier New"/>
                        </a:rPr>
                        <a:t>Pathway</a:t>
                      </a:r>
                    </a:p>
                  </a:txBody>
                  <a:tcPr marL="73152" marR="73152" marT="36576" marB="36576" anchor="ctr">
                    <a:solidFill>
                      <a:srgbClr val="FFFFFF"/>
                    </a:solidFill>
                  </a:tcPr>
                </a:tc>
              </a:tr>
              <a:tr h="731520">
                <a:tc>
                  <a:txBody>
                    <a:bodyPr wrap="square"/>
                    <a:lstStyle/>
                    <a:p>
                      <a:pPr algn="ctr"/>
                      <a:r>
                        <a:rPr sz="1500" b="0" i="0">
                          <a:solidFill>
                            <a:srgbClr val="0E2841"/>
                          </a:solidFill>
                        </a:rPr>
                        <a:t>2</a:t>
                      </a:r>
                    </a:p>
                  </a:txBody>
                  <a:tcPr marL="73152" marR="73152" marT="36576" marB="36576" anchor="ctr">
                    <a:solidFill>
                      <a:srgbClr val="F2F5F9"/>
                    </a:solidFill>
                  </a:tcPr>
                </a:tc>
                <a:tc>
                  <a:txBody>
                    <a:bodyPr wrap="square"/>
                    <a:lstStyle/>
                    <a:p>
                      <a:r>
                        <a:rPr sz="1500" b="0" i="0">
                          <a:solidFill>
                            <a:srgbClr val="0E2841"/>
                          </a:solidFill>
                        </a:rPr>
                        <a:t>How are they </a:t>
                      </a:r>
                      <a:r>
                        <a:rPr sz="1500" b="1" i="0">
                          <a:solidFill>
                            <a:srgbClr val="0E2841"/>
                          </a:solidFill>
                        </a:rPr>
                        <a:t>connected</a:t>
                      </a:r>
                      <a:r>
                        <a:rPr sz="1500" b="0" i="0">
                          <a:solidFill>
                            <a:srgbClr val="0E2841"/>
                          </a:solidFill>
                        </a:rPr>
                        <a:t>?</a:t>
                      </a:r>
                    </a:p>
                  </a:txBody>
                  <a:tcPr marL="73152" marR="73152" marT="36576" marB="36576" anchor="ctr">
                    <a:solidFill>
                      <a:srgbClr val="F2F5F9"/>
                    </a:solidFill>
                  </a:tcPr>
                </a:tc>
                <a:tc>
                  <a:txBody>
                    <a:bodyPr wrap="square"/>
                    <a:lstStyle/>
                    <a:p>
                      <a:r>
                        <a:rPr sz="1500" b="0" i="0">
                          <a:solidFill>
                            <a:srgbClr val="0E2841"/>
                          </a:solidFill>
                        </a:rPr>
                        <a:t>verbs → </a:t>
                      </a:r>
                      <a:r>
                        <a:rPr sz="1500" b="1" i="0">
                          <a:solidFill>
                            <a:srgbClr val="0E2841"/>
                          </a:solidFill>
                        </a:rPr>
                        <a:t>relationships</a:t>
                      </a:r>
                      <a:r>
                        <a:rPr sz="1500" b="0" i="0">
                          <a:solidFill>
                            <a:srgbClr val="0E2841"/>
                          </a:solidFill>
                        </a:rPr>
                        <a:t> (type + direction)</a:t>
                      </a:r>
                    </a:p>
                  </a:txBody>
                  <a:tcPr marL="73152" marR="73152" marT="36576" marB="36576" anchor="ctr">
                    <a:solidFill>
                      <a:srgbClr val="F2F5F9"/>
                    </a:solidFill>
                  </a:tcPr>
                </a:tc>
                <a:tc>
                  <a:txBody>
                    <a:bodyPr wrap="square"/>
                    <a:lstStyle/>
                    <a:p>
                      <a:r>
                        <a:rPr sz="1500" b="0" i="0">
                          <a:solidFill>
                            <a:srgbClr val="156082"/>
                          </a:solidFill>
                          <a:latin typeface="Courier New"/>
                        </a:rPr>
                        <a:t>CONTAINS_KO</a:t>
                      </a:r>
                      <a:r>
                        <a:rPr sz="1500" b="0" i="0">
                          <a:solidFill>
                            <a:srgbClr val="0E2841"/>
                          </a:solidFill>
                        </a:rPr>
                        <a:t>, </a:t>
                      </a:r>
                      <a:r>
                        <a:rPr sz="1500" b="0" i="0">
                          <a:solidFill>
                            <a:srgbClr val="156082"/>
                          </a:solidFill>
                          <a:latin typeface="Courier New"/>
                        </a:rPr>
                        <a:t>CLASSIFIED_AS</a:t>
                      </a:r>
                      <a:r>
                        <a:rPr sz="1500" b="0" i="0">
                          <a:solidFill>
                            <a:srgbClr val="0E2841"/>
                          </a:solidFill>
                        </a:rPr>
                        <a:t>, </a:t>
                      </a:r>
                      <a:r>
                        <a:rPr sz="1500" b="0" i="0">
                          <a:solidFill>
                            <a:srgbClr val="156082"/>
                          </a:solidFill>
                          <a:latin typeface="Courier New"/>
                        </a:rPr>
                        <a:t>CHILD_OF</a:t>
                      </a:r>
                      <a:r>
                        <a:rPr sz="1500" b="0" i="0">
                          <a:solidFill>
                            <a:srgbClr val="0E2841"/>
                          </a:solidFill>
                        </a:rPr>
                        <a:t>, </a:t>
                      </a:r>
                      <a:r>
                        <a:rPr sz="1500" b="0" i="0">
                          <a:solidFill>
                            <a:srgbClr val="156082"/>
                          </a:solidFill>
                          <a:latin typeface="Courier New"/>
                        </a:rPr>
                        <a:t>IN_PATHWAY</a:t>
                      </a:r>
                    </a:p>
                  </a:txBody>
                  <a:tcPr marL="73152" marR="73152" marT="36576" marB="36576" anchor="ctr">
                    <a:solidFill>
                      <a:srgbClr val="F2F5F9"/>
                    </a:solidFill>
                  </a:tcPr>
                </a:tc>
              </a:tr>
              <a:tr h="731520">
                <a:tc>
                  <a:txBody>
                    <a:bodyPr wrap="square"/>
                    <a:lstStyle/>
                    <a:p>
                      <a:pPr algn="ctr"/>
                      <a:r>
                        <a:rPr sz="1500" b="0" i="0">
                          <a:solidFill>
                            <a:srgbClr val="0E2841"/>
                          </a:solidFill>
                        </a:rPr>
                        <a:t>3</a:t>
                      </a:r>
                    </a:p>
                  </a:txBody>
                  <a:tcPr marL="73152" marR="73152" marT="36576" marB="36576" anchor="ctr">
                    <a:solidFill>
                      <a:srgbClr val="FFFFFF"/>
                    </a:solidFill>
                  </a:tcPr>
                </a:tc>
                <a:tc>
                  <a:txBody>
                    <a:bodyPr wrap="square"/>
                    <a:lstStyle/>
                    <a:p>
                      <a:r>
                        <a:rPr sz="1500" b="0" i="0">
                          <a:solidFill>
                            <a:srgbClr val="0E2841"/>
                          </a:solidFill>
                        </a:rPr>
                        <a:t>What do I know </a:t>
                      </a:r>
                      <a:r>
                        <a:rPr sz="1500" b="1" i="0">
                          <a:solidFill>
                            <a:srgbClr val="0E2841"/>
                          </a:solidFill>
                        </a:rPr>
                        <a:t>about</a:t>
                      </a:r>
                      <a:r>
                        <a:rPr sz="1500" b="0" i="0">
                          <a:solidFill>
                            <a:srgbClr val="0E2841"/>
                          </a:solidFill>
                        </a:rPr>
                        <a:t> them?</a:t>
                      </a:r>
                    </a:p>
                  </a:txBody>
                  <a:tcPr marL="73152" marR="73152" marT="36576" marB="36576" anchor="ctr">
                    <a:solidFill>
                      <a:srgbClr val="FFFFFF"/>
                    </a:solidFill>
                  </a:tcPr>
                </a:tc>
                <a:tc>
                  <a:txBody>
                    <a:bodyPr wrap="square"/>
                    <a:lstStyle/>
                    <a:p>
                      <a:r>
                        <a:rPr sz="1500" b="0" i="0">
                          <a:solidFill>
                            <a:srgbClr val="0E2841"/>
                          </a:solidFill>
                        </a:rPr>
                        <a:t>attributes → </a:t>
                      </a:r>
                      <a:r>
                        <a:rPr sz="1500" b="1" i="0">
                          <a:solidFill>
                            <a:srgbClr val="0E2841"/>
                          </a:solidFill>
                        </a:rPr>
                        <a:t>properties</a:t>
                      </a:r>
                      <a:r>
                        <a:rPr sz="1500" b="0" i="0">
                          <a:solidFill>
                            <a:srgbClr val="0E2841"/>
                          </a:solidFill>
                        </a:rPr>
                        <a:t> (key–value)</a:t>
                      </a:r>
                    </a:p>
                  </a:txBody>
                  <a:tcPr marL="73152" marR="73152" marT="36576" marB="36576" anchor="ctr">
                    <a:solidFill>
                      <a:srgbClr val="FFFFFF"/>
                    </a:solidFill>
                  </a:tcPr>
                </a:tc>
                <a:tc>
                  <a:txBody>
                    <a:bodyPr wrap="square"/>
                    <a:lstStyle/>
                    <a:p>
                      <a:r>
                        <a:rPr sz="1500" b="0" i="0">
                          <a:solidFill>
                            <a:srgbClr val="156082"/>
                          </a:solidFill>
                          <a:latin typeface="Courier New"/>
                        </a:rPr>
                        <a:t>genome_id</a:t>
                      </a:r>
                      <a:r>
                        <a:rPr sz="1500" b="0" i="0">
                          <a:solidFill>
                            <a:srgbClr val="0E2841"/>
                          </a:solidFill>
                        </a:rPr>
                        <a:t>, </a:t>
                      </a:r>
                      <a:r>
                        <a:rPr sz="1500" b="0" i="0">
                          <a:solidFill>
                            <a:srgbClr val="156082"/>
                          </a:solidFill>
                          <a:latin typeface="Courier New"/>
                        </a:rPr>
                        <a:t>name</a:t>
                      </a:r>
                      <a:r>
                        <a:rPr sz="1500" b="0" i="0">
                          <a:solidFill>
                            <a:srgbClr val="0E2841"/>
                          </a:solidFill>
                        </a:rPr>
                        <a:t>, </a:t>
                      </a:r>
                      <a:r>
                        <a:rPr sz="1500" b="0" i="0">
                          <a:solidFill>
                            <a:srgbClr val="156082"/>
                          </a:solidFill>
                          <a:latin typeface="Courier New"/>
                        </a:rPr>
                        <a:t>rank</a:t>
                      </a:r>
                      <a:r>
                        <a:rPr sz="1500" b="0" i="0">
                          <a:solidFill>
                            <a:srgbClr val="0E2841"/>
                          </a:solidFill>
                        </a:rPr>
                        <a:t> … and </a:t>
                      </a:r>
                      <a:r>
                        <a:rPr sz="1500" b="0" i="0">
                          <a:solidFill>
                            <a:srgbClr val="156082"/>
                          </a:solidFill>
                          <a:latin typeface="Courier New"/>
                        </a:rPr>
                        <a:t>copies</a:t>
                      </a:r>
                      <a:r>
                        <a:rPr sz="1500" b="0" i="0">
                          <a:solidFill>
                            <a:srgbClr val="0E2841"/>
                          </a:solidFill>
                        </a:rPr>
                        <a:t> on </a:t>
                      </a:r>
                      <a:r>
                        <a:rPr sz="1500" b="0" i="0">
                          <a:solidFill>
                            <a:srgbClr val="156082"/>
                          </a:solidFill>
                          <a:latin typeface="Courier New"/>
                        </a:rPr>
                        <a:t>CONTAINS_KO</a:t>
                      </a:r>
                    </a:p>
                  </a:txBody>
                  <a:tcPr marL="73152" marR="73152" marT="36576" marB="36576" anchor="ctr">
                    <a:solidFill>
                      <a:srgbClr val="FFFFFF"/>
                    </a:solidFill>
                  </a:tcPr>
                </a:tc>
              </a:tr>
              <a:tr h="731520">
                <a:tc>
                  <a:txBody>
                    <a:bodyPr wrap="square"/>
                    <a:lstStyle/>
                    <a:p>
                      <a:pPr algn="ctr"/>
                      <a:r>
                        <a:rPr sz="1500" b="0" i="0">
                          <a:solidFill>
                            <a:srgbClr val="0E2841"/>
                          </a:solidFill>
                        </a:rPr>
                        <a:t>4</a:t>
                      </a:r>
                    </a:p>
                  </a:txBody>
                  <a:tcPr marL="73152" marR="73152" marT="36576" marB="36576" anchor="ctr">
                    <a:solidFill>
                      <a:srgbClr val="F2F5F9"/>
                    </a:solidFill>
                  </a:tcPr>
                </a:tc>
                <a:tc>
                  <a:txBody>
                    <a:bodyPr wrap="square"/>
                    <a:lstStyle/>
                    <a:p>
                      <a:r>
                        <a:rPr sz="1500" b="0" i="0">
                          <a:solidFill>
                            <a:srgbClr val="0E2841"/>
                          </a:solidFill>
                        </a:rPr>
                        <a:t>Which </a:t>
                      </a:r>
                      <a:r>
                        <a:rPr sz="1500" b="1" i="0">
                          <a:solidFill>
                            <a:srgbClr val="0E2841"/>
                          </a:solidFill>
                        </a:rPr>
                        <a:t>questions</a:t>
                      </a:r>
                      <a:r>
                        <a:rPr sz="1500" b="0" i="0">
                          <a:solidFill>
                            <a:srgbClr val="0E2841"/>
                          </a:solidFill>
                        </a:rPr>
                        <a:t> will I ask?</a:t>
                      </a:r>
                    </a:p>
                  </a:txBody>
                  <a:tcPr marL="73152" marR="73152" marT="36576" marB="36576" anchor="ctr">
                    <a:solidFill>
                      <a:srgbClr val="F2F5F9"/>
                    </a:solidFill>
                  </a:tcPr>
                </a:tc>
                <a:tc>
                  <a:txBody>
                    <a:bodyPr wrap="square"/>
                    <a:lstStyle/>
                    <a:p>
                      <a:r>
                        <a:rPr sz="1500" b="0" i="0">
                          <a:solidFill>
                            <a:srgbClr val="0E2841"/>
                          </a:solidFill>
                        </a:rPr>
                        <a:t>a link that is followed often → a relationship</a:t>
                      </a:r>
                    </a:p>
                  </a:txBody>
                  <a:tcPr marL="73152" marR="73152" marT="36576" marB="36576" anchor="ctr">
                    <a:solidFill>
                      <a:srgbClr val="F2F5F9"/>
                    </a:solidFill>
                  </a:tcPr>
                </a:tc>
                <a:tc>
                  <a:txBody>
                    <a:bodyPr wrap="square"/>
                    <a:lstStyle/>
                    <a:p>
                      <a:r>
                        <a:rPr sz="1500" b="0" i="0">
                          <a:solidFill>
                            <a:srgbClr val="0E2841"/>
                          </a:solidFill>
                        </a:rPr>
                        <a:t>Q1: Genome → KO ← Genome · Q2: walk up </a:t>
                      </a:r>
                      <a:r>
                        <a:rPr sz="1500" b="0" i="0">
                          <a:solidFill>
                            <a:srgbClr val="156082"/>
                          </a:solidFill>
                          <a:latin typeface="Courier New"/>
                        </a:rPr>
                        <a:t>CHILD_OF</a:t>
                      </a:r>
                    </a:p>
                  </a:txBody>
                  <a:tcPr marL="73152" marR="73152" marT="36576" marB="36576" anchor="ctr">
                    <a:solidFill>
                      <a:srgbClr val="F2F5F9"/>
                    </a:solidFill>
                  </a:tcPr>
                </a:tc>
              </a:tr>
            </a:tbl>
          </a:graphicData>
        </a:graphic>
      </p:graphicFrame>
      <p:sp>
        <p:nvSpPr>
          <p:cNvPr id="7" name="tip"/>
          <p:cNvSpPr/>
          <p:nvPr/>
        </p:nvSpPr>
        <p:spPr>
          <a:xfrm>
            <a:off x="548640" y="5303520"/>
            <a:ext cx="11064240" cy="914400"/>
          </a:xfrm>
          <a:prstGeom prst="roundRect">
            <a:avLst>
              <a:gd name="adj" fmla="val 6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ip text"/>
          <p:cNvSpPr txBox="1"/>
          <p:nvPr/>
        </p:nvSpPr>
        <p:spPr>
          <a:xfrm>
            <a:off x="731520" y="5349240"/>
            <a:ext cx="10698480" cy="822960"/>
          </a:xfrm>
          <a:prstGeom prst="rect">
            <a:avLst/>
          </a:prstGeom>
          <a:noFill/>
        </p:spPr>
        <p:txBody>
          <a:bodyPr wrap="square" lIns="45720" rIns="45720" tIns="27432" bIns="27432" anchor="ctr">
            <a:spAutoFit/>
          </a:bodyPr>
          <a:lstStyle/>
          <a:p>
            <a:pPr algn="l">
              <a:spcAft>
                <a:spcPts val="600"/>
              </a:spcAft>
            </a:pPr>
            <a:r>
              <a:rPr sz="1700" b="0" i="0">
                <a:solidFill>
                  <a:srgbClr val="0E2841"/>
                </a:solidFill>
              </a:rPr>
              <a:t>💡 </a:t>
            </a:r>
            <a:r>
              <a:rPr sz="1700" b="1" i="0">
                <a:solidFill>
                  <a:srgbClr val="0E2841"/>
                </a:solidFill>
              </a:rPr>
              <a:t>Tip:</a:t>
            </a:r>
            <a:r>
              <a:rPr sz="1700" b="0" i="0">
                <a:solidFill>
                  <a:srgbClr val="0E2841"/>
                </a:solidFill>
              </a:rPr>
              <a:t> draw the model first, with circles and arrows, </a:t>
            </a:r>
            <a:r>
              <a:rPr sz="1700" b="1" i="0">
                <a:solidFill>
                  <a:srgbClr val="0E2841"/>
                </a:solidFill>
              </a:rPr>
              <a:t>then</a:t>
            </a:r>
            <a:r>
              <a:rPr sz="1700" b="0" i="0">
                <a:solidFill>
                  <a:srgbClr val="0E2841"/>
                </a:solidFill>
              </a:rPr>
              <a:t> write code. If you cannot say a relationship as a sentence (</a:t>
            </a:r>
            <a:r>
              <a:rPr sz="1700" b="0" i="1">
                <a:solidFill>
                  <a:srgbClr val="0E2841"/>
                </a:solidFill>
              </a:rPr>
              <a:t>“a Genome CONTAINS_KO a KO”</a:t>
            </a:r>
            <a:r>
              <a:rPr sz="1700" b="0" i="0">
                <a:solidFill>
                  <a:srgbClr val="0E2841"/>
                </a:solidFill>
              </a:rPr>
              <a:t>), the model is probably wrong.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9509760" cy="777240"/>
          </a:xfrm>
        </p:spPr>
        <p:txBody>
          <a:bodyPr wrap="square" anchor="ctr"/>
          <a:lstStyle/>
          <a:p>
            <a:pPr algn="l"/>
            <a:r>
              <a:rPr sz="3000" b="1" i="0">
                <a:solidFill>
                  <a:srgbClr val="0E2841"/>
                </a:solidFill>
              </a:rPr>
              <a:t>Our graph model</a:t>
            </a:r>
          </a:p>
        </p:txBody>
      </p:sp>
      <p:sp>
        <p:nvSpPr>
          <p:cNvPr id="3" name="footer"/>
          <p:cNvSpPr txBox="1"/>
          <p:nvPr/>
        </p:nvSpPr>
        <p:spPr>
          <a:xfrm>
            <a:off x="548640" y="6455664"/>
            <a:ext cx="8686800" cy="274320"/>
          </a:xfrm>
          <a:prstGeom prst="rect">
            <a:avLst/>
          </a:prstGeom>
          <a:noFill/>
        </p:spPr>
        <p:txBody>
          <a:bodyPr wrap="square" lIns="45720" rIns="45720" tIns="27432" bIns="27432" anchor="t">
            <a:spAutoFit/>
          </a:bodyPr>
          <a:lstStyle/>
          <a:p>
            <a:pPr algn="l">
              <a:spcAft>
                <a:spcPts val="600"/>
              </a:spcAft>
            </a:pPr>
            <a:r>
              <a:rPr sz="1000" b="0" i="0">
                <a:solidFill>
                  <a:srgbClr val="595959"/>
                </a:solidFill>
              </a:rPr>
              <a:t>NoSQL Databases for Bioinformatics  ·  Lecture 27  ·  Neo4j genome workshop</a:t>
            </a:r>
          </a:p>
        </p:txBody>
      </p:sp>
      <p:sp>
        <p:nvSpPr>
          <p:cNvPr id="4" name="slide number"/>
          <p:cNvSpPr txBox="1"/>
          <p:nvPr/>
        </p:nvSpPr>
        <p:spPr>
          <a:xfrm>
            <a:off x="10698480" y="6455664"/>
            <a:ext cx="914400" cy="274320"/>
          </a:xfrm>
          <a:prstGeom prst="rect">
            <a:avLst/>
          </a:prstGeom>
          <a:noFill/>
        </p:spPr>
        <p:txBody>
          <a:bodyPr wrap="square" lIns="45720" rIns="45720" tIns="27432" bIns="27432" anchor="t">
            <a:spAutoFit/>
          </a:bodyPr>
          <a:lstStyle/>
          <a:p>
            <a:pPr algn="r">
              <a:spcAft>
                <a:spcPts val="600"/>
              </a:spcAft>
            </a:pPr>
            <a:fld id="{B6F15528-21DE-4FAA-801E-634DDDAF4B2B}" type="slidenum">
              <a:rPr lang="en-US" sz="1000">
                <a:solidFill>
                  <a:srgbClr val="595959"/>
                </a:solidFill>
              </a:rPr>
              <a:t>‹#›</a:t>
            </a:fld>
          </a:p>
        </p:txBody>
      </p:sp>
      <p:sp>
        <p:nvSpPr>
          <p:cNvPr id="5" name="step tag"/>
          <p:cNvSpPr/>
          <p:nvPr/>
        </p:nvSpPr>
        <p:spPr>
          <a:xfrm>
            <a:off x="10195560" y="411480"/>
            <a:ext cx="1417320" cy="329184"/>
          </a:xfrm>
          <a:prstGeom prst="roundRect">
            <a:avLst>
              <a:gd name="adj" fmla="val 5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MODEL</a:t>
            </a:r>
          </a:p>
        </p:txBody>
      </p:sp>
      <p:sp>
        <p:nvSpPr>
          <p:cNvPr id="6" name="node Genome"/>
          <p:cNvSpPr/>
          <p:nvPr/>
        </p:nvSpPr>
        <p:spPr>
          <a:xfrm>
            <a:off x="960120" y="2331720"/>
            <a:ext cx="2103120" cy="10058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2000" b="1" i="0">
                <a:solidFill>
                  <a:srgbClr val="FFFFFF"/>
                </a:solidFill>
              </a:rPr>
              <a:t>Genome</a:t>
            </a:r>
          </a:p>
        </p:txBody>
      </p:sp>
      <p:sp>
        <p:nvSpPr>
          <p:cNvPr id="7" name="node KO"/>
          <p:cNvSpPr/>
          <p:nvPr/>
        </p:nvSpPr>
        <p:spPr>
          <a:xfrm>
            <a:off x="5029200" y="2331720"/>
            <a:ext cx="2103120" cy="1005840"/>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2000" b="1" i="0">
                <a:solidFill>
                  <a:srgbClr val="FFFFFF"/>
                </a:solidFill>
              </a:rPr>
              <a:t>KO</a:t>
            </a:r>
          </a:p>
        </p:txBody>
      </p:sp>
      <p:sp>
        <p:nvSpPr>
          <p:cNvPr id="8" name="node Pathway"/>
          <p:cNvSpPr/>
          <p:nvPr/>
        </p:nvSpPr>
        <p:spPr>
          <a:xfrm>
            <a:off x="9006840" y="2331720"/>
            <a:ext cx="2103120" cy="1005840"/>
          </a:xfrm>
          <a:prstGeom prst="ellipse">
            <a:avLst/>
          </a:prstGeom>
          <a:solidFill>
            <a:srgbClr val="A02B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2000" b="1" i="0">
                <a:solidFill>
                  <a:srgbClr val="FFFFFF"/>
                </a:solidFill>
              </a:rPr>
              <a:t>Pathway</a:t>
            </a:r>
          </a:p>
        </p:txBody>
      </p:sp>
      <p:sp>
        <p:nvSpPr>
          <p:cNvPr id="9" name="node Taxon"/>
          <p:cNvSpPr/>
          <p:nvPr/>
        </p:nvSpPr>
        <p:spPr>
          <a:xfrm>
            <a:off x="960120" y="4526280"/>
            <a:ext cx="2103120" cy="1005840"/>
          </a:xfrm>
          <a:prstGeom prst="ellipse">
            <a:avLst/>
          </a:prstGeom>
          <a:solidFill>
            <a:srgbClr val="2E8B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2000" b="1" i="0">
                <a:solidFill>
                  <a:srgbClr val="FFFFFF"/>
                </a:solidFill>
              </a:rPr>
              <a:t>Taxon</a:t>
            </a:r>
          </a:p>
        </p:txBody>
      </p:sp>
      <p:sp>
        <p:nvSpPr>
          <p:cNvPr id="10" name="node Taxon"/>
          <p:cNvSpPr/>
          <p:nvPr/>
        </p:nvSpPr>
        <p:spPr>
          <a:xfrm>
            <a:off x="5029200" y="4526280"/>
            <a:ext cx="2103120" cy="1005840"/>
          </a:xfrm>
          <a:prstGeom prst="ellipse">
            <a:avLst/>
          </a:prstGeom>
          <a:solidFill>
            <a:srgbClr val="2E8B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700" b="1" i="0">
                <a:solidFill>
                  <a:srgbClr val="FFFFFF"/>
                </a:solidFill>
              </a:rPr>
              <a:t>Taxon</a:t>
            </a:r>
          </a:p>
          <a:p>
            <a:pPr algn="ctr"/>
            <a:r>
              <a:rPr sz="1700" b="0" i="0">
                <a:solidFill>
                  <a:srgbClr val="FFFFFF"/>
                </a:solidFill>
              </a:rPr>
              <a:t>(its parent)</a:t>
            </a:r>
          </a:p>
        </p:txBody>
      </p:sp>
      <p:cxnSp>
        <p:nvCxnSpPr>
          <p:cNvPr id="11" name="edge"/>
          <p:cNvCxnSpPr/>
          <p:nvPr/>
        </p:nvCxnSpPr>
        <p:spPr>
          <a:xfrm>
            <a:off x="3063240" y="2834640"/>
            <a:ext cx="1965960" cy="0"/>
          </a:xfrm>
          <a:prstGeom prst="line">
            <a:avLst/>
          </a:prstGeom>
          <a:ln w="31750">
            <a:solidFill>
              <a:srgbClr val="0E2841"/>
            </a:solidFill>
            <a:tailEnd type="triangle"/>
          </a:ln>
        </p:spPr>
        <p:style>
          <a:lnRef idx="2">
            <a:schemeClr val="accent1"/>
          </a:lnRef>
          <a:fillRef idx="0">
            <a:schemeClr val="accent1"/>
          </a:fillRef>
          <a:effectRef idx="1">
            <a:schemeClr val="accent1"/>
          </a:effectRef>
          <a:fontRef idx="minor">
            <a:schemeClr val="tx1"/>
          </a:fontRef>
        </p:style>
      </p:cxnSp>
      <p:sp>
        <p:nvSpPr>
          <p:cNvPr id="12" name="edge label"/>
          <p:cNvSpPr txBox="1"/>
          <p:nvPr/>
        </p:nvSpPr>
        <p:spPr>
          <a:xfrm>
            <a:off x="3040379" y="2103120"/>
            <a:ext cx="2011680" cy="594360"/>
          </a:xfrm>
          <a:prstGeom prst="rect">
            <a:avLst/>
          </a:prstGeom>
          <a:noFill/>
        </p:spPr>
        <p:txBody>
          <a:bodyPr wrap="square" lIns="9144" rIns="9144" tIns="27432" bIns="27432" anchor="t">
            <a:spAutoFit/>
          </a:bodyPr>
          <a:lstStyle/>
          <a:p>
            <a:pPr algn="ctr">
              <a:spcAft>
                <a:spcPts val="0"/>
              </a:spcAft>
            </a:pPr>
            <a:r>
              <a:rPr sz="1400" b="1" i="0">
                <a:solidFill>
                  <a:srgbClr val="0E2841"/>
                </a:solidFill>
              </a:rPr>
              <a:t>CONTAINS_KO</a:t>
            </a:r>
          </a:p>
          <a:p>
            <a:pPr algn="ctr">
              <a:spcAft>
                <a:spcPts val="0"/>
              </a:spcAft>
            </a:pPr>
            <a:r>
              <a:rPr sz="1400" b="1" i="0">
                <a:solidFill>
                  <a:srgbClr val="0E2841"/>
                </a:solidFill>
              </a:rPr>
              <a:t>{copies}</a:t>
            </a:r>
          </a:p>
        </p:txBody>
      </p:sp>
      <p:cxnSp>
        <p:nvCxnSpPr>
          <p:cNvPr id="13" name="edge"/>
          <p:cNvCxnSpPr/>
          <p:nvPr/>
        </p:nvCxnSpPr>
        <p:spPr>
          <a:xfrm>
            <a:off x="7132320" y="2834640"/>
            <a:ext cx="1874520" cy="0"/>
          </a:xfrm>
          <a:prstGeom prst="line">
            <a:avLst/>
          </a:prstGeom>
          <a:ln w="31750">
            <a:solidFill>
              <a:srgbClr val="0E2841"/>
            </a:solidFill>
            <a:tailEnd type="triangle"/>
          </a:ln>
        </p:spPr>
        <p:style>
          <a:lnRef idx="2">
            <a:schemeClr val="accent1"/>
          </a:lnRef>
          <a:fillRef idx="0">
            <a:schemeClr val="accent1"/>
          </a:fillRef>
          <a:effectRef idx="1">
            <a:schemeClr val="accent1"/>
          </a:effectRef>
          <a:fontRef idx="minor">
            <a:schemeClr val="tx1"/>
          </a:fontRef>
        </p:style>
      </p:cxnSp>
      <p:sp>
        <p:nvSpPr>
          <p:cNvPr id="14" name="edge label"/>
          <p:cNvSpPr txBox="1"/>
          <p:nvPr/>
        </p:nvSpPr>
        <p:spPr>
          <a:xfrm>
            <a:off x="7200899" y="2423160"/>
            <a:ext cx="1737360" cy="320040"/>
          </a:xfrm>
          <a:prstGeom prst="rect">
            <a:avLst/>
          </a:prstGeom>
          <a:noFill/>
        </p:spPr>
        <p:txBody>
          <a:bodyPr wrap="square" lIns="9144" rIns="9144" tIns="27432" bIns="27432" anchor="t">
            <a:spAutoFit/>
          </a:bodyPr>
          <a:lstStyle/>
          <a:p>
            <a:pPr algn="ctr">
              <a:spcAft>
                <a:spcPts val="0"/>
              </a:spcAft>
            </a:pPr>
            <a:r>
              <a:rPr sz="1400" b="1" i="0">
                <a:solidFill>
                  <a:srgbClr val="0E2841"/>
                </a:solidFill>
              </a:rPr>
              <a:t>IN_PATHWAY</a:t>
            </a:r>
          </a:p>
        </p:txBody>
      </p:sp>
      <p:cxnSp>
        <p:nvCxnSpPr>
          <p:cNvPr id="15" name="edge"/>
          <p:cNvCxnSpPr/>
          <p:nvPr/>
        </p:nvCxnSpPr>
        <p:spPr>
          <a:xfrm>
            <a:off x="2011680" y="3337560"/>
            <a:ext cx="0" cy="1188720"/>
          </a:xfrm>
          <a:prstGeom prst="line">
            <a:avLst/>
          </a:prstGeom>
          <a:ln w="31750">
            <a:solidFill>
              <a:srgbClr val="0E2841"/>
            </a:solidFill>
            <a:tailEnd type="triangle"/>
          </a:ln>
        </p:spPr>
        <p:style>
          <a:lnRef idx="2">
            <a:schemeClr val="accent1"/>
          </a:lnRef>
          <a:fillRef idx="0">
            <a:schemeClr val="accent1"/>
          </a:fillRef>
          <a:effectRef idx="1">
            <a:schemeClr val="accent1"/>
          </a:effectRef>
          <a:fontRef idx="minor">
            <a:schemeClr val="tx1"/>
          </a:fontRef>
        </p:style>
      </p:cxnSp>
      <p:sp>
        <p:nvSpPr>
          <p:cNvPr id="16" name="edge label"/>
          <p:cNvSpPr txBox="1"/>
          <p:nvPr/>
        </p:nvSpPr>
        <p:spPr>
          <a:xfrm>
            <a:off x="2057400" y="3794760"/>
            <a:ext cx="1737360" cy="320040"/>
          </a:xfrm>
          <a:prstGeom prst="rect">
            <a:avLst/>
          </a:prstGeom>
          <a:noFill/>
        </p:spPr>
        <p:txBody>
          <a:bodyPr wrap="square" lIns="9144" rIns="9144" tIns="27432" bIns="27432" anchor="t">
            <a:spAutoFit/>
          </a:bodyPr>
          <a:lstStyle/>
          <a:p>
            <a:pPr algn="ctr">
              <a:spcAft>
                <a:spcPts val="0"/>
              </a:spcAft>
            </a:pPr>
            <a:r>
              <a:rPr sz="1400" b="1" i="0">
                <a:solidFill>
                  <a:srgbClr val="0E2841"/>
                </a:solidFill>
              </a:rPr>
              <a:t>CLASSIFIED_AS</a:t>
            </a:r>
          </a:p>
        </p:txBody>
      </p:sp>
      <p:cxnSp>
        <p:nvCxnSpPr>
          <p:cNvPr id="17" name="edge"/>
          <p:cNvCxnSpPr/>
          <p:nvPr/>
        </p:nvCxnSpPr>
        <p:spPr>
          <a:xfrm>
            <a:off x="3063240" y="5029200"/>
            <a:ext cx="1965960" cy="0"/>
          </a:xfrm>
          <a:prstGeom prst="line">
            <a:avLst/>
          </a:prstGeom>
          <a:ln w="31750">
            <a:solidFill>
              <a:srgbClr val="0E2841"/>
            </a:solidFill>
            <a:tailEnd type="triangle"/>
          </a:ln>
        </p:spPr>
        <p:style>
          <a:lnRef idx="2">
            <a:schemeClr val="accent1"/>
          </a:lnRef>
          <a:fillRef idx="0">
            <a:schemeClr val="accent1"/>
          </a:fillRef>
          <a:effectRef idx="1">
            <a:schemeClr val="accent1"/>
          </a:effectRef>
          <a:fontRef idx="minor">
            <a:schemeClr val="tx1"/>
          </a:fontRef>
        </p:style>
      </p:cxnSp>
      <p:sp>
        <p:nvSpPr>
          <p:cNvPr id="18" name="edge label"/>
          <p:cNvSpPr txBox="1"/>
          <p:nvPr/>
        </p:nvSpPr>
        <p:spPr>
          <a:xfrm>
            <a:off x="3314700" y="4617720"/>
            <a:ext cx="1463040" cy="320040"/>
          </a:xfrm>
          <a:prstGeom prst="rect">
            <a:avLst/>
          </a:prstGeom>
          <a:noFill/>
        </p:spPr>
        <p:txBody>
          <a:bodyPr wrap="square" lIns="9144" rIns="9144" tIns="27432" bIns="27432" anchor="t">
            <a:spAutoFit/>
          </a:bodyPr>
          <a:lstStyle/>
          <a:p>
            <a:pPr algn="ctr">
              <a:spcAft>
                <a:spcPts val="0"/>
              </a:spcAft>
            </a:pPr>
            <a:r>
              <a:rPr sz="1400" b="1" i="0">
                <a:solidFill>
                  <a:srgbClr val="0E2841"/>
                </a:solidFill>
              </a:rPr>
              <a:t>CHILD_OF</a:t>
            </a:r>
          </a:p>
        </p:txBody>
      </p:sp>
      <p:sp>
        <p:nvSpPr>
          <p:cNvPr id="19" name="props"/>
          <p:cNvSpPr txBox="1"/>
          <p:nvPr/>
        </p:nvSpPr>
        <p:spPr>
          <a:xfrm>
            <a:off x="822960" y="1417320"/>
            <a:ext cx="2377440" cy="640080"/>
          </a:xfrm>
          <a:prstGeom prst="rect">
            <a:avLst/>
          </a:prstGeom>
          <a:noFill/>
        </p:spPr>
        <p:txBody>
          <a:bodyPr wrap="square" lIns="45720" rIns="45720" tIns="27432" bIns="27432" anchor="t">
            <a:spAutoFit/>
          </a:bodyPr>
          <a:lstStyle/>
          <a:p>
            <a:pPr algn="ctr">
              <a:spcAft>
                <a:spcPts val="0"/>
              </a:spcAft>
            </a:pPr>
            <a:r>
              <a:rPr sz="1300" b="1" i="0">
                <a:solidFill>
                  <a:srgbClr val="156082"/>
                </a:solidFill>
              </a:rPr>
              <a:t>genome_id · name</a:t>
            </a:r>
          </a:p>
          <a:p>
            <a:pPr algn="ctr">
              <a:spcAft>
                <a:spcPts val="0"/>
              </a:spcAft>
            </a:pPr>
            <a:r>
              <a:rPr sz="1300" b="1" i="0">
                <a:solidFill>
                  <a:srgbClr val="156082"/>
                </a:solidFill>
              </a:rPr>
              <a:t>assembly · n_protein_genes</a:t>
            </a:r>
          </a:p>
        </p:txBody>
      </p:sp>
      <p:sp>
        <p:nvSpPr>
          <p:cNvPr id="20" name="props"/>
          <p:cNvSpPr txBox="1"/>
          <p:nvPr/>
        </p:nvSpPr>
        <p:spPr>
          <a:xfrm>
            <a:off x="4892040" y="1417320"/>
            <a:ext cx="2377440" cy="640080"/>
          </a:xfrm>
          <a:prstGeom prst="rect">
            <a:avLst/>
          </a:prstGeom>
          <a:noFill/>
        </p:spPr>
        <p:txBody>
          <a:bodyPr wrap="square" lIns="45720" rIns="45720" tIns="27432" bIns="27432" anchor="t">
            <a:spAutoFit/>
          </a:bodyPr>
          <a:lstStyle/>
          <a:p>
            <a:pPr algn="ctr">
              <a:spcAft>
                <a:spcPts val="0"/>
              </a:spcAft>
            </a:pPr>
            <a:r>
              <a:rPr sz="1300" b="1" i="0">
                <a:solidFill>
                  <a:srgbClr val="E97132"/>
                </a:solidFill>
              </a:rPr>
              <a:t>ko_id · name</a:t>
            </a:r>
          </a:p>
          <a:p>
            <a:pPr algn="ctr">
              <a:spcAft>
                <a:spcPts val="0"/>
              </a:spcAft>
            </a:pPr>
            <a:r>
              <a:rPr sz="1300" b="1" i="0">
                <a:solidFill>
                  <a:srgbClr val="E97132"/>
                </a:solidFill>
              </a:rPr>
              <a:t>symbol · definition</a:t>
            </a:r>
          </a:p>
        </p:txBody>
      </p:sp>
      <p:sp>
        <p:nvSpPr>
          <p:cNvPr id="21" name="props"/>
          <p:cNvSpPr txBox="1"/>
          <p:nvPr/>
        </p:nvSpPr>
        <p:spPr>
          <a:xfrm>
            <a:off x="8869680" y="1417320"/>
            <a:ext cx="2377440" cy="640080"/>
          </a:xfrm>
          <a:prstGeom prst="rect">
            <a:avLst/>
          </a:prstGeom>
          <a:noFill/>
        </p:spPr>
        <p:txBody>
          <a:bodyPr wrap="square" lIns="45720" rIns="45720" tIns="27432" bIns="27432" anchor="t">
            <a:spAutoFit/>
          </a:bodyPr>
          <a:lstStyle/>
          <a:p>
            <a:pPr algn="ctr">
              <a:spcAft>
                <a:spcPts val="0"/>
              </a:spcAft>
            </a:pPr>
            <a:r>
              <a:rPr sz="1300" b="1" i="0">
                <a:solidFill>
                  <a:srgbClr val="A02B93"/>
                </a:solidFill>
              </a:rPr>
              <a:t>pathway_id · name</a:t>
            </a:r>
          </a:p>
        </p:txBody>
      </p:sp>
      <p:sp>
        <p:nvSpPr>
          <p:cNvPr id="22" name="props"/>
          <p:cNvSpPr txBox="1"/>
          <p:nvPr/>
        </p:nvSpPr>
        <p:spPr>
          <a:xfrm>
            <a:off x="822960" y="5623560"/>
            <a:ext cx="2377440" cy="640080"/>
          </a:xfrm>
          <a:prstGeom prst="rect">
            <a:avLst/>
          </a:prstGeom>
          <a:noFill/>
        </p:spPr>
        <p:txBody>
          <a:bodyPr wrap="square" lIns="45720" rIns="45720" tIns="27432" bIns="27432" anchor="t">
            <a:spAutoFit/>
          </a:bodyPr>
          <a:lstStyle/>
          <a:p>
            <a:pPr algn="ctr">
              <a:spcAft>
                <a:spcPts val="0"/>
              </a:spcAft>
            </a:pPr>
            <a:r>
              <a:rPr sz="1300" b="1" i="0">
                <a:solidFill>
                  <a:srgbClr val="2E8B3E"/>
                </a:solidFill>
              </a:rPr>
              <a:t>taxid · name · rank</a:t>
            </a:r>
          </a:p>
          <a:p>
            <a:pPr algn="ctr">
              <a:spcAft>
                <a:spcPts val="0"/>
              </a:spcAft>
            </a:pPr>
            <a:r>
              <a:rPr sz="1300" b="1" i="0">
                <a:solidFill>
                  <a:srgbClr val="2E8B3E"/>
                </a:solidFill>
              </a:rPr>
              <a:t>rank_level</a:t>
            </a:r>
          </a:p>
        </p:txBody>
      </p:sp>
      <p:sp>
        <p:nvSpPr>
          <p:cNvPr id="23" name="legend"/>
          <p:cNvSpPr txBox="1"/>
          <p:nvPr/>
        </p:nvSpPr>
        <p:spPr>
          <a:xfrm>
            <a:off x="7498079" y="4663440"/>
            <a:ext cx="4114800" cy="1554480"/>
          </a:xfrm>
          <a:prstGeom prst="rect">
            <a:avLst/>
          </a:prstGeom>
          <a:noFill/>
        </p:spPr>
        <p:txBody>
          <a:bodyPr wrap="square" lIns="45720" rIns="45720" tIns="27432" bIns="27432" anchor="t">
            <a:spAutoFit/>
          </a:bodyPr>
          <a:lstStyle/>
          <a:p>
            <a:pPr algn="l">
              <a:spcAft>
                <a:spcPts val="400"/>
              </a:spcAft>
            </a:pPr>
            <a:r>
              <a:rPr sz="1400" b="0" i="0">
                <a:solidFill>
                  <a:srgbClr val="595959"/>
                </a:solidFill>
              </a:rPr>
              <a:t>Node = noun · label</a:t>
            </a:r>
          </a:p>
          <a:p>
            <a:pPr algn="l">
              <a:spcAft>
                <a:spcPts val="400"/>
              </a:spcAft>
            </a:pPr>
            <a:r>
              <a:rPr sz="1400" b="0" i="0">
                <a:solidFill>
                  <a:srgbClr val="595959"/>
                </a:solidFill>
              </a:rPr>
              <a:t>Relationship = verb · type + direction</a:t>
            </a:r>
          </a:p>
          <a:p>
            <a:pPr algn="l">
              <a:spcAft>
                <a:spcPts val="400"/>
              </a:spcAft>
            </a:pPr>
            <a:r>
              <a:rPr sz="1400" b="0" i="0">
                <a:solidFill>
                  <a:srgbClr val="595959"/>
                </a:solidFill>
              </a:rPr>
              <a:t>Properties = attributes, on nodes </a:t>
            </a:r>
            <a:r>
              <a:rPr sz="1400" b="1" i="0">
                <a:solidFill>
                  <a:srgbClr val="595959"/>
                </a:solidFill>
              </a:rPr>
              <a:t>and</a:t>
            </a:r>
            <a:r>
              <a:rPr sz="1400" b="0" i="0">
                <a:solidFill>
                  <a:srgbClr val="595959"/>
                </a:solidFill>
              </a:rPr>
              <a:t> relationships</a:t>
            </a:r>
          </a:p>
        </p:txBody>
      </p:sp>
      <p:sp>
        <p:nvSpPr>
          <p:cNvPr id="24" name="tree note"/>
          <p:cNvSpPr txBox="1"/>
          <p:nvPr/>
        </p:nvSpPr>
        <p:spPr>
          <a:xfrm>
            <a:off x="7498079" y="4023360"/>
            <a:ext cx="4114800" cy="594360"/>
          </a:xfrm>
          <a:prstGeom prst="rect">
            <a:avLst/>
          </a:prstGeom>
          <a:noFill/>
        </p:spPr>
        <p:txBody>
          <a:bodyPr wrap="square" lIns="45720" rIns="45720" tIns="27432" bIns="27432" anchor="t">
            <a:spAutoFit/>
          </a:bodyPr>
          <a:lstStyle/>
          <a:p>
            <a:pPr algn="l">
              <a:spcAft>
                <a:spcPts val="600"/>
              </a:spcAft>
            </a:pPr>
            <a:r>
              <a:rPr sz="1300" b="1" i="0">
                <a:solidFill>
                  <a:srgbClr val="2E8B3E"/>
                </a:solidFill>
              </a:rPr>
              <a:t>The tree = </a:t>
            </a:r>
            <a:r>
              <a:rPr sz="1300" b="1" i="0">
                <a:solidFill>
                  <a:srgbClr val="2E8B3E"/>
                </a:solidFill>
                <a:latin typeface="Courier New"/>
              </a:rPr>
              <a:t>CHILD_OF</a:t>
            </a:r>
            <a:r>
              <a:rPr sz="1300" b="1" i="0">
                <a:solidFill>
                  <a:srgbClr val="2E8B3E"/>
                </a:solidFill>
              </a:rPr>
              <a:t> repeated:</a:t>
            </a:r>
          </a:p>
          <a:p>
            <a:pPr algn="l">
              <a:spcAft>
                <a:spcPts val="600"/>
              </a:spcAft>
            </a:pPr>
            <a:r>
              <a:rPr sz="1300" b="1" i="0">
                <a:solidFill>
                  <a:srgbClr val="2E8B3E"/>
                </a:solidFill>
                <a:latin typeface="Courier New"/>
              </a:rPr>
              <a:t>(:Taxon)-[:CHILD_OF]-&gt;(:Taxon)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9509760" cy="777240"/>
          </a:xfrm>
        </p:spPr>
        <p:txBody>
          <a:bodyPr wrap="square" anchor="ctr"/>
          <a:lstStyle/>
          <a:p>
            <a:pPr algn="l"/>
            <a:r>
              <a:rPr sz="3000" b="1" i="0">
                <a:solidFill>
                  <a:srgbClr val="0E2841"/>
                </a:solidFill>
              </a:rPr>
              <a:t>Design decisions: the “why” behind the model</a:t>
            </a:r>
          </a:p>
        </p:txBody>
      </p:sp>
      <p:sp>
        <p:nvSpPr>
          <p:cNvPr id="3" name="footer"/>
          <p:cNvSpPr txBox="1"/>
          <p:nvPr/>
        </p:nvSpPr>
        <p:spPr>
          <a:xfrm>
            <a:off x="548640" y="6455664"/>
            <a:ext cx="8686800" cy="274320"/>
          </a:xfrm>
          <a:prstGeom prst="rect">
            <a:avLst/>
          </a:prstGeom>
          <a:noFill/>
        </p:spPr>
        <p:txBody>
          <a:bodyPr wrap="square" lIns="45720" rIns="45720" tIns="27432" bIns="27432" anchor="t">
            <a:spAutoFit/>
          </a:bodyPr>
          <a:lstStyle/>
          <a:p>
            <a:pPr algn="l">
              <a:spcAft>
                <a:spcPts val="600"/>
              </a:spcAft>
            </a:pPr>
            <a:r>
              <a:rPr sz="1000" b="0" i="0">
                <a:solidFill>
                  <a:srgbClr val="595959"/>
                </a:solidFill>
              </a:rPr>
              <a:t>NoSQL Databases for Bioinformatics  ·  Lecture 27  ·  Neo4j genome workshop</a:t>
            </a:r>
          </a:p>
        </p:txBody>
      </p:sp>
      <p:sp>
        <p:nvSpPr>
          <p:cNvPr id="4" name="slide number"/>
          <p:cNvSpPr txBox="1"/>
          <p:nvPr/>
        </p:nvSpPr>
        <p:spPr>
          <a:xfrm>
            <a:off x="10698480" y="6455664"/>
            <a:ext cx="914400" cy="274320"/>
          </a:xfrm>
          <a:prstGeom prst="rect">
            <a:avLst/>
          </a:prstGeom>
          <a:noFill/>
        </p:spPr>
        <p:txBody>
          <a:bodyPr wrap="square" lIns="45720" rIns="45720" tIns="27432" bIns="27432" anchor="t">
            <a:spAutoFit/>
          </a:bodyPr>
          <a:lstStyle/>
          <a:p>
            <a:pPr algn="r">
              <a:spcAft>
                <a:spcPts val="600"/>
              </a:spcAft>
            </a:pPr>
            <a:fld id="{B6F15528-21DE-4FAA-801E-634DDDAF4B2B}" type="slidenum">
              <a:rPr lang="en-US" sz="1000">
                <a:solidFill>
                  <a:srgbClr val="595959"/>
                </a:solidFill>
              </a:rPr>
              <a:t>‹#›</a:t>
            </a:fld>
          </a:p>
        </p:txBody>
      </p:sp>
      <p:sp>
        <p:nvSpPr>
          <p:cNvPr id="5" name="step tag"/>
          <p:cNvSpPr/>
          <p:nvPr/>
        </p:nvSpPr>
        <p:spPr>
          <a:xfrm>
            <a:off x="10195560" y="411480"/>
            <a:ext cx="1417320" cy="329184"/>
          </a:xfrm>
          <a:prstGeom prst="roundRect">
            <a:avLst>
              <a:gd name="adj" fmla="val 5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MODEL</a:t>
            </a:r>
          </a:p>
        </p:txBody>
      </p:sp>
      <p:sp>
        <p:nvSpPr>
          <p:cNvPr id="6" name="decision 0 bg"/>
          <p:cNvSpPr/>
          <p:nvPr/>
        </p:nvSpPr>
        <p:spPr>
          <a:xfrm>
            <a:off x="548640" y="1371600"/>
            <a:ext cx="5440680" cy="2286000"/>
          </a:xfrm>
          <a:prstGeom prst="roundRect">
            <a:avLst>
              <a:gd name="adj" fmla="val 24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decision 0 title"/>
          <p:cNvSpPr txBox="1"/>
          <p:nvPr/>
        </p:nvSpPr>
        <p:spPr>
          <a:xfrm>
            <a:off x="658368" y="1444752"/>
            <a:ext cx="5221224" cy="411480"/>
          </a:xfrm>
          <a:prstGeom prst="rect">
            <a:avLst/>
          </a:prstGeom>
          <a:noFill/>
        </p:spPr>
        <p:txBody>
          <a:bodyPr wrap="square" lIns="45720" rIns="45720" tIns="27432" bIns="27432" anchor="t">
            <a:spAutoFit/>
          </a:bodyPr>
          <a:lstStyle/>
          <a:p>
            <a:pPr algn="l">
              <a:spcAft>
                <a:spcPts val="600"/>
              </a:spcAft>
            </a:pPr>
            <a:r>
              <a:rPr sz="2000" b="1" i="0">
                <a:solidFill>
                  <a:srgbClr val="E97132"/>
                </a:solidFill>
              </a:rPr>
              <a:t>KO is a node, not a list property</a:t>
            </a:r>
          </a:p>
        </p:txBody>
      </p:sp>
      <p:sp>
        <p:nvSpPr>
          <p:cNvPr id="8" name="decision 0 body"/>
          <p:cNvSpPr txBox="1"/>
          <p:nvPr/>
        </p:nvSpPr>
        <p:spPr>
          <a:xfrm>
            <a:off x="658368" y="1859280"/>
            <a:ext cx="5221224" cy="1706879"/>
          </a:xfrm>
          <a:prstGeom prst="rect">
            <a:avLst/>
          </a:prstGeom>
          <a:noFill/>
        </p:spPr>
        <p:txBody>
          <a:bodyPr wrap="square" lIns="45720" rIns="45720" tIns="27432" bIns="27432" anchor="t">
            <a:spAutoFit/>
          </a:bodyPr>
          <a:lstStyle/>
          <a:p>
            <a:pPr algn="l">
              <a:spcAft>
                <a:spcPts val="400"/>
              </a:spcAft>
            </a:pPr>
            <a:r>
              <a:rPr sz="1800" b="0" i="0">
                <a:solidFill>
                  <a:srgbClr val="156082"/>
                </a:solidFill>
                <a:latin typeface="Courier New"/>
              </a:rPr>
              <a:t>Genome.kos = [...]</a:t>
            </a:r>
            <a:r>
              <a:rPr sz="1800" b="0" i="0">
                <a:solidFill>
                  <a:srgbClr val="0E2841"/>
                </a:solidFill>
              </a:rPr>
              <a:t> would force a scan of every genome to answer </a:t>
            </a:r>
            <a:r>
              <a:rPr sz="1800" b="0" i="1">
                <a:solidFill>
                  <a:srgbClr val="0E2841"/>
                </a:solidFill>
              </a:rPr>
              <a:t>“who has K04077?”</a:t>
            </a:r>
            <a:r>
              <a:rPr sz="1800" b="0" i="0">
                <a:solidFill>
                  <a:srgbClr val="0E2841"/>
                </a:solidFill>
              </a:rPr>
              <a:t>. As a node, the KO knows its genomes (</a:t>
            </a:r>
            <a:r>
              <a:rPr sz="1800" b="1" i="0">
                <a:solidFill>
                  <a:srgbClr val="0E2841"/>
                </a:solidFill>
              </a:rPr>
              <a:t>Q1</a:t>
            </a:r>
            <a:r>
              <a:rPr sz="1800" b="0" i="0">
                <a:solidFill>
                  <a:srgbClr val="0E2841"/>
                </a:solidFill>
              </a:rPr>
              <a:t> = two hops).</a:t>
            </a:r>
          </a:p>
        </p:txBody>
      </p:sp>
      <p:sp>
        <p:nvSpPr>
          <p:cNvPr id="9" name="decision 1 bg"/>
          <p:cNvSpPr/>
          <p:nvPr/>
        </p:nvSpPr>
        <p:spPr>
          <a:xfrm>
            <a:off x="6172200" y="1371600"/>
            <a:ext cx="5440680" cy="2286000"/>
          </a:xfrm>
          <a:prstGeom prst="roundRect">
            <a:avLst>
              <a:gd name="adj" fmla="val 24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decision 1 title"/>
          <p:cNvSpPr txBox="1"/>
          <p:nvPr/>
        </p:nvSpPr>
        <p:spPr>
          <a:xfrm>
            <a:off x="6281928" y="1444752"/>
            <a:ext cx="5221224" cy="411480"/>
          </a:xfrm>
          <a:prstGeom prst="rect">
            <a:avLst/>
          </a:prstGeom>
          <a:noFill/>
        </p:spPr>
        <p:txBody>
          <a:bodyPr wrap="square" lIns="45720" rIns="45720" tIns="27432" bIns="27432" anchor="t">
            <a:spAutoFit/>
          </a:bodyPr>
          <a:lstStyle/>
          <a:p>
            <a:pPr algn="l">
              <a:spcAft>
                <a:spcPts val="600"/>
              </a:spcAft>
            </a:pPr>
            <a:r>
              <a:rPr sz="2000" b="1" i="0">
                <a:solidFill>
                  <a:srgbClr val="156082"/>
                </a:solidFill>
                <a:latin typeface="Courier New"/>
              </a:rPr>
              <a:t>copies</a:t>
            </a:r>
            <a:r>
              <a:rPr sz="2000" b="1" i="0">
                <a:solidFill>
                  <a:srgbClr val="156082"/>
                </a:solidFill>
              </a:rPr>
              <a:t> lives on the relationship</a:t>
            </a:r>
          </a:p>
        </p:txBody>
      </p:sp>
      <p:sp>
        <p:nvSpPr>
          <p:cNvPr id="11" name="decision 1 body"/>
          <p:cNvSpPr txBox="1"/>
          <p:nvPr/>
        </p:nvSpPr>
        <p:spPr>
          <a:xfrm>
            <a:off x="6281928" y="1859280"/>
            <a:ext cx="5221224" cy="1706879"/>
          </a:xfrm>
          <a:prstGeom prst="rect">
            <a:avLst/>
          </a:prstGeom>
          <a:noFill/>
        </p:spPr>
        <p:txBody>
          <a:bodyPr wrap="square" lIns="45720" rIns="45720" tIns="27432" bIns="27432" anchor="t">
            <a:spAutoFit/>
          </a:bodyPr>
          <a:lstStyle/>
          <a:p>
            <a:pPr algn="l">
              <a:spcAft>
                <a:spcPts val="400"/>
              </a:spcAft>
            </a:pPr>
            <a:r>
              <a:rPr sz="1800" b="0" i="0">
                <a:solidFill>
                  <a:srgbClr val="0E2841"/>
                </a:solidFill>
              </a:rPr>
              <a:t>Copy number describes the </a:t>
            </a:r>
            <a:r>
              <a:rPr sz="1800" b="1" i="0">
                <a:solidFill>
                  <a:srgbClr val="0E2841"/>
                </a:solidFill>
              </a:rPr>
              <a:t>pair</a:t>
            </a:r>
            <a:r>
              <a:rPr sz="1800" b="0" i="0">
                <a:solidFill>
                  <a:srgbClr val="0E2841"/>
                </a:solidFill>
              </a:rPr>
              <a:t> (this genome, this KO), not the genome and not the KO alone.</a:t>
            </a:r>
          </a:p>
        </p:txBody>
      </p:sp>
      <p:sp>
        <p:nvSpPr>
          <p:cNvPr id="12" name="decision 2 bg"/>
          <p:cNvSpPr/>
          <p:nvPr/>
        </p:nvSpPr>
        <p:spPr>
          <a:xfrm>
            <a:off x="548640" y="3840480"/>
            <a:ext cx="5440680" cy="2286000"/>
          </a:xfrm>
          <a:prstGeom prst="roundRect">
            <a:avLst>
              <a:gd name="adj" fmla="val 24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decision 2 title"/>
          <p:cNvSpPr txBox="1"/>
          <p:nvPr/>
        </p:nvSpPr>
        <p:spPr>
          <a:xfrm>
            <a:off x="658368" y="3913632"/>
            <a:ext cx="5221224" cy="411480"/>
          </a:xfrm>
          <a:prstGeom prst="rect">
            <a:avLst/>
          </a:prstGeom>
          <a:noFill/>
        </p:spPr>
        <p:txBody>
          <a:bodyPr wrap="square" lIns="45720" rIns="45720" tIns="27432" bIns="27432" anchor="t">
            <a:spAutoFit/>
          </a:bodyPr>
          <a:lstStyle/>
          <a:p>
            <a:pPr algn="l">
              <a:spcAft>
                <a:spcPts val="600"/>
              </a:spcAft>
            </a:pPr>
            <a:r>
              <a:rPr sz="2000" b="1" i="0">
                <a:solidFill>
                  <a:srgbClr val="2E8B3E"/>
                </a:solidFill>
              </a:rPr>
              <a:t>The tree is nodes + </a:t>
            </a:r>
            <a:r>
              <a:rPr sz="2000" b="1" i="0">
                <a:solidFill>
                  <a:srgbClr val="2E8B3E"/>
                </a:solidFill>
                <a:latin typeface="Courier New"/>
              </a:rPr>
              <a:t>CHILD_OF</a:t>
            </a:r>
          </a:p>
        </p:txBody>
      </p:sp>
      <p:sp>
        <p:nvSpPr>
          <p:cNvPr id="14" name="decision 2 body"/>
          <p:cNvSpPr txBox="1"/>
          <p:nvPr/>
        </p:nvSpPr>
        <p:spPr>
          <a:xfrm>
            <a:off x="658368" y="4328160"/>
            <a:ext cx="5221224" cy="1706879"/>
          </a:xfrm>
          <a:prstGeom prst="rect">
            <a:avLst/>
          </a:prstGeom>
          <a:noFill/>
        </p:spPr>
        <p:txBody>
          <a:bodyPr wrap="square" lIns="45720" rIns="45720" tIns="27432" bIns="27432" anchor="t">
            <a:spAutoFit/>
          </a:bodyPr>
          <a:lstStyle/>
          <a:p>
            <a:pPr algn="l">
              <a:spcAft>
                <a:spcPts val="400"/>
              </a:spcAft>
            </a:pPr>
            <a:r>
              <a:rPr sz="1800" b="0" i="0">
                <a:solidFill>
                  <a:srgbClr val="0E2841"/>
                </a:solidFill>
              </a:rPr>
              <a:t>A column “phylum” only answers questions you foresaw. A tree answers </a:t>
            </a:r>
            <a:r>
              <a:rPr sz="1800" b="0" i="1">
                <a:solidFill>
                  <a:srgbClr val="0E2841"/>
                </a:solidFill>
              </a:rPr>
              <a:t>any clade, any depth</a:t>
            </a:r>
            <a:r>
              <a:rPr sz="1800" b="0" i="0">
                <a:solidFill>
                  <a:srgbClr val="0E2841"/>
                </a:solidFill>
              </a:rPr>
              <a:t> with one pattern, and a new rank changes no query.</a:t>
            </a:r>
          </a:p>
        </p:txBody>
      </p:sp>
      <p:sp>
        <p:nvSpPr>
          <p:cNvPr id="15" name="decision 3 bg"/>
          <p:cNvSpPr/>
          <p:nvPr/>
        </p:nvSpPr>
        <p:spPr>
          <a:xfrm>
            <a:off x="6172200" y="3840480"/>
            <a:ext cx="5440680" cy="2286000"/>
          </a:xfrm>
          <a:prstGeom prst="roundRect">
            <a:avLst>
              <a:gd name="adj" fmla="val 24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decision 3 title"/>
          <p:cNvSpPr txBox="1"/>
          <p:nvPr/>
        </p:nvSpPr>
        <p:spPr>
          <a:xfrm>
            <a:off x="6281928" y="3913632"/>
            <a:ext cx="5221224" cy="411480"/>
          </a:xfrm>
          <a:prstGeom prst="rect">
            <a:avLst/>
          </a:prstGeom>
          <a:noFill/>
        </p:spPr>
        <p:txBody>
          <a:bodyPr wrap="square" lIns="45720" rIns="45720" tIns="27432" bIns="27432" anchor="t">
            <a:spAutoFit/>
          </a:bodyPr>
          <a:lstStyle/>
          <a:p>
            <a:pPr algn="l">
              <a:spcAft>
                <a:spcPts val="600"/>
              </a:spcAft>
            </a:pPr>
            <a:r>
              <a:rPr sz="2000" b="1" i="0">
                <a:solidFill>
                  <a:srgbClr val="0E2841"/>
                </a:solidFill>
              </a:rPr>
              <a:t>Genome → species only</a:t>
            </a:r>
          </a:p>
        </p:txBody>
      </p:sp>
      <p:sp>
        <p:nvSpPr>
          <p:cNvPr id="17" name="decision 3 body"/>
          <p:cNvSpPr txBox="1"/>
          <p:nvPr/>
        </p:nvSpPr>
        <p:spPr>
          <a:xfrm>
            <a:off x="6281928" y="4328160"/>
            <a:ext cx="5221224" cy="1706879"/>
          </a:xfrm>
          <a:prstGeom prst="rect">
            <a:avLst/>
          </a:prstGeom>
          <a:noFill/>
        </p:spPr>
        <p:txBody>
          <a:bodyPr wrap="square" lIns="45720" rIns="45720" tIns="27432" bIns="27432" anchor="t">
            <a:spAutoFit/>
          </a:bodyPr>
          <a:lstStyle/>
          <a:p>
            <a:pPr algn="l">
              <a:spcAft>
                <a:spcPts val="400"/>
              </a:spcAft>
            </a:pPr>
            <a:r>
              <a:rPr sz="1800" b="0" i="0">
                <a:solidFill>
                  <a:srgbClr val="0E2841"/>
                </a:solidFill>
              </a:rPr>
              <a:t>Ancestors are always one traversal away. Store each fact </a:t>
            </a:r>
            <a:r>
              <a:rPr sz="1800" b="1" i="0">
                <a:solidFill>
                  <a:srgbClr val="0E2841"/>
                </a:solidFill>
              </a:rPr>
              <a:t>once</a:t>
            </a:r>
            <a:r>
              <a:rPr sz="1800" b="0" i="0">
                <a:solidFill>
                  <a:srgbClr val="0E2841"/>
                </a:solidFill>
              </a:rPr>
              <a:t>; redundant links would have to be kept in sync.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9509760" cy="777240"/>
          </a:xfrm>
        </p:spPr>
        <p:txBody>
          <a:bodyPr wrap="square" anchor="ctr"/>
          <a:lstStyle/>
          <a:p>
            <a:pPr algn="l"/>
            <a:r>
              <a:rPr sz="3000" b="1" i="0">
                <a:solidFill>
                  <a:srgbClr val="0E2841"/>
                </a:solidFill>
              </a:rPr>
              <a:t>Warm-up: a graph you can check by eye</a:t>
            </a:r>
          </a:p>
        </p:txBody>
      </p:sp>
      <p:sp>
        <p:nvSpPr>
          <p:cNvPr id="3" name="footer"/>
          <p:cNvSpPr txBox="1"/>
          <p:nvPr/>
        </p:nvSpPr>
        <p:spPr>
          <a:xfrm>
            <a:off x="548640" y="6455664"/>
            <a:ext cx="8686800" cy="274320"/>
          </a:xfrm>
          <a:prstGeom prst="rect">
            <a:avLst/>
          </a:prstGeom>
          <a:noFill/>
        </p:spPr>
        <p:txBody>
          <a:bodyPr wrap="square" lIns="45720" rIns="45720" tIns="27432" bIns="27432" anchor="t">
            <a:spAutoFit/>
          </a:bodyPr>
          <a:lstStyle/>
          <a:p>
            <a:pPr algn="l">
              <a:spcAft>
                <a:spcPts val="600"/>
              </a:spcAft>
            </a:pPr>
            <a:r>
              <a:rPr sz="1000" b="0" i="0">
                <a:solidFill>
                  <a:srgbClr val="595959"/>
                </a:solidFill>
              </a:rPr>
              <a:t>NoSQL Databases for Bioinformatics  ·  Lecture 27  ·  Neo4j genome workshop</a:t>
            </a:r>
          </a:p>
        </p:txBody>
      </p:sp>
      <p:sp>
        <p:nvSpPr>
          <p:cNvPr id="4" name="slide number"/>
          <p:cNvSpPr txBox="1"/>
          <p:nvPr/>
        </p:nvSpPr>
        <p:spPr>
          <a:xfrm>
            <a:off x="10698480" y="6455664"/>
            <a:ext cx="914400" cy="274320"/>
          </a:xfrm>
          <a:prstGeom prst="rect">
            <a:avLst/>
          </a:prstGeom>
          <a:noFill/>
        </p:spPr>
        <p:txBody>
          <a:bodyPr wrap="square" lIns="45720" rIns="45720" tIns="27432" bIns="27432" anchor="t">
            <a:spAutoFit/>
          </a:bodyPr>
          <a:lstStyle/>
          <a:p>
            <a:pPr algn="r">
              <a:spcAft>
                <a:spcPts val="600"/>
              </a:spcAft>
            </a:pPr>
            <a:fld id="{B6F15528-21DE-4FAA-801E-634DDDAF4B2B}" type="slidenum">
              <a:rPr lang="en-US" sz="1000">
                <a:solidFill>
                  <a:srgbClr val="595959"/>
                </a:solidFill>
              </a:rPr>
              <a:t>‹#›</a:t>
            </a:fld>
          </a:p>
        </p:txBody>
      </p:sp>
      <p:sp>
        <p:nvSpPr>
          <p:cNvPr id="5" name="step tag"/>
          <p:cNvSpPr/>
          <p:nvPr/>
        </p:nvSpPr>
        <p:spPr>
          <a:xfrm>
            <a:off x="10195560" y="411480"/>
            <a:ext cx="1417320" cy="329184"/>
          </a:xfrm>
          <a:prstGeom prst="roundRect">
            <a:avLst>
              <a:gd name="adj" fmla="val 5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MODEL</a:t>
            </a:r>
          </a:p>
        </p:txBody>
      </p:sp>
      <p:sp>
        <p:nvSpPr>
          <p:cNvPr id="6" name="node eco"/>
          <p:cNvSpPr/>
          <p:nvPr/>
        </p:nvSpPr>
        <p:spPr>
          <a:xfrm>
            <a:off x="822960" y="1636776"/>
            <a:ext cx="1280160" cy="566928"/>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i="0">
                <a:solidFill>
                  <a:srgbClr val="FFFFFF"/>
                </a:solidFill>
              </a:rPr>
              <a:t>eco</a:t>
            </a:r>
          </a:p>
        </p:txBody>
      </p:sp>
      <p:sp>
        <p:nvSpPr>
          <p:cNvPr id="7" name="node bsu"/>
          <p:cNvSpPr/>
          <p:nvPr/>
        </p:nvSpPr>
        <p:spPr>
          <a:xfrm>
            <a:off x="822960" y="2642616"/>
            <a:ext cx="1280160" cy="566928"/>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i="0">
                <a:solidFill>
                  <a:srgbClr val="FFFFFF"/>
                </a:solidFill>
              </a:rPr>
              <a:t>bsu</a:t>
            </a:r>
          </a:p>
        </p:txBody>
      </p:sp>
      <p:sp>
        <p:nvSpPr>
          <p:cNvPr id="8" name="node syn"/>
          <p:cNvSpPr/>
          <p:nvPr/>
        </p:nvSpPr>
        <p:spPr>
          <a:xfrm>
            <a:off x="822960" y="3648456"/>
            <a:ext cx="1280160" cy="566928"/>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i="0">
                <a:solidFill>
                  <a:srgbClr val="FFFFFF"/>
                </a:solidFill>
              </a:rPr>
              <a:t>syn</a:t>
            </a:r>
          </a:p>
        </p:txBody>
      </p:sp>
      <p:sp>
        <p:nvSpPr>
          <p:cNvPr id="9" name="node mge"/>
          <p:cNvSpPr/>
          <p:nvPr/>
        </p:nvSpPr>
        <p:spPr>
          <a:xfrm>
            <a:off x="822960" y="4654296"/>
            <a:ext cx="1280160" cy="566928"/>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i="0">
                <a:solidFill>
                  <a:srgbClr val="FFFFFF"/>
                </a:solidFill>
              </a:rPr>
              <a:t>mge</a:t>
            </a:r>
          </a:p>
        </p:txBody>
      </p:sp>
      <p:sp>
        <p:nvSpPr>
          <p:cNvPr id="10" name="node groEL"/>
          <p:cNvSpPr/>
          <p:nvPr/>
        </p:nvSpPr>
        <p:spPr>
          <a:xfrm>
            <a:off x="4800600" y="1527048"/>
            <a:ext cx="1554480" cy="512064"/>
          </a:xfrm>
          <a:prstGeom prst="roundRect">
            <a:avLst>
              <a:gd name="adj" fmla="val 21428"/>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i="0">
                <a:solidFill>
                  <a:srgbClr val="FFFFFF"/>
                </a:solidFill>
              </a:rPr>
              <a:t>groEL</a:t>
            </a:r>
          </a:p>
        </p:txBody>
      </p:sp>
      <p:sp>
        <p:nvSpPr>
          <p:cNvPr id="11" name="node rpoB"/>
          <p:cNvSpPr/>
          <p:nvPr/>
        </p:nvSpPr>
        <p:spPr>
          <a:xfrm>
            <a:off x="4800600" y="2350008"/>
            <a:ext cx="1554480" cy="512064"/>
          </a:xfrm>
          <a:prstGeom prst="roundRect">
            <a:avLst>
              <a:gd name="adj" fmla="val 21428"/>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i="0">
                <a:solidFill>
                  <a:srgbClr val="FFFFFF"/>
                </a:solidFill>
              </a:rPr>
              <a:t>rpoB</a:t>
            </a:r>
          </a:p>
        </p:txBody>
      </p:sp>
      <p:sp>
        <p:nvSpPr>
          <p:cNvPr id="12" name="node fliC"/>
          <p:cNvSpPr/>
          <p:nvPr/>
        </p:nvSpPr>
        <p:spPr>
          <a:xfrm>
            <a:off x="4800600" y="3172968"/>
            <a:ext cx="1554480" cy="512064"/>
          </a:xfrm>
          <a:prstGeom prst="roundRect">
            <a:avLst>
              <a:gd name="adj" fmla="val 21428"/>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i="0">
                <a:solidFill>
                  <a:srgbClr val="FFFFFF"/>
                </a:solidFill>
              </a:rPr>
              <a:t>fliC</a:t>
            </a:r>
          </a:p>
        </p:txBody>
      </p:sp>
      <p:sp>
        <p:nvSpPr>
          <p:cNvPr id="13" name="node spo0A"/>
          <p:cNvSpPr/>
          <p:nvPr/>
        </p:nvSpPr>
        <p:spPr>
          <a:xfrm>
            <a:off x="4800600" y="3995928"/>
            <a:ext cx="1554480" cy="512064"/>
          </a:xfrm>
          <a:prstGeom prst="roundRect">
            <a:avLst>
              <a:gd name="adj" fmla="val 21428"/>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i="0">
                <a:solidFill>
                  <a:srgbClr val="FFFFFF"/>
                </a:solidFill>
              </a:rPr>
              <a:t>spo0A</a:t>
            </a:r>
          </a:p>
        </p:txBody>
      </p:sp>
      <p:sp>
        <p:nvSpPr>
          <p:cNvPr id="14" name="node psbA"/>
          <p:cNvSpPr/>
          <p:nvPr/>
        </p:nvSpPr>
        <p:spPr>
          <a:xfrm>
            <a:off x="4800600" y="4818888"/>
            <a:ext cx="1554480" cy="512064"/>
          </a:xfrm>
          <a:prstGeom prst="roundRect">
            <a:avLst>
              <a:gd name="adj" fmla="val 21428"/>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i="0">
                <a:solidFill>
                  <a:srgbClr val="FFFFFF"/>
                </a:solidFill>
              </a:rPr>
              <a:t>psbA</a:t>
            </a:r>
          </a:p>
        </p:txBody>
      </p:sp>
      <p:cxnSp>
        <p:nvCxnSpPr>
          <p:cNvPr id="15" name="edge"/>
          <p:cNvCxnSpPr/>
          <p:nvPr/>
        </p:nvCxnSpPr>
        <p:spPr>
          <a:xfrm flipV="1">
            <a:off x="2101314" y="1808988"/>
            <a:ext cx="2699286" cy="89976"/>
          </a:xfrm>
          <a:prstGeom prst="line">
            <a:avLst/>
          </a:prstGeom>
          <a:ln w="15875">
            <a:solidFill>
              <a:srgbClr val="8896A5"/>
            </a:solidFill>
            <a:tailEnd type="triangle"/>
          </a:ln>
        </p:spPr>
        <p:style>
          <a:lnRef idx="2">
            <a:schemeClr val="accent1"/>
          </a:lnRef>
          <a:fillRef idx="0">
            <a:schemeClr val="accent1"/>
          </a:fillRef>
          <a:effectRef idx="1">
            <a:schemeClr val="accent1"/>
          </a:effectRef>
          <a:fontRef idx="minor">
            <a:schemeClr val="tx1"/>
          </a:fontRef>
        </p:style>
      </p:cxnSp>
      <p:cxnSp>
        <p:nvCxnSpPr>
          <p:cNvPr id="16" name="edge"/>
          <p:cNvCxnSpPr/>
          <p:nvPr/>
        </p:nvCxnSpPr>
        <p:spPr>
          <a:xfrm>
            <a:off x="2062100" y="2020083"/>
            <a:ext cx="2738500" cy="456417"/>
          </a:xfrm>
          <a:prstGeom prst="line">
            <a:avLst/>
          </a:prstGeom>
          <a:ln w="15875">
            <a:solidFill>
              <a:srgbClr val="8896A5"/>
            </a:solidFill>
            <a:tailEnd type="triangle"/>
          </a:ln>
        </p:spPr>
        <p:style>
          <a:lnRef idx="2">
            <a:schemeClr val="accent1"/>
          </a:lnRef>
          <a:fillRef idx="0">
            <a:schemeClr val="accent1"/>
          </a:fillRef>
          <a:effectRef idx="1">
            <a:schemeClr val="accent1"/>
          </a:effectRef>
          <a:fontRef idx="minor">
            <a:schemeClr val="tx1"/>
          </a:fontRef>
        </p:style>
      </p:cxnSp>
      <p:cxnSp>
        <p:nvCxnSpPr>
          <p:cNvPr id="17" name="edge"/>
          <p:cNvCxnSpPr/>
          <p:nvPr/>
        </p:nvCxnSpPr>
        <p:spPr>
          <a:xfrm>
            <a:off x="1956064" y="2101015"/>
            <a:ext cx="2923506" cy="1071953"/>
          </a:xfrm>
          <a:prstGeom prst="line">
            <a:avLst/>
          </a:prstGeom>
          <a:ln w="15875">
            <a:solidFill>
              <a:srgbClr val="8896A5"/>
            </a:solidFill>
            <a:tailEnd type="triangle"/>
          </a:ln>
        </p:spPr>
        <p:style>
          <a:lnRef idx="2">
            <a:schemeClr val="accent1"/>
          </a:lnRef>
          <a:fillRef idx="0">
            <a:schemeClr val="accent1"/>
          </a:fillRef>
          <a:effectRef idx="1">
            <a:schemeClr val="accent1"/>
          </a:effectRef>
          <a:fontRef idx="minor">
            <a:schemeClr val="tx1"/>
          </a:fontRef>
        </p:style>
      </p:cxnSp>
      <p:cxnSp>
        <p:nvCxnSpPr>
          <p:cNvPr id="18" name="edge"/>
          <p:cNvCxnSpPr/>
          <p:nvPr/>
        </p:nvCxnSpPr>
        <p:spPr>
          <a:xfrm flipV="1">
            <a:off x="2005280" y="1998979"/>
            <a:ext cx="2795320" cy="776478"/>
          </a:xfrm>
          <a:prstGeom prst="line">
            <a:avLst/>
          </a:prstGeom>
          <a:ln w="15875">
            <a:solidFill>
              <a:srgbClr val="8896A5"/>
            </a:solidFill>
            <a:tailEnd type="triangle"/>
          </a:ln>
        </p:spPr>
        <p:style>
          <a:lnRef idx="2">
            <a:schemeClr val="accent1"/>
          </a:lnRef>
          <a:fillRef idx="0">
            <a:schemeClr val="accent1"/>
          </a:fillRef>
          <a:effectRef idx="1">
            <a:schemeClr val="accent1"/>
          </a:effectRef>
          <a:fontRef idx="minor">
            <a:schemeClr val="tx1"/>
          </a:fontRef>
        </p:style>
      </p:cxnSp>
      <p:cxnSp>
        <p:nvCxnSpPr>
          <p:cNvPr id="19" name="edge"/>
          <p:cNvCxnSpPr/>
          <p:nvPr/>
        </p:nvCxnSpPr>
        <p:spPr>
          <a:xfrm flipV="1">
            <a:off x="2093471" y="2666492"/>
            <a:ext cx="2707129" cy="210554"/>
          </a:xfrm>
          <a:prstGeom prst="line">
            <a:avLst/>
          </a:prstGeom>
          <a:ln w="15875">
            <a:solidFill>
              <a:srgbClr val="8896A5"/>
            </a:solidFill>
            <a:tailEnd type="triangle"/>
          </a:ln>
        </p:spPr>
        <p:style>
          <a:lnRef idx="2">
            <a:schemeClr val="accent1"/>
          </a:lnRef>
          <a:fillRef idx="0">
            <a:schemeClr val="accent1"/>
          </a:fillRef>
          <a:effectRef idx="1">
            <a:schemeClr val="accent1"/>
          </a:effectRef>
          <a:fontRef idx="minor">
            <a:schemeClr val="tx1"/>
          </a:fontRef>
        </p:style>
      </p:cxnSp>
      <p:cxnSp>
        <p:nvCxnSpPr>
          <p:cNvPr id="20" name="edge"/>
          <p:cNvCxnSpPr/>
          <p:nvPr/>
        </p:nvCxnSpPr>
        <p:spPr>
          <a:xfrm>
            <a:off x="2080052" y="3001492"/>
            <a:ext cx="2720548" cy="332512"/>
          </a:xfrm>
          <a:prstGeom prst="line">
            <a:avLst/>
          </a:prstGeom>
          <a:ln w="15875">
            <a:solidFill>
              <a:srgbClr val="8896A5"/>
            </a:solidFill>
            <a:tailEnd type="triangle"/>
          </a:ln>
        </p:spPr>
        <p:style>
          <a:lnRef idx="2">
            <a:schemeClr val="accent1"/>
          </a:lnRef>
          <a:fillRef idx="0">
            <a:schemeClr val="accent1"/>
          </a:fillRef>
          <a:effectRef idx="1">
            <a:schemeClr val="accent1"/>
          </a:effectRef>
          <a:fontRef idx="minor">
            <a:schemeClr val="tx1"/>
          </a:fontRef>
        </p:style>
      </p:cxnSp>
      <p:cxnSp>
        <p:nvCxnSpPr>
          <p:cNvPr id="21" name="edge"/>
          <p:cNvCxnSpPr/>
          <p:nvPr/>
        </p:nvCxnSpPr>
        <p:spPr>
          <a:xfrm>
            <a:off x="1980615" y="3092854"/>
            <a:ext cx="2819985" cy="908662"/>
          </a:xfrm>
          <a:prstGeom prst="line">
            <a:avLst/>
          </a:prstGeom>
          <a:ln w="15875">
            <a:solidFill>
              <a:srgbClr val="8896A5"/>
            </a:solidFill>
            <a:tailEnd type="triangle"/>
          </a:ln>
        </p:spPr>
        <p:style>
          <a:lnRef idx="2">
            <a:schemeClr val="accent1"/>
          </a:lnRef>
          <a:fillRef idx="0">
            <a:schemeClr val="accent1"/>
          </a:fillRef>
          <a:effectRef idx="1">
            <a:schemeClr val="accent1"/>
          </a:effectRef>
          <a:fontRef idx="minor">
            <a:schemeClr val="tx1"/>
          </a:fontRef>
        </p:style>
      </p:cxnSp>
      <p:cxnSp>
        <p:nvCxnSpPr>
          <p:cNvPr id="22" name="edge"/>
          <p:cNvCxnSpPr/>
          <p:nvPr/>
        </p:nvCxnSpPr>
        <p:spPr>
          <a:xfrm flipV="1">
            <a:off x="1877026" y="2039112"/>
            <a:ext cx="3210539" cy="1676615"/>
          </a:xfrm>
          <a:prstGeom prst="line">
            <a:avLst/>
          </a:prstGeom>
          <a:ln w="15875">
            <a:solidFill>
              <a:srgbClr val="8896A5"/>
            </a:solidFill>
            <a:tailEnd type="triangle"/>
          </a:ln>
        </p:spPr>
        <p:style>
          <a:lnRef idx="2">
            <a:schemeClr val="accent1"/>
          </a:lnRef>
          <a:fillRef idx="0">
            <a:schemeClr val="accent1"/>
          </a:fillRef>
          <a:effectRef idx="1">
            <a:schemeClr val="accent1"/>
          </a:effectRef>
          <a:fontRef idx="minor">
            <a:schemeClr val="tx1"/>
          </a:fontRef>
        </p:style>
      </p:cxnSp>
      <p:cxnSp>
        <p:nvCxnSpPr>
          <p:cNvPr id="23" name="edge"/>
          <p:cNvCxnSpPr/>
          <p:nvPr/>
        </p:nvCxnSpPr>
        <p:spPr>
          <a:xfrm flipV="1">
            <a:off x="1980615" y="2856484"/>
            <a:ext cx="2819985" cy="908661"/>
          </a:xfrm>
          <a:prstGeom prst="line">
            <a:avLst/>
          </a:prstGeom>
          <a:ln w="15875">
            <a:solidFill>
              <a:srgbClr val="8896A5"/>
            </a:solidFill>
            <a:tailEnd type="triangle"/>
          </a:ln>
        </p:spPr>
        <p:style>
          <a:lnRef idx="2">
            <a:schemeClr val="accent1"/>
          </a:lnRef>
          <a:fillRef idx="0">
            <a:schemeClr val="accent1"/>
          </a:fillRef>
          <a:effectRef idx="1">
            <a:schemeClr val="accent1"/>
          </a:effectRef>
          <a:fontRef idx="minor">
            <a:schemeClr val="tx1"/>
          </a:fontRef>
        </p:style>
      </p:cxnSp>
      <p:cxnSp>
        <p:nvCxnSpPr>
          <p:cNvPr id="24" name="edge"/>
          <p:cNvCxnSpPr/>
          <p:nvPr/>
        </p:nvCxnSpPr>
        <p:spPr>
          <a:xfrm>
            <a:off x="2005280" y="4082542"/>
            <a:ext cx="2795320" cy="776478"/>
          </a:xfrm>
          <a:prstGeom prst="line">
            <a:avLst/>
          </a:prstGeom>
          <a:ln w="15875">
            <a:solidFill>
              <a:srgbClr val="8896A5"/>
            </a:solidFill>
            <a:tailEnd type="triangle"/>
          </a:ln>
        </p:spPr>
        <p:style>
          <a:lnRef idx="2">
            <a:schemeClr val="accent1"/>
          </a:lnRef>
          <a:fillRef idx="0">
            <a:schemeClr val="accent1"/>
          </a:fillRef>
          <a:effectRef idx="1">
            <a:schemeClr val="accent1"/>
          </a:effectRef>
          <a:fontRef idx="minor">
            <a:schemeClr val="tx1"/>
          </a:fontRef>
        </p:style>
      </p:cxnSp>
      <p:cxnSp>
        <p:nvCxnSpPr>
          <p:cNvPr id="25" name="edge"/>
          <p:cNvCxnSpPr/>
          <p:nvPr/>
        </p:nvCxnSpPr>
        <p:spPr>
          <a:xfrm flipV="1">
            <a:off x="1783200" y="2039112"/>
            <a:ext cx="3460685" cy="2653191"/>
          </a:xfrm>
          <a:prstGeom prst="line">
            <a:avLst/>
          </a:prstGeom>
          <a:ln w="15875">
            <a:solidFill>
              <a:srgbClr val="8896A5"/>
            </a:solidFill>
            <a:tailEnd type="triangle"/>
          </a:ln>
        </p:spPr>
        <p:style>
          <a:lnRef idx="2">
            <a:schemeClr val="accent1"/>
          </a:lnRef>
          <a:fillRef idx="0">
            <a:schemeClr val="accent1"/>
          </a:fillRef>
          <a:effectRef idx="1">
            <a:schemeClr val="accent1"/>
          </a:effectRef>
          <a:fontRef idx="minor">
            <a:schemeClr val="tx1"/>
          </a:fontRef>
        </p:style>
      </p:cxnSp>
      <p:cxnSp>
        <p:nvCxnSpPr>
          <p:cNvPr id="26" name="edge"/>
          <p:cNvCxnSpPr/>
          <p:nvPr/>
        </p:nvCxnSpPr>
        <p:spPr>
          <a:xfrm flipV="1">
            <a:off x="1857183" y="2862072"/>
            <a:ext cx="3268835" cy="1852339"/>
          </a:xfrm>
          <a:prstGeom prst="line">
            <a:avLst/>
          </a:prstGeom>
          <a:ln w="15875">
            <a:solidFill>
              <a:srgbClr val="8896A5"/>
            </a:solidFill>
            <a:tailEnd type="triangle"/>
          </a:ln>
        </p:spPr>
        <p:style>
          <a:lnRef idx="2">
            <a:schemeClr val="accent1"/>
          </a:lnRef>
          <a:fillRef idx="0">
            <a:schemeClr val="accent1"/>
          </a:fillRef>
          <a:effectRef idx="1">
            <a:schemeClr val="accent1"/>
          </a:effectRef>
          <a:fontRef idx="minor">
            <a:schemeClr val="tx1"/>
          </a:fontRef>
        </p:style>
      </p:cxnSp>
      <p:sp>
        <p:nvSpPr>
          <p:cNvPr id="27" name="toy caption"/>
          <p:cNvSpPr txBox="1"/>
          <p:nvPr/>
        </p:nvSpPr>
        <p:spPr>
          <a:xfrm>
            <a:off x="731520" y="5623560"/>
            <a:ext cx="6217920" cy="640080"/>
          </a:xfrm>
          <a:prstGeom prst="rect">
            <a:avLst/>
          </a:prstGeom>
          <a:noFill/>
        </p:spPr>
        <p:txBody>
          <a:bodyPr wrap="square" lIns="45720" rIns="45720" tIns="27432" bIns="27432" anchor="t">
            <a:spAutoFit/>
          </a:bodyPr>
          <a:lstStyle/>
          <a:p>
            <a:pPr algn="ctr">
              <a:spcAft>
                <a:spcPts val="600"/>
              </a:spcAft>
            </a:pPr>
            <a:r>
              <a:rPr sz="1400" b="0" i="0">
                <a:solidFill>
                  <a:srgbClr val="595959"/>
                </a:solidFill>
                <a:latin typeface="Courier New"/>
              </a:rPr>
              <a:t>CONTAINS_KO</a:t>
            </a:r>
            <a:r>
              <a:rPr sz="1400" b="0" i="0">
                <a:solidFill>
                  <a:srgbClr val="595959"/>
                </a:solidFill>
              </a:rPr>
              <a:t> relationships: 12 · nodes: 9</a:t>
            </a:r>
          </a:p>
        </p:txBody>
      </p:sp>
      <p:sp>
        <p:nvSpPr>
          <p:cNvPr id="28" name="toy head"/>
          <p:cNvSpPr txBox="1"/>
          <p:nvPr/>
        </p:nvSpPr>
        <p:spPr>
          <a:xfrm>
            <a:off x="7315200" y="1325880"/>
            <a:ext cx="4297680" cy="411480"/>
          </a:xfrm>
          <a:prstGeom prst="rect">
            <a:avLst/>
          </a:prstGeom>
          <a:noFill/>
        </p:spPr>
        <p:txBody>
          <a:bodyPr wrap="square" lIns="45720" rIns="45720" tIns="27432" bIns="27432" anchor="t">
            <a:spAutoFit/>
          </a:bodyPr>
          <a:lstStyle/>
          <a:p>
            <a:pPr algn="l">
              <a:spcAft>
                <a:spcPts val="600"/>
              </a:spcAft>
            </a:pPr>
            <a:r>
              <a:rPr sz="1800" b="1" i="0">
                <a:solidFill>
                  <a:srgbClr val="0E2841"/>
                </a:solidFill>
              </a:rPr>
              <a:t>Similarity to </a:t>
            </a:r>
            <a:r>
              <a:rPr sz="1800" b="1" i="1">
                <a:solidFill>
                  <a:srgbClr val="0E2841"/>
                </a:solidFill>
              </a:rPr>
              <a:t>E. coli</a:t>
            </a:r>
            <a:r>
              <a:rPr sz="1800" b="1" i="0">
                <a:solidFill>
                  <a:srgbClr val="0E2841"/>
                </a:solidFill>
              </a:rPr>
              <a:t> (</a:t>
            </a:r>
            <a:r>
              <a:rPr sz="1800" b="1" i="0">
                <a:solidFill>
                  <a:srgbClr val="156082"/>
                </a:solidFill>
                <a:latin typeface="Courier New"/>
              </a:rPr>
              <a:t>eco</a:t>
            </a:r>
            <a:r>
              <a:rPr sz="1800" b="1" i="0">
                <a:solidFill>
                  <a:srgbClr val="0E2841"/>
                </a:solidFill>
              </a:rPr>
              <a:t>)</a:t>
            </a:r>
          </a:p>
        </p:txBody>
      </p:sp>
      <p:graphicFrame>
        <p:nvGraphicFramePr>
          <p:cNvPr id="29" name="toy table"/>
          <p:cNvGraphicFramePr>
            <a:graphicFrameLocks noGrp="1"/>
          </p:cNvGraphicFramePr>
          <p:nvPr/>
        </p:nvGraphicFramePr>
        <p:xfrm>
          <a:off x="7315200" y="1828800"/>
          <a:ext cx="4297680" cy="1645920"/>
        </p:xfrm>
        <a:graphic>
          <a:graphicData uri="http://schemas.openxmlformats.org/drawingml/2006/table">
            <a:tbl>
              <a:tblPr firstRow="0" bandRow="0">
                <a:tableStyleId>{5C22544A-7EE6-4342-B048-85BDC9FD1C3A}</a:tableStyleId>
              </a:tblPr>
              <a:tblGrid>
                <a:gridCol w="1737360"/>
                <a:gridCol w="1188720"/>
                <a:gridCol w="1371600"/>
              </a:tblGrid>
              <a:tr h="411480">
                <a:tc>
                  <a:txBody>
                    <a:bodyPr wrap="square"/>
                    <a:lstStyle/>
                    <a:p>
                      <a:r>
                        <a:rPr sz="1600" b="1" i="0">
                          <a:solidFill>
                            <a:srgbClr val="FFFFFF"/>
                          </a:solidFill>
                        </a:rPr>
                        <a:t>genome</a:t>
                      </a:r>
                    </a:p>
                  </a:txBody>
                  <a:tcPr marL="73152" marR="73152" marT="36576" marB="36576" anchor="ctr">
                    <a:solidFill>
                      <a:srgbClr val="0E2841"/>
                    </a:solidFill>
                  </a:tcPr>
                </a:tc>
                <a:tc>
                  <a:txBody>
                    <a:bodyPr wrap="square"/>
                    <a:lstStyle/>
                    <a:p>
                      <a:pPr algn="ctr"/>
                      <a:r>
                        <a:rPr sz="1600" b="1" i="0">
                          <a:solidFill>
                            <a:srgbClr val="FFFFFF"/>
                          </a:solidFill>
                        </a:rPr>
                        <a:t>shared</a:t>
                      </a:r>
                    </a:p>
                  </a:txBody>
                  <a:tcPr marL="73152" marR="73152" marT="36576" marB="36576" anchor="ctr">
                    <a:solidFill>
                      <a:srgbClr val="0E2841"/>
                    </a:solidFill>
                  </a:tcPr>
                </a:tc>
                <a:tc>
                  <a:txBody>
                    <a:bodyPr wrap="square"/>
                    <a:lstStyle/>
                    <a:p>
                      <a:pPr algn="ctr"/>
                      <a:r>
                        <a:rPr sz="1600" b="1" i="0">
                          <a:solidFill>
                            <a:srgbClr val="FFFFFF"/>
                          </a:solidFill>
                        </a:rPr>
                        <a:t>Jaccard</a:t>
                      </a:r>
                    </a:p>
                  </a:txBody>
                  <a:tcPr marL="73152" marR="73152" marT="36576" marB="36576" anchor="ctr">
                    <a:solidFill>
                      <a:srgbClr val="0E2841"/>
                    </a:solidFill>
                  </a:tcPr>
                </a:tc>
              </a:tr>
              <a:tr h="411480">
                <a:tc>
                  <a:txBody>
                    <a:bodyPr wrap="square"/>
                    <a:lstStyle/>
                    <a:p>
                      <a:r>
                        <a:rPr sz="1600" b="0" i="0">
                          <a:solidFill>
                            <a:srgbClr val="0E2841"/>
                          </a:solidFill>
                        </a:rPr>
                        <a:t>bsu</a:t>
                      </a:r>
                    </a:p>
                  </a:txBody>
                  <a:tcPr marL="73152" marR="73152" marT="36576" marB="36576" anchor="ctr">
                    <a:solidFill>
                      <a:srgbClr val="FFFFFF"/>
                    </a:solidFill>
                  </a:tcPr>
                </a:tc>
                <a:tc>
                  <a:txBody>
                    <a:bodyPr wrap="square"/>
                    <a:lstStyle/>
                    <a:p>
                      <a:pPr algn="ctr"/>
                      <a:r>
                        <a:rPr sz="1600" b="0" i="0">
                          <a:solidFill>
                            <a:srgbClr val="0E2841"/>
                          </a:solidFill>
                        </a:rPr>
                        <a:t>3</a:t>
                      </a:r>
                    </a:p>
                  </a:txBody>
                  <a:tcPr marL="73152" marR="73152" marT="36576" marB="36576" anchor="ctr">
                    <a:solidFill>
                      <a:srgbClr val="FFFFFF"/>
                    </a:solidFill>
                  </a:tcPr>
                </a:tc>
                <a:tc>
                  <a:txBody>
                    <a:bodyPr wrap="square"/>
                    <a:lstStyle/>
                    <a:p>
                      <a:pPr algn="ctr"/>
                      <a:r>
                        <a:rPr sz="1600" b="0" i="0">
                          <a:solidFill>
                            <a:srgbClr val="0E2841"/>
                          </a:solidFill>
                        </a:rPr>
                        <a:t>0.75</a:t>
                      </a:r>
                    </a:p>
                  </a:txBody>
                  <a:tcPr marL="73152" marR="73152" marT="36576" marB="36576" anchor="ctr">
                    <a:solidFill>
                      <a:srgbClr val="FFFFFF"/>
                    </a:solidFill>
                  </a:tcPr>
                </a:tc>
              </a:tr>
              <a:tr h="411480">
                <a:tc>
                  <a:txBody>
                    <a:bodyPr wrap="square"/>
                    <a:lstStyle/>
                    <a:p>
                      <a:r>
                        <a:rPr sz="1600" b="0" i="0">
                          <a:solidFill>
                            <a:srgbClr val="0E2841"/>
                          </a:solidFill>
                        </a:rPr>
                        <a:t>mge</a:t>
                      </a:r>
                    </a:p>
                  </a:txBody>
                  <a:tcPr marL="73152" marR="73152" marT="36576" marB="36576" anchor="ctr">
                    <a:solidFill>
                      <a:srgbClr val="F2F5F9"/>
                    </a:solidFill>
                  </a:tcPr>
                </a:tc>
                <a:tc>
                  <a:txBody>
                    <a:bodyPr wrap="square"/>
                    <a:lstStyle/>
                    <a:p>
                      <a:pPr algn="ctr"/>
                      <a:r>
                        <a:rPr sz="1600" b="0" i="0">
                          <a:solidFill>
                            <a:srgbClr val="0E2841"/>
                          </a:solidFill>
                        </a:rPr>
                        <a:t>2</a:t>
                      </a:r>
                    </a:p>
                  </a:txBody>
                  <a:tcPr marL="73152" marR="73152" marT="36576" marB="36576" anchor="ctr">
                    <a:solidFill>
                      <a:srgbClr val="F2F5F9"/>
                    </a:solidFill>
                  </a:tcPr>
                </a:tc>
                <a:tc>
                  <a:txBody>
                    <a:bodyPr wrap="square"/>
                    <a:lstStyle/>
                    <a:p>
                      <a:pPr algn="ctr"/>
                      <a:r>
                        <a:rPr sz="1600" b="0" i="0">
                          <a:solidFill>
                            <a:srgbClr val="0E2841"/>
                          </a:solidFill>
                        </a:rPr>
                        <a:t>0.67</a:t>
                      </a:r>
                    </a:p>
                  </a:txBody>
                  <a:tcPr marL="73152" marR="73152" marT="36576" marB="36576" anchor="ctr">
                    <a:solidFill>
                      <a:srgbClr val="F2F5F9"/>
                    </a:solidFill>
                  </a:tcPr>
                </a:tc>
              </a:tr>
              <a:tr h="411480">
                <a:tc>
                  <a:txBody>
                    <a:bodyPr wrap="square"/>
                    <a:lstStyle/>
                    <a:p>
                      <a:r>
                        <a:rPr sz="1600" b="0" i="0">
                          <a:solidFill>
                            <a:srgbClr val="0E2841"/>
                          </a:solidFill>
                        </a:rPr>
                        <a:t>syn</a:t>
                      </a:r>
                    </a:p>
                  </a:txBody>
                  <a:tcPr marL="73152" marR="73152" marT="36576" marB="36576" anchor="ctr">
                    <a:solidFill>
                      <a:srgbClr val="FFFFFF"/>
                    </a:solidFill>
                  </a:tcPr>
                </a:tc>
                <a:tc>
                  <a:txBody>
                    <a:bodyPr wrap="square"/>
                    <a:lstStyle/>
                    <a:p>
                      <a:pPr algn="ctr"/>
                      <a:r>
                        <a:rPr sz="1600" b="0" i="0">
                          <a:solidFill>
                            <a:srgbClr val="0E2841"/>
                          </a:solidFill>
                        </a:rPr>
                        <a:t>2</a:t>
                      </a:r>
                    </a:p>
                  </a:txBody>
                  <a:tcPr marL="73152" marR="73152" marT="36576" marB="36576" anchor="ctr">
                    <a:solidFill>
                      <a:srgbClr val="FFFFFF"/>
                    </a:solidFill>
                  </a:tcPr>
                </a:tc>
                <a:tc>
                  <a:txBody>
                    <a:bodyPr wrap="square"/>
                    <a:lstStyle/>
                    <a:p>
                      <a:pPr algn="ctr"/>
                      <a:r>
                        <a:rPr sz="1600" b="0" i="0">
                          <a:solidFill>
                            <a:srgbClr val="0E2841"/>
                          </a:solidFill>
                        </a:rPr>
                        <a:t>0.50</a:t>
                      </a:r>
                    </a:p>
                  </a:txBody>
                  <a:tcPr marL="73152" marR="73152" marT="36576" marB="36576" anchor="ctr">
                    <a:solidFill>
                      <a:srgbClr val="FFFFFF"/>
                    </a:solidFill>
                  </a:tcPr>
                </a:tc>
              </a:tr>
            </a:tbl>
          </a:graphicData>
        </a:graphic>
      </p:graphicFrame>
      <p:sp>
        <p:nvSpPr>
          <p:cNvPr id="30" name="toy note"/>
          <p:cNvSpPr/>
          <p:nvPr/>
        </p:nvSpPr>
        <p:spPr>
          <a:xfrm>
            <a:off x="7315200" y="3794760"/>
            <a:ext cx="4297680" cy="2423160"/>
          </a:xfrm>
          <a:prstGeom prst="roundRect">
            <a:avLst>
              <a:gd name="adj" fmla="val 2264"/>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oy note text"/>
          <p:cNvSpPr txBox="1"/>
          <p:nvPr/>
        </p:nvSpPr>
        <p:spPr>
          <a:xfrm>
            <a:off x="7452360" y="3840480"/>
            <a:ext cx="4023360" cy="2331720"/>
          </a:xfrm>
          <a:prstGeom prst="rect">
            <a:avLst/>
          </a:prstGeom>
          <a:noFill/>
        </p:spPr>
        <p:txBody>
          <a:bodyPr wrap="square" lIns="45720" rIns="45720" tIns="27432" bIns="27432" anchor="t">
            <a:spAutoFit/>
          </a:bodyPr>
          <a:lstStyle/>
          <a:p>
            <a:pPr algn="l" marL="256032" indent="-256032">
              <a:spcAft>
                <a:spcPts val="600"/>
              </a:spcAft>
              <a:buFont typeface="Arial"/>
              <a:buChar char="•"/>
            </a:pPr>
            <a:r>
              <a:rPr sz="1500" b="1" i="0">
                <a:solidFill>
                  <a:srgbClr val="0E2841"/>
                </a:solidFill>
              </a:rPr>
              <a:t>Raw count:</a:t>
            </a:r>
            <a:r>
              <a:rPr sz="1500" b="0" i="0">
                <a:solidFill>
                  <a:srgbClr val="0E2841"/>
                </a:solidFill>
              </a:rPr>
              <a:t> </a:t>
            </a:r>
            <a:r>
              <a:rPr sz="1500" b="0" i="1">
                <a:solidFill>
                  <a:srgbClr val="0E2841"/>
                </a:solidFill>
              </a:rPr>
              <a:t>B. subtilis</a:t>
            </a:r>
            <a:r>
              <a:rPr sz="1500" b="0" i="0">
                <a:solidFill>
                  <a:srgbClr val="0E2841"/>
                </a:solidFill>
              </a:rPr>
              <a:t> wins.</a:t>
            </a:r>
          </a:p>
          <a:p>
            <a:pPr algn="l" marL="256032" indent="-256032">
              <a:spcAft>
                <a:spcPts val="600"/>
              </a:spcAft>
              <a:buFont typeface="Arial"/>
              <a:buChar char="•"/>
            </a:pPr>
            <a:r>
              <a:rPr sz="1500" b="1" i="0">
                <a:solidFill>
                  <a:srgbClr val="0E2841"/>
                </a:solidFill>
              </a:rPr>
              <a:t>But</a:t>
            </a:r>
            <a:r>
              <a:rPr sz="1500" b="0" i="0">
                <a:solidFill>
                  <a:srgbClr val="0E2841"/>
                </a:solidFill>
              </a:rPr>
              <a:t> </a:t>
            </a:r>
            <a:r>
              <a:rPr sz="1500" b="0" i="1">
                <a:solidFill>
                  <a:srgbClr val="0E2841"/>
                </a:solidFill>
              </a:rPr>
              <a:t>M. genitalium</a:t>
            </a:r>
            <a:r>
              <a:rPr sz="1500" b="0" i="0">
                <a:solidFill>
                  <a:srgbClr val="0E2841"/>
                </a:solidFill>
              </a:rPr>
              <a:t> (2 KOs, both shared) beats </a:t>
            </a:r>
            <a:r>
              <a:rPr sz="1500" b="0" i="1">
                <a:solidFill>
                  <a:srgbClr val="0E2841"/>
                </a:solidFill>
              </a:rPr>
              <a:t>Synechocystis</a:t>
            </a:r>
            <a:r>
              <a:rPr sz="1500" b="0" i="0">
                <a:solidFill>
                  <a:srgbClr val="0E2841"/>
                </a:solidFill>
              </a:rPr>
              <a:t> on Jaccard just because it is </a:t>
            </a:r>
            <a:r>
              <a:rPr sz="1500" b="1" i="0">
                <a:solidFill>
                  <a:srgbClr val="0E2841"/>
                </a:solidFill>
              </a:rPr>
              <a:t>small</a:t>
            </a:r>
            <a:r>
              <a:rPr sz="1500" b="0" i="0">
                <a:solidFill>
                  <a:srgbClr val="0E2841"/>
                </a:solidFill>
              </a:rPr>
              <a:t>.</a:t>
            </a:r>
          </a:p>
          <a:p>
            <a:pPr algn="l" marL="256032" indent="-256032">
              <a:spcAft>
                <a:spcPts val="600"/>
              </a:spcAft>
              <a:buFont typeface="Arial"/>
              <a:buChar char="•"/>
            </a:pPr>
            <a:r>
              <a:rPr sz="1500" b="0" i="0">
                <a:solidFill>
                  <a:srgbClr val="0E2841"/>
                </a:solidFill>
              </a:rPr>
              <a:t>→ normalise before interpreting counts (see the Jaccard slide).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9509760" cy="777240"/>
          </a:xfrm>
        </p:spPr>
        <p:txBody>
          <a:bodyPr wrap="square" anchor="ctr"/>
          <a:lstStyle/>
          <a:p>
            <a:pPr algn="l"/>
            <a:r>
              <a:rPr sz="3000" b="1" i="0">
                <a:solidFill>
                  <a:srgbClr val="0E2841"/>
                </a:solidFill>
              </a:rPr>
              <a:t>Cypher in 60 seconds</a:t>
            </a:r>
          </a:p>
        </p:txBody>
      </p:sp>
      <p:sp>
        <p:nvSpPr>
          <p:cNvPr id="3" name="footer"/>
          <p:cNvSpPr txBox="1"/>
          <p:nvPr/>
        </p:nvSpPr>
        <p:spPr>
          <a:xfrm>
            <a:off x="548640" y="6455664"/>
            <a:ext cx="8686800" cy="274320"/>
          </a:xfrm>
          <a:prstGeom prst="rect">
            <a:avLst/>
          </a:prstGeom>
          <a:noFill/>
        </p:spPr>
        <p:txBody>
          <a:bodyPr wrap="square" lIns="45720" rIns="45720" tIns="27432" bIns="27432" anchor="t">
            <a:spAutoFit/>
          </a:bodyPr>
          <a:lstStyle/>
          <a:p>
            <a:pPr algn="l">
              <a:spcAft>
                <a:spcPts val="600"/>
              </a:spcAft>
            </a:pPr>
            <a:r>
              <a:rPr sz="1000" b="0" i="0">
                <a:solidFill>
                  <a:srgbClr val="595959"/>
                </a:solidFill>
              </a:rPr>
              <a:t>NoSQL Databases for Bioinformatics  ·  Lecture 27  ·  Neo4j genome workshop</a:t>
            </a:r>
          </a:p>
        </p:txBody>
      </p:sp>
      <p:sp>
        <p:nvSpPr>
          <p:cNvPr id="4" name="slide number"/>
          <p:cNvSpPr txBox="1"/>
          <p:nvPr/>
        </p:nvSpPr>
        <p:spPr>
          <a:xfrm>
            <a:off x="10698480" y="6455664"/>
            <a:ext cx="914400" cy="274320"/>
          </a:xfrm>
          <a:prstGeom prst="rect">
            <a:avLst/>
          </a:prstGeom>
          <a:noFill/>
        </p:spPr>
        <p:txBody>
          <a:bodyPr wrap="square" lIns="45720" rIns="45720" tIns="27432" bIns="27432" anchor="t">
            <a:spAutoFit/>
          </a:bodyPr>
          <a:lstStyle/>
          <a:p>
            <a:pPr algn="r">
              <a:spcAft>
                <a:spcPts val="600"/>
              </a:spcAft>
            </a:pPr>
            <a:fld id="{B6F15528-21DE-4FAA-801E-634DDDAF4B2B}" type="slidenum">
              <a:rPr lang="en-US" sz="1000">
                <a:solidFill>
                  <a:srgbClr val="595959"/>
                </a:solidFill>
              </a:rPr>
              <a:t>‹#›</a:t>
            </a:fld>
          </a:p>
        </p:txBody>
      </p:sp>
      <p:sp>
        <p:nvSpPr>
          <p:cNvPr id="5" name="step tag"/>
          <p:cNvSpPr/>
          <p:nvPr/>
        </p:nvSpPr>
        <p:spPr>
          <a:xfrm>
            <a:off x="10195560" y="411480"/>
            <a:ext cx="1417320" cy="329184"/>
          </a:xfrm>
          <a:prstGeom prst="roundRect">
            <a:avLst>
              <a:gd name="adj" fmla="val 5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MODEL</a:t>
            </a:r>
          </a:p>
        </p:txBody>
      </p:sp>
      <p:sp>
        <p:nvSpPr>
          <p:cNvPr id="6" name="pattern code bg"/>
          <p:cNvSpPr/>
          <p:nvPr/>
        </p:nvSpPr>
        <p:spPr>
          <a:xfrm>
            <a:off x="548640" y="1371600"/>
            <a:ext cx="5760720" cy="1600200"/>
          </a:xfrm>
          <a:prstGeom prst="roundRect">
            <a:avLst>
              <a:gd name="adj" fmla="val 2857"/>
            </a:avLst>
          </a:prstGeom>
          <a:solidFill>
            <a:srgbClr val="F4F6F8"/>
          </a:solidFill>
          <a:ln w="9525">
            <a:solidFill>
              <a:srgbClr val="C9D1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attern code"/>
          <p:cNvSpPr txBox="1"/>
          <p:nvPr/>
        </p:nvSpPr>
        <p:spPr>
          <a:xfrm>
            <a:off x="640080" y="1435608"/>
            <a:ext cx="5577840" cy="1472184"/>
          </a:xfrm>
          <a:prstGeom prst="rect">
            <a:avLst/>
          </a:prstGeom>
          <a:noFill/>
        </p:spPr>
        <p:txBody>
          <a:bodyPr wrap="square" lIns="45720" rIns="45720" tIns="27432" bIns="27432" anchor="t">
            <a:spAutoFit/>
          </a:bodyPr>
          <a:lstStyle/>
          <a:p>
            <a:pPr algn="l">
              <a:spcAft>
                <a:spcPts val="0"/>
              </a:spcAft>
            </a:pPr>
            <a:r>
              <a:rPr sz="1700" b="0" i="0">
                <a:solidFill>
                  <a:srgbClr val="1F2937"/>
                </a:solidFill>
                <a:latin typeface="Courier New"/>
              </a:rPr>
              <a:t>(g:Genome {genome_id: 'eco'})</a:t>
            </a:r>
          </a:p>
          <a:p>
            <a:pPr algn="l">
              <a:spcAft>
                <a:spcPts val="0"/>
              </a:spcAft>
            </a:pPr>
            <a:r>
              <a:rPr sz="1700" b="0" i="0">
                <a:solidFill>
                  <a:srgbClr val="1F2937"/>
                </a:solidFill>
                <a:latin typeface="Courier New"/>
              </a:rPr>
              <a:t>   -[:CONTAINS_KO {copies: 1}]-&gt;</a:t>
            </a:r>
          </a:p>
          <a:p>
            <a:pPr algn="l">
              <a:spcAft>
                <a:spcPts val="0"/>
              </a:spcAft>
            </a:pPr>
            <a:r>
              <a:rPr sz="1700" b="0" i="0">
                <a:solidFill>
                  <a:srgbClr val="1F2937"/>
                </a:solidFill>
                <a:latin typeface="Courier New"/>
              </a:rPr>
              <a:t>(k:KO {ko_id: 'K04077'})</a:t>
            </a:r>
          </a:p>
        </p:txBody>
      </p:sp>
      <p:graphicFrame>
        <p:nvGraphicFramePr>
          <p:cNvPr id="8" name="syntax table"/>
          <p:cNvGraphicFramePr>
            <a:graphicFrameLocks noGrp="1"/>
          </p:cNvGraphicFramePr>
          <p:nvPr/>
        </p:nvGraphicFramePr>
        <p:xfrm>
          <a:off x="548640" y="3154680"/>
          <a:ext cx="5760720" cy="2910840"/>
        </p:xfrm>
        <a:graphic>
          <a:graphicData uri="http://schemas.openxmlformats.org/drawingml/2006/table">
            <a:tbl>
              <a:tblPr firstRow="0" bandRow="0">
                <a:tableStyleId>{5C22544A-7EE6-4342-B048-85BDC9FD1C3A}</a:tableStyleId>
              </a:tblPr>
              <a:tblGrid>
                <a:gridCol w="2148840"/>
                <a:gridCol w="3611880"/>
              </a:tblGrid>
              <a:tr h="411480">
                <a:tc>
                  <a:txBody>
                    <a:bodyPr wrap="square"/>
                    <a:lstStyle/>
                    <a:p>
                      <a:r>
                        <a:rPr sz="1400" b="1" i="0">
                          <a:solidFill>
                            <a:srgbClr val="FFFFFF"/>
                          </a:solidFill>
                        </a:rPr>
                        <a:t>piece</a:t>
                      </a:r>
                    </a:p>
                  </a:txBody>
                  <a:tcPr marL="73152" marR="73152" marT="36576" marB="36576" anchor="ctr">
                    <a:solidFill>
                      <a:srgbClr val="0E2841"/>
                    </a:solidFill>
                  </a:tcPr>
                </a:tc>
                <a:tc>
                  <a:txBody>
                    <a:bodyPr wrap="square"/>
                    <a:lstStyle/>
                    <a:p>
                      <a:r>
                        <a:rPr sz="1400" b="1" i="0">
                          <a:solidFill>
                            <a:srgbClr val="FFFFFF"/>
                          </a:solidFill>
                        </a:rPr>
                        <a:t>meaning</a:t>
                      </a:r>
                    </a:p>
                  </a:txBody>
                  <a:tcPr marL="73152" marR="73152" marT="36576" marB="36576" anchor="ctr">
                    <a:solidFill>
                      <a:srgbClr val="0E2841"/>
                    </a:solidFill>
                  </a:tcPr>
                </a:tc>
              </a:tr>
              <a:tr h="365760">
                <a:tc>
                  <a:txBody>
                    <a:bodyPr wrap="square"/>
                    <a:lstStyle/>
                    <a:p>
                      <a:r>
                        <a:rPr sz="1400" b="0" i="0">
                          <a:solidFill>
                            <a:srgbClr val="156082"/>
                          </a:solidFill>
                          <a:latin typeface="Courier New"/>
                        </a:rPr>
                        <a:t>( )</a:t>
                      </a:r>
                    </a:p>
                  </a:txBody>
                  <a:tcPr marL="73152" marR="73152" marT="36576" marB="36576" anchor="ctr">
                    <a:solidFill>
                      <a:srgbClr val="FFFFFF"/>
                    </a:solidFill>
                  </a:tcPr>
                </a:tc>
                <a:tc>
                  <a:txBody>
                    <a:bodyPr wrap="square"/>
                    <a:lstStyle/>
                    <a:p>
                      <a:r>
                        <a:rPr sz="1400" b="0" i="0">
                          <a:solidFill>
                            <a:srgbClr val="0E2841"/>
                          </a:solidFill>
                        </a:rPr>
                        <a:t>a </a:t>
                      </a:r>
                      <a:r>
                        <a:rPr sz="1400" b="1" i="0">
                          <a:solidFill>
                            <a:srgbClr val="0E2841"/>
                          </a:solidFill>
                        </a:rPr>
                        <a:t>node</a:t>
                      </a:r>
                      <a:r>
                        <a:rPr sz="1400" b="0" i="0">
                          <a:solidFill>
                            <a:srgbClr val="0E2841"/>
                          </a:solidFill>
                        </a:rPr>
                        <a:t> (a circle on the whiteboard)</a:t>
                      </a:r>
                    </a:p>
                  </a:txBody>
                  <a:tcPr marL="73152" marR="73152" marT="36576" marB="36576" anchor="ctr">
                    <a:solidFill>
                      <a:srgbClr val="FFFFFF"/>
                    </a:solidFill>
                  </a:tcPr>
                </a:tc>
              </a:tr>
              <a:tr h="518160">
                <a:tc>
                  <a:txBody>
                    <a:bodyPr wrap="square"/>
                    <a:lstStyle/>
                    <a:p>
                      <a:r>
                        <a:rPr sz="1400" b="0" i="0">
                          <a:solidFill>
                            <a:srgbClr val="156082"/>
                          </a:solidFill>
                          <a:latin typeface="Courier New"/>
                        </a:rPr>
                        <a:t>g</a:t>
                      </a:r>
                    </a:p>
                  </a:txBody>
                  <a:tcPr marL="73152" marR="73152" marT="36576" marB="36576" anchor="ctr">
                    <a:solidFill>
                      <a:srgbClr val="F2F5F9"/>
                    </a:solidFill>
                  </a:tcPr>
                </a:tc>
                <a:tc>
                  <a:txBody>
                    <a:bodyPr wrap="square"/>
                    <a:lstStyle/>
                    <a:p>
                      <a:r>
                        <a:rPr sz="1400" b="0" i="0">
                          <a:solidFill>
                            <a:srgbClr val="0E2841"/>
                          </a:solidFill>
                        </a:rPr>
                        <a:t>a </a:t>
                      </a:r>
                      <a:r>
                        <a:rPr sz="1400" b="1" i="0">
                          <a:solidFill>
                            <a:srgbClr val="0E2841"/>
                          </a:solidFill>
                        </a:rPr>
                        <a:t>variable</a:t>
                      </a:r>
                      <a:r>
                        <a:rPr sz="1400" b="0" i="0">
                          <a:solidFill>
                            <a:srgbClr val="0E2841"/>
                          </a:solidFill>
                        </a:rPr>
                        <a:t>: a name you choose, to refer to the node later</a:t>
                      </a:r>
                    </a:p>
                  </a:txBody>
                  <a:tcPr marL="73152" marR="73152" marT="36576" marB="36576" anchor="ctr">
                    <a:solidFill>
                      <a:srgbClr val="F2F5F9"/>
                    </a:solidFill>
                  </a:tcPr>
                </a:tc>
              </a:tr>
              <a:tr h="365760">
                <a:tc>
                  <a:txBody>
                    <a:bodyPr wrap="square"/>
                    <a:lstStyle/>
                    <a:p>
                      <a:r>
                        <a:rPr sz="1400" b="0" i="0">
                          <a:solidFill>
                            <a:srgbClr val="156082"/>
                          </a:solidFill>
                          <a:latin typeface="Courier New"/>
                        </a:rPr>
                        <a:t>:Genome</a:t>
                      </a:r>
                    </a:p>
                  </a:txBody>
                  <a:tcPr marL="73152" marR="73152" marT="36576" marB="36576" anchor="ctr">
                    <a:solidFill>
                      <a:srgbClr val="FFFFFF"/>
                    </a:solidFill>
                  </a:tcPr>
                </a:tc>
                <a:tc>
                  <a:txBody>
                    <a:bodyPr wrap="square"/>
                    <a:lstStyle/>
                    <a:p>
                      <a:r>
                        <a:rPr sz="1400" b="0" i="0">
                          <a:solidFill>
                            <a:srgbClr val="0E2841"/>
                          </a:solidFill>
                        </a:rPr>
                        <a:t>the node's </a:t>
                      </a:r>
                      <a:r>
                        <a:rPr sz="1400" b="1" i="0">
                          <a:solidFill>
                            <a:srgbClr val="0E2841"/>
                          </a:solidFill>
                        </a:rPr>
                        <a:t>label</a:t>
                      </a:r>
                      <a:r>
                        <a:rPr sz="1400" b="0" i="0">
                          <a:solidFill>
                            <a:srgbClr val="0E2841"/>
                          </a:solidFill>
                        </a:rPr>
                        <a:t> (its kind)</a:t>
                      </a:r>
                    </a:p>
                  </a:txBody>
                  <a:tcPr marL="73152" marR="73152" marT="36576" marB="36576" anchor="ctr">
                    <a:solidFill>
                      <a:srgbClr val="FFFFFF"/>
                    </a:solidFill>
                  </a:tcPr>
                </a:tc>
              </a:tr>
              <a:tr h="365760">
                <a:tc>
                  <a:txBody>
                    <a:bodyPr wrap="square"/>
                    <a:lstStyle/>
                    <a:p>
                      <a:r>
                        <a:rPr sz="1400" b="0" i="0">
                          <a:solidFill>
                            <a:srgbClr val="156082"/>
                          </a:solidFill>
                          <a:latin typeface="Courier New"/>
                        </a:rPr>
                        <a:t>{genome_id: 'eco'}</a:t>
                      </a:r>
                    </a:p>
                  </a:txBody>
                  <a:tcPr marL="73152" marR="73152" marT="36576" marB="36576" anchor="ctr">
                    <a:solidFill>
                      <a:srgbClr val="F2F5F9"/>
                    </a:solidFill>
                  </a:tcPr>
                </a:tc>
                <a:tc>
                  <a:txBody>
                    <a:bodyPr wrap="square"/>
                    <a:lstStyle/>
                    <a:p>
                      <a:r>
                        <a:rPr sz="1400" b="1" i="0">
                          <a:solidFill>
                            <a:srgbClr val="0E2841"/>
                          </a:solidFill>
                        </a:rPr>
                        <a:t>properties</a:t>
                      </a:r>
                      <a:r>
                        <a:rPr sz="1400" b="0" i="0">
                          <a:solidFill>
                            <a:srgbClr val="0E2841"/>
                          </a:solidFill>
                        </a:rPr>
                        <a:t> to match or to set</a:t>
                      </a:r>
                    </a:p>
                  </a:txBody>
                  <a:tcPr marL="73152" marR="73152" marT="36576" marB="36576" anchor="ctr">
                    <a:solidFill>
                      <a:srgbClr val="F2F5F9"/>
                    </a:solidFill>
                  </a:tcPr>
                </a:tc>
              </a:tr>
              <a:tr h="518160">
                <a:tc>
                  <a:txBody>
                    <a:bodyPr wrap="square"/>
                    <a:lstStyle/>
                    <a:p>
                      <a:r>
                        <a:rPr sz="1400" b="0" i="0">
                          <a:solidFill>
                            <a:srgbClr val="156082"/>
                          </a:solidFill>
                          <a:latin typeface="Courier New"/>
                        </a:rPr>
                        <a:t>-[ ]-&gt;</a:t>
                      </a:r>
                    </a:p>
                  </a:txBody>
                  <a:tcPr marL="73152" marR="73152" marT="36576" marB="36576" anchor="ctr">
                    <a:solidFill>
                      <a:srgbClr val="FFFFFF"/>
                    </a:solidFill>
                  </a:tcPr>
                </a:tc>
                <a:tc>
                  <a:txBody>
                    <a:bodyPr wrap="square"/>
                    <a:lstStyle/>
                    <a:p>
                      <a:r>
                        <a:rPr sz="1400" b="0" i="0">
                          <a:solidFill>
                            <a:srgbClr val="0E2841"/>
                          </a:solidFill>
                        </a:rPr>
                        <a:t>a </a:t>
                      </a:r>
                      <a:r>
                        <a:rPr sz="1400" b="1" i="0">
                          <a:solidFill>
                            <a:srgbClr val="0E2841"/>
                          </a:solidFill>
                        </a:rPr>
                        <a:t>relationship</a:t>
                      </a:r>
                      <a:r>
                        <a:rPr sz="1400" b="0" i="0">
                          <a:solidFill>
                            <a:srgbClr val="0E2841"/>
                          </a:solidFill>
                        </a:rPr>
                        <a:t>; arrow = stored direction</a:t>
                      </a:r>
                    </a:p>
                  </a:txBody>
                  <a:tcPr marL="73152" marR="73152" marT="36576" marB="36576" anchor="ctr">
                    <a:solidFill>
                      <a:srgbClr val="FFFFFF"/>
                    </a:solidFill>
                  </a:tcPr>
                </a:tc>
              </a:tr>
              <a:tr h="365760">
                <a:tc>
                  <a:txBody>
                    <a:bodyPr wrap="square"/>
                    <a:lstStyle/>
                    <a:p>
                      <a:r>
                        <a:rPr sz="1400" b="0" i="0">
                          <a:solidFill>
                            <a:srgbClr val="156082"/>
                          </a:solidFill>
                          <a:latin typeface="Courier New"/>
                        </a:rPr>
                        <a:t>:CONTAINS_KO</a:t>
                      </a:r>
                    </a:p>
                  </a:txBody>
                  <a:tcPr marL="73152" marR="73152" marT="36576" marB="36576" anchor="ctr">
                    <a:solidFill>
                      <a:srgbClr val="F2F5F9"/>
                    </a:solidFill>
                  </a:tcPr>
                </a:tc>
                <a:tc>
                  <a:txBody>
                    <a:bodyPr wrap="square"/>
                    <a:lstStyle/>
                    <a:p>
                      <a:r>
                        <a:rPr sz="1400" b="0" i="0">
                          <a:solidFill>
                            <a:srgbClr val="0E2841"/>
                          </a:solidFill>
                        </a:rPr>
                        <a:t>the relationship's </a:t>
                      </a:r>
                      <a:r>
                        <a:rPr sz="1400" b="1" i="0">
                          <a:solidFill>
                            <a:srgbClr val="0E2841"/>
                          </a:solidFill>
                        </a:rPr>
                        <a:t>type</a:t>
                      </a:r>
                    </a:p>
                  </a:txBody>
                  <a:tcPr marL="73152" marR="73152" marT="36576" marB="36576" anchor="ctr">
                    <a:solidFill>
                      <a:srgbClr val="F2F5F9"/>
                    </a:solidFill>
                  </a:tcPr>
                </a:tc>
              </a:tr>
            </a:tbl>
          </a:graphicData>
        </a:graphic>
      </p:graphicFrame>
      <p:graphicFrame>
        <p:nvGraphicFramePr>
          <p:cNvPr id="9" name="keyword table"/>
          <p:cNvGraphicFramePr>
            <a:graphicFrameLocks noGrp="1"/>
          </p:cNvGraphicFramePr>
          <p:nvPr/>
        </p:nvGraphicFramePr>
        <p:xfrm>
          <a:off x="6583680" y="1371600"/>
          <a:ext cx="5029200" cy="3124200"/>
        </p:xfrm>
        <a:graphic>
          <a:graphicData uri="http://schemas.openxmlformats.org/drawingml/2006/table">
            <a:tbl>
              <a:tblPr firstRow="0" bandRow="0">
                <a:tableStyleId>{5C22544A-7EE6-4342-B048-85BDC9FD1C3A}</a:tableStyleId>
              </a:tblPr>
              <a:tblGrid>
                <a:gridCol w="2011680"/>
                <a:gridCol w="3017520"/>
              </a:tblGrid>
              <a:tr h="411480">
                <a:tc>
                  <a:txBody>
                    <a:bodyPr wrap="square"/>
                    <a:lstStyle/>
                    <a:p>
                      <a:r>
                        <a:rPr sz="1400" b="1" i="0">
                          <a:solidFill>
                            <a:srgbClr val="FFFFFF"/>
                          </a:solidFill>
                        </a:rPr>
                        <a:t>keyword</a:t>
                      </a:r>
                    </a:p>
                  </a:txBody>
                  <a:tcPr marL="73152" marR="73152" marT="36576" marB="36576" anchor="ctr">
                    <a:solidFill>
                      <a:srgbClr val="0E2841"/>
                    </a:solidFill>
                  </a:tcPr>
                </a:tc>
                <a:tc>
                  <a:txBody>
                    <a:bodyPr wrap="square"/>
                    <a:lstStyle/>
                    <a:p>
                      <a:r>
                        <a:rPr sz="1400" b="1" i="0">
                          <a:solidFill>
                            <a:srgbClr val="FFFFFF"/>
                          </a:solidFill>
                        </a:rPr>
                        <a:t>does</a:t>
                      </a:r>
                    </a:p>
                  </a:txBody>
                  <a:tcPr marL="73152" marR="73152" marT="36576" marB="36576" anchor="ctr">
                    <a:solidFill>
                      <a:srgbClr val="0E2841"/>
                    </a:solidFill>
                  </a:tcPr>
                </a:tc>
              </a:tr>
              <a:tr h="365760">
                <a:tc>
                  <a:txBody>
                    <a:bodyPr wrap="square"/>
                    <a:lstStyle/>
                    <a:p>
                      <a:r>
                        <a:rPr sz="1400" b="0" i="0">
                          <a:solidFill>
                            <a:srgbClr val="156082"/>
                          </a:solidFill>
                          <a:latin typeface="Courier New"/>
                        </a:rPr>
                        <a:t>MATCH</a:t>
                      </a:r>
                    </a:p>
                  </a:txBody>
                  <a:tcPr marL="73152" marR="73152" marT="36576" marB="36576" anchor="ctr">
                    <a:solidFill>
                      <a:srgbClr val="FFFFFF"/>
                    </a:solidFill>
                  </a:tcPr>
                </a:tc>
                <a:tc>
                  <a:txBody>
                    <a:bodyPr wrap="square"/>
                    <a:lstStyle/>
                    <a:p>
                      <a:r>
                        <a:rPr sz="1400" b="0" i="0">
                          <a:solidFill>
                            <a:srgbClr val="0E2841"/>
                          </a:solidFill>
                        </a:rPr>
                        <a:t>find a pattern</a:t>
                      </a:r>
                    </a:p>
                  </a:txBody>
                  <a:tcPr marL="73152" marR="73152" marT="36576" marB="36576" anchor="ctr">
                    <a:solidFill>
                      <a:srgbClr val="FFFFFF"/>
                    </a:solidFill>
                  </a:tcPr>
                </a:tc>
              </a:tr>
              <a:tr h="365760">
                <a:tc>
                  <a:txBody>
                    <a:bodyPr wrap="square"/>
                    <a:lstStyle/>
                    <a:p>
                      <a:r>
                        <a:rPr sz="1400" b="0" i="0">
                          <a:solidFill>
                            <a:srgbClr val="156082"/>
                          </a:solidFill>
                          <a:latin typeface="Courier New"/>
                        </a:rPr>
                        <a:t>WHERE</a:t>
                      </a:r>
                    </a:p>
                  </a:txBody>
                  <a:tcPr marL="73152" marR="73152" marT="36576" marB="36576" anchor="ctr">
                    <a:solidFill>
                      <a:srgbClr val="F2F5F9"/>
                    </a:solidFill>
                  </a:tcPr>
                </a:tc>
                <a:tc>
                  <a:txBody>
                    <a:bodyPr wrap="square"/>
                    <a:lstStyle/>
                    <a:p>
                      <a:r>
                        <a:rPr sz="1400" b="0" i="0">
                          <a:solidFill>
                            <a:srgbClr val="0E2841"/>
                          </a:solidFill>
                        </a:rPr>
                        <a:t>filter</a:t>
                      </a:r>
                    </a:p>
                  </a:txBody>
                  <a:tcPr marL="73152" marR="73152" marT="36576" marB="36576" anchor="ctr">
                    <a:solidFill>
                      <a:srgbClr val="F2F5F9"/>
                    </a:solidFill>
                  </a:tcPr>
                </a:tc>
              </a:tr>
              <a:tr h="365760">
                <a:tc>
                  <a:txBody>
                    <a:bodyPr wrap="square"/>
                    <a:lstStyle/>
                    <a:p>
                      <a:r>
                        <a:rPr sz="1400" b="0" i="0">
                          <a:solidFill>
                            <a:srgbClr val="156082"/>
                          </a:solidFill>
                          <a:latin typeface="Courier New"/>
                        </a:rPr>
                        <a:t>RETURN</a:t>
                      </a:r>
                    </a:p>
                  </a:txBody>
                  <a:tcPr marL="73152" marR="73152" marT="36576" marB="36576" anchor="ctr">
                    <a:solidFill>
                      <a:srgbClr val="FFFFFF"/>
                    </a:solidFill>
                  </a:tcPr>
                </a:tc>
                <a:tc>
                  <a:txBody>
                    <a:bodyPr wrap="square"/>
                    <a:lstStyle/>
                    <a:p>
                      <a:r>
                        <a:rPr sz="1400" b="0" i="0">
                          <a:solidFill>
                            <a:srgbClr val="0E2841"/>
                          </a:solidFill>
                        </a:rPr>
                        <a:t>give results back</a:t>
                      </a:r>
                    </a:p>
                  </a:txBody>
                  <a:tcPr marL="73152" marR="73152" marT="36576" marB="36576" anchor="ctr">
                    <a:solidFill>
                      <a:srgbClr val="FFFFFF"/>
                    </a:solidFill>
                  </a:tcPr>
                </a:tc>
              </a:tr>
              <a:tr h="518160">
                <a:tc>
                  <a:txBody>
                    <a:bodyPr wrap="square"/>
                    <a:lstStyle/>
                    <a:p>
                      <a:r>
                        <a:rPr sz="1400" b="0" i="0">
                          <a:solidFill>
                            <a:srgbClr val="156082"/>
                          </a:solidFill>
                          <a:latin typeface="Courier New"/>
                        </a:rPr>
                        <a:t>CREATE</a:t>
                      </a:r>
                    </a:p>
                  </a:txBody>
                  <a:tcPr marL="73152" marR="73152" marT="36576" marB="36576" anchor="ctr">
                    <a:solidFill>
                      <a:srgbClr val="F2F5F9"/>
                    </a:solidFill>
                  </a:tcPr>
                </a:tc>
                <a:tc>
                  <a:txBody>
                    <a:bodyPr wrap="square"/>
                    <a:lstStyle/>
                    <a:p>
                      <a:r>
                        <a:rPr sz="1400" b="0" i="0">
                          <a:solidFill>
                            <a:srgbClr val="0E2841"/>
                          </a:solidFill>
                        </a:rPr>
                        <a:t>always creates (twice = 2 nodes!)</a:t>
                      </a:r>
                    </a:p>
                  </a:txBody>
                  <a:tcPr marL="73152" marR="73152" marT="36576" marB="36576" anchor="ctr">
                    <a:solidFill>
                      <a:srgbClr val="F2F5F9"/>
                    </a:solidFill>
                  </a:tcPr>
                </a:tc>
              </a:tr>
              <a:tr h="365760">
                <a:tc>
                  <a:txBody>
                    <a:bodyPr wrap="square"/>
                    <a:lstStyle/>
                    <a:p>
                      <a:r>
                        <a:rPr sz="1400" b="0" i="0">
                          <a:solidFill>
                            <a:srgbClr val="156082"/>
                          </a:solidFill>
                          <a:latin typeface="Courier New"/>
                        </a:rPr>
                        <a:t>MERGE</a:t>
                      </a:r>
                    </a:p>
                  </a:txBody>
                  <a:tcPr marL="73152" marR="73152" marT="36576" marB="36576" anchor="ctr">
                    <a:solidFill>
                      <a:srgbClr val="FFFFFF"/>
                    </a:solidFill>
                  </a:tcPr>
                </a:tc>
                <a:tc>
                  <a:txBody>
                    <a:bodyPr wrap="square"/>
                    <a:lstStyle/>
                    <a:p>
                      <a:r>
                        <a:rPr sz="1400" b="0" i="0">
                          <a:solidFill>
                            <a:srgbClr val="0E2841"/>
                          </a:solidFill>
                        </a:rPr>
                        <a:t>get-or-create: </a:t>
                      </a:r>
                      <a:r>
                        <a:rPr sz="1400" b="1" i="0">
                          <a:solidFill>
                            <a:srgbClr val="0E2841"/>
                          </a:solidFill>
                        </a:rPr>
                        <a:t>safe to re-run</a:t>
                      </a:r>
                    </a:p>
                  </a:txBody>
                  <a:tcPr marL="73152" marR="73152" marT="36576" marB="36576" anchor="ctr">
                    <a:solidFill>
                      <a:srgbClr val="FFFFFF"/>
                    </a:solidFill>
                  </a:tcPr>
                </a:tc>
              </a:tr>
              <a:tr h="365760">
                <a:tc>
                  <a:txBody>
                    <a:bodyPr wrap="square"/>
                    <a:lstStyle/>
                    <a:p>
                      <a:r>
                        <a:rPr sz="1400" b="0" i="0">
                          <a:solidFill>
                            <a:srgbClr val="156082"/>
                          </a:solidFill>
                          <a:latin typeface="Courier New"/>
                        </a:rPr>
                        <a:t>SET</a:t>
                      </a:r>
                    </a:p>
                  </a:txBody>
                  <a:tcPr marL="73152" marR="73152" marT="36576" marB="36576" anchor="ctr">
                    <a:solidFill>
                      <a:srgbClr val="F2F5F9"/>
                    </a:solidFill>
                  </a:tcPr>
                </a:tc>
                <a:tc>
                  <a:txBody>
                    <a:bodyPr wrap="square"/>
                    <a:lstStyle/>
                    <a:p>
                      <a:r>
                        <a:rPr sz="1400" b="0" i="0">
                          <a:solidFill>
                            <a:srgbClr val="0E2841"/>
                          </a:solidFill>
                        </a:rPr>
                        <a:t>add / change properties</a:t>
                      </a:r>
                    </a:p>
                  </a:txBody>
                  <a:tcPr marL="73152" marR="73152" marT="36576" marB="36576" anchor="ctr">
                    <a:solidFill>
                      <a:srgbClr val="F2F5F9"/>
                    </a:solidFill>
                  </a:tcPr>
                </a:tc>
              </a:tr>
              <a:tr h="365760">
                <a:tc>
                  <a:txBody>
                    <a:bodyPr wrap="square"/>
                    <a:lstStyle/>
                    <a:p>
                      <a:r>
                        <a:rPr sz="1400" b="0" i="0">
                          <a:solidFill>
                            <a:srgbClr val="156082"/>
                          </a:solidFill>
                          <a:latin typeface="Courier New"/>
                        </a:rPr>
                        <a:t>ORDER BY</a:t>
                      </a:r>
                      <a:r>
                        <a:rPr sz="1400" b="0" i="0">
                          <a:solidFill>
                            <a:srgbClr val="0E2841"/>
                          </a:solidFill>
                        </a:rPr>
                        <a:t> </a:t>
                      </a:r>
                      <a:r>
                        <a:rPr sz="1400" b="0" i="0">
                          <a:solidFill>
                            <a:srgbClr val="156082"/>
                          </a:solidFill>
                          <a:latin typeface="Courier New"/>
                        </a:rPr>
                        <a:t>LIMIT</a:t>
                      </a:r>
                    </a:p>
                  </a:txBody>
                  <a:tcPr marL="73152" marR="73152" marT="36576" marB="36576" anchor="ctr">
                    <a:solidFill>
                      <a:srgbClr val="FFFFFF"/>
                    </a:solidFill>
                  </a:tcPr>
                </a:tc>
                <a:tc>
                  <a:txBody>
                    <a:bodyPr wrap="square"/>
                    <a:lstStyle/>
                    <a:p>
                      <a:r>
                        <a:rPr sz="1400" b="0" i="0">
                          <a:solidFill>
                            <a:srgbClr val="0E2841"/>
                          </a:solidFill>
                        </a:rPr>
                        <a:t>sort, cut</a:t>
                      </a:r>
                    </a:p>
                  </a:txBody>
                  <a:tcPr marL="73152" marR="73152" marT="36576" marB="36576" anchor="ctr">
                    <a:solidFill>
                      <a:srgbClr val="FFFFFF"/>
                    </a:solidFill>
                  </a:tcPr>
                </a:tc>
              </a:tr>
            </a:tbl>
          </a:graphicData>
        </a:graphic>
      </p:graphicFrame>
      <p:sp>
        <p:nvSpPr>
          <p:cNvPr id="10" name="no groupby"/>
          <p:cNvSpPr/>
          <p:nvPr/>
        </p:nvSpPr>
        <p:spPr>
          <a:xfrm>
            <a:off x="6583680" y="4983480"/>
            <a:ext cx="5029200" cy="1234440"/>
          </a:xfrm>
          <a:prstGeom prst="roundRect">
            <a:avLst>
              <a:gd name="adj" fmla="val 4444"/>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no groupby text"/>
          <p:cNvSpPr txBox="1"/>
          <p:nvPr/>
        </p:nvSpPr>
        <p:spPr>
          <a:xfrm>
            <a:off x="6720840" y="5029200"/>
            <a:ext cx="4754880" cy="1143000"/>
          </a:xfrm>
          <a:prstGeom prst="rect">
            <a:avLst/>
          </a:prstGeom>
          <a:noFill/>
        </p:spPr>
        <p:txBody>
          <a:bodyPr wrap="square" lIns="45720" rIns="45720" tIns="27432" bIns="27432" anchor="ctr">
            <a:spAutoFit/>
          </a:bodyPr>
          <a:lstStyle/>
          <a:p>
            <a:pPr algn="l">
              <a:spcAft>
                <a:spcPts val="600"/>
              </a:spcAft>
            </a:pPr>
            <a:r>
              <a:rPr sz="1500" b="1" i="0">
                <a:solidFill>
                  <a:srgbClr val="0E2841"/>
                </a:solidFill>
              </a:rPr>
              <a:t>No GROUP BY!</a:t>
            </a:r>
            <a:r>
              <a:rPr sz="1500" b="0" i="0">
                <a:solidFill>
                  <a:srgbClr val="0E2841"/>
                </a:solidFill>
              </a:rPr>
              <a:t> Use an aggregate (</a:t>
            </a:r>
            <a:r>
              <a:rPr sz="1500" b="0" i="0">
                <a:solidFill>
                  <a:srgbClr val="156082"/>
                </a:solidFill>
                <a:latin typeface="Courier New"/>
              </a:rPr>
              <a:t>count</a:t>
            </a:r>
            <a:r>
              <a:rPr sz="1500" b="0" i="0">
                <a:solidFill>
                  <a:srgbClr val="0E2841"/>
                </a:solidFill>
              </a:rPr>
              <a:t>, </a:t>
            </a:r>
            <a:r>
              <a:rPr sz="1500" b="0" i="0">
                <a:solidFill>
                  <a:srgbClr val="156082"/>
                </a:solidFill>
                <a:latin typeface="Courier New"/>
              </a:rPr>
              <a:t>collect</a:t>
            </a:r>
            <a:r>
              <a:rPr sz="1500" b="0" i="0">
                <a:solidFill>
                  <a:srgbClr val="0E2841"/>
                </a:solidFill>
              </a:rPr>
              <a:t>) and every other column in </a:t>
            </a:r>
            <a:r>
              <a:rPr sz="1500" b="0" i="0">
                <a:solidFill>
                  <a:srgbClr val="156082"/>
                </a:solidFill>
                <a:latin typeface="Courier New"/>
              </a:rPr>
              <a:t>RETURN</a:t>
            </a:r>
            <a:r>
              <a:rPr sz="1500" b="0" i="0">
                <a:solidFill>
                  <a:srgbClr val="0E2841"/>
                </a:solidFill>
              </a:rPr>
              <a:t> becomes the grouping key.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9509760" cy="777240"/>
          </a:xfrm>
        </p:spPr>
        <p:txBody>
          <a:bodyPr wrap="square" anchor="ctr"/>
          <a:lstStyle/>
          <a:p>
            <a:pPr algn="l"/>
            <a:r>
              <a:rPr sz="3000" b="1" i="0">
                <a:solidFill>
                  <a:srgbClr val="0E2841"/>
                </a:solidFill>
              </a:rPr>
              <a:t>Import 1: constraints first</a:t>
            </a:r>
          </a:p>
        </p:txBody>
      </p:sp>
      <p:sp>
        <p:nvSpPr>
          <p:cNvPr id="3" name="footer"/>
          <p:cNvSpPr txBox="1"/>
          <p:nvPr/>
        </p:nvSpPr>
        <p:spPr>
          <a:xfrm>
            <a:off x="548640" y="6455664"/>
            <a:ext cx="8686800" cy="274320"/>
          </a:xfrm>
          <a:prstGeom prst="rect">
            <a:avLst/>
          </a:prstGeom>
          <a:noFill/>
        </p:spPr>
        <p:txBody>
          <a:bodyPr wrap="square" lIns="45720" rIns="45720" tIns="27432" bIns="27432" anchor="t">
            <a:spAutoFit/>
          </a:bodyPr>
          <a:lstStyle/>
          <a:p>
            <a:pPr algn="l">
              <a:spcAft>
                <a:spcPts val="600"/>
              </a:spcAft>
            </a:pPr>
            <a:r>
              <a:rPr sz="1000" b="0" i="0">
                <a:solidFill>
                  <a:srgbClr val="595959"/>
                </a:solidFill>
              </a:rPr>
              <a:t>NoSQL Databases for Bioinformatics  ·  Lecture 27  ·  Neo4j genome workshop</a:t>
            </a:r>
          </a:p>
        </p:txBody>
      </p:sp>
      <p:sp>
        <p:nvSpPr>
          <p:cNvPr id="4" name="slide number"/>
          <p:cNvSpPr txBox="1"/>
          <p:nvPr/>
        </p:nvSpPr>
        <p:spPr>
          <a:xfrm>
            <a:off x="10698480" y="6455664"/>
            <a:ext cx="914400" cy="274320"/>
          </a:xfrm>
          <a:prstGeom prst="rect">
            <a:avLst/>
          </a:prstGeom>
          <a:noFill/>
        </p:spPr>
        <p:txBody>
          <a:bodyPr wrap="square" lIns="45720" rIns="45720" tIns="27432" bIns="27432" anchor="t">
            <a:spAutoFit/>
          </a:bodyPr>
          <a:lstStyle/>
          <a:p>
            <a:pPr algn="r">
              <a:spcAft>
                <a:spcPts val="600"/>
              </a:spcAft>
            </a:pPr>
            <a:fld id="{B6F15528-21DE-4FAA-801E-634DDDAF4B2B}" type="slidenum">
              <a:rPr lang="en-US" sz="1000">
                <a:solidFill>
                  <a:srgbClr val="595959"/>
                </a:solidFill>
              </a:rPr>
              <a:t>‹#›</a:t>
            </a:fld>
          </a:p>
        </p:txBody>
      </p:sp>
      <p:sp>
        <p:nvSpPr>
          <p:cNvPr id="5" name="step tag"/>
          <p:cNvSpPr/>
          <p:nvPr/>
        </p:nvSpPr>
        <p:spPr>
          <a:xfrm>
            <a:off x="10195560" y="411480"/>
            <a:ext cx="1417320" cy="329184"/>
          </a:xfrm>
          <a:prstGeom prst="roundRect">
            <a:avLst>
              <a:gd name="adj" fmla="val 50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IMPORT</a:t>
            </a:r>
          </a:p>
        </p:txBody>
      </p:sp>
      <p:sp>
        <p:nvSpPr>
          <p:cNvPr id="6" name="constraint code bg"/>
          <p:cNvSpPr/>
          <p:nvPr/>
        </p:nvSpPr>
        <p:spPr>
          <a:xfrm>
            <a:off x="548640" y="1371600"/>
            <a:ext cx="6766560" cy="2377440"/>
          </a:xfrm>
          <a:prstGeom prst="roundRect">
            <a:avLst>
              <a:gd name="adj" fmla="val 1923"/>
            </a:avLst>
          </a:prstGeom>
          <a:solidFill>
            <a:srgbClr val="F4F6F8"/>
          </a:solidFill>
          <a:ln w="9525">
            <a:solidFill>
              <a:srgbClr val="C9D1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constraint code"/>
          <p:cNvSpPr txBox="1"/>
          <p:nvPr/>
        </p:nvSpPr>
        <p:spPr>
          <a:xfrm>
            <a:off x="640080" y="1435608"/>
            <a:ext cx="6583680" cy="2249424"/>
          </a:xfrm>
          <a:prstGeom prst="rect">
            <a:avLst/>
          </a:prstGeom>
          <a:noFill/>
        </p:spPr>
        <p:txBody>
          <a:bodyPr wrap="square" lIns="45720" rIns="45720" tIns="27432" bIns="27432" anchor="t">
            <a:spAutoFit/>
          </a:bodyPr>
          <a:lstStyle/>
          <a:p>
            <a:pPr algn="l">
              <a:spcAft>
                <a:spcPts val="0"/>
              </a:spcAft>
            </a:pPr>
            <a:r>
              <a:rPr sz="1400" b="0" i="0">
                <a:solidFill>
                  <a:srgbClr val="1F2937"/>
                </a:solidFill>
                <a:latin typeface="Courier New"/>
              </a:rPr>
              <a:t>CREATE CONSTRAINT genome_id IF NOT EXISTS</a:t>
            </a:r>
          </a:p>
          <a:p>
            <a:pPr algn="l">
              <a:spcAft>
                <a:spcPts val="0"/>
              </a:spcAft>
            </a:pPr>
            <a:r>
              <a:rPr sz="1400" b="0" i="0">
                <a:solidFill>
                  <a:srgbClr val="1F2937"/>
                </a:solidFill>
                <a:latin typeface="Courier New"/>
              </a:rPr>
              <a:t>  FOR (g:Genome)  REQUIRE g.genome_id IS UNIQUE;</a:t>
            </a:r>
          </a:p>
          <a:p>
            <a:pPr algn="l">
              <a:spcAft>
                <a:spcPts val="0"/>
              </a:spcAft>
            </a:pPr>
            <a:r>
              <a:rPr sz="1400" b="0" i="0">
                <a:solidFill>
                  <a:srgbClr val="1F2937"/>
                </a:solidFill>
                <a:latin typeface="Courier New"/>
              </a:rPr>
              <a:t>CREATE CONSTRAINT ko_id IF NOT EXISTS</a:t>
            </a:r>
          </a:p>
          <a:p>
            <a:pPr algn="l">
              <a:spcAft>
                <a:spcPts val="0"/>
              </a:spcAft>
            </a:pPr>
            <a:r>
              <a:rPr sz="1400" b="0" i="0">
                <a:solidFill>
                  <a:srgbClr val="1F2937"/>
                </a:solidFill>
                <a:latin typeface="Courier New"/>
              </a:rPr>
              <a:t>  FOR (k:KO)      REQUIRE k.ko_id IS UNIQUE;</a:t>
            </a:r>
          </a:p>
          <a:p>
            <a:pPr algn="l">
              <a:spcAft>
                <a:spcPts val="0"/>
              </a:spcAft>
            </a:pPr>
            <a:r>
              <a:rPr sz="1400" b="0" i="0">
                <a:solidFill>
                  <a:srgbClr val="1F2937"/>
                </a:solidFill>
                <a:latin typeface="Courier New"/>
              </a:rPr>
              <a:t>CREATE CONSTRAINT taxon_id IF NOT EXISTS</a:t>
            </a:r>
          </a:p>
          <a:p>
            <a:pPr algn="l">
              <a:spcAft>
                <a:spcPts val="0"/>
              </a:spcAft>
            </a:pPr>
            <a:r>
              <a:rPr sz="1400" b="0" i="0">
                <a:solidFill>
                  <a:srgbClr val="1F2937"/>
                </a:solidFill>
                <a:latin typeface="Courier New"/>
              </a:rPr>
              <a:t>  FOR (t:Taxon)   REQUIRE t.taxid IS UNIQUE;</a:t>
            </a:r>
          </a:p>
          <a:p>
            <a:pPr algn="l">
              <a:spcAft>
                <a:spcPts val="0"/>
              </a:spcAft>
            </a:pPr>
            <a:r>
              <a:rPr sz="1400" b="0" i="0">
                <a:solidFill>
                  <a:srgbClr val="1F2937"/>
                </a:solidFill>
                <a:latin typeface="Courier New"/>
              </a:rPr>
              <a:t>CREATE CONSTRAINT pathway_id IF NOT EXISTS</a:t>
            </a:r>
          </a:p>
          <a:p>
            <a:pPr algn="l">
              <a:spcAft>
                <a:spcPts val="0"/>
              </a:spcAft>
            </a:pPr>
            <a:r>
              <a:rPr sz="1400" b="0" i="0">
                <a:solidFill>
                  <a:srgbClr val="1F2937"/>
                </a:solidFill>
                <a:latin typeface="Courier New"/>
              </a:rPr>
              <a:t>  FOR (p:Pathway) REQUIRE p.pathway_id IS UNIQUE;</a:t>
            </a:r>
          </a:p>
        </p:txBody>
      </p:sp>
      <p:sp>
        <p:nvSpPr>
          <p:cNvPr id="8" name="integrity bg"/>
          <p:cNvSpPr/>
          <p:nvPr/>
        </p:nvSpPr>
        <p:spPr>
          <a:xfrm>
            <a:off x="7589520" y="1371600"/>
            <a:ext cx="4023360" cy="1143000"/>
          </a:xfrm>
          <a:prstGeom prst="roundRect">
            <a:avLst>
              <a:gd name="adj" fmla="val 48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integrity title"/>
          <p:cNvSpPr txBox="1"/>
          <p:nvPr/>
        </p:nvSpPr>
        <p:spPr>
          <a:xfrm>
            <a:off x="7699248" y="1444752"/>
            <a:ext cx="3803904" cy="411480"/>
          </a:xfrm>
          <a:prstGeom prst="rect">
            <a:avLst/>
          </a:prstGeom>
          <a:noFill/>
        </p:spPr>
        <p:txBody>
          <a:bodyPr wrap="square" lIns="45720" rIns="45720" tIns="27432" bIns="27432" anchor="t">
            <a:spAutoFit/>
          </a:bodyPr>
          <a:lstStyle/>
          <a:p>
            <a:pPr algn="l">
              <a:spcAft>
                <a:spcPts val="600"/>
              </a:spcAft>
            </a:pPr>
            <a:r>
              <a:rPr sz="1700" b="1" i="0">
                <a:solidFill>
                  <a:srgbClr val="156082"/>
                </a:solidFill>
              </a:rPr>
              <a:t>Integrity</a:t>
            </a:r>
          </a:p>
        </p:txBody>
      </p:sp>
      <p:sp>
        <p:nvSpPr>
          <p:cNvPr id="10" name="integrity body"/>
          <p:cNvSpPr txBox="1"/>
          <p:nvPr/>
        </p:nvSpPr>
        <p:spPr>
          <a:xfrm>
            <a:off x="7699248" y="1828800"/>
            <a:ext cx="3803904" cy="594360"/>
          </a:xfrm>
          <a:prstGeom prst="rect">
            <a:avLst/>
          </a:prstGeom>
          <a:noFill/>
        </p:spPr>
        <p:txBody>
          <a:bodyPr wrap="square" lIns="45720" rIns="45720" tIns="27432" bIns="27432" anchor="t">
            <a:spAutoFit/>
          </a:bodyPr>
          <a:lstStyle/>
          <a:p>
            <a:pPr algn="l">
              <a:spcAft>
                <a:spcPts val="400"/>
              </a:spcAft>
            </a:pPr>
            <a:r>
              <a:rPr sz="1500" b="0" i="0">
                <a:solidFill>
                  <a:srgbClr val="0E2841"/>
                </a:solidFill>
              </a:rPr>
              <a:t>No duplicates, even if you import twice.</a:t>
            </a:r>
          </a:p>
        </p:txBody>
      </p:sp>
      <p:sp>
        <p:nvSpPr>
          <p:cNvPr id="11" name="speed bg"/>
          <p:cNvSpPr/>
          <p:nvPr/>
        </p:nvSpPr>
        <p:spPr>
          <a:xfrm>
            <a:off x="7589520" y="2651760"/>
            <a:ext cx="4023360" cy="1143000"/>
          </a:xfrm>
          <a:prstGeom prst="roundRect">
            <a:avLst>
              <a:gd name="adj" fmla="val 48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speed title"/>
          <p:cNvSpPr txBox="1"/>
          <p:nvPr/>
        </p:nvSpPr>
        <p:spPr>
          <a:xfrm>
            <a:off x="7699248" y="2724912"/>
            <a:ext cx="3803904" cy="411480"/>
          </a:xfrm>
          <a:prstGeom prst="rect">
            <a:avLst/>
          </a:prstGeom>
          <a:noFill/>
        </p:spPr>
        <p:txBody>
          <a:bodyPr wrap="square" lIns="45720" rIns="45720" tIns="27432" bIns="27432" anchor="t">
            <a:spAutoFit/>
          </a:bodyPr>
          <a:lstStyle/>
          <a:p>
            <a:pPr algn="l">
              <a:spcAft>
                <a:spcPts val="600"/>
              </a:spcAft>
            </a:pPr>
            <a:r>
              <a:rPr sz="1700" b="1" i="0">
                <a:solidFill>
                  <a:srgbClr val="E97132"/>
                </a:solidFill>
              </a:rPr>
              <a:t>Speed</a:t>
            </a:r>
          </a:p>
        </p:txBody>
      </p:sp>
      <p:sp>
        <p:nvSpPr>
          <p:cNvPr id="13" name="speed body"/>
          <p:cNvSpPr txBox="1"/>
          <p:nvPr/>
        </p:nvSpPr>
        <p:spPr>
          <a:xfrm>
            <a:off x="7699248" y="3108960"/>
            <a:ext cx="3803904" cy="594360"/>
          </a:xfrm>
          <a:prstGeom prst="rect">
            <a:avLst/>
          </a:prstGeom>
          <a:noFill/>
        </p:spPr>
        <p:txBody>
          <a:bodyPr wrap="square" lIns="45720" rIns="45720" tIns="27432" bIns="27432" anchor="t">
            <a:spAutoFit/>
          </a:bodyPr>
          <a:lstStyle/>
          <a:p>
            <a:pPr algn="l">
              <a:spcAft>
                <a:spcPts val="400"/>
              </a:spcAft>
            </a:pPr>
            <a:r>
              <a:rPr sz="1500" b="0" i="0">
                <a:solidFill>
                  <a:srgbClr val="0E2841"/>
                </a:solidFill>
              </a:rPr>
              <a:t>Each constraint builds an </a:t>
            </a:r>
            <a:r>
              <a:rPr sz="1500" b="1" i="0">
                <a:solidFill>
                  <a:srgbClr val="0E2841"/>
                </a:solidFill>
              </a:rPr>
              <a:t>index</a:t>
            </a:r>
            <a:r>
              <a:rPr sz="1500" b="0" i="0">
                <a:solidFill>
                  <a:srgbClr val="0E2841"/>
                </a:solidFill>
              </a:rPr>
              <a:t>: look-ups jump straight to the node.</a:t>
            </a:r>
          </a:p>
        </p:txBody>
      </p:sp>
      <p:sp>
        <p:nvSpPr>
          <p:cNvPr id="14" name="why box"/>
          <p:cNvSpPr/>
          <p:nvPr/>
        </p:nvSpPr>
        <p:spPr>
          <a:xfrm>
            <a:off x="548640" y="4023360"/>
            <a:ext cx="11064240" cy="2194560"/>
          </a:xfrm>
          <a:prstGeom prst="roundRect">
            <a:avLst>
              <a:gd name="adj" fmla="val 25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why head"/>
          <p:cNvSpPr txBox="1"/>
          <p:nvPr/>
        </p:nvSpPr>
        <p:spPr>
          <a:xfrm>
            <a:off x="731520" y="4069080"/>
            <a:ext cx="10698480" cy="411480"/>
          </a:xfrm>
          <a:prstGeom prst="rect">
            <a:avLst/>
          </a:prstGeom>
          <a:noFill/>
        </p:spPr>
        <p:txBody>
          <a:bodyPr wrap="square" lIns="45720" rIns="45720" tIns="27432" bIns="27432" anchor="t">
            <a:spAutoFit/>
          </a:bodyPr>
          <a:lstStyle/>
          <a:p>
            <a:pPr algn="l">
              <a:spcAft>
                <a:spcPts val="600"/>
              </a:spcAft>
            </a:pPr>
            <a:r>
              <a:rPr sz="1800" b="1" i="0">
                <a:solidFill>
                  <a:srgbClr val="0E2841"/>
                </a:solidFill>
              </a:rPr>
              <a:t>Why does this matter?</a:t>
            </a:r>
          </a:p>
        </p:txBody>
      </p:sp>
      <p:sp>
        <p:nvSpPr>
          <p:cNvPr id="16" name="why list"/>
          <p:cNvSpPr txBox="1"/>
          <p:nvPr/>
        </p:nvSpPr>
        <p:spPr>
          <a:xfrm>
            <a:off x="731520" y="4526280"/>
            <a:ext cx="10698480" cy="1645920"/>
          </a:xfrm>
          <a:prstGeom prst="rect">
            <a:avLst/>
          </a:prstGeom>
          <a:noFill/>
        </p:spPr>
        <p:txBody>
          <a:bodyPr wrap="square" lIns="45720" rIns="45720" tIns="27432" bIns="27432" anchor="t">
            <a:spAutoFit/>
          </a:bodyPr>
          <a:lstStyle/>
          <a:p>
            <a:pPr algn="l" marL="256032" indent="-256032">
              <a:spcAft>
                <a:spcPts val="600"/>
              </a:spcAft>
              <a:buFont typeface="Arial"/>
              <a:buChar char="•"/>
            </a:pPr>
            <a:r>
              <a:rPr sz="1600" b="0" i="0">
                <a:solidFill>
                  <a:srgbClr val="0E2841"/>
                </a:solidFill>
              </a:rPr>
              <a:t>Wave 2 of the import runs </a:t>
            </a:r>
            <a:r>
              <a:rPr sz="1600" b="1" i="0">
                <a:solidFill>
                  <a:srgbClr val="0E2841"/>
                </a:solidFill>
              </a:rPr>
              <a:t>90,445 × 2</a:t>
            </a:r>
            <a:r>
              <a:rPr sz="1600" b="0" i="0">
                <a:solidFill>
                  <a:srgbClr val="0E2841"/>
                </a:solidFill>
              </a:rPr>
              <a:t> look-ups like </a:t>
            </a:r>
            <a:r>
              <a:rPr sz="1600" b="0" i="0">
                <a:solidFill>
                  <a:srgbClr val="156082"/>
                </a:solidFill>
                <a:latin typeface="Courier New"/>
              </a:rPr>
              <a:t>MATCH (g:Genome {genome_id: …})</a:t>
            </a:r>
            <a:r>
              <a:rPr sz="1600" b="0" i="0">
                <a:solidFill>
                  <a:srgbClr val="0E2841"/>
                </a:solidFill>
              </a:rPr>
              <a:t>.</a:t>
            </a:r>
          </a:p>
          <a:p>
            <a:pPr algn="l" marL="256032" indent="-256032">
              <a:spcAft>
                <a:spcPts val="600"/>
              </a:spcAft>
              <a:buFont typeface="Arial"/>
              <a:buChar char="•"/>
            </a:pPr>
            <a:r>
              <a:rPr sz="1600" b="0" i="0">
                <a:solidFill>
                  <a:srgbClr val="0E2841"/>
                </a:solidFill>
              </a:rPr>
              <a:t>Without an index each look-up scans all nodes with that label → </a:t>
            </a:r>
            <a:r>
              <a:rPr sz="1600" b="1" i="0">
                <a:solidFill>
                  <a:srgbClr val="0E2841"/>
                </a:solidFill>
              </a:rPr>
              <a:t>minutes</a:t>
            </a:r>
            <a:r>
              <a:rPr sz="1600" b="0" i="0">
                <a:solidFill>
                  <a:srgbClr val="0E2841"/>
                </a:solidFill>
              </a:rPr>
              <a:t>. With the index → </a:t>
            </a:r>
            <a:r>
              <a:rPr sz="1600" b="1" i="0">
                <a:solidFill>
                  <a:srgbClr val="0E2841"/>
                </a:solidFill>
              </a:rPr>
              <a:t>seconds</a:t>
            </a:r>
            <a:r>
              <a:rPr sz="1600" b="0" i="0">
                <a:solidFill>
                  <a:srgbClr val="0E2841"/>
                </a:solidFill>
              </a:rPr>
              <a:t> (our whole import: ~6 s).</a:t>
            </a:r>
          </a:p>
          <a:p>
            <a:pPr algn="l" marL="256032" indent="-256032">
              <a:spcAft>
                <a:spcPts val="600"/>
              </a:spcAft>
              <a:buFont typeface="Arial"/>
              <a:buChar char="•"/>
            </a:pPr>
            <a:r>
              <a:rPr sz="1600" b="0" i="0">
                <a:solidFill>
                  <a:srgbClr val="156082"/>
                </a:solidFill>
                <a:latin typeface="Courier New"/>
              </a:rPr>
              <a:t>IF NOT EXISTS</a:t>
            </a:r>
            <a:r>
              <a:rPr sz="1600" b="0" i="0">
                <a:solidFill>
                  <a:srgbClr val="0E2841"/>
                </a:solidFill>
              </a:rPr>
              <a:t> makes the statements safe to repeat: the notebook is re-runnable.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9509760" cy="777240"/>
          </a:xfrm>
        </p:spPr>
        <p:txBody>
          <a:bodyPr wrap="square" anchor="ctr"/>
          <a:lstStyle/>
          <a:p>
            <a:pPr algn="l"/>
            <a:r>
              <a:rPr sz="3000" b="1" i="0">
                <a:solidFill>
                  <a:srgbClr val="0E2841"/>
                </a:solidFill>
              </a:rPr>
              <a:t>Import 2: UNWIND … MERGE in batches</a:t>
            </a:r>
          </a:p>
        </p:txBody>
      </p:sp>
      <p:sp>
        <p:nvSpPr>
          <p:cNvPr id="3" name="footer"/>
          <p:cNvSpPr txBox="1"/>
          <p:nvPr/>
        </p:nvSpPr>
        <p:spPr>
          <a:xfrm>
            <a:off x="548640" y="6455664"/>
            <a:ext cx="8686800" cy="274320"/>
          </a:xfrm>
          <a:prstGeom prst="rect">
            <a:avLst/>
          </a:prstGeom>
          <a:noFill/>
        </p:spPr>
        <p:txBody>
          <a:bodyPr wrap="square" lIns="45720" rIns="45720" tIns="27432" bIns="27432" anchor="t">
            <a:spAutoFit/>
          </a:bodyPr>
          <a:lstStyle/>
          <a:p>
            <a:pPr algn="l">
              <a:spcAft>
                <a:spcPts val="600"/>
              </a:spcAft>
            </a:pPr>
            <a:r>
              <a:rPr sz="1000" b="0" i="0">
                <a:solidFill>
                  <a:srgbClr val="595959"/>
                </a:solidFill>
              </a:rPr>
              <a:t>NoSQL Databases for Bioinformatics  ·  Lecture 27  ·  Neo4j genome workshop</a:t>
            </a:r>
          </a:p>
        </p:txBody>
      </p:sp>
      <p:sp>
        <p:nvSpPr>
          <p:cNvPr id="4" name="slide number"/>
          <p:cNvSpPr txBox="1"/>
          <p:nvPr/>
        </p:nvSpPr>
        <p:spPr>
          <a:xfrm>
            <a:off x="10698480" y="6455664"/>
            <a:ext cx="914400" cy="274320"/>
          </a:xfrm>
          <a:prstGeom prst="rect">
            <a:avLst/>
          </a:prstGeom>
          <a:noFill/>
        </p:spPr>
        <p:txBody>
          <a:bodyPr wrap="square" lIns="45720" rIns="45720" tIns="27432" bIns="27432" anchor="t">
            <a:spAutoFit/>
          </a:bodyPr>
          <a:lstStyle/>
          <a:p>
            <a:pPr algn="r">
              <a:spcAft>
                <a:spcPts val="600"/>
              </a:spcAft>
            </a:pPr>
            <a:fld id="{B6F15528-21DE-4FAA-801E-634DDDAF4B2B}" type="slidenum">
              <a:rPr lang="en-US" sz="1000">
                <a:solidFill>
                  <a:srgbClr val="595959"/>
                </a:solidFill>
              </a:rPr>
              <a:t>‹#›</a:t>
            </a:fld>
          </a:p>
        </p:txBody>
      </p:sp>
      <p:sp>
        <p:nvSpPr>
          <p:cNvPr id="5" name="step tag"/>
          <p:cNvSpPr/>
          <p:nvPr/>
        </p:nvSpPr>
        <p:spPr>
          <a:xfrm>
            <a:off x="10195560" y="411480"/>
            <a:ext cx="1417320" cy="329184"/>
          </a:xfrm>
          <a:prstGeom prst="roundRect">
            <a:avLst>
              <a:gd name="adj" fmla="val 50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IMPORT</a:t>
            </a:r>
          </a:p>
        </p:txBody>
      </p:sp>
      <p:sp>
        <p:nvSpPr>
          <p:cNvPr id="6" name="unwind code bg"/>
          <p:cNvSpPr/>
          <p:nvPr/>
        </p:nvSpPr>
        <p:spPr>
          <a:xfrm>
            <a:off x="548640" y="1371600"/>
            <a:ext cx="6675120" cy="3931920"/>
          </a:xfrm>
          <a:prstGeom prst="roundRect">
            <a:avLst>
              <a:gd name="adj" fmla="val 1162"/>
            </a:avLst>
          </a:prstGeom>
          <a:solidFill>
            <a:srgbClr val="F4F6F8"/>
          </a:solidFill>
          <a:ln w="9525">
            <a:solidFill>
              <a:srgbClr val="C9D1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unwind code"/>
          <p:cNvSpPr txBox="1"/>
          <p:nvPr/>
        </p:nvSpPr>
        <p:spPr>
          <a:xfrm>
            <a:off x="640080" y="1435608"/>
            <a:ext cx="6492240" cy="3803904"/>
          </a:xfrm>
          <a:prstGeom prst="rect">
            <a:avLst/>
          </a:prstGeom>
          <a:noFill/>
        </p:spPr>
        <p:txBody>
          <a:bodyPr wrap="square" lIns="45720" rIns="45720" tIns="27432" bIns="27432" anchor="t">
            <a:spAutoFit/>
          </a:bodyPr>
          <a:lstStyle/>
          <a:p>
            <a:pPr algn="l">
              <a:spcAft>
                <a:spcPts val="0"/>
              </a:spcAft>
            </a:pPr>
            <a:r>
              <a:rPr sz="1400" b="0" i="0">
                <a:solidFill>
                  <a:srgbClr val="1F2937"/>
                </a:solidFill>
                <a:latin typeface="Courier New"/>
              </a:rPr>
              <a:t>rows = read_csv_rows("genome_ko.csv")   # list of dicts</a:t>
            </a:r>
          </a:p>
          <a:p>
            <a:pPr algn="l">
              <a:spcAft>
                <a:spcPts val="0"/>
              </a:spcAft>
            </a:pPr>
            <a:r>
              <a:rPr sz="1400" b="0" i="0">
                <a:solidFill>
                  <a:srgbClr val="1F2937"/>
                </a:solidFill>
                <a:latin typeface="Courier New"/>
              </a:rPr>
              <a:t>for r in rows:                           # csv gives TEXT:</a:t>
            </a:r>
          </a:p>
          <a:p>
            <a:pPr algn="l">
              <a:spcAft>
                <a:spcPts val="0"/>
              </a:spcAft>
            </a:pPr>
            <a:r>
              <a:rPr sz="1400" b="0" i="0">
                <a:solidFill>
                  <a:srgbClr val="1F2937"/>
                </a:solidFill>
                <a:latin typeface="Courier New"/>
              </a:rPr>
              <a:t>    r["copies"] = int(r["copies"])       # convert numbers!</a:t>
            </a:r>
          </a:p>
          <a:p>
            <a:pPr algn="l">
              <a:spcAft>
                <a:spcPts val="0"/>
              </a:spcAft>
            </a:pPr>
          </a:p>
          <a:p>
            <a:pPr algn="l">
              <a:spcAft>
                <a:spcPts val="0"/>
              </a:spcAft>
            </a:pPr>
            <a:r>
              <a:rPr sz="1400" b="0" i="0">
                <a:solidFill>
                  <a:srgbClr val="1F2937"/>
                </a:solidFill>
                <a:latin typeface="Courier New"/>
              </a:rPr>
              <a:t>for batch in chunks(rows, 5000):</a:t>
            </a:r>
          </a:p>
          <a:p>
            <a:pPr algn="l">
              <a:spcAft>
                <a:spcPts val="0"/>
              </a:spcAft>
            </a:pPr>
            <a:r>
              <a:rPr sz="1400" b="0" i="0">
                <a:solidFill>
                  <a:srgbClr val="1F2937"/>
                </a:solidFill>
                <a:latin typeface="Courier New"/>
              </a:rPr>
              <a:t>    run("""</a:t>
            </a:r>
          </a:p>
          <a:p>
            <a:pPr algn="l">
              <a:spcAft>
                <a:spcPts val="0"/>
              </a:spcAft>
            </a:pPr>
            <a:r>
              <a:rPr sz="1400" b="0" i="0">
                <a:solidFill>
                  <a:srgbClr val="1F2937"/>
                </a:solidFill>
                <a:latin typeface="Courier New"/>
              </a:rPr>
              <a:t>    UNWIND $rows AS row</a:t>
            </a:r>
          </a:p>
          <a:p>
            <a:pPr algn="l">
              <a:spcAft>
                <a:spcPts val="0"/>
              </a:spcAft>
            </a:pPr>
            <a:r>
              <a:rPr sz="1400" b="0" i="0">
                <a:solidFill>
                  <a:srgbClr val="1F2937"/>
                </a:solidFill>
                <a:latin typeface="Courier New"/>
              </a:rPr>
              <a:t>    MATCH (g:Genome {genome_id: row.genome_id})</a:t>
            </a:r>
          </a:p>
          <a:p>
            <a:pPr algn="l">
              <a:spcAft>
                <a:spcPts val="0"/>
              </a:spcAft>
            </a:pPr>
            <a:r>
              <a:rPr sz="1400" b="0" i="0">
                <a:solidFill>
                  <a:srgbClr val="1F2937"/>
                </a:solidFill>
                <a:latin typeface="Courier New"/>
              </a:rPr>
              <a:t>    MATCH (k:KO     {ko_id:     row.ko_id})</a:t>
            </a:r>
          </a:p>
          <a:p>
            <a:pPr algn="l">
              <a:spcAft>
                <a:spcPts val="0"/>
              </a:spcAft>
            </a:pPr>
            <a:r>
              <a:rPr sz="1400" b="0" i="0">
                <a:solidFill>
                  <a:srgbClr val="1F2937"/>
                </a:solidFill>
                <a:latin typeface="Courier New"/>
              </a:rPr>
              <a:t>    MERGE (g)-[r:CONTAINS_KO]-&gt;(k)</a:t>
            </a:r>
          </a:p>
          <a:p>
            <a:pPr algn="l">
              <a:spcAft>
                <a:spcPts val="0"/>
              </a:spcAft>
            </a:pPr>
            <a:r>
              <a:rPr sz="1400" b="0" i="0">
                <a:solidFill>
                  <a:srgbClr val="1F2937"/>
                </a:solidFill>
                <a:latin typeface="Courier New"/>
              </a:rPr>
              <a:t>    SET   r.copies = row.copies</a:t>
            </a:r>
          </a:p>
          <a:p>
            <a:pPr algn="l">
              <a:spcAft>
                <a:spcPts val="0"/>
              </a:spcAft>
            </a:pPr>
            <a:r>
              <a:rPr sz="1400" b="0" i="0">
                <a:solidFill>
                  <a:srgbClr val="1F2937"/>
                </a:solidFill>
                <a:latin typeface="Courier New"/>
              </a:rPr>
              <a:t>    """, rows=batch)</a:t>
            </a:r>
          </a:p>
        </p:txBody>
      </p:sp>
      <p:sp>
        <p:nvSpPr>
          <p:cNvPr id="8" name="flow 0"/>
          <p:cNvSpPr/>
          <p:nvPr/>
        </p:nvSpPr>
        <p:spPr>
          <a:xfrm>
            <a:off x="7589520" y="1371600"/>
            <a:ext cx="4023360" cy="731520"/>
          </a:xfrm>
          <a:prstGeom prst="roundRect">
            <a:avLst>
              <a:gd name="adj" fmla="val 10000"/>
            </a:avLst>
          </a:prstGeom>
          <a:solidFill>
            <a:srgbClr val="59595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i="0">
                <a:solidFill>
                  <a:srgbClr val="FFFFFF"/>
                </a:solidFill>
              </a:rPr>
              <a:t>CSV file</a:t>
            </a:r>
          </a:p>
        </p:txBody>
      </p:sp>
      <p:cxnSp>
        <p:nvCxnSpPr>
          <p:cNvPr id="9" name="flow arrow"/>
          <p:cNvCxnSpPr/>
          <p:nvPr/>
        </p:nvCxnSpPr>
        <p:spPr>
          <a:xfrm>
            <a:off x="9601200" y="2103120"/>
            <a:ext cx="0" cy="347471"/>
          </a:xfrm>
          <a:prstGeom prst="line">
            <a:avLst/>
          </a:prstGeom>
          <a:ln w="285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10" name="flow 1"/>
          <p:cNvSpPr/>
          <p:nvPr/>
        </p:nvSpPr>
        <p:spPr>
          <a:xfrm>
            <a:off x="7589520" y="2450591"/>
            <a:ext cx="4023360" cy="731520"/>
          </a:xfrm>
          <a:prstGeom prst="roundRect">
            <a:avLst>
              <a:gd name="adj" fmla="val 1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i="0">
                <a:solidFill>
                  <a:srgbClr val="FFFFFF"/>
                </a:solidFill>
              </a:rPr>
              <a:t>Python: dicts, </a:t>
            </a:r>
            <a:r>
              <a:rPr sz="1600" b="1" i="0">
                <a:solidFill>
                  <a:srgbClr val="FFFFFF"/>
                </a:solidFill>
                <a:latin typeface="Courier New"/>
              </a:rPr>
              <a:t>int()</a:t>
            </a:r>
          </a:p>
        </p:txBody>
      </p:sp>
      <p:cxnSp>
        <p:nvCxnSpPr>
          <p:cNvPr id="11" name="flow arrow"/>
          <p:cNvCxnSpPr/>
          <p:nvPr/>
        </p:nvCxnSpPr>
        <p:spPr>
          <a:xfrm>
            <a:off x="9601200" y="3182111"/>
            <a:ext cx="0" cy="347472"/>
          </a:xfrm>
          <a:prstGeom prst="line">
            <a:avLst/>
          </a:prstGeom>
          <a:ln w="285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12" name="flow 2"/>
          <p:cNvSpPr/>
          <p:nvPr/>
        </p:nvSpPr>
        <p:spPr>
          <a:xfrm>
            <a:off x="7589520" y="3529584"/>
            <a:ext cx="4023360" cy="731520"/>
          </a:xfrm>
          <a:prstGeom prst="roundRect">
            <a:avLst>
              <a:gd name="adj" fmla="val 10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i="0">
                <a:solidFill>
                  <a:srgbClr val="FFFFFF"/>
                </a:solidFill>
              </a:rPr>
              <a:t>batch of 5,000 rows</a:t>
            </a:r>
          </a:p>
        </p:txBody>
      </p:sp>
      <p:cxnSp>
        <p:nvCxnSpPr>
          <p:cNvPr id="13" name="flow arrow"/>
          <p:cNvCxnSpPr/>
          <p:nvPr/>
        </p:nvCxnSpPr>
        <p:spPr>
          <a:xfrm>
            <a:off x="9601200" y="4261104"/>
            <a:ext cx="0" cy="347472"/>
          </a:xfrm>
          <a:prstGeom prst="line">
            <a:avLst/>
          </a:prstGeom>
          <a:ln w="285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14" name="flow 3"/>
          <p:cNvSpPr/>
          <p:nvPr/>
        </p:nvSpPr>
        <p:spPr>
          <a:xfrm>
            <a:off x="7589520" y="4608576"/>
            <a:ext cx="4023360" cy="731520"/>
          </a:xfrm>
          <a:prstGeom prst="roundRect">
            <a:avLst>
              <a:gd name="adj" fmla="val 10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i="0">
                <a:solidFill>
                  <a:srgbClr val="FFFFFF"/>
                </a:solidFill>
              </a:rPr>
              <a:t>Neo4j: </a:t>
            </a:r>
            <a:r>
              <a:rPr sz="1600" b="1" i="0">
                <a:solidFill>
                  <a:srgbClr val="FFFFFF"/>
                </a:solidFill>
                <a:latin typeface="Courier New"/>
              </a:rPr>
              <a:t>UNWIND</a:t>
            </a:r>
            <a:r>
              <a:rPr sz="1600" b="1" i="0">
                <a:solidFill>
                  <a:srgbClr val="FFFFFF"/>
                </a:solidFill>
              </a:rPr>
              <a:t> + </a:t>
            </a:r>
            <a:r>
              <a:rPr sz="1600" b="1" i="0">
                <a:solidFill>
                  <a:srgbClr val="FFFFFF"/>
                </a:solidFill>
                <a:latin typeface="Courier New"/>
              </a:rPr>
              <a:t>MERGE</a:t>
            </a:r>
          </a:p>
        </p:txBody>
      </p:sp>
      <p:sp>
        <p:nvSpPr>
          <p:cNvPr id="15" name="import tips"/>
          <p:cNvSpPr txBox="1"/>
          <p:nvPr/>
        </p:nvSpPr>
        <p:spPr>
          <a:xfrm>
            <a:off x="548640" y="5806440"/>
            <a:ext cx="11064240" cy="502920"/>
          </a:xfrm>
          <a:prstGeom prst="rect">
            <a:avLst/>
          </a:prstGeom>
          <a:noFill/>
        </p:spPr>
        <p:txBody>
          <a:bodyPr wrap="square" lIns="45720" rIns="45720" tIns="27432" bIns="27432" anchor="t">
            <a:spAutoFit/>
          </a:bodyPr>
          <a:lstStyle/>
          <a:p>
            <a:pPr algn="l">
              <a:spcAft>
                <a:spcPts val="600"/>
              </a:spcAft>
            </a:pPr>
            <a:r>
              <a:rPr sz="1400" b="1" i="0">
                <a:solidFill>
                  <a:srgbClr val="595959"/>
                </a:solidFill>
              </a:rPr>
              <a:t>Order matters:</a:t>
            </a:r>
            <a:r>
              <a:rPr sz="1400" b="0" i="0">
                <a:solidFill>
                  <a:srgbClr val="595959"/>
                </a:solidFill>
              </a:rPr>
              <a:t> nodes first, relationships second  ·  </a:t>
            </a:r>
            <a:r>
              <a:rPr sz="1400" b="1" i="0">
                <a:solidFill>
                  <a:srgbClr val="595959"/>
                </a:solidFill>
              </a:rPr>
              <a:t>MERGE</a:t>
            </a:r>
            <a:r>
              <a:rPr sz="1400" b="0" i="0">
                <a:solidFill>
                  <a:srgbClr val="595959"/>
                </a:solidFill>
              </a:rPr>
              <a:t> = get-or-create: the import is re-runnable  ·  batches: not 1 row, not 90,000 rows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9509760" cy="777240"/>
          </a:xfrm>
        </p:spPr>
        <p:txBody>
          <a:bodyPr wrap="square" anchor="ctr"/>
          <a:lstStyle/>
          <a:p>
            <a:pPr algn="l"/>
            <a:r>
              <a:rPr sz="3000" b="1" i="0">
                <a:solidFill>
                  <a:srgbClr val="0E2841"/>
                </a:solidFill>
              </a:rPr>
              <a:t>Never trust an import: verify it</a:t>
            </a:r>
          </a:p>
        </p:txBody>
      </p:sp>
      <p:sp>
        <p:nvSpPr>
          <p:cNvPr id="3" name="footer"/>
          <p:cNvSpPr txBox="1"/>
          <p:nvPr/>
        </p:nvSpPr>
        <p:spPr>
          <a:xfrm>
            <a:off x="548640" y="6455664"/>
            <a:ext cx="8686800" cy="274320"/>
          </a:xfrm>
          <a:prstGeom prst="rect">
            <a:avLst/>
          </a:prstGeom>
          <a:noFill/>
        </p:spPr>
        <p:txBody>
          <a:bodyPr wrap="square" lIns="45720" rIns="45720" tIns="27432" bIns="27432" anchor="t">
            <a:spAutoFit/>
          </a:bodyPr>
          <a:lstStyle/>
          <a:p>
            <a:pPr algn="l">
              <a:spcAft>
                <a:spcPts val="600"/>
              </a:spcAft>
            </a:pPr>
            <a:r>
              <a:rPr sz="1000" b="0" i="0">
                <a:solidFill>
                  <a:srgbClr val="595959"/>
                </a:solidFill>
              </a:rPr>
              <a:t>NoSQL Databases for Bioinformatics  ·  Lecture 27  ·  Neo4j genome workshop</a:t>
            </a:r>
          </a:p>
        </p:txBody>
      </p:sp>
      <p:sp>
        <p:nvSpPr>
          <p:cNvPr id="4" name="slide number"/>
          <p:cNvSpPr txBox="1"/>
          <p:nvPr/>
        </p:nvSpPr>
        <p:spPr>
          <a:xfrm>
            <a:off x="10698480" y="6455664"/>
            <a:ext cx="914400" cy="274320"/>
          </a:xfrm>
          <a:prstGeom prst="rect">
            <a:avLst/>
          </a:prstGeom>
          <a:noFill/>
        </p:spPr>
        <p:txBody>
          <a:bodyPr wrap="square" lIns="45720" rIns="45720" tIns="27432" bIns="27432" anchor="t">
            <a:spAutoFit/>
          </a:bodyPr>
          <a:lstStyle/>
          <a:p>
            <a:pPr algn="r">
              <a:spcAft>
                <a:spcPts val="600"/>
              </a:spcAft>
            </a:pPr>
            <a:fld id="{B6F15528-21DE-4FAA-801E-634DDDAF4B2B}" type="slidenum">
              <a:rPr lang="en-US" sz="1000">
                <a:solidFill>
                  <a:srgbClr val="595959"/>
                </a:solidFill>
              </a:rPr>
              <a:t>‹#›</a:t>
            </a:fld>
          </a:p>
        </p:txBody>
      </p:sp>
      <p:sp>
        <p:nvSpPr>
          <p:cNvPr id="5" name="step tag"/>
          <p:cNvSpPr/>
          <p:nvPr/>
        </p:nvSpPr>
        <p:spPr>
          <a:xfrm>
            <a:off x="10195560" y="411480"/>
            <a:ext cx="1417320" cy="329184"/>
          </a:xfrm>
          <a:prstGeom prst="roundRect">
            <a:avLst>
              <a:gd name="adj" fmla="val 50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IMPORT</a:t>
            </a:r>
          </a:p>
        </p:txBody>
      </p:sp>
      <p:graphicFrame>
        <p:nvGraphicFramePr>
          <p:cNvPr id="6" name="verify table"/>
          <p:cNvGraphicFramePr>
            <a:graphicFrameLocks noGrp="1"/>
          </p:cNvGraphicFramePr>
          <p:nvPr/>
        </p:nvGraphicFramePr>
        <p:xfrm>
          <a:off x="548640" y="1371600"/>
          <a:ext cx="6400800" cy="3776472"/>
        </p:xfrm>
        <a:graphic>
          <a:graphicData uri="http://schemas.openxmlformats.org/drawingml/2006/table">
            <a:tbl>
              <a:tblPr firstRow="0" bandRow="0">
                <a:tableStyleId>{5C22544A-7EE6-4342-B048-85BDC9FD1C3A}</a:tableStyleId>
              </a:tblPr>
              <a:tblGrid>
                <a:gridCol w="2377440"/>
                <a:gridCol w="1554480"/>
                <a:gridCol w="1645920"/>
                <a:gridCol w="822960"/>
              </a:tblGrid>
              <a:tr h="411480">
                <a:tc>
                  <a:txBody>
                    <a:bodyPr wrap="square"/>
                    <a:lstStyle/>
                    <a:p/>
                  </a:txBody>
                  <a:tcPr marL="73152" marR="73152" marT="36576" marB="36576" anchor="ctr">
                    <a:solidFill>
                      <a:srgbClr val="0E2841"/>
                    </a:solidFill>
                  </a:tcPr>
                </a:tc>
                <a:tc>
                  <a:txBody>
                    <a:bodyPr wrap="square"/>
                    <a:lstStyle/>
                    <a:p>
                      <a:pPr algn="r"/>
                      <a:r>
                        <a:rPr sz="1500" b="1" i="0">
                          <a:solidFill>
                            <a:srgbClr val="FFFFFF"/>
                          </a:solidFill>
                        </a:rPr>
                        <a:t>in database</a:t>
                      </a:r>
                    </a:p>
                  </a:txBody>
                  <a:tcPr marL="73152" marR="73152" marT="36576" marB="36576" anchor="ctr">
                    <a:solidFill>
                      <a:srgbClr val="0E2841"/>
                    </a:solidFill>
                  </a:tcPr>
                </a:tc>
                <a:tc>
                  <a:txBody>
                    <a:bodyPr wrap="square"/>
                    <a:lstStyle/>
                    <a:p>
                      <a:pPr algn="r"/>
                      <a:r>
                        <a:rPr sz="1500" b="1" i="0">
                          <a:solidFill>
                            <a:srgbClr val="FFFFFF"/>
                          </a:solidFill>
                        </a:rPr>
                        <a:t>in CSV files</a:t>
                      </a:r>
                    </a:p>
                  </a:txBody>
                  <a:tcPr marL="73152" marR="73152" marT="36576" marB="36576" anchor="ctr">
                    <a:solidFill>
                      <a:srgbClr val="0E2841"/>
                    </a:solidFill>
                  </a:tcPr>
                </a:tc>
                <a:tc>
                  <a:txBody>
                    <a:bodyPr wrap="square"/>
                    <a:lstStyle/>
                    <a:p>
                      <a:pPr algn="ctr"/>
                      <a:r>
                        <a:rPr sz="1500" b="1" i="0">
                          <a:solidFill>
                            <a:srgbClr val="FFFFFF"/>
                          </a:solidFill>
                        </a:rPr>
                        <a:t>OK?</a:t>
                      </a:r>
                    </a:p>
                  </a:txBody>
                  <a:tcPr marL="73152" marR="73152" marT="36576" marB="36576" anchor="ctr">
                    <a:solidFill>
                      <a:srgbClr val="0E2841"/>
                    </a:solidFill>
                  </a:tcPr>
                </a:tc>
              </a:tr>
              <a:tr h="420624">
                <a:tc>
                  <a:txBody>
                    <a:bodyPr wrap="square"/>
                    <a:lstStyle/>
                    <a:p>
                      <a:r>
                        <a:rPr sz="1500" b="0" i="0">
                          <a:solidFill>
                            <a:srgbClr val="156082"/>
                          </a:solidFill>
                          <a:latin typeface="Courier New"/>
                        </a:rPr>
                        <a:t>Genome</a:t>
                      </a:r>
                    </a:p>
                  </a:txBody>
                  <a:tcPr marL="73152" marR="73152" marT="36576" marB="36576" anchor="ctr">
                    <a:solidFill>
                      <a:srgbClr val="FFFFFF"/>
                    </a:solidFill>
                  </a:tcPr>
                </a:tc>
                <a:tc>
                  <a:txBody>
                    <a:bodyPr wrap="square"/>
                    <a:lstStyle/>
                    <a:p>
                      <a:pPr algn="r"/>
                      <a:r>
                        <a:rPr sz="1500" b="0" i="0">
                          <a:solidFill>
                            <a:srgbClr val="0E2841"/>
                          </a:solidFill>
                        </a:rPr>
                        <a:t>65</a:t>
                      </a:r>
                    </a:p>
                  </a:txBody>
                  <a:tcPr marL="73152" marR="73152" marT="36576" marB="36576" anchor="ctr">
                    <a:solidFill>
                      <a:srgbClr val="FFFFFF"/>
                    </a:solidFill>
                  </a:tcPr>
                </a:tc>
                <a:tc>
                  <a:txBody>
                    <a:bodyPr wrap="square"/>
                    <a:lstStyle/>
                    <a:p>
                      <a:pPr algn="r"/>
                      <a:r>
                        <a:rPr sz="1500" b="0" i="0">
                          <a:solidFill>
                            <a:srgbClr val="0E2841"/>
                          </a:solidFill>
                        </a:rPr>
                        <a:t>65</a:t>
                      </a:r>
                    </a:p>
                  </a:txBody>
                  <a:tcPr marL="73152" marR="73152" marT="36576" marB="36576" anchor="ctr">
                    <a:solidFill>
                      <a:srgbClr val="FFFFFF"/>
                    </a:solidFill>
                  </a:tcPr>
                </a:tc>
                <a:tc>
                  <a:txBody>
                    <a:bodyPr wrap="square"/>
                    <a:lstStyle/>
                    <a:p>
                      <a:pPr algn="ctr"/>
                      <a:r>
                        <a:rPr sz="1500" b="0" i="0">
                          <a:solidFill>
                            <a:srgbClr val="0E2841"/>
                          </a:solidFill>
                        </a:rPr>
                        <a:t>✅</a:t>
                      </a:r>
                    </a:p>
                  </a:txBody>
                  <a:tcPr marL="73152" marR="73152" marT="36576" marB="36576" anchor="ctr">
                    <a:solidFill>
                      <a:srgbClr val="FFFFFF"/>
                    </a:solidFill>
                  </a:tcPr>
                </a:tc>
              </a:tr>
              <a:tr h="420624">
                <a:tc>
                  <a:txBody>
                    <a:bodyPr wrap="square"/>
                    <a:lstStyle/>
                    <a:p>
                      <a:r>
                        <a:rPr sz="1500" b="0" i="0">
                          <a:solidFill>
                            <a:srgbClr val="156082"/>
                          </a:solidFill>
                          <a:latin typeface="Courier New"/>
                        </a:rPr>
                        <a:t>KO</a:t>
                      </a:r>
                    </a:p>
                  </a:txBody>
                  <a:tcPr marL="73152" marR="73152" marT="36576" marB="36576" anchor="ctr">
                    <a:solidFill>
                      <a:srgbClr val="F2F5F9"/>
                    </a:solidFill>
                  </a:tcPr>
                </a:tc>
                <a:tc>
                  <a:txBody>
                    <a:bodyPr wrap="square"/>
                    <a:lstStyle/>
                    <a:p>
                      <a:pPr algn="r"/>
                      <a:r>
                        <a:rPr sz="1500" b="0" i="0">
                          <a:solidFill>
                            <a:srgbClr val="0E2841"/>
                          </a:solidFill>
                        </a:rPr>
                        <a:t>8,994</a:t>
                      </a:r>
                    </a:p>
                  </a:txBody>
                  <a:tcPr marL="73152" marR="73152" marT="36576" marB="36576" anchor="ctr">
                    <a:solidFill>
                      <a:srgbClr val="F2F5F9"/>
                    </a:solidFill>
                  </a:tcPr>
                </a:tc>
                <a:tc>
                  <a:txBody>
                    <a:bodyPr wrap="square"/>
                    <a:lstStyle/>
                    <a:p>
                      <a:pPr algn="r"/>
                      <a:r>
                        <a:rPr sz="1500" b="0" i="0">
                          <a:solidFill>
                            <a:srgbClr val="0E2841"/>
                          </a:solidFill>
                        </a:rPr>
                        <a:t>8,994</a:t>
                      </a:r>
                    </a:p>
                  </a:txBody>
                  <a:tcPr marL="73152" marR="73152" marT="36576" marB="36576" anchor="ctr">
                    <a:solidFill>
                      <a:srgbClr val="F2F5F9"/>
                    </a:solidFill>
                  </a:tcPr>
                </a:tc>
                <a:tc>
                  <a:txBody>
                    <a:bodyPr wrap="square"/>
                    <a:lstStyle/>
                    <a:p>
                      <a:pPr algn="ctr"/>
                      <a:r>
                        <a:rPr sz="1500" b="0" i="0">
                          <a:solidFill>
                            <a:srgbClr val="0E2841"/>
                          </a:solidFill>
                        </a:rPr>
                        <a:t>✅</a:t>
                      </a:r>
                    </a:p>
                  </a:txBody>
                  <a:tcPr marL="73152" marR="73152" marT="36576" marB="36576" anchor="ctr">
                    <a:solidFill>
                      <a:srgbClr val="F2F5F9"/>
                    </a:solidFill>
                  </a:tcPr>
                </a:tc>
              </a:tr>
              <a:tr h="420624">
                <a:tc>
                  <a:txBody>
                    <a:bodyPr wrap="square"/>
                    <a:lstStyle/>
                    <a:p>
                      <a:r>
                        <a:rPr sz="1500" b="0" i="0">
                          <a:solidFill>
                            <a:srgbClr val="156082"/>
                          </a:solidFill>
                          <a:latin typeface="Courier New"/>
                        </a:rPr>
                        <a:t>Taxon</a:t>
                      </a:r>
                    </a:p>
                  </a:txBody>
                  <a:tcPr marL="73152" marR="73152" marT="36576" marB="36576" anchor="ctr">
                    <a:solidFill>
                      <a:srgbClr val="FFFFFF"/>
                    </a:solidFill>
                  </a:tcPr>
                </a:tc>
                <a:tc>
                  <a:txBody>
                    <a:bodyPr wrap="square"/>
                    <a:lstStyle/>
                    <a:p>
                      <a:pPr algn="r"/>
                      <a:r>
                        <a:rPr sz="1500" b="0" i="0">
                          <a:solidFill>
                            <a:srgbClr val="0E2841"/>
                          </a:solidFill>
                        </a:rPr>
                        <a:t>270</a:t>
                      </a:r>
                    </a:p>
                  </a:txBody>
                  <a:tcPr marL="73152" marR="73152" marT="36576" marB="36576" anchor="ctr">
                    <a:solidFill>
                      <a:srgbClr val="FFFFFF"/>
                    </a:solidFill>
                  </a:tcPr>
                </a:tc>
                <a:tc>
                  <a:txBody>
                    <a:bodyPr wrap="square"/>
                    <a:lstStyle/>
                    <a:p>
                      <a:pPr algn="r"/>
                      <a:r>
                        <a:rPr sz="1500" b="0" i="0">
                          <a:solidFill>
                            <a:srgbClr val="0E2841"/>
                          </a:solidFill>
                        </a:rPr>
                        <a:t>270</a:t>
                      </a:r>
                    </a:p>
                  </a:txBody>
                  <a:tcPr marL="73152" marR="73152" marT="36576" marB="36576" anchor="ctr">
                    <a:solidFill>
                      <a:srgbClr val="FFFFFF"/>
                    </a:solidFill>
                  </a:tcPr>
                </a:tc>
                <a:tc>
                  <a:txBody>
                    <a:bodyPr wrap="square"/>
                    <a:lstStyle/>
                    <a:p>
                      <a:pPr algn="ctr"/>
                      <a:r>
                        <a:rPr sz="1500" b="0" i="0">
                          <a:solidFill>
                            <a:srgbClr val="0E2841"/>
                          </a:solidFill>
                        </a:rPr>
                        <a:t>✅</a:t>
                      </a:r>
                    </a:p>
                  </a:txBody>
                  <a:tcPr marL="73152" marR="73152" marT="36576" marB="36576" anchor="ctr">
                    <a:solidFill>
                      <a:srgbClr val="FFFFFF"/>
                    </a:solidFill>
                  </a:tcPr>
                </a:tc>
              </a:tr>
              <a:tr h="420624">
                <a:tc>
                  <a:txBody>
                    <a:bodyPr wrap="square"/>
                    <a:lstStyle/>
                    <a:p>
                      <a:r>
                        <a:rPr sz="1500" b="0" i="0">
                          <a:solidFill>
                            <a:srgbClr val="156082"/>
                          </a:solidFill>
                          <a:latin typeface="Courier New"/>
                        </a:rPr>
                        <a:t>Pathway</a:t>
                      </a:r>
                    </a:p>
                  </a:txBody>
                  <a:tcPr marL="73152" marR="73152" marT="36576" marB="36576" anchor="ctr">
                    <a:solidFill>
                      <a:srgbClr val="F2F5F9"/>
                    </a:solidFill>
                  </a:tcPr>
                </a:tc>
                <a:tc>
                  <a:txBody>
                    <a:bodyPr wrap="square"/>
                    <a:lstStyle/>
                    <a:p>
                      <a:pPr algn="r"/>
                      <a:r>
                        <a:rPr sz="1500" b="0" i="0">
                          <a:solidFill>
                            <a:srgbClr val="0E2841"/>
                          </a:solidFill>
                        </a:rPr>
                        <a:t>356</a:t>
                      </a:r>
                    </a:p>
                  </a:txBody>
                  <a:tcPr marL="73152" marR="73152" marT="36576" marB="36576" anchor="ctr">
                    <a:solidFill>
                      <a:srgbClr val="F2F5F9"/>
                    </a:solidFill>
                  </a:tcPr>
                </a:tc>
                <a:tc>
                  <a:txBody>
                    <a:bodyPr wrap="square"/>
                    <a:lstStyle/>
                    <a:p>
                      <a:pPr algn="r"/>
                      <a:r>
                        <a:rPr sz="1500" b="0" i="0">
                          <a:solidFill>
                            <a:srgbClr val="0E2841"/>
                          </a:solidFill>
                        </a:rPr>
                        <a:t>356</a:t>
                      </a:r>
                    </a:p>
                  </a:txBody>
                  <a:tcPr marL="73152" marR="73152" marT="36576" marB="36576" anchor="ctr">
                    <a:solidFill>
                      <a:srgbClr val="F2F5F9"/>
                    </a:solidFill>
                  </a:tcPr>
                </a:tc>
                <a:tc>
                  <a:txBody>
                    <a:bodyPr wrap="square"/>
                    <a:lstStyle/>
                    <a:p>
                      <a:pPr algn="ctr"/>
                      <a:r>
                        <a:rPr sz="1500" b="0" i="0">
                          <a:solidFill>
                            <a:srgbClr val="0E2841"/>
                          </a:solidFill>
                        </a:rPr>
                        <a:t>✅</a:t>
                      </a:r>
                    </a:p>
                  </a:txBody>
                  <a:tcPr marL="73152" marR="73152" marT="36576" marB="36576" anchor="ctr">
                    <a:solidFill>
                      <a:srgbClr val="F2F5F9"/>
                    </a:solidFill>
                  </a:tcPr>
                </a:tc>
              </a:tr>
              <a:tr h="420624">
                <a:tc>
                  <a:txBody>
                    <a:bodyPr wrap="square"/>
                    <a:lstStyle/>
                    <a:p>
                      <a:r>
                        <a:rPr sz="1500" b="0" i="0">
                          <a:solidFill>
                            <a:srgbClr val="156082"/>
                          </a:solidFill>
                          <a:latin typeface="Courier New"/>
                        </a:rPr>
                        <a:t>CONTAINS_KO</a:t>
                      </a:r>
                    </a:p>
                  </a:txBody>
                  <a:tcPr marL="73152" marR="73152" marT="36576" marB="36576" anchor="ctr">
                    <a:solidFill>
                      <a:srgbClr val="FFFFFF"/>
                    </a:solidFill>
                  </a:tcPr>
                </a:tc>
                <a:tc>
                  <a:txBody>
                    <a:bodyPr wrap="square"/>
                    <a:lstStyle/>
                    <a:p>
                      <a:pPr algn="r"/>
                      <a:r>
                        <a:rPr sz="1500" b="0" i="0">
                          <a:solidFill>
                            <a:srgbClr val="0E2841"/>
                          </a:solidFill>
                        </a:rPr>
                        <a:t>90,445</a:t>
                      </a:r>
                    </a:p>
                  </a:txBody>
                  <a:tcPr marL="73152" marR="73152" marT="36576" marB="36576" anchor="ctr">
                    <a:solidFill>
                      <a:srgbClr val="FFFFFF"/>
                    </a:solidFill>
                  </a:tcPr>
                </a:tc>
                <a:tc>
                  <a:txBody>
                    <a:bodyPr wrap="square"/>
                    <a:lstStyle/>
                    <a:p>
                      <a:pPr algn="r"/>
                      <a:r>
                        <a:rPr sz="1500" b="0" i="0">
                          <a:solidFill>
                            <a:srgbClr val="0E2841"/>
                          </a:solidFill>
                        </a:rPr>
                        <a:t>90,445</a:t>
                      </a:r>
                    </a:p>
                  </a:txBody>
                  <a:tcPr marL="73152" marR="73152" marT="36576" marB="36576" anchor="ctr">
                    <a:solidFill>
                      <a:srgbClr val="FFFFFF"/>
                    </a:solidFill>
                  </a:tcPr>
                </a:tc>
                <a:tc>
                  <a:txBody>
                    <a:bodyPr wrap="square"/>
                    <a:lstStyle/>
                    <a:p>
                      <a:pPr algn="ctr"/>
                      <a:r>
                        <a:rPr sz="1500" b="0" i="0">
                          <a:solidFill>
                            <a:srgbClr val="0E2841"/>
                          </a:solidFill>
                        </a:rPr>
                        <a:t>✅</a:t>
                      </a:r>
                    </a:p>
                  </a:txBody>
                  <a:tcPr marL="73152" marR="73152" marT="36576" marB="36576" anchor="ctr">
                    <a:solidFill>
                      <a:srgbClr val="FFFFFF"/>
                    </a:solidFill>
                  </a:tcPr>
                </a:tc>
              </a:tr>
              <a:tr h="420624">
                <a:tc>
                  <a:txBody>
                    <a:bodyPr wrap="square"/>
                    <a:lstStyle/>
                    <a:p>
                      <a:r>
                        <a:rPr sz="1500" b="0" i="0">
                          <a:solidFill>
                            <a:srgbClr val="156082"/>
                          </a:solidFill>
                          <a:latin typeface="Courier New"/>
                        </a:rPr>
                        <a:t>CHILD_OF</a:t>
                      </a:r>
                    </a:p>
                  </a:txBody>
                  <a:tcPr marL="73152" marR="73152" marT="36576" marB="36576" anchor="ctr">
                    <a:solidFill>
                      <a:srgbClr val="F2F5F9"/>
                    </a:solidFill>
                  </a:tcPr>
                </a:tc>
                <a:tc>
                  <a:txBody>
                    <a:bodyPr wrap="square"/>
                    <a:lstStyle/>
                    <a:p>
                      <a:pPr algn="r"/>
                      <a:r>
                        <a:rPr sz="1500" b="0" i="0">
                          <a:solidFill>
                            <a:srgbClr val="0E2841"/>
                          </a:solidFill>
                        </a:rPr>
                        <a:t>269</a:t>
                      </a:r>
                    </a:p>
                  </a:txBody>
                  <a:tcPr marL="73152" marR="73152" marT="36576" marB="36576" anchor="ctr">
                    <a:solidFill>
                      <a:srgbClr val="F2F5F9"/>
                    </a:solidFill>
                  </a:tcPr>
                </a:tc>
                <a:tc>
                  <a:txBody>
                    <a:bodyPr wrap="square"/>
                    <a:lstStyle/>
                    <a:p>
                      <a:pPr algn="r"/>
                      <a:r>
                        <a:rPr sz="1500" b="0" i="0">
                          <a:solidFill>
                            <a:srgbClr val="0E2841"/>
                          </a:solidFill>
                        </a:rPr>
                        <a:t>269</a:t>
                      </a:r>
                    </a:p>
                  </a:txBody>
                  <a:tcPr marL="73152" marR="73152" marT="36576" marB="36576" anchor="ctr">
                    <a:solidFill>
                      <a:srgbClr val="F2F5F9"/>
                    </a:solidFill>
                  </a:tcPr>
                </a:tc>
                <a:tc>
                  <a:txBody>
                    <a:bodyPr wrap="square"/>
                    <a:lstStyle/>
                    <a:p>
                      <a:pPr algn="ctr"/>
                      <a:r>
                        <a:rPr sz="1500" b="0" i="0">
                          <a:solidFill>
                            <a:srgbClr val="0E2841"/>
                          </a:solidFill>
                        </a:rPr>
                        <a:t>✅</a:t>
                      </a:r>
                    </a:p>
                  </a:txBody>
                  <a:tcPr marL="73152" marR="73152" marT="36576" marB="36576" anchor="ctr">
                    <a:solidFill>
                      <a:srgbClr val="F2F5F9"/>
                    </a:solidFill>
                  </a:tcPr>
                </a:tc>
              </a:tr>
              <a:tr h="420624">
                <a:tc>
                  <a:txBody>
                    <a:bodyPr wrap="square"/>
                    <a:lstStyle/>
                    <a:p>
                      <a:r>
                        <a:rPr sz="1500" b="0" i="0">
                          <a:solidFill>
                            <a:srgbClr val="156082"/>
                          </a:solidFill>
                          <a:latin typeface="Courier New"/>
                        </a:rPr>
                        <a:t>CLASSIFIED_AS</a:t>
                      </a:r>
                    </a:p>
                  </a:txBody>
                  <a:tcPr marL="73152" marR="73152" marT="36576" marB="36576" anchor="ctr">
                    <a:solidFill>
                      <a:srgbClr val="FFFFFF"/>
                    </a:solidFill>
                  </a:tcPr>
                </a:tc>
                <a:tc>
                  <a:txBody>
                    <a:bodyPr wrap="square"/>
                    <a:lstStyle/>
                    <a:p>
                      <a:pPr algn="r"/>
                      <a:r>
                        <a:rPr sz="1500" b="0" i="0">
                          <a:solidFill>
                            <a:srgbClr val="0E2841"/>
                          </a:solidFill>
                        </a:rPr>
                        <a:t>65</a:t>
                      </a:r>
                    </a:p>
                  </a:txBody>
                  <a:tcPr marL="73152" marR="73152" marT="36576" marB="36576" anchor="ctr">
                    <a:solidFill>
                      <a:srgbClr val="FFFFFF"/>
                    </a:solidFill>
                  </a:tcPr>
                </a:tc>
                <a:tc>
                  <a:txBody>
                    <a:bodyPr wrap="square"/>
                    <a:lstStyle/>
                    <a:p>
                      <a:pPr algn="r"/>
                      <a:r>
                        <a:rPr sz="1500" b="0" i="0">
                          <a:solidFill>
                            <a:srgbClr val="0E2841"/>
                          </a:solidFill>
                        </a:rPr>
                        <a:t>65</a:t>
                      </a:r>
                    </a:p>
                  </a:txBody>
                  <a:tcPr marL="73152" marR="73152" marT="36576" marB="36576" anchor="ctr">
                    <a:solidFill>
                      <a:srgbClr val="FFFFFF"/>
                    </a:solidFill>
                  </a:tcPr>
                </a:tc>
                <a:tc>
                  <a:txBody>
                    <a:bodyPr wrap="square"/>
                    <a:lstStyle/>
                    <a:p>
                      <a:pPr algn="ctr"/>
                      <a:r>
                        <a:rPr sz="1500" b="0" i="0">
                          <a:solidFill>
                            <a:srgbClr val="0E2841"/>
                          </a:solidFill>
                        </a:rPr>
                        <a:t>✅</a:t>
                      </a:r>
                    </a:p>
                  </a:txBody>
                  <a:tcPr marL="73152" marR="73152" marT="36576" marB="36576" anchor="ctr">
                    <a:solidFill>
                      <a:srgbClr val="FFFFFF"/>
                    </a:solidFill>
                  </a:tcPr>
                </a:tc>
              </a:tr>
              <a:tr h="420624">
                <a:tc>
                  <a:txBody>
                    <a:bodyPr wrap="square"/>
                    <a:lstStyle/>
                    <a:p>
                      <a:r>
                        <a:rPr sz="1500" b="0" i="0">
                          <a:solidFill>
                            <a:srgbClr val="156082"/>
                          </a:solidFill>
                          <a:latin typeface="Courier New"/>
                        </a:rPr>
                        <a:t>IN_PATHWAY</a:t>
                      </a:r>
                    </a:p>
                  </a:txBody>
                  <a:tcPr marL="73152" marR="73152" marT="36576" marB="36576" anchor="ctr">
                    <a:solidFill>
                      <a:srgbClr val="F2F5F9"/>
                    </a:solidFill>
                  </a:tcPr>
                </a:tc>
                <a:tc>
                  <a:txBody>
                    <a:bodyPr wrap="square"/>
                    <a:lstStyle/>
                    <a:p>
                      <a:pPr algn="r"/>
                      <a:r>
                        <a:rPr sz="1500" b="0" i="0">
                          <a:solidFill>
                            <a:srgbClr val="0E2841"/>
                          </a:solidFill>
                        </a:rPr>
                        <a:t>7,579</a:t>
                      </a:r>
                    </a:p>
                  </a:txBody>
                  <a:tcPr marL="73152" marR="73152" marT="36576" marB="36576" anchor="ctr">
                    <a:solidFill>
                      <a:srgbClr val="F2F5F9"/>
                    </a:solidFill>
                  </a:tcPr>
                </a:tc>
                <a:tc>
                  <a:txBody>
                    <a:bodyPr wrap="square"/>
                    <a:lstStyle/>
                    <a:p>
                      <a:pPr algn="r"/>
                      <a:r>
                        <a:rPr sz="1500" b="0" i="0">
                          <a:solidFill>
                            <a:srgbClr val="0E2841"/>
                          </a:solidFill>
                        </a:rPr>
                        <a:t>7,579</a:t>
                      </a:r>
                    </a:p>
                  </a:txBody>
                  <a:tcPr marL="73152" marR="73152" marT="36576" marB="36576" anchor="ctr">
                    <a:solidFill>
                      <a:srgbClr val="F2F5F9"/>
                    </a:solidFill>
                  </a:tcPr>
                </a:tc>
                <a:tc>
                  <a:txBody>
                    <a:bodyPr wrap="square"/>
                    <a:lstStyle/>
                    <a:p>
                      <a:pPr algn="ctr"/>
                      <a:r>
                        <a:rPr sz="1500" b="0" i="0">
                          <a:solidFill>
                            <a:srgbClr val="0E2841"/>
                          </a:solidFill>
                        </a:rPr>
                        <a:t>✅</a:t>
                      </a:r>
                    </a:p>
                  </a:txBody>
                  <a:tcPr marL="73152" marR="73152" marT="36576" marB="36576" anchor="ctr">
                    <a:solidFill>
                      <a:srgbClr val="F2F5F9"/>
                    </a:solidFill>
                  </a:tcPr>
                </a:tc>
              </a:tr>
            </a:tbl>
          </a:graphicData>
        </a:graphic>
      </p:graphicFrame>
      <p:sp>
        <p:nvSpPr>
          <p:cNvPr id="7" name="speed card bg"/>
          <p:cNvSpPr/>
          <p:nvPr/>
        </p:nvSpPr>
        <p:spPr>
          <a:xfrm>
            <a:off x="7223760" y="1371600"/>
            <a:ext cx="4389120" cy="1417320"/>
          </a:xfrm>
          <a:prstGeom prst="roundRect">
            <a:avLst>
              <a:gd name="adj" fmla="val 387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speed card title"/>
          <p:cNvSpPr txBox="1"/>
          <p:nvPr/>
        </p:nvSpPr>
        <p:spPr>
          <a:xfrm>
            <a:off x="7333488" y="1444752"/>
            <a:ext cx="4169663" cy="411480"/>
          </a:xfrm>
          <a:prstGeom prst="rect">
            <a:avLst/>
          </a:prstGeom>
          <a:noFill/>
        </p:spPr>
        <p:txBody>
          <a:bodyPr wrap="square" lIns="45720" rIns="45720" tIns="27432" bIns="27432" anchor="t">
            <a:spAutoFit/>
          </a:bodyPr>
          <a:lstStyle/>
          <a:p>
            <a:pPr algn="l">
              <a:spcAft>
                <a:spcPts val="600"/>
              </a:spcAft>
            </a:pPr>
            <a:r>
              <a:rPr sz="1700" b="1" i="0">
                <a:solidFill>
                  <a:srgbClr val="E97132"/>
                </a:solidFill>
              </a:rPr>
              <a:t>In 6 seconds</a:t>
            </a:r>
          </a:p>
        </p:txBody>
      </p:sp>
      <p:sp>
        <p:nvSpPr>
          <p:cNvPr id="9" name="speed card body"/>
          <p:cNvSpPr txBox="1"/>
          <p:nvPr/>
        </p:nvSpPr>
        <p:spPr>
          <a:xfrm>
            <a:off x="7333488" y="1828800"/>
            <a:ext cx="4169663" cy="868680"/>
          </a:xfrm>
          <a:prstGeom prst="rect">
            <a:avLst/>
          </a:prstGeom>
          <a:noFill/>
        </p:spPr>
        <p:txBody>
          <a:bodyPr wrap="square" lIns="45720" rIns="45720" tIns="27432" bIns="27432" anchor="t">
            <a:spAutoFit/>
          </a:bodyPr>
          <a:lstStyle/>
          <a:p>
            <a:pPr algn="l">
              <a:spcAft>
                <a:spcPts val="400"/>
              </a:spcAft>
            </a:pPr>
            <a:r>
              <a:rPr sz="1700" b="1" i="0">
                <a:solidFill>
                  <a:srgbClr val="0E2841"/>
                </a:solidFill>
              </a:rPr>
              <a:t>9,685</a:t>
            </a:r>
            <a:r>
              <a:rPr sz="1700" b="0" i="0">
                <a:solidFill>
                  <a:srgbClr val="0E2841"/>
                </a:solidFill>
              </a:rPr>
              <a:t> nodes · </a:t>
            </a:r>
            <a:r>
              <a:rPr sz="1700" b="1" i="0">
                <a:solidFill>
                  <a:srgbClr val="0E2841"/>
                </a:solidFill>
              </a:rPr>
              <a:t>98,358</a:t>
            </a:r>
            <a:r>
              <a:rPr sz="1700" b="0" i="0">
                <a:solidFill>
                  <a:srgbClr val="0E2841"/>
                </a:solidFill>
              </a:rPr>
              <a:t> relationships on a laptop.</a:t>
            </a:r>
          </a:p>
        </p:txBody>
      </p:sp>
      <p:sp>
        <p:nvSpPr>
          <p:cNvPr id="10" name="checks card bg"/>
          <p:cNvSpPr/>
          <p:nvPr/>
        </p:nvSpPr>
        <p:spPr>
          <a:xfrm>
            <a:off x="7223760" y="2971800"/>
            <a:ext cx="4389120" cy="3246120"/>
          </a:xfrm>
          <a:prstGeom prst="roundRect">
            <a:avLst>
              <a:gd name="adj" fmla="val 169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checks card title"/>
          <p:cNvSpPr txBox="1"/>
          <p:nvPr/>
        </p:nvSpPr>
        <p:spPr>
          <a:xfrm>
            <a:off x="7333488" y="3044952"/>
            <a:ext cx="4169663" cy="411480"/>
          </a:xfrm>
          <a:prstGeom prst="rect">
            <a:avLst/>
          </a:prstGeom>
          <a:noFill/>
        </p:spPr>
        <p:txBody>
          <a:bodyPr wrap="square" lIns="45720" rIns="45720" tIns="27432" bIns="27432" anchor="t">
            <a:spAutoFit/>
          </a:bodyPr>
          <a:lstStyle/>
          <a:p>
            <a:pPr algn="l">
              <a:spcAft>
                <a:spcPts val="600"/>
              </a:spcAft>
            </a:pPr>
            <a:r>
              <a:rPr sz="1700" b="1" i="0">
                <a:solidFill>
                  <a:srgbClr val="0E2841"/>
                </a:solidFill>
              </a:rPr>
              <a:t>Three checks</a:t>
            </a:r>
          </a:p>
        </p:txBody>
      </p:sp>
      <p:sp>
        <p:nvSpPr>
          <p:cNvPr id="12" name="checks card body"/>
          <p:cNvSpPr txBox="1"/>
          <p:nvPr/>
        </p:nvSpPr>
        <p:spPr>
          <a:xfrm>
            <a:off x="7333488" y="3429000"/>
            <a:ext cx="4169663" cy="2697479"/>
          </a:xfrm>
          <a:prstGeom prst="rect">
            <a:avLst/>
          </a:prstGeom>
          <a:noFill/>
        </p:spPr>
        <p:txBody>
          <a:bodyPr wrap="square" lIns="45720" rIns="45720" tIns="27432" bIns="27432" anchor="t">
            <a:spAutoFit/>
          </a:bodyPr>
          <a:lstStyle/>
          <a:p>
            <a:pPr algn="l" marL="256032" indent="-256032">
              <a:spcAft>
                <a:spcPts val="800"/>
              </a:spcAft>
              <a:buFont typeface="Arial"/>
              <a:buChar char="•"/>
            </a:pPr>
            <a:r>
              <a:rPr sz="1600" b="1" i="0">
                <a:solidFill>
                  <a:srgbClr val="0E2841"/>
                </a:solidFill>
              </a:rPr>
              <a:t>Counts</a:t>
            </a:r>
            <a:r>
              <a:rPr sz="1600" b="0" i="0">
                <a:solidFill>
                  <a:srgbClr val="0E2841"/>
                </a:solidFill>
              </a:rPr>
              <a:t> vs the CSV files (table)</a:t>
            </a:r>
          </a:p>
          <a:p>
            <a:pPr algn="l" marL="256032" indent="-256032">
              <a:spcAft>
                <a:spcPts val="800"/>
              </a:spcAft>
              <a:buFont typeface="Arial"/>
              <a:buChar char="•"/>
            </a:pPr>
            <a:r>
              <a:rPr sz="1600" b="1" i="0">
                <a:solidFill>
                  <a:srgbClr val="0E2841"/>
                </a:solidFill>
              </a:rPr>
              <a:t>Schema</a:t>
            </a:r>
            <a:r>
              <a:rPr sz="1600" b="0" i="0">
                <a:solidFill>
                  <a:srgbClr val="0E2841"/>
                </a:solidFill>
              </a:rPr>
              <a:t>: </a:t>
            </a:r>
            <a:r>
              <a:rPr sz="1600" b="0" i="0">
                <a:solidFill>
                  <a:srgbClr val="156082"/>
                </a:solidFill>
                <a:latin typeface="Courier New"/>
              </a:rPr>
              <a:t>CALL db.schema.visualization()</a:t>
            </a:r>
          </a:p>
          <a:p>
            <a:pPr algn="l" marL="256032" indent="-256032">
              <a:spcAft>
                <a:spcPts val="800"/>
              </a:spcAft>
              <a:buFont typeface="Arial"/>
              <a:buChar char="•"/>
            </a:pPr>
            <a:r>
              <a:rPr sz="1600" b="1" i="0">
                <a:solidFill>
                  <a:srgbClr val="0E2841"/>
                </a:solidFill>
              </a:rPr>
              <a:t>Spot check</a:t>
            </a:r>
            <a:r>
              <a:rPr sz="1600" b="0" i="0">
                <a:solidFill>
                  <a:srgbClr val="0E2841"/>
                </a:solidFill>
              </a:rPr>
              <a:t>: E. coli = 4,288 protein genes, 3,047 distinct KOs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9509760" cy="777240"/>
          </a:xfrm>
        </p:spPr>
        <p:txBody>
          <a:bodyPr wrap="square" anchor="ctr"/>
          <a:lstStyle/>
          <a:p>
            <a:pPr algn="l"/>
            <a:r>
              <a:rPr sz="3000" b="1" i="0">
                <a:solidFill>
                  <a:srgbClr val="0E2841"/>
                </a:solidFill>
              </a:rPr>
              <a:t>Explore: how big, how shared?</a:t>
            </a:r>
          </a:p>
        </p:txBody>
      </p:sp>
      <p:sp>
        <p:nvSpPr>
          <p:cNvPr id="3" name="footer"/>
          <p:cNvSpPr txBox="1"/>
          <p:nvPr/>
        </p:nvSpPr>
        <p:spPr>
          <a:xfrm>
            <a:off x="548640" y="6455664"/>
            <a:ext cx="8686800" cy="274320"/>
          </a:xfrm>
          <a:prstGeom prst="rect">
            <a:avLst/>
          </a:prstGeom>
          <a:noFill/>
        </p:spPr>
        <p:txBody>
          <a:bodyPr wrap="square" lIns="45720" rIns="45720" tIns="27432" bIns="27432" anchor="t">
            <a:spAutoFit/>
          </a:bodyPr>
          <a:lstStyle/>
          <a:p>
            <a:pPr algn="l">
              <a:spcAft>
                <a:spcPts val="600"/>
              </a:spcAft>
            </a:pPr>
            <a:r>
              <a:rPr sz="1000" b="0" i="0">
                <a:solidFill>
                  <a:srgbClr val="595959"/>
                </a:solidFill>
              </a:rPr>
              <a:t>NoSQL Databases for Bioinformatics  ·  Lecture 27  ·  Neo4j genome workshop</a:t>
            </a:r>
          </a:p>
        </p:txBody>
      </p:sp>
      <p:sp>
        <p:nvSpPr>
          <p:cNvPr id="4" name="slide number"/>
          <p:cNvSpPr txBox="1"/>
          <p:nvPr/>
        </p:nvSpPr>
        <p:spPr>
          <a:xfrm>
            <a:off x="10698480" y="6455664"/>
            <a:ext cx="914400" cy="274320"/>
          </a:xfrm>
          <a:prstGeom prst="rect">
            <a:avLst/>
          </a:prstGeom>
          <a:noFill/>
        </p:spPr>
        <p:txBody>
          <a:bodyPr wrap="square" lIns="45720" rIns="45720" tIns="27432" bIns="27432" anchor="t">
            <a:spAutoFit/>
          </a:bodyPr>
          <a:lstStyle/>
          <a:p>
            <a:pPr algn="r">
              <a:spcAft>
                <a:spcPts val="600"/>
              </a:spcAft>
            </a:pPr>
            <a:fld id="{B6F15528-21DE-4FAA-801E-634DDDAF4B2B}" type="slidenum">
              <a:rPr lang="en-US" sz="1000">
                <a:solidFill>
                  <a:srgbClr val="595959"/>
                </a:solidFill>
              </a:rPr>
              <a:t>‹#›</a:t>
            </a:fld>
          </a:p>
        </p:txBody>
      </p:sp>
      <p:sp>
        <p:nvSpPr>
          <p:cNvPr id="5" name="step tag"/>
          <p:cNvSpPr/>
          <p:nvPr/>
        </p:nvSpPr>
        <p:spPr>
          <a:xfrm>
            <a:off x="10195560" y="411480"/>
            <a:ext cx="1417320" cy="329184"/>
          </a:xfrm>
          <a:prstGeom prst="roundRect">
            <a:avLst>
              <a:gd name="adj" fmla="val 50000"/>
            </a:avLst>
          </a:prstGeom>
          <a:solidFill>
            <a:srgbClr val="2E8B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EXPLORE</a:t>
            </a:r>
          </a:p>
        </p:txBody>
      </p:sp>
      <p:pic>
        <p:nvPicPr>
          <p:cNvPr id="6" name="genome sizes" descr="genome_sizes.png"/>
          <p:cNvPicPr>
            <a:picLocks noChangeAspect="1"/>
          </p:cNvPicPr>
          <p:nvPr/>
        </p:nvPicPr>
        <p:blipFill>
          <a:blip r:embed="rId3"/>
          <a:stretch>
            <a:fillRect/>
          </a:stretch>
        </p:blipFill>
        <p:spPr>
          <a:xfrm>
            <a:off x="548640" y="1403280"/>
            <a:ext cx="6309360" cy="2496958"/>
          </a:xfrm>
          <a:prstGeom prst="rect">
            <a:avLst/>
          </a:prstGeom>
        </p:spPr>
      </p:pic>
      <p:pic>
        <p:nvPicPr>
          <p:cNvPr id="7" name="ko prevalence" descr="ko_prevalence.png"/>
          <p:cNvPicPr>
            <a:picLocks noChangeAspect="1"/>
          </p:cNvPicPr>
          <p:nvPr/>
        </p:nvPicPr>
        <p:blipFill>
          <a:blip r:embed="rId4"/>
          <a:stretch>
            <a:fillRect/>
          </a:stretch>
        </p:blipFill>
        <p:spPr>
          <a:xfrm>
            <a:off x="7040880" y="1384667"/>
            <a:ext cx="4572000" cy="2625625"/>
          </a:xfrm>
          <a:prstGeom prst="rect">
            <a:avLst/>
          </a:prstGeom>
        </p:spPr>
      </p:pic>
      <p:sp>
        <p:nvSpPr>
          <p:cNvPr id="8" name="size text"/>
          <p:cNvSpPr txBox="1"/>
          <p:nvPr/>
        </p:nvSpPr>
        <p:spPr>
          <a:xfrm>
            <a:off x="548640" y="4160520"/>
            <a:ext cx="6309360" cy="1280160"/>
          </a:xfrm>
          <a:prstGeom prst="rect">
            <a:avLst/>
          </a:prstGeom>
          <a:noFill/>
        </p:spPr>
        <p:txBody>
          <a:bodyPr wrap="square" lIns="45720" rIns="45720" tIns="27432" bIns="27432" anchor="t">
            <a:spAutoFit/>
          </a:bodyPr>
          <a:lstStyle/>
          <a:p>
            <a:pPr algn="l" marL="256032" indent="-256032">
              <a:spcAft>
                <a:spcPts val="800"/>
              </a:spcAft>
              <a:buFont typeface="Arial"/>
              <a:buChar char="•"/>
            </a:pPr>
            <a:r>
              <a:rPr sz="1600" b="1" i="0">
                <a:solidFill>
                  <a:srgbClr val="0E2841"/>
                </a:solidFill>
              </a:rPr>
              <a:t>Reduced genomes</a:t>
            </a:r>
            <a:r>
              <a:rPr sz="1600" b="0" i="0">
                <a:solidFill>
                  <a:srgbClr val="0E2841"/>
                </a:solidFill>
              </a:rPr>
              <a:t> (red) are parasites and endosymbionts: they threw away functions their host provides</a:t>
            </a:r>
          </a:p>
          <a:p>
            <a:pPr algn="l" marL="256032" indent="-256032">
              <a:spcAft>
                <a:spcPts val="800"/>
              </a:spcAft>
              <a:buFont typeface="Arial"/>
              <a:buChar char="•"/>
            </a:pPr>
            <a:r>
              <a:rPr sz="1600" b="0" i="0">
                <a:solidFill>
                  <a:srgbClr val="0E2841"/>
                </a:solidFill>
              </a:rPr>
              <a:t>Sizes range </a:t>
            </a:r>
            <a:r>
              <a:rPr sz="1600" b="1" i="0">
                <a:solidFill>
                  <a:srgbClr val="0E2841"/>
                </a:solidFill>
              </a:rPr>
              <a:t>8×</a:t>
            </a:r>
            <a:r>
              <a:rPr sz="1600" b="0" i="0">
                <a:solidFill>
                  <a:srgbClr val="0E2841"/>
                </a:solidFill>
              </a:rPr>
              <a:t>: 362 → 3,047 KOs</a:t>
            </a:r>
          </a:p>
        </p:txBody>
      </p:sp>
      <p:sp>
        <p:nvSpPr>
          <p:cNvPr id="9" name="prevalence text"/>
          <p:cNvSpPr txBox="1"/>
          <p:nvPr/>
        </p:nvSpPr>
        <p:spPr>
          <a:xfrm>
            <a:off x="7040880" y="4160520"/>
            <a:ext cx="4572000" cy="1280160"/>
          </a:xfrm>
          <a:prstGeom prst="rect">
            <a:avLst/>
          </a:prstGeom>
          <a:noFill/>
        </p:spPr>
        <p:txBody>
          <a:bodyPr wrap="square" lIns="45720" rIns="45720" tIns="27432" bIns="27432" anchor="t">
            <a:spAutoFit/>
          </a:bodyPr>
          <a:lstStyle/>
          <a:p>
            <a:pPr algn="l" marL="256032" indent="-256032">
              <a:spcAft>
                <a:spcPts val="800"/>
              </a:spcAft>
              <a:buFont typeface="Arial"/>
              <a:buChar char="•"/>
            </a:pPr>
            <a:r>
              <a:rPr sz="1600" b="0" i="0">
                <a:solidFill>
                  <a:srgbClr val="0E2841"/>
                </a:solidFill>
              </a:rPr>
              <a:t>A </a:t>
            </a:r>
            <a:r>
              <a:rPr sz="1600" b="1" i="0">
                <a:solidFill>
                  <a:srgbClr val="0E2841"/>
                </a:solidFill>
              </a:rPr>
              <a:t>U-shape</a:t>
            </a:r>
            <a:r>
              <a:rPr sz="1600" b="0" i="0">
                <a:solidFill>
                  <a:srgbClr val="0E2841"/>
                </a:solidFill>
              </a:rPr>
              <a:t>, typical of pan-genomes: a small </a:t>
            </a:r>
            <a:r>
              <a:rPr sz="1600" b="1" i="0">
                <a:solidFill>
                  <a:srgbClr val="0E2841"/>
                </a:solidFill>
              </a:rPr>
              <a:t>core</a:t>
            </a:r>
            <a:r>
              <a:rPr sz="1600" b="0" i="0">
                <a:solidFill>
                  <a:srgbClr val="0E2841"/>
                </a:solidFill>
              </a:rPr>
              <a:t> (43 KOs in all genomes) and a large </a:t>
            </a:r>
            <a:r>
              <a:rPr sz="1600" b="1" i="0">
                <a:solidFill>
                  <a:srgbClr val="0E2841"/>
                </a:solidFill>
              </a:rPr>
              <a:t>cloud</a:t>
            </a:r>
            <a:r>
              <a:rPr sz="1600" b="0" i="0">
                <a:solidFill>
                  <a:srgbClr val="0E2841"/>
                </a:solidFill>
              </a:rPr>
              <a:t> of rare KOs</a:t>
            </a:r>
          </a:p>
          <a:p>
            <a:pPr algn="l" marL="256032" indent="-256032">
              <a:spcAft>
                <a:spcPts val="800"/>
              </a:spcAft>
              <a:buFont typeface="Arial"/>
              <a:buChar char="•"/>
            </a:pPr>
            <a:r>
              <a:rPr sz="1600" b="0" i="0">
                <a:solidFill>
                  <a:srgbClr val="0E2841"/>
                </a:solidFill>
              </a:rPr>
              <a:t>Only </a:t>
            </a:r>
            <a:r>
              <a:rPr sz="1600" b="1" i="0">
                <a:solidFill>
                  <a:srgbClr val="0E2841"/>
                </a:solidFill>
              </a:rPr>
              <a:t>one</a:t>
            </a:r>
            <a:r>
              <a:rPr sz="1600" b="0" i="0">
                <a:solidFill>
                  <a:srgbClr val="0E2841"/>
                </a:solidFill>
              </a:rPr>
              <a:t> genome has 2,109 of the KOs</a:t>
            </a:r>
          </a:p>
        </p:txBody>
      </p:sp>
      <p:sp>
        <p:nvSpPr>
          <p:cNvPr id="10" name="banner"/>
          <p:cNvSpPr/>
          <p:nvPr/>
        </p:nvSpPr>
        <p:spPr>
          <a:xfrm>
            <a:off x="548640" y="5577840"/>
            <a:ext cx="11064240" cy="685800"/>
          </a:xfrm>
          <a:prstGeom prst="roundRect">
            <a:avLst>
              <a:gd name="adj" fmla="val 8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banner text"/>
          <p:cNvSpPr txBox="1"/>
          <p:nvPr/>
        </p:nvSpPr>
        <p:spPr>
          <a:xfrm>
            <a:off x="731520" y="5605272"/>
            <a:ext cx="10698480" cy="640080"/>
          </a:xfrm>
          <a:prstGeom prst="rect">
            <a:avLst/>
          </a:prstGeom>
          <a:noFill/>
        </p:spPr>
        <p:txBody>
          <a:bodyPr wrap="square" lIns="45720" rIns="45720" tIns="27432" bIns="27432" anchor="ctr">
            <a:spAutoFit/>
          </a:bodyPr>
          <a:lstStyle/>
          <a:p>
            <a:pPr algn="l">
              <a:spcAft>
                <a:spcPts val="600"/>
              </a:spcAft>
            </a:pPr>
            <a:r>
              <a:rPr sz="1700" b="0" i="0">
                <a:solidFill>
                  <a:srgbClr val="FFFFFF"/>
                </a:solidFill>
              </a:rPr>
              <a:t>Pan-genome shape: a small </a:t>
            </a:r>
            <a:r>
              <a:rPr sz="1700" b="1" i="0">
                <a:solidFill>
                  <a:srgbClr val="FFFFFF"/>
                </a:solidFill>
              </a:rPr>
              <a:t>core</a:t>
            </a:r>
            <a:r>
              <a:rPr sz="1700" b="0" i="0">
                <a:solidFill>
                  <a:srgbClr val="FFFFFF"/>
                </a:solidFill>
              </a:rPr>
              <a:t> everybody needs  +  a huge </a:t>
            </a:r>
            <a:r>
              <a:rPr sz="1700" b="1" i="0">
                <a:solidFill>
                  <a:srgbClr val="FFFFFF"/>
                </a:solidFill>
              </a:rPr>
              <a:t>cloud</a:t>
            </a:r>
            <a:r>
              <a:rPr sz="1700" b="0" i="0">
                <a:solidFill>
                  <a:srgbClr val="FFFFFF"/>
                </a:solidFill>
              </a:rPr>
              <a:t> of rare, lineage-specific functions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9509760" cy="777240"/>
          </a:xfrm>
        </p:spPr>
        <p:txBody>
          <a:bodyPr wrap="square" anchor="ctr"/>
          <a:lstStyle/>
          <a:p>
            <a:pPr algn="l"/>
            <a:r>
              <a:rPr sz="3000" b="1" i="0">
                <a:solidFill>
                  <a:srgbClr val="0E2841"/>
                </a:solidFill>
              </a:rPr>
              <a:t>Query 1: which genomes are similar?</a:t>
            </a:r>
          </a:p>
        </p:txBody>
      </p:sp>
      <p:sp>
        <p:nvSpPr>
          <p:cNvPr id="3" name="footer"/>
          <p:cNvSpPr txBox="1"/>
          <p:nvPr/>
        </p:nvSpPr>
        <p:spPr>
          <a:xfrm>
            <a:off x="548640" y="6455664"/>
            <a:ext cx="8686800" cy="274320"/>
          </a:xfrm>
          <a:prstGeom prst="rect">
            <a:avLst/>
          </a:prstGeom>
          <a:noFill/>
        </p:spPr>
        <p:txBody>
          <a:bodyPr wrap="square" lIns="45720" rIns="45720" tIns="27432" bIns="27432" anchor="t">
            <a:spAutoFit/>
          </a:bodyPr>
          <a:lstStyle/>
          <a:p>
            <a:pPr algn="l">
              <a:spcAft>
                <a:spcPts val="600"/>
              </a:spcAft>
            </a:pPr>
            <a:r>
              <a:rPr sz="1000" b="0" i="0">
                <a:solidFill>
                  <a:srgbClr val="595959"/>
                </a:solidFill>
              </a:rPr>
              <a:t>NoSQL Databases for Bioinformatics  ·  Lecture 27  ·  Neo4j genome workshop</a:t>
            </a:r>
          </a:p>
        </p:txBody>
      </p:sp>
      <p:sp>
        <p:nvSpPr>
          <p:cNvPr id="4" name="slide number"/>
          <p:cNvSpPr txBox="1"/>
          <p:nvPr/>
        </p:nvSpPr>
        <p:spPr>
          <a:xfrm>
            <a:off x="10698480" y="6455664"/>
            <a:ext cx="914400" cy="274320"/>
          </a:xfrm>
          <a:prstGeom prst="rect">
            <a:avLst/>
          </a:prstGeom>
          <a:noFill/>
        </p:spPr>
        <p:txBody>
          <a:bodyPr wrap="square" lIns="45720" rIns="45720" tIns="27432" bIns="27432" anchor="t">
            <a:spAutoFit/>
          </a:bodyPr>
          <a:lstStyle/>
          <a:p>
            <a:pPr algn="r">
              <a:spcAft>
                <a:spcPts val="600"/>
              </a:spcAft>
            </a:pPr>
            <a:fld id="{B6F15528-21DE-4FAA-801E-634DDDAF4B2B}" type="slidenum">
              <a:rPr lang="en-US" sz="1000">
                <a:solidFill>
                  <a:srgbClr val="595959"/>
                </a:solidFill>
              </a:rPr>
              <a:t>‹#›</a:t>
            </a:fld>
          </a:p>
        </p:txBody>
      </p:sp>
      <p:sp>
        <p:nvSpPr>
          <p:cNvPr id="5" name="step tag"/>
          <p:cNvSpPr/>
          <p:nvPr/>
        </p:nvSpPr>
        <p:spPr>
          <a:xfrm>
            <a:off x="10195560" y="411480"/>
            <a:ext cx="1417320" cy="329184"/>
          </a:xfrm>
          <a:prstGeom prst="roundRect">
            <a:avLst>
              <a:gd name="adj" fmla="val 50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QUERY 1</a:t>
            </a:r>
          </a:p>
        </p:txBody>
      </p:sp>
      <p:sp>
        <p:nvSpPr>
          <p:cNvPr id="6" name="node Genome a"/>
          <p:cNvSpPr/>
          <p:nvPr/>
        </p:nvSpPr>
        <p:spPr>
          <a:xfrm>
            <a:off x="548639" y="2491740"/>
            <a:ext cx="1463040" cy="68580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i="0">
                <a:solidFill>
                  <a:srgbClr val="FFFFFF"/>
                </a:solidFill>
              </a:rPr>
              <a:t>Genome a</a:t>
            </a:r>
          </a:p>
        </p:txBody>
      </p:sp>
      <p:sp>
        <p:nvSpPr>
          <p:cNvPr id="7" name="node Genome b"/>
          <p:cNvSpPr/>
          <p:nvPr/>
        </p:nvSpPr>
        <p:spPr>
          <a:xfrm>
            <a:off x="4206240" y="2491740"/>
            <a:ext cx="1463040" cy="68580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i="0">
                <a:solidFill>
                  <a:srgbClr val="FFFFFF"/>
                </a:solidFill>
              </a:rPr>
              <a:t>Genome b</a:t>
            </a:r>
          </a:p>
        </p:txBody>
      </p:sp>
      <p:sp>
        <p:nvSpPr>
          <p:cNvPr id="8" name="node KO"/>
          <p:cNvSpPr/>
          <p:nvPr/>
        </p:nvSpPr>
        <p:spPr>
          <a:xfrm>
            <a:off x="2423160" y="1897380"/>
            <a:ext cx="1371600" cy="502920"/>
          </a:xfrm>
          <a:prstGeom prst="roundRect">
            <a:avLst>
              <a:gd name="adj" fmla="val 21818"/>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i="0">
                <a:solidFill>
                  <a:srgbClr val="FFFFFF"/>
                </a:solidFill>
              </a:rPr>
              <a:t>KO</a:t>
            </a:r>
          </a:p>
        </p:txBody>
      </p:sp>
      <p:sp>
        <p:nvSpPr>
          <p:cNvPr id="9" name="node KO"/>
          <p:cNvSpPr/>
          <p:nvPr/>
        </p:nvSpPr>
        <p:spPr>
          <a:xfrm>
            <a:off x="2423160" y="2583180"/>
            <a:ext cx="1371600" cy="502920"/>
          </a:xfrm>
          <a:prstGeom prst="roundRect">
            <a:avLst>
              <a:gd name="adj" fmla="val 21818"/>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i="0">
                <a:solidFill>
                  <a:srgbClr val="FFFFFF"/>
                </a:solidFill>
              </a:rPr>
              <a:t>KO</a:t>
            </a:r>
          </a:p>
        </p:txBody>
      </p:sp>
      <p:sp>
        <p:nvSpPr>
          <p:cNvPr id="10" name="node KO"/>
          <p:cNvSpPr/>
          <p:nvPr/>
        </p:nvSpPr>
        <p:spPr>
          <a:xfrm>
            <a:off x="2423160" y="3268980"/>
            <a:ext cx="1371600" cy="502920"/>
          </a:xfrm>
          <a:prstGeom prst="roundRect">
            <a:avLst>
              <a:gd name="adj" fmla="val 21818"/>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i="0">
                <a:solidFill>
                  <a:srgbClr val="FFFFFF"/>
                </a:solidFill>
              </a:rPr>
              <a:t>KO</a:t>
            </a:r>
          </a:p>
        </p:txBody>
      </p:sp>
      <p:cxnSp>
        <p:nvCxnSpPr>
          <p:cNvPr id="11" name="edge"/>
          <p:cNvCxnSpPr/>
          <p:nvPr/>
        </p:nvCxnSpPr>
        <p:spPr>
          <a:xfrm flipV="1">
            <a:off x="1851381" y="2400300"/>
            <a:ext cx="587019" cy="220132"/>
          </a:xfrm>
          <a:prstGeom prst="line">
            <a:avLst/>
          </a:prstGeom>
          <a:ln w="22225">
            <a:solidFill>
              <a:srgbClr val="595959"/>
            </a:solidFill>
            <a:tailEnd type="triangle"/>
          </a:ln>
        </p:spPr>
        <p:style>
          <a:lnRef idx="2">
            <a:schemeClr val="accent1"/>
          </a:lnRef>
          <a:fillRef idx="0">
            <a:schemeClr val="accent1"/>
          </a:fillRef>
          <a:effectRef idx="1">
            <a:schemeClr val="accent1"/>
          </a:effectRef>
          <a:fontRef idx="minor">
            <a:schemeClr val="tx1"/>
          </a:fontRef>
        </p:style>
      </p:cxnSp>
      <p:cxnSp>
        <p:nvCxnSpPr>
          <p:cNvPr id="12" name="edge"/>
          <p:cNvCxnSpPr/>
          <p:nvPr/>
        </p:nvCxnSpPr>
        <p:spPr>
          <a:xfrm flipH="1" flipV="1">
            <a:off x="3779520" y="2400300"/>
            <a:ext cx="587018" cy="220132"/>
          </a:xfrm>
          <a:prstGeom prst="line">
            <a:avLst/>
          </a:prstGeom>
          <a:ln w="22225">
            <a:solidFill>
              <a:srgbClr val="595959"/>
            </a:solidFill>
            <a:tailEnd type="triangle"/>
          </a:ln>
        </p:spPr>
        <p:style>
          <a:lnRef idx="2">
            <a:schemeClr val="accent1"/>
          </a:lnRef>
          <a:fillRef idx="0">
            <a:schemeClr val="accent1"/>
          </a:fillRef>
          <a:effectRef idx="1">
            <a:schemeClr val="accent1"/>
          </a:effectRef>
          <a:fontRef idx="minor">
            <a:schemeClr val="tx1"/>
          </a:fontRef>
        </p:style>
      </p:cxnSp>
      <p:cxnSp>
        <p:nvCxnSpPr>
          <p:cNvPr id="13" name="edge"/>
          <p:cNvCxnSpPr/>
          <p:nvPr/>
        </p:nvCxnSpPr>
        <p:spPr>
          <a:xfrm>
            <a:off x="2011680" y="2834640"/>
            <a:ext cx="411480" cy="0"/>
          </a:xfrm>
          <a:prstGeom prst="line">
            <a:avLst/>
          </a:prstGeom>
          <a:ln w="22225">
            <a:solidFill>
              <a:srgbClr val="595959"/>
            </a:solidFill>
            <a:tailEnd type="triangle"/>
          </a:ln>
        </p:spPr>
        <p:style>
          <a:lnRef idx="2">
            <a:schemeClr val="accent1"/>
          </a:lnRef>
          <a:fillRef idx="0">
            <a:schemeClr val="accent1"/>
          </a:fillRef>
          <a:effectRef idx="1">
            <a:schemeClr val="accent1"/>
          </a:effectRef>
          <a:fontRef idx="minor">
            <a:schemeClr val="tx1"/>
          </a:fontRef>
        </p:style>
      </p:cxnSp>
      <p:cxnSp>
        <p:nvCxnSpPr>
          <p:cNvPr id="14" name="edge"/>
          <p:cNvCxnSpPr/>
          <p:nvPr/>
        </p:nvCxnSpPr>
        <p:spPr>
          <a:xfrm flipH="1">
            <a:off x="3794760" y="2834640"/>
            <a:ext cx="411480" cy="0"/>
          </a:xfrm>
          <a:prstGeom prst="line">
            <a:avLst/>
          </a:prstGeom>
          <a:ln w="22225">
            <a:solidFill>
              <a:srgbClr val="595959"/>
            </a:solidFill>
            <a:tailEnd type="triangle"/>
          </a:ln>
        </p:spPr>
        <p:style>
          <a:lnRef idx="2">
            <a:schemeClr val="accent1"/>
          </a:lnRef>
          <a:fillRef idx="0">
            <a:schemeClr val="accent1"/>
          </a:fillRef>
          <a:effectRef idx="1">
            <a:schemeClr val="accent1"/>
          </a:effectRef>
          <a:fontRef idx="minor">
            <a:schemeClr val="tx1"/>
          </a:fontRef>
        </p:style>
      </p:cxnSp>
      <p:cxnSp>
        <p:nvCxnSpPr>
          <p:cNvPr id="15" name="edge"/>
          <p:cNvCxnSpPr/>
          <p:nvPr/>
        </p:nvCxnSpPr>
        <p:spPr>
          <a:xfrm>
            <a:off x="1851381" y="3048847"/>
            <a:ext cx="587019" cy="220133"/>
          </a:xfrm>
          <a:prstGeom prst="line">
            <a:avLst/>
          </a:prstGeom>
          <a:ln w="22225">
            <a:solidFill>
              <a:srgbClr val="595959"/>
            </a:solidFill>
            <a:tailEnd type="triangle"/>
          </a:ln>
        </p:spPr>
        <p:style>
          <a:lnRef idx="2">
            <a:schemeClr val="accent1"/>
          </a:lnRef>
          <a:fillRef idx="0">
            <a:schemeClr val="accent1"/>
          </a:fillRef>
          <a:effectRef idx="1">
            <a:schemeClr val="accent1"/>
          </a:effectRef>
          <a:fontRef idx="minor">
            <a:schemeClr val="tx1"/>
          </a:fontRef>
        </p:style>
      </p:cxnSp>
      <p:cxnSp>
        <p:nvCxnSpPr>
          <p:cNvPr id="16" name="edge"/>
          <p:cNvCxnSpPr/>
          <p:nvPr/>
        </p:nvCxnSpPr>
        <p:spPr>
          <a:xfrm flipH="1">
            <a:off x="3779520" y="3048847"/>
            <a:ext cx="587018" cy="220133"/>
          </a:xfrm>
          <a:prstGeom prst="line">
            <a:avLst/>
          </a:prstGeom>
          <a:ln w="2222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17" name="count note"/>
          <p:cNvSpPr txBox="1"/>
          <p:nvPr/>
        </p:nvSpPr>
        <p:spPr>
          <a:xfrm>
            <a:off x="548640" y="3977639"/>
            <a:ext cx="5394960" cy="457200"/>
          </a:xfrm>
          <a:prstGeom prst="rect">
            <a:avLst/>
          </a:prstGeom>
          <a:noFill/>
        </p:spPr>
        <p:txBody>
          <a:bodyPr wrap="square" lIns="45720" rIns="45720" tIns="27432" bIns="27432" anchor="t">
            <a:spAutoFit/>
          </a:bodyPr>
          <a:lstStyle/>
          <a:p>
            <a:pPr algn="ctr">
              <a:spcAft>
                <a:spcPts val="600"/>
              </a:spcAft>
            </a:pPr>
            <a:r>
              <a:rPr sz="1500" b="1" i="0">
                <a:solidFill>
                  <a:srgbClr val="E97132"/>
                </a:solidFill>
                <a:latin typeface="Courier New"/>
              </a:rPr>
              <a:t>count(k)</a:t>
            </a:r>
            <a:r>
              <a:rPr sz="1500" b="1" i="0">
                <a:solidFill>
                  <a:srgbClr val="E97132"/>
                </a:solidFill>
              </a:rPr>
              <a:t> = number of shared KOs of the pair</a:t>
            </a:r>
          </a:p>
        </p:txBody>
      </p:sp>
      <p:sp>
        <p:nvSpPr>
          <p:cNvPr id="18" name="similar code bg"/>
          <p:cNvSpPr/>
          <p:nvPr/>
        </p:nvSpPr>
        <p:spPr>
          <a:xfrm>
            <a:off x="6126480" y="1371600"/>
            <a:ext cx="5486400" cy="2926080"/>
          </a:xfrm>
          <a:prstGeom prst="roundRect">
            <a:avLst>
              <a:gd name="adj" fmla="val 1562"/>
            </a:avLst>
          </a:prstGeom>
          <a:solidFill>
            <a:srgbClr val="F4F6F8"/>
          </a:solidFill>
          <a:ln w="9525">
            <a:solidFill>
              <a:srgbClr val="C9D1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similar code"/>
          <p:cNvSpPr txBox="1"/>
          <p:nvPr/>
        </p:nvSpPr>
        <p:spPr>
          <a:xfrm>
            <a:off x="6217920" y="1435608"/>
            <a:ext cx="5303520" cy="2798064"/>
          </a:xfrm>
          <a:prstGeom prst="rect">
            <a:avLst/>
          </a:prstGeom>
          <a:noFill/>
        </p:spPr>
        <p:txBody>
          <a:bodyPr wrap="square" lIns="45720" rIns="45720" tIns="27432" bIns="27432" anchor="t">
            <a:spAutoFit/>
          </a:bodyPr>
          <a:lstStyle/>
          <a:p>
            <a:pPr algn="l">
              <a:spcAft>
                <a:spcPts val="0"/>
              </a:spcAft>
            </a:pPr>
            <a:r>
              <a:rPr sz="1200" b="0" i="0">
                <a:solidFill>
                  <a:srgbClr val="1F2937"/>
                </a:solidFill>
                <a:latin typeface="Courier New"/>
              </a:rPr>
              <a:t>MATCH (a:Genome {genome_id: $gid})</a:t>
            </a:r>
          </a:p>
          <a:p>
            <a:pPr algn="l">
              <a:spcAft>
                <a:spcPts val="0"/>
              </a:spcAft>
            </a:pPr>
            <a:r>
              <a:rPr sz="1200" b="0" i="0">
                <a:solidFill>
                  <a:srgbClr val="1F2937"/>
                </a:solidFill>
                <a:latin typeface="Courier New"/>
              </a:rPr>
              <a:t>      -[:CONTAINS_KO]-&gt;(k:KO)</a:t>
            </a:r>
          </a:p>
          <a:p>
            <a:pPr algn="l">
              <a:spcAft>
                <a:spcPts val="0"/>
              </a:spcAft>
            </a:pPr>
            <a:r>
              <a:rPr sz="1200" b="0" i="0">
                <a:solidFill>
                  <a:srgbClr val="1F2937"/>
                </a:solidFill>
                <a:latin typeface="Courier New"/>
              </a:rPr>
              <a:t>      &lt;-[:CONTAINS_KO]-(b:Genome)</a:t>
            </a:r>
          </a:p>
          <a:p>
            <a:pPr algn="l">
              <a:spcAft>
                <a:spcPts val="0"/>
              </a:spcAft>
            </a:pPr>
            <a:r>
              <a:rPr sz="1200" b="0" i="0">
                <a:solidFill>
                  <a:srgbClr val="1F2937"/>
                </a:solidFill>
                <a:latin typeface="Courier New"/>
              </a:rPr>
              <a:t>WHERE a &lt;&gt; b</a:t>
            </a:r>
          </a:p>
          <a:p>
            <a:pPr algn="l">
              <a:spcAft>
                <a:spcPts val="0"/>
              </a:spcAft>
            </a:pPr>
            <a:r>
              <a:rPr sz="1200" b="0" i="0">
                <a:solidFill>
                  <a:srgbClr val="1F2937"/>
                </a:solidFill>
                <a:latin typeface="Courier New"/>
              </a:rPr>
              <a:t>WITH a, b, count(k) AS shared</a:t>
            </a:r>
          </a:p>
          <a:p>
            <a:pPr algn="l">
              <a:spcAft>
                <a:spcPts val="0"/>
              </a:spcAft>
            </a:pPr>
            <a:r>
              <a:rPr sz="1200" b="0" i="0">
                <a:solidFill>
                  <a:srgbClr val="1F2937"/>
                </a:solidFill>
                <a:latin typeface="Courier New"/>
              </a:rPr>
              <a:t>WITH b, shared,</a:t>
            </a:r>
          </a:p>
          <a:p>
            <a:pPr algn="l">
              <a:spcAft>
                <a:spcPts val="0"/>
              </a:spcAft>
            </a:pPr>
            <a:r>
              <a:rPr sz="1200" b="0" i="0">
                <a:solidFill>
                  <a:srgbClr val="1F2937"/>
                </a:solidFill>
                <a:latin typeface="Courier New"/>
              </a:rPr>
              <a:t>     COUNT { (a)-[:CONTAINS_KO]-&gt;() } AS size_a,</a:t>
            </a:r>
          </a:p>
          <a:p>
            <a:pPr algn="l">
              <a:spcAft>
                <a:spcPts val="0"/>
              </a:spcAft>
            </a:pPr>
            <a:r>
              <a:rPr sz="1200" b="0" i="0">
                <a:solidFill>
                  <a:srgbClr val="1F2937"/>
                </a:solidFill>
                <a:latin typeface="Courier New"/>
              </a:rPr>
              <a:t>     COUNT { (b)-[:CONTAINS_KO]-&gt;() } AS size_b</a:t>
            </a:r>
          </a:p>
          <a:p>
            <a:pPr algn="l">
              <a:spcAft>
                <a:spcPts val="0"/>
              </a:spcAft>
            </a:pPr>
            <a:r>
              <a:rPr sz="1200" b="0" i="0">
                <a:solidFill>
                  <a:srgbClr val="1F2937"/>
                </a:solidFill>
                <a:latin typeface="Courier New"/>
              </a:rPr>
              <a:t>RETURN b.name, shared,</a:t>
            </a:r>
          </a:p>
          <a:p>
            <a:pPr algn="l">
              <a:spcAft>
                <a:spcPts val="0"/>
              </a:spcAft>
            </a:pPr>
            <a:r>
              <a:rPr sz="1200" b="0" i="0">
                <a:solidFill>
                  <a:srgbClr val="1F2937"/>
                </a:solidFill>
                <a:latin typeface="Courier New"/>
              </a:rPr>
              <a:t>  round(1.0*shared/(size_a+size_b-shared), 3)</a:t>
            </a:r>
          </a:p>
          <a:p>
            <a:pPr algn="l">
              <a:spcAft>
                <a:spcPts val="0"/>
              </a:spcAft>
            </a:pPr>
            <a:r>
              <a:rPr sz="1200" b="0" i="0">
                <a:solidFill>
                  <a:srgbClr val="1F2937"/>
                </a:solidFill>
                <a:latin typeface="Courier New"/>
              </a:rPr>
              <a:t>    AS jaccard</a:t>
            </a:r>
          </a:p>
        </p:txBody>
      </p:sp>
      <p:graphicFrame>
        <p:nvGraphicFramePr>
          <p:cNvPr id="20" name="eco table"/>
          <p:cNvGraphicFramePr>
            <a:graphicFrameLocks noGrp="1"/>
          </p:cNvGraphicFramePr>
          <p:nvPr/>
        </p:nvGraphicFramePr>
        <p:xfrm>
          <a:off x="548640" y="4526280"/>
          <a:ext cx="7040880" cy="1758696"/>
        </p:xfrm>
        <a:graphic>
          <a:graphicData uri="http://schemas.openxmlformats.org/drawingml/2006/table">
            <a:tbl>
              <a:tblPr firstRow="0" bandRow="0">
                <a:tableStyleId>{5C22544A-7EE6-4342-B048-85BDC9FD1C3A}</a:tableStyleId>
              </a:tblPr>
              <a:tblGrid>
                <a:gridCol w="4206240"/>
                <a:gridCol w="1554480"/>
                <a:gridCol w="1280160"/>
              </a:tblGrid>
              <a:tr h="310896">
                <a:tc>
                  <a:txBody>
                    <a:bodyPr wrap="square"/>
                    <a:lstStyle/>
                    <a:p>
                      <a:r>
                        <a:rPr sz="1300" b="1" i="0">
                          <a:solidFill>
                            <a:srgbClr val="FFFFFF"/>
                          </a:solidFill>
                        </a:rPr>
                        <a:t>E. coli K-12 is closest to …</a:t>
                      </a:r>
                    </a:p>
                  </a:txBody>
                  <a:tcPr marL="73152" marR="73152" marT="36576" marB="36576" anchor="ctr">
                    <a:solidFill>
                      <a:srgbClr val="0E2841"/>
                    </a:solidFill>
                  </a:tcPr>
                </a:tc>
                <a:tc>
                  <a:txBody>
                    <a:bodyPr wrap="square"/>
                    <a:lstStyle/>
                    <a:p>
                      <a:pPr algn="r"/>
                      <a:r>
                        <a:rPr sz="1300" b="1" i="0">
                          <a:solidFill>
                            <a:srgbClr val="FFFFFF"/>
                          </a:solidFill>
                        </a:rPr>
                        <a:t>shared KOs</a:t>
                      </a:r>
                    </a:p>
                  </a:txBody>
                  <a:tcPr marL="73152" marR="73152" marT="36576" marB="36576" anchor="ctr">
                    <a:solidFill>
                      <a:srgbClr val="0E2841"/>
                    </a:solidFill>
                  </a:tcPr>
                </a:tc>
                <a:tc>
                  <a:txBody>
                    <a:bodyPr wrap="square"/>
                    <a:lstStyle/>
                    <a:p>
                      <a:pPr algn="r"/>
                      <a:r>
                        <a:rPr sz="1300" b="1" i="0">
                          <a:solidFill>
                            <a:srgbClr val="FFFFFF"/>
                          </a:solidFill>
                        </a:rPr>
                        <a:t>Jaccard</a:t>
                      </a:r>
                    </a:p>
                  </a:txBody>
                  <a:tcPr marL="73152" marR="73152" marT="36576" marB="36576" anchor="ctr">
                    <a:solidFill>
                      <a:srgbClr val="0E2841"/>
                    </a:solidFill>
                  </a:tcPr>
                </a:tc>
              </a:tr>
              <a:tr h="289560">
                <a:tc>
                  <a:txBody>
                    <a:bodyPr wrap="square"/>
                    <a:lstStyle/>
                    <a:p>
                      <a:r>
                        <a:rPr sz="1300" b="0" i="1">
                          <a:solidFill>
                            <a:srgbClr val="0E2841"/>
                          </a:solidFill>
                        </a:rPr>
                        <a:t>E. coli</a:t>
                      </a:r>
                      <a:r>
                        <a:rPr sz="1300" b="0" i="0">
                          <a:solidFill>
                            <a:srgbClr val="0E2841"/>
                          </a:solidFill>
                        </a:rPr>
                        <a:t> O157:H7 (</a:t>
                      </a:r>
                      <a:r>
                        <a:rPr sz="1300" b="0" i="0">
                          <a:solidFill>
                            <a:srgbClr val="156082"/>
                          </a:solidFill>
                          <a:latin typeface="Courier New"/>
                        </a:rPr>
                        <a:t>ecs</a:t>
                      </a:r>
                      <a:r>
                        <a:rPr sz="1300" b="0" i="0">
                          <a:solidFill>
                            <a:srgbClr val="0E2841"/>
                          </a:solidFill>
                        </a:rPr>
                        <a:t>)</a:t>
                      </a:r>
                    </a:p>
                  </a:txBody>
                  <a:tcPr marL="73152" marR="73152" marT="36576" marB="36576" anchor="ctr">
                    <a:solidFill>
                      <a:srgbClr val="FFFFFF"/>
                    </a:solidFill>
                  </a:tcPr>
                </a:tc>
                <a:tc>
                  <a:txBody>
                    <a:bodyPr wrap="square"/>
                    <a:lstStyle/>
                    <a:p>
                      <a:pPr algn="r"/>
                      <a:r>
                        <a:rPr sz="1300" b="0" i="0">
                          <a:solidFill>
                            <a:srgbClr val="0E2841"/>
                          </a:solidFill>
                        </a:rPr>
                        <a:t>2,827</a:t>
                      </a:r>
                    </a:p>
                  </a:txBody>
                  <a:tcPr marL="73152" marR="73152" marT="36576" marB="36576" anchor="ctr">
                    <a:solidFill>
                      <a:srgbClr val="FFFFFF"/>
                    </a:solidFill>
                  </a:tcPr>
                </a:tc>
                <a:tc>
                  <a:txBody>
                    <a:bodyPr wrap="square"/>
                    <a:lstStyle/>
                    <a:p>
                      <a:pPr algn="r"/>
                      <a:r>
                        <a:rPr sz="1300" b="0" i="0">
                          <a:solidFill>
                            <a:srgbClr val="0E2841"/>
                          </a:solidFill>
                        </a:rPr>
                        <a:t>0.869</a:t>
                      </a:r>
                    </a:p>
                  </a:txBody>
                  <a:tcPr marL="73152" marR="73152" marT="36576" marB="36576" anchor="ctr">
                    <a:solidFill>
                      <a:srgbClr val="FFFFFF"/>
                    </a:solidFill>
                  </a:tcPr>
                </a:tc>
              </a:tr>
              <a:tr h="289560">
                <a:tc>
                  <a:txBody>
                    <a:bodyPr wrap="square"/>
                    <a:lstStyle/>
                    <a:p>
                      <a:r>
                        <a:rPr sz="1300" b="0" i="1">
                          <a:solidFill>
                            <a:srgbClr val="0E2841"/>
                          </a:solidFill>
                        </a:rPr>
                        <a:t>Shigella flexneri</a:t>
                      </a:r>
                      <a:r>
                        <a:rPr sz="1300" b="0" i="0">
                          <a:solidFill>
                            <a:srgbClr val="0E2841"/>
                          </a:solidFill>
                        </a:rPr>
                        <a:t> (</a:t>
                      </a:r>
                      <a:r>
                        <a:rPr sz="1300" b="0" i="0">
                          <a:solidFill>
                            <a:srgbClr val="156082"/>
                          </a:solidFill>
                          <a:latin typeface="Courier New"/>
                        </a:rPr>
                        <a:t>sfl</a:t>
                      </a:r>
                      <a:r>
                        <a:rPr sz="1300" b="0" i="0">
                          <a:solidFill>
                            <a:srgbClr val="0E2841"/>
                          </a:solidFill>
                        </a:rPr>
                        <a:t>)</a:t>
                      </a:r>
                    </a:p>
                  </a:txBody>
                  <a:tcPr marL="73152" marR="73152" marT="36576" marB="36576" anchor="ctr">
                    <a:solidFill>
                      <a:srgbClr val="F2F5F9"/>
                    </a:solidFill>
                  </a:tcPr>
                </a:tc>
                <a:tc>
                  <a:txBody>
                    <a:bodyPr wrap="square"/>
                    <a:lstStyle/>
                    <a:p>
                      <a:pPr algn="r"/>
                      <a:r>
                        <a:rPr sz="1300" b="0" i="0">
                          <a:solidFill>
                            <a:srgbClr val="0E2841"/>
                          </a:solidFill>
                        </a:rPr>
                        <a:t>2,513</a:t>
                      </a:r>
                    </a:p>
                  </a:txBody>
                  <a:tcPr marL="73152" marR="73152" marT="36576" marB="36576" anchor="ctr">
                    <a:solidFill>
                      <a:srgbClr val="F2F5F9"/>
                    </a:solidFill>
                  </a:tcPr>
                </a:tc>
                <a:tc>
                  <a:txBody>
                    <a:bodyPr wrap="square"/>
                    <a:lstStyle/>
                    <a:p>
                      <a:pPr algn="r"/>
                      <a:r>
                        <a:rPr sz="1300" b="0" i="0">
                          <a:solidFill>
                            <a:srgbClr val="0E2841"/>
                          </a:solidFill>
                        </a:rPr>
                        <a:t>0.791</a:t>
                      </a:r>
                    </a:p>
                  </a:txBody>
                  <a:tcPr marL="73152" marR="73152" marT="36576" marB="36576" anchor="ctr">
                    <a:solidFill>
                      <a:srgbClr val="F2F5F9"/>
                    </a:solidFill>
                  </a:tcPr>
                </a:tc>
              </a:tr>
              <a:tr h="289560">
                <a:tc>
                  <a:txBody>
                    <a:bodyPr wrap="square"/>
                    <a:lstStyle/>
                    <a:p>
                      <a:r>
                        <a:rPr sz="1300" b="0" i="1">
                          <a:solidFill>
                            <a:srgbClr val="0E2841"/>
                          </a:solidFill>
                        </a:rPr>
                        <a:t>Salmonella</a:t>
                      </a:r>
                      <a:r>
                        <a:rPr sz="1300" b="0" i="0">
                          <a:solidFill>
                            <a:srgbClr val="0E2841"/>
                          </a:solidFill>
                        </a:rPr>
                        <a:t> Typhimurium (</a:t>
                      </a:r>
                      <a:r>
                        <a:rPr sz="1300" b="0" i="0">
                          <a:solidFill>
                            <a:srgbClr val="156082"/>
                          </a:solidFill>
                          <a:latin typeface="Courier New"/>
                        </a:rPr>
                        <a:t>stm</a:t>
                      </a:r>
                      <a:r>
                        <a:rPr sz="1300" b="0" i="0">
                          <a:solidFill>
                            <a:srgbClr val="0E2841"/>
                          </a:solidFill>
                        </a:rPr>
                        <a:t>)</a:t>
                      </a:r>
                    </a:p>
                  </a:txBody>
                  <a:tcPr marL="73152" marR="73152" marT="36576" marB="36576" anchor="ctr">
                    <a:solidFill>
                      <a:srgbClr val="FFFFFF"/>
                    </a:solidFill>
                  </a:tcPr>
                </a:tc>
                <a:tc>
                  <a:txBody>
                    <a:bodyPr wrap="square"/>
                    <a:lstStyle/>
                    <a:p>
                      <a:pPr algn="r"/>
                      <a:r>
                        <a:rPr sz="1300" b="0" i="0">
                          <a:solidFill>
                            <a:srgbClr val="0E2841"/>
                          </a:solidFill>
                        </a:rPr>
                        <a:t>2,555</a:t>
                      </a:r>
                    </a:p>
                  </a:txBody>
                  <a:tcPr marL="73152" marR="73152" marT="36576" marB="36576" anchor="ctr">
                    <a:solidFill>
                      <a:srgbClr val="FFFFFF"/>
                    </a:solidFill>
                  </a:tcPr>
                </a:tc>
                <a:tc>
                  <a:txBody>
                    <a:bodyPr wrap="square"/>
                    <a:lstStyle/>
                    <a:p>
                      <a:pPr algn="r"/>
                      <a:r>
                        <a:rPr sz="1300" b="0" i="0">
                          <a:solidFill>
                            <a:srgbClr val="0E2841"/>
                          </a:solidFill>
                        </a:rPr>
                        <a:t>0.745</a:t>
                      </a:r>
                    </a:p>
                  </a:txBody>
                  <a:tcPr marL="73152" marR="73152" marT="36576" marB="36576" anchor="ctr">
                    <a:solidFill>
                      <a:srgbClr val="FFFFFF"/>
                    </a:solidFill>
                  </a:tcPr>
                </a:tc>
              </a:tr>
              <a:tr h="289560">
                <a:tc>
                  <a:txBody>
                    <a:bodyPr wrap="square"/>
                    <a:lstStyle/>
                    <a:p>
                      <a:r>
                        <a:rPr sz="1300" b="0" i="1">
                          <a:solidFill>
                            <a:srgbClr val="0E2841"/>
                          </a:solidFill>
                        </a:rPr>
                        <a:t>Klebsiella pneumoniae</a:t>
                      </a:r>
                      <a:r>
                        <a:rPr sz="1300" b="0" i="0">
                          <a:solidFill>
                            <a:srgbClr val="0E2841"/>
                          </a:solidFill>
                        </a:rPr>
                        <a:t> (</a:t>
                      </a:r>
                      <a:r>
                        <a:rPr sz="1300" b="0" i="0">
                          <a:solidFill>
                            <a:srgbClr val="156082"/>
                          </a:solidFill>
                          <a:latin typeface="Courier New"/>
                        </a:rPr>
                        <a:t>kpn</a:t>
                      </a:r>
                      <a:r>
                        <a:rPr sz="1300" b="0" i="0">
                          <a:solidFill>
                            <a:srgbClr val="0E2841"/>
                          </a:solidFill>
                        </a:rPr>
                        <a:t>)</a:t>
                      </a:r>
                    </a:p>
                  </a:txBody>
                  <a:tcPr marL="73152" marR="73152" marT="36576" marB="36576" anchor="ctr">
                    <a:solidFill>
                      <a:srgbClr val="F2F5F9"/>
                    </a:solidFill>
                  </a:tcPr>
                </a:tc>
                <a:tc>
                  <a:txBody>
                    <a:bodyPr wrap="square"/>
                    <a:lstStyle/>
                    <a:p>
                      <a:pPr algn="r"/>
                      <a:r>
                        <a:rPr sz="1300" b="0" i="0">
                          <a:solidFill>
                            <a:srgbClr val="0E2841"/>
                          </a:solidFill>
                        </a:rPr>
                        <a:t>2,485</a:t>
                      </a:r>
                    </a:p>
                  </a:txBody>
                  <a:tcPr marL="73152" marR="73152" marT="36576" marB="36576" anchor="ctr">
                    <a:solidFill>
                      <a:srgbClr val="F2F5F9"/>
                    </a:solidFill>
                  </a:tcPr>
                </a:tc>
                <a:tc>
                  <a:txBody>
                    <a:bodyPr wrap="square"/>
                    <a:lstStyle/>
                    <a:p>
                      <a:pPr algn="r"/>
                      <a:r>
                        <a:rPr sz="1300" b="0" i="0">
                          <a:solidFill>
                            <a:srgbClr val="0E2841"/>
                          </a:solidFill>
                        </a:rPr>
                        <a:t>0.710</a:t>
                      </a:r>
                    </a:p>
                  </a:txBody>
                  <a:tcPr marL="73152" marR="73152" marT="36576" marB="36576" anchor="ctr">
                    <a:solidFill>
                      <a:srgbClr val="F2F5F9"/>
                    </a:solidFill>
                  </a:tcPr>
                </a:tc>
              </a:tr>
              <a:tr h="289560">
                <a:tc>
                  <a:txBody>
                    <a:bodyPr wrap="square"/>
                    <a:lstStyle/>
                    <a:p>
                      <a:r>
                        <a:rPr sz="1300" b="0" i="1">
                          <a:solidFill>
                            <a:srgbClr val="0E2841"/>
                          </a:solidFill>
                        </a:rPr>
                        <a:t>Yersinia pestis</a:t>
                      </a:r>
                      <a:r>
                        <a:rPr sz="1300" b="0" i="0">
                          <a:solidFill>
                            <a:srgbClr val="0E2841"/>
                          </a:solidFill>
                        </a:rPr>
                        <a:t> (</a:t>
                      </a:r>
                      <a:r>
                        <a:rPr sz="1300" b="0" i="0">
                          <a:solidFill>
                            <a:srgbClr val="156082"/>
                          </a:solidFill>
                          <a:latin typeface="Courier New"/>
                        </a:rPr>
                        <a:t>ype</a:t>
                      </a:r>
                      <a:r>
                        <a:rPr sz="1300" b="0" i="0">
                          <a:solidFill>
                            <a:srgbClr val="0E2841"/>
                          </a:solidFill>
                        </a:rPr>
                        <a:t>)</a:t>
                      </a:r>
                    </a:p>
                  </a:txBody>
                  <a:tcPr marL="73152" marR="73152" marT="36576" marB="36576" anchor="ctr">
                    <a:solidFill>
                      <a:srgbClr val="FFFFFF"/>
                    </a:solidFill>
                  </a:tcPr>
                </a:tc>
                <a:tc>
                  <a:txBody>
                    <a:bodyPr wrap="square"/>
                    <a:lstStyle/>
                    <a:p>
                      <a:pPr algn="r"/>
                      <a:r>
                        <a:rPr sz="1300" b="0" i="0">
                          <a:solidFill>
                            <a:srgbClr val="0E2841"/>
                          </a:solidFill>
                        </a:rPr>
                        <a:t>2,060</a:t>
                      </a:r>
                    </a:p>
                  </a:txBody>
                  <a:tcPr marL="73152" marR="73152" marT="36576" marB="36576" anchor="ctr">
                    <a:solidFill>
                      <a:srgbClr val="FFFFFF"/>
                    </a:solidFill>
                  </a:tcPr>
                </a:tc>
                <a:tc>
                  <a:txBody>
                    <a:bodyPr wrap="square"/>
                    <a:lstStyle/>
                    <a:p>
                      <a:pPr algn="r"/>
                      <a:r>
                        <a:rPr sz="1300" b="0" i="0">
                          <a:solidFill>
                            <a:srgbClr val="0E2841"/>
                          </a:solidFill>
                        </a:rPr>
                        <a:t>0.611</a:t>
                      </a:r>
                    </a:p>
                  </a:txBody>
                  <a:tcPr marL="73152" marR="73152" marT="36576" marB="36576" anchor="ctr">
                    <a:solidFill>
                      <a:srgbClr val="FFFFFF"/>
                    </a:solidFill>
                  </a:tcPr>
                </a:tc>
              </a:tr>
            </a:tbl>
          </a:graphicData>
        </a:graphic>
      </p:graphicFrame>
      <p:sp>
        <p:nvSpPr>
          <p:cNvPr id="21" name="eco note"/>
          <p:cNvSpPr txBox="1"/>
          <p:nvPr/>
        </p:nvSpPr>
        <p:spPr>
          <a:xfrm>
            <a:off x="7772400" y="4709160"/>
            <a:ext cx="3840480" cy="1463040"/>
          </a:xfrm>
          <a:prstGeom prst="rect">
            <a:avLst/>
          </a:prstGeom>
          <a:noFill/>
        </p:spPr>
        <p:txBody>
          <a:bodyPr wrap="square" lIns="45720" rIns="45720" tIns="27432" bIns="27432" anchor="t">
            <a:spAutoFit/>
          </a:bodyPr>
          <a:lstStyle/>
          <a:p>
            <a:pPr algn="l">
              <a:spcAft>
                <a:spcPts val="600"/>
              </a:spcAft>
            </a:pPr>
            <a:r>
              <a:rPr sz="1500" b="0" i="0">
                <a:solidFill>
                  <a:srgbClr val="0E2841"/>
                </a:solidFill>
              </a:rPr>
              <a:t>The graph </a:t>
            </a:r>
            <a:r>
              <a:rPr sz="1500" b="1" i="0">
                <a:solidFill>
                  <a:srgbClr val="0E2841"/>
                </a:solidFill>
              </a:rPr>
              <a:t>rediscovers taxonomy</a:t>
            </a:r>
            <a:r>
              <a:rPr sz="1500" b="0" i="0">
                <a:solidFill>
                  <a:srgbClr val="0E2841"/>
                </a:solidFill>
              </a:rPr>
              <a:t> from KO annotations alone: the nearest genomes are the other Enterobacteriaceae.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9509760" cy="777240"/>
          </a:xfrm>
        </p:spPr>
        <p:txBody>
          <a:bodyPr wrap="square" anchor="ctr"/>
          <a:lstStyle/>
          <a:p>
            <a:pPr algn="l"/>
            <a:r>
              <a:rPr sz="3000" b="1" i="0">
                <a:solidFill>
                  <a:srgbClr val="0E2841"/>
                </a:solidFill>
              </a:rPr>
              <a:t>Why raw counts mislead: the Jaccard index</a:t>
            </a:r>
          </a:p>
        </p:txBody>
      </p:sp>
      <p:sp>
        <p:nvSpPr>
          <p:cNvPr id="3" name="footer"/>
          <p:cNvSpPr txBox="1"/>
          <p:nvPr/>
        </p:nvSpPr>
        <p:spPr>
          <a:xfrm>
            <a:off x="548640" y="6455664"/>
            <a:ext cx="8686800" cy="274320"/>
          </a:xfrm>
          <a:prstGeom prst="rect">
            <a:avLst/>
          </a:prstGeom>
          <a:noFill/>
        </p:spPr>
        <p:txBody>
          <a:bodyPr wrap="square" lIns="45720" rIns="45720" tIns="27432" bIns="27432" anchor="t">
            <a:spAutoFit/>
          </a:bodyPr>
          <a:lstStyle/>
          <a:p>
            <a:pPr algn="l">
              <a:spcAft>
                <a:spcPts val="600"/>
              </a:spcAft>
            </a:pPr>
            <a:r>
              <a:rPr sz="1000" b="0" i="0">
                <a:solidFill>
                  <a:srgbClr val="595959"/>
                </a:solidFill>
              </a:rPr>
              <a:t>NoSQL Databases for Bioinformatics  ·  Lecture 27  ·  Neo4j genome workshop</a:t>
            </a:r>
          </a:p>
        </p:txBody>
      </p:sp>
      <p:sp>
        <p:nvSpPr>
          <p:cNvPr id="4" name="slide number"/>
          <p:cNvSpPr txBox="1"/>
          <p:nvPr/>
        </p:nvSpPr>
        <p:spPr>
          <a:xfrm>
            <a:off x="10698480" y="6455664"/>
            <a:ext cx="914400" cy="274320"/>
          </a:xfrm>
          <a:prstGeom prst="rect">
            <a:avLst/>
          </a:prstGeom>
          <a:noFill/>
        </p:spPr>
        <p:txBody>
          <a:bodyPr wrap="square" lIns="45720" rIns="45720" tIns="27432" bIns="27432" anchor="t">
            <a:spAutoFit/>
          </a:bodyPr>
          <a:lstStyle/>
          <a:p>
            <a:pPr algn="r">
              <a:spcAft>
                <a:spcPts val="600"/>
              </a:spcAft>
            </a:pPr>
            <a:fld id="{B6F15528-21DE-4FAA-801E-634DDDAF4B2B}" type="slidenum">
              <a:rPr lang="en-US" sz="1000">
                <a:solidFill>
                  <a:srgbClr val="595959"/>
                </a:solidFill>
              </a:rPr>
              <a:t>‹#›</a:t>
            </a:fld>
          </a:p>
        </p:txBody>
      </p:sp>
      <p:sp>
        <p:nvSpPr>
          <p:cNvPr id="5" name="step tag"/>
          <p:cNvSpPr/>
          <p:nvPr/>
        </p:nvSpPr>
        <p:spPr>
          <a:xfrm>
            <a:off x="10195560" y="411480"/>
            <a:ext cx="1417320" cy="329184"/>
          </a:xfrm>
          <a:prstGeom prst="roundRect">
            <a:avLst>
              <a:gd name="adj" fmla="val 50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QUERY 1</a:t>
            </a:r>
          </a:p>
        </p:txBody>
      </p:sp>
      <p:sp>
        <p:nvSpPr>
          <p:cNvPr id="6" name="head"/>
          <p:cNvSpPr txBox="1"/>
          <p:nvPr/>
        </p:nvSpPr>
        <p:spPr>
          <a:xfrm>
            <a:off x="548640" y="1325880"/>
            <a:ext cx="5394960" cy="365760"/>
          </a:xfrm>
          <a:prstGeom prst="rect">
            <a:avLst/>
          </a:prstGeom>
          <a:noFill/>
        </p:spPr>
        <p:txBody>
          <a:bodyPr wrap="square" lIns="45720" rIns="45720" tIns="27432" bIns="27432" anchor="t">
            <a:spAutoFit/>
          </a:bodyPr>
          <a:lstStyle/>
          <a:p>
            <a:pPr algn="l">
              <a:spcAft>
                <a:spcPts val="600"/>
              </a:spcAft>
            </a:pPr>
            <a:r>
              <a:rPr sz="1700" b="1" i="0">
                <a:solidFill>
                  <a:srgbClr val="0E2841"/>
                </a:solidFill>
              </a:rPr>
              <a:t>Closest genomes to </a:t>
            </a:r>
            <a:r>
              <a:rPr sz="1700" b="1" i="1">
                <a:solidFill>
                  <a:srgbClr val="0E2841"/>
                </a:solidFill>
              </a:rPr>
              <a:t>Buchnera</a:t>
            </a:r>
            <a:r>
              <a:rPr sz="1700" b="1" i="0">
                <a:solidFill>
                  <a:srgbClr val="0E2841"/>
                </a:solidFill>
              </a:rPr>
              <a:t> (571 KOs) by …</a:t>
            </a:r>
          </a:p>
        </p:txBody>
      </p:sp>
      <p:graphicFrame>
        <p:nvGraphicFramePr>
          <p:cNvPr id="7" name="raw table"/>
          <p:cNvGraphicFramePr>
            <a:graphicFrameLocks noGrp="1"/>
          </p:cNvGraphicFramePr>
          <p:nvPr/>
        </p:nvGraphicFramePr>
        <p:xfrm>
          <a:off x="548640" y="1783080"/>
          <a:ext cx="5394960" cy="2468880"/>
        </p:xfrm>
        <a:graphic>
          <a:graphicData uri="http://schemas.openxmlformats.org/drawingml/2006/table">
            <a:tbl>
              <a:tblPr firstRow="0" bandRow="0">
                <a:tableStyleId>{5C22544A-7EE6-4342-B048-85BDC9FD1C3A}</a:tableStyleId>
              </a:tblPr>
              <a:tblGrid>
                <a:gridCol w="3017520"/>
                <a:gridCol w="1097280"/>
                <a:gridCol w="1280160"/>
              </a:tblGrid>
              <a:tr h="548640">
                <a:tc>
                  <a:txBody>
                    <a:bodyPr wrap="square"/>
                    <a:lstStyle/>
                    <a:p>
                      <a:r>
                        <a:rPr sz="1500" b="1" i="0">
                          <a:solidFill>
                            <a:srgbClr val="FFFFFF"/>
                          </a:solidFill>
                        </a:rPr>
                        <a:t>raw shared KOs</a:t>
                      </a:r>
                    </a:p>
                  </a:txBody>
                  <a:tcPr marL="73152" marR="73152" marT="36576" marB="36576" anchor="ctr">
                    <a:solidFill>
                      <a:srgbClr val="595959"/>
                    </a:solidFill>
                  </a:tcPr>
                </a:tc>
                <a:tc>
                  <a:txBody>
                    <a:bodyPr wrap="square"/>
                    <a:lstStyle/>
                    <a:p>
                      <a:pPr algn="r"/>
                      <a:r>
                        <a:rPr sz="1500" b="1" i="0">
                          <a:solidFill>
                            <a:srgbClr val="FFFFFF"/>
                          </a:solidFill>
                        </a:rPr>
                        <a:t>shared</a:t>
                      </a:r>
                    </a:p>
                  </a:txBody>
                  <a:tcPr marL="73152" marR="73152" marT="36576" marB="36576" anchor="ctr">
                    <a:solidFill>
                      <a:srgbClr val="595959"/>
                    </a:solidFill>
                  </a:tcPr>
                </a:tc>
                <a:tc>
                  <a:txBody>
                    <a:bodyPr wrap="square"/>
                    <a:lstStyle/>
                    <a:p>
                      <a:pPr algn="r"/>
                      <a:r>
                        <a:rPr sz="1500" b="1" i="0">
                          <a:solidFill>
                            <a:srgbClr val="FFFFFF"/>
                          </a:solidFill>
                        </a:rPr>
                        <a:t>genome size</a:t>
                      </a:r>
                    </a:p>
                  </a:txBody>
                  <a:tcPr marL="73152" marR="73152" marT="36576" marB="36576" anchor="ctr">
                    <a:solidFill>
                      <a:srgbClr val="595959"/>
                    </a:solidFill>
                  </a:tcPr>
                </a:tc>
              </a:tr>
              <a:tr h="384048">
                <a:tc>
                  <a:txBody>
                    <a:bodyPr wrap="square"/>
                    <a:lstStyle/>
                    <a:p>
                      <a:r>
                        <a:rPr sz="1500" b="0" i="1">
                          <a:solidFill>
                            <a:srgbClr val="0E2841"/>
                          </a:solidFill>
                        </a:rPr>
                        <a:t>Salmonella</a:t>
                      </a:r>
                      <a:r>
                        <a:rPr sz="1500" b="0" i="0">
                          <a:solidFill>
                            <a:srgbClr val="0E2841"/>
                          </a:solidFill>
                        </a:rPr>
                        <a:t> (</a:t>
                      </a:r>
                      <a:r>
                        <a:rPr sz="1500" b="0" i="0">
                          <a:solidFill>
                            <a:srgbClr val="156082"/>
                          </a:solidFill>
                          <a:latin typeface="Courier New"/>
                        </a:rPr>
                        <a:t>stm</a:t>
                      </a:r>
                      <a:r>
                        <a:rPr sz="1500" b="0" i="0">
                          <a:solidFill>
                            <a:srgbClr val="0E2841"/>
                          </a:solidFill>
                        </a:rPr>
                        <a:t>)</a:t>
                      </a:r>
                    </a:p>
                  </a:txBody>
                  <a:tcPr marL="73152" marR="73152" marT="36576" marB="36576" anchor="ctr">
                    <a:solidFill>
                      <a:srgbClr val="FFFFFF"/>
                    </a:solidFill>
                  </a:tcPr>
                </a:tc>
                <a:tc>
                  <a:txBody>
                    <a:bodyPr wrap="square"/>
                    <a:lstStyle/>
                    <a:p>
                      <a:pPr algn="r"/>
                      <a:r>
                        <a:rPr sz="1500" b="0" i="0">
                          <a:solidFill>
                            <a:srgbClr val="0E2841"/>
                          </a:solidFill>
                        </a:rPr>
                        <a:t>565</a:t>
                      </a:r>
                    </a:p>
                  </a:txBody>
                  <a:tcPr marL="73152" marR="73152" marT="36576" marB="36576" anchor="ctr">
                    <a:solidFill>
                      <a:srgbClr val="FFFFFF"/>
                    </a:solidFill>
                  </a:tcPr>
                </a:tc>
                <a:tc>
                  <a:txBody>
                    <a:bodyPr wrap="square"/>
                    <a:lstStyle/>
                    <a:p>
                      <a:pPr algn="r"/>
                      <a:r>
                        <a:rPr sz="1500" b="0" i="0">
                          <a:solidFill>
                            <a:srgbClr val="0E2841"/>
                          </a:solidFill>
                        </a:rPr>
                        <a:t>2,939</a:t>
                      </a:r>
                    </a:p>
                  </a:txBody>
                  <a:tcPr marL="73152" marR="73152" marT="36576" marB="36576" anchor="ctr">
                    <a:solidFill>
                      <a:srgbClr val="FFFFFF"/>
                    </a:solidFill>
                  </a:tcPr>
                </a:tc>
              </a:tr>
              <a:tr h="384048">
                <a:tc>
                  <a:txBody>
                    <a:bodyPr wrap="square"/>
                    <a:lstStyle/>
                    <a:p>
                      <a:r>
                        <a:rPr sz="1500" b="0" i="1">
                          <a:solidFill>
                            <a:srgbClr val="0E2841"/>
                          </a:solidFill>
                        </a:rPr>
                        <a:t>E. coli</a:t>
                      </a:r>
                      <a:r>
                        <a:rPr sz="1500" b="0" i="0">
                          <a:solidFill>
                            <a:srgbClr val="0E2841"/>
                          </a:solidFill>
                        </a:rPr>
                        <a:t> (</a:t>
                      </a:r>
                      <a:r>
                        <a:rPr sz="1500" b="0" i="0">
                          <a:solidFill>
                            <a:srgbClr val="156082"/>
                          </a:solidFill>
                          <a:latin typeface="Courier New"/>
                        </a:rPr>
                        <a:t>eco</a:t>
                      </a:r>
                      <a:r>
                        <a:rPr sz="1500" b="0" i="0">
                          <a:solidFill>
                            <a:srgbClr val="0E2841"/>
                          </a:solidFill>
                        </a:rPr>
                        <a:t>)</a:t>
                      </a:r>
                    </a:p>
                  </a:txBody>
                  <a:tcPr marL="73152" marR="73152" marT="36576" marB="36576" anchor="ctr">
                    <a:solidFill>
                      <a:srgbClr val="F2F5F9"/>
                    </a:solidFill>
                  </a:tcPr>
                </a:tc>
                <a:tc>
                  <a:txBody>
                    <a:bodyPr wrap="square"/>
                    <a:lstStyle/>
                    <a:p>
                      <a:pPr algn="r"/>
                      <a:r>
                        <a:rPr sz="1500" b="0" i="0">
                          <a:solidFill>
                            <a:srgbClr val="0E2841"/>
                          </a:solidFill>
                        </a:rPr>
                        <a:t>563</a:t>
                      </a:r>
                    </a:p>
                  </a:txBody>
                  <a:tcPr marL="73152" marR="73152" marT="36576" marB="36576" anchor="ctr">
                    <a:solidFill>
                      <a:srgbClr val="F2F5F9"/>
                    </a:solidFill>
                  </a:tcPr>
                </a:tc>
                <a:tc>
                  <a:txBody>
                    <a:bodyPr wrap="square"/>
                    <a:lstStyle/>
                    <a:p>
                      <a:pPr algn="r"/>
                      <a:r>
                        <a:rPr sz="1500" b="0" i="0">
                          <a:solidFill>
                            <a:srgbClr val="0E2841"/>
                          </a:solidFill>
                        </a:rPr>
                        <a:t>3,047</a:t>
                      </a:r>
                    </a:p>
                  </a:txBody>
                  <a:tcPr marL="73152" marR="73152" marT="36576" marB="36576" anchor="ctr">
                    <a:solidFill>
                      <a:srgbClr val="F2F5F9"/>
                    </a:solidFill>
                  </a:tcPr>
                </a:tc>
              </a:tr>
              <a:tr h="384048">
                <a:tc>
                  <a:txBody>
                    <a:bodyPr wrap="square"/>
                    <a:lstStyle/>
                    <a:p>
                      <a:r>
                        <a:rPr sz="1500" b="0" i="1">
                          <a:solidFill>
                            <a:srgbClr val="0E2841"/>
                          </a:solidFill>
                        </a:rPr>
                        <a:t>E. coli</a:t>
                      </a:r>
                      <a:r>
                        <a:rPr sz="1500" b="0" i="0">
                          <a:solidFill>
                            <a:srgbClr val="0E2841"/>
                          </a:solidFill>
                        </a:rPr>
                        <a:t> O157 (</a:t>
                      </a:r>
                      <a:r>
                        <a:rPr sz="1500" b="0" i="0">
                          <a:solidFill>
                            <a:srgbClr val="156082"/>
                          </a:solidFill>
                          <a:latin typeface="Courier New"/>
                        </a:rPr>
                        <a:t>ecs</a:t>
                      </a:r>
                      <a:r>
                        <a:rPr sz="1500" b="0" i="0">
                          <a:solidFill>
                            <a:srgbClr val="0E2841"/>
                          </a:solidFill>
                        </a:rPr>
                        <a:t>)</a:t>
                      </a:r>
                    </a:p>
                  </a:txBody>
                  <a:tcPr marL="73152" marR="73152" marT="36576" marB="36576" anchor="ctr">
                    <a:solidFill>
                      <a:srgbClr val="FFFFFF"/>
                    </a:solidFill>
                  </a:tcPr>
                </a:tc>
                <a:tc>
                  <a:txBody>
                    <a:bodyPr wrap="square"/>
                    <a:lstStyle/>
                    <a:p>
                      <a:pPr algn="r"/>
                      <a:r>
                        <a:rPr sz="1500" b="0" i="0">
                          <a:solidFill>
                            <a:srgbClr val="0E2841"/>
                          </a:solidFill>
                        </a:rPr>
                        <a:t>562</a:t>
                      </a:r>
                    </a:p>
                  </a:txBody>
                  <a:tcPr marL="73152" marR="73152" marT="36576" marB="36576" anchor="ctr">
                    <a:solidFill>
                      <a:srgbClr val="FFFFFF"/>
                    </a:solidFill>
                  </a:tcPr>
                </a:tc>
                <a:tc>
                  <a:txBody>
                    <a:bodyPr wrap="square"/>
                    <a:lstStyle/>
                    <a:p>
                      <a:pPr algn="r"/>
                      <a:r>
                        <a:rPr sz="1500" b="0" i="0">
                          <a:solidFill>
                            <a:srgbClr val="0E2841"/>
                          </a:solidFill>
                        </a:rPr>
                        <a:t>3,033</a:t>
                      </a:r>
                    </a:p>
                  </a:txBody>
                  <a:tcPr marL="73152" marR="73152" marT="36576" marB="36576" anchor="ctr">
                    <a:solidFill>
                      <a:srgbClr val="FFFFFF"/>
                    </a:solidFill>
                  </a:tcPr>
                </a:tc>
              </a:tr>
              <a:tr h="384048">
                <a:tc>
                  <a:txBody>
                    <a:bodyPr wrap="square"/>
                    <a:lstStyle/>
                    <a:p>
                      <a:r>
                        <a:rPr sz="1500" b="0" i="1">
                          <a:solidFill>
                            <a:srgbClr val="0E2841"/>
                          </a:solidFill>
                        </a:rPr>
                        <a:t>Yersinia</a:t>
                      </a:r>
                      <a:r>
                        <a:rPr sz="1500" b="0" i="0">
                          <a:solidFill>
                            <a:srgbClr val="0E2841"/>
                          </a:solidFill>
                        </a:rPr>
                        <a:t> (</a:t>
                      </a:r>
                      <a:r>
                        <a:rPr sz="1500" b="0" i="0">
                          <a:solidFill>
                            <a:srgbClr val="156082"/>
                          </a:solidFill>
                          <a:latin typeface="Courier New"/>
                        </a:rPr>
                        <a:t>ype</a:t>
                      </a:r>
                      <a:r>
                        <a:rPr sz="1500" b="0" i="0">
                          <a:solidFill>
                            <a:srgbClr val="0E2841"/>
                          </a:solidFill>
                        </a:rPr>
                        <a:t>)</a:t>
                      </a:r>
                    </a:p>
                  </a:txBody>
                  <a:tcPr marL="73152" marR="73152" marT="36576" marB="36576" anchor="ctr">
                    <a:solidFill>
                      <a:srgbClr val="F2F5F9"/>
                    </a:solidFill>
                  </a:tcPr>
                </a:tc>
                <a:tc>
                  <a:txBody>
                    <a:bodyPr wrap="square"/>
                    <a:lstStyle/>
                    <a:p>
                      <a:pPr algn="r"/>
                      <a:r>
                        <a:rPr sz="1500" b="0" i="0">
                          <a:solidFill>
                            <a:srgbClr val="0E2841"/>
                          </a:solidFill>
                        </a:rPr>
                        <a:t>560</a:t>
                      </a:r>
                    </a:p>
                  </a:txBody>
                  <a:tcPr marL="73152" marR="73152" marT="36576" marB="36576" anchor="ctr">
                    <a:solidFill>
                      <a:srgbClr val="F2F5F9"/>
                    </a:solidFill>
                  </a:tcPr>
                </a:tc>
                <a:tc>
                  <a:txBody>
                    <a:bodyPr wrap="square"/>
                    <a:lstStyle/>
                    <a:p>
                      <a:pPr algn="r"/>
                      <a:r>
                        <a:rPr sz="1500" b="0" i="0">
                          <a:solidFill>
                            <a:srgbClr val="0E2841"/>
                          </a:solidFill>
                        </a:rPr>
                        <a:t>2,386</a:t>
                      </a:r>
                    </a:p>
                  </a:txBody>
                  <a:tcPr marL="73152" marR="73152" marT="36576" marB="36576" anchor="ctr">
                    <a:solidFill>
                      <a:srgbClr val="F2F5F9"/>
                    </a:solidFill>
                  </a:tcPr>
                </a:tc>
              </a:tr>
              <a:tr h="384048">
                <a:tc>
                  <a:txBody>
                    <a:bodyPr wrap="square"/>
                    <a:lstStyle/>
                    <a:p>
                      <a:r>
                        <a:rPr sz="1500" b="0" i="1">
                          <a:solidFill>
                            <a:srgbClr val="0E2841"/>
                          </a:solidFill>
                        </a:rPr>
                        <a:t>Shigella</a:t>
                      </a:r>
                      <a:r>
                        <a:rPr sz="1500" b="0" i="0">
                          <a:solidFill>
                            <a:srgbClr val="0E2841"/>
                          </a:solidFill>
                        </a:rPr>
                        <a:t> (</a:t>
                      </a:r>
                      <a:r>
                        <a:rPr sz="1500" b="0" i="0">
                          <a:solidFill>
                            <a:srgbClr val="156082"/>
                          </a:solidFill>
                          <a:latin typeface="Courier New"/>
                        </a:rPr>
                        <a:t>sfl</a:t>
                      </a:r>
                      <a:r>
                        <a:rPr sz="1500" b="0" i="0">
                          <a:solidFill>
                            <a:srgbClr val="0E2841"/>
                          </a:solidFill>
                        </a:rPr>
                        <a:t>)</a:t>
                      </a:r>
                    </a:p>
                  </a:txBody>
                  <a:tcPr marL="73152" marR="73152" marT="36576" marB="36576" anchor="ctr">
                    <a:solidFill>
                      <a:srgbClr val="FFFFFF"/>
                    </a:solidFill>
                  </a:tcPr>
                </a:tc>
                <a:tc>
                  <a:txBody>
                    <a:bodyPr wrap="square"/>
                    <a:lstStyle/>
                    <a:p>
                      <a:pPr algn="r"/>
                      <a:r>
                        <a:rPr sz="1500" b="0" i="0">
                          <a:solidFill>
                            <a:srgbClr val="0E2841"/>
                          </a:solidFill>
                        </a:rPr>
                        <a:t>548</a:t>
                      </a:r>
                    </a:p>
                  </a:txBody>
                  <a:tcPr marL="73152" marR="73152" marT="36576" marB="36576" anchor="ctr">
                    <a:solidFill>
                      <a:srgbClr val="FFFFFF"/>
                    </a:solidFill>
                  </a:tcPr>
                </a:tc>
                <a:tc>
                  <a:txBody>
                    <a:bodyPr wrap="square"/>
                    <a:lstStyle/>
                    <a:p>
                      <a:pPr algn="r"/>
                      <a:r>
                        <a:rPr sz="1500" b="0" i="0">
                          <a:solidFill>
                            <a:srgbClr val="0E2841"/>
                          </a:solidFill>
                        </a:rPr>
                        <a:t>2,644</a:t>
                      </a:r>
                    </a:p>
                  </a:txBody>
                  <a:tcPr marL="73152" marR="73152" marT="36576" marB="36576" anchor="ctr">
                    <a:solidFill>
                      <a:srgbClr val="FFFFFF"/>
                    </a:solidFill>
                  </a:tcPr>
                </a:tc>
              </a:tr>
            </a:tbl>
          </a:graphicData>
        </a:graphic>
      </p:graphicFrame>
      <p:graphicFrame>
        <p:nvGraphicFramePr>
          <p:cNvPr id="8" name="jaccard table"/>
          <p:cNvGraphicFramePr>
            <a:graphicFrameLocks noGrp="1"/>
          </p:cNvGraphicFramePr>
          <p:nvPr/>
        </p:nvGraphicFramePr>
        <p:xfrm>
          <a:off x="6217920" y="1783080"/>
          <a:ext cx="5394960" cy="2468880"/>
        </p:xfrm>
        <a:graphic>
          <a:graphicData uri="http://schemas.openxmlformats.org/drawingml/2006/table">
            <a:tbl>
              <a:tblPr firstRow="0" bandRow="0">
                <a:tableStyleId>{5C22544A-7EE6-4342-B048-85BDC9FD1C3A}</a:tableStyleId>
              </a:tblPr>
              <a:tblGrid>
                <a:gridCol w="3017520"/>
                <a:gridCol w="1097280"/>
                <a:gridCol w="1280160"/>
              </a:tblGrid>
              <a:tr h="548640">
                <a:tc>
                  <a:txBody>
                    <a:bodyPr wrap="square"/>
                    <a:lstStyle/>
                    <a:p>
                      <a:r>
                        <a:rPr sz="1500" b="1" i="0">
                          <a:solidFill>
                            <a:srgbClr val="FFFFFF"/>
                          </a:solidFill>
                        </a:rPr>
                        <a:t>Jaccard index</a:t>
                      </a:r>
                    </a:p>
                  </a:txBody>
                  <a:tcPr marL="73152" marR="73152" marT="36576" marB="36576" anchor="ctr">
                    <a:solidFill>
                      <a:srgbClr val="2E8B3E"/>
                    </a:solidFill>
                  </a:tcPr>
                </a:tc>
                <a:tc>
                  <a:txBody>
                    <a:bodyPr wrap="square"/>
                    <a:lstStyle/>
                    <a:p>
                      <a:pPr algn="r"/>
                      <a:r>
                        <a:rPr sz="1500" b="1" i="0">
                          <a:solidFill>
                            <a:srgbClr val="FFFFFF"/>
                          </a:solidFill>
                        </a:rPr>
                        <a:t>Jaccard</a:t>
                      </a:r>
                    </a:p>
                  </a:txBody>
                  <a:tcPr marL="73152" marR="73152" marT="36576" marB="36576" anchor="ctr">
                    <a:solidFill>
                      <a:srgbClr val="2E8B3E"/>
                    </a:solidFill>
                  </a:tcPr>
                </a:tc>
                <a:tc>
                  <a:txBody>
                    <a:bodyPr wrap="square"/>
                    <a:lstStyle/>
                    <a:p>
                      <a:pPr algn="r"/>
                      <a:r>
                        <a:rPr sz="1500" b="1" i="0">
                          <a:solidFill>
                            <a:srgbClr val="FFFFFF"/>
                          </a:solidFill>
                        </a:rPr>
                        <a:t>genome size</a:t>
                      </a:r>
                    </a:p>
                  </a:txBody>
                  <a:tcPr marL="73152" marR="73152" marT="36576" marB="36576" anchor="ctr">
                    <a:solidFill>
                      <a:srgbClr val="2E8B3E"/>
                    </a:solidFill>
                  </a:tcPr>
                </a:tc>
              </a:tr>
              <a:tr h="384048">
                <a:tc>
                  <a:txBody>
                    <a:bodyPr wrap="square"/>
                    <a:lstStyle/>
                    <a:p>
                      <a:r>
                        <a:rPr sz="1500" b="0" i="1">
                          <a:solidFill>
                            <a:srgbClr val="0E2841"/>
                          </a:solidFill>
                        </a:rPr>
                        <a:t>Wolbachia</a:t>
                      </a:r>
                      <a:r>
                        <a:rPr sz="1500" b="0" i="0">
                          <a:solidFill>
                            <a:srgbClr val="0E2841"/>
                          </a:solidFill>
                        </a:rPr>
                        <a:t> (</a:t>
                      </a:r>
                      <a:r>
                        <a:rPr sz="1500" b="0" i="0">
                          <a:solidFill>
                            <a:srgbClr val="156082"/>
                          </a:solidFill>
                          <a:latin typeface="Courier New"/>
                        </a:rPr>
                        <a:t>wol</a:t>
                      </a:r>
                      <a:r>
                        <a:rPr sz="1500" b="0" i="0">
                          <a:solidFill>
                            <a:srgbClr val="0E2841"/>
                          </a:solidFill>
                        </a:rPr>
                        <a:t>)</a:t>
                      </a:r>
                    </a:p>
                  </a:txBody>
                  <a:tcPr marL="73152" marR="73152" marT="36576" marB="36576" anchor="ctr">
                    <a:solidFill>
                      <a:srgbClr val="FFFFFF"/>
                    </a:solidFill>
                  </a:tcPr>
                </a:tc>
                <a:tc>
                  <a:txBody>
                    <a:bodyPr wrap="square"/>
                    <a:lstStyle/>
                    <a:p>
                      <a:pPr algn="r"/>
                      <a:r>
                        <a:rPr sz="1500" b="0" i="0">
                          <a:solidFill>
                            <a:srgbClr val="0E2841"/>
                          </a:solidFill>
                        </a:rPr>
                        <a:t>0.405</a:t>
                      </a:r>
                    </a:p>
                  </a:txBody>
                  <a:tcPr marL="73152" marR="73152" marT="36576" marB="36576" anchor="ctr">
                    <a:solidFill>
                      <a:srgbClr val="FFFFFF"/>
                    </a:solidFill>
                  </a:tcPr>
                </a:tc>
                <a:tc>
                  <a:txBody>
                    <a:bodyPr wrap="square"/>
                    <a:lstStyle/>
                    <a:p>
                      <a:pPr algn="r"/>
                      <a:r>
                        <a:rPr sz="1500" b="0" i="0">
                          <a:solidFill>
                            <a:srgbClr val="0E2841"/>
                          </a:solidFill>
                        </a:rPr>
                        <a:t>595</a:t>
                      </a:r>
                    </a:p>
                  </a:txBody>
                  <a:tcPr marL="73152" marR="73152" marT="36576" marB="36576" anchor="ctr">
                    <a:solidFill>
                      <a:srgbClr val="FFFFFF"/>
                    </a:solidFill>
                  </a:tcPr>
                </a:tc>
              </a:tr>
              <a:tr h="384048">
                <a:tc>
                  <a:txBody>
                    <a:bodyPr wrap="square"/>
                    <a:lstStyle/>
                    <a:p>
                      <a:r>
                        <a:rPr sz="1500" b="0" i="1">
                          <a:solidFill>
                            <a:srgbClr val="0E2841"/>
                          </a:solidFill>
                        </a:rPr>
                        <a:t>Rickettsia</a:t>
                      </a:r>
                      <a:r>
                        <a:rPr sz="1500" b="0" i="0">
                          <a:solidFill>
                            <a:srgbClr val="0E2841"/>
                          </a:solidFill>
                        </a:rPr>
                        <a:t> (</a:t>
                      </a:r>
                      <a:r>
                        <a:rPr sz="1500" b="0" i="0">
                          <a:solidFill>
                            <a:srgbClr val="156082"/>
                          </a:solidFill>
                          <a:latin typeface="Courier New"/>
                        </a:rPr>
                        <a:t>rpr</a:t>
                      </a:r>
                      <a:r>
                        <a:rPr sz="1500" b="0" i="0">
                          <a:solidFill>
                            <a:srgbClr val="0E2841"/>
                          </a:solidFill>
                        </a:rPr>
                        <a:t>)</a:t>
                      </a:r>
                    </a:p>
                  </a:txBody>
                  <a:tcPr marL="73152" marR="73152" marT="36576" marB="36576" anchor="ctr">
                    <a:solidFill>
                      <a:srgbClr val="F2F5F9"/>
                    </a:solidFill>
                  </a:tcPr>
                </a:tc>
                <a:tc>
                  <a:txBody>
                    <a:bodyPr wrap="square"/>
                    <a:lstStyle/>
                    <a:p>
                      <a:pPr algn="r"/>
                      <a:r>
                        <a:rPr sz="1500" b="0" i="0">
                          <a:solidFill>
                            <a:srgbClr val="0E2841"/>
                          </a:solidFill>
                        </a:rPr>
                        <a:t>0.358</a:t>
                      </a:r>
                    </a:p>
                  </a:txBody>
                  <a:tcPr marL="73152" marR="73152" marT="36576" marB="36576" anchor="ctr">
                    <a:solidFill>
                      <a:srgbClr val="F2F5F9"/>
                    </a:solidFill>
                  </a:tcPr>
                </a:tc>
                <a:tc>
                  <a:txBody>
                    <a:bodyPr wrap="square"/>
                    <a:lstStyle/>
                    <a:p>
                      <a:pPr algn="r"/>
                      <a:r>
                        <a:rPr sz="1500" b="0" i="0">
                          <a:solidFill>
                            <a:srgbClr val="0E2841"/>
                          </a:solidFill>
                        </a:rPr>
                        <a:t>601</a:t>
                      </a:r>
                    </a:p>
                  </a:txBody>
                  <a:tcPr marL="73152" marR="73152" marT="36576" marB="36576" anchor="ctr">
                    <a:solidFill>
                      <a:srgbClr val="F2F5F9"/>
                    </a:solidFill>
                  </a:tcPr>
                </a:tc>
              </a:tr>
              <a:tr h="384048">
                <a:tc>
                  <a:txBody>
                    <a:bodyPr wrap="square"/>
                    <a:lstStyle/>
                    <a:p>
                      <a:r>
                        <a:rPr sz="1500" b="0" i="1">
                          <a:solidFill>
                            <a:srgbClr val="0E2841"/>
                          </a:solidFill>
                        </a:rPr>
                        <a:t>Chlamydia</a:t>
                      </a:r>
                      <a:r>
                        <a:rPr sz="1500" b="0" i="0">
                          <a:solidFill>
                            <a:srgbClr val="0E2841"/>
                          </a:solidFill>
                        </a:rPr>
                        <a:t> (</a:t>
                      </a:r>
                      <a:r>
                        <a:rPr sz="1500" b="0" i="0">
                          <a:solidFill>
                            <a:srgbClr val="156082"/>
                          </a:solidFill>
                          <a:latin typeface="Courier New"/>
                        </a:rPr>
                        <a:t>ctr</a:t>
                      </a:r>
                      <a:r>
                        <a:rPr sz="1500" b="0" i="0">
                          <a:solidFill>
                            <a:srgbClr val="0E2841"/>
                          </a:solidFill>
                        </a:rPr>
                        <a:t>)</a:t>
                      </a:r>
                    </a:p>
                  </a:txBody>
                  <a:tcPr marL="73152" marR="73152" marT="36576" marB="36576" anchor="ctr">
                    <a:solidFill>
                      <a:srgbClr val="FFFFFF"/>
                    </a:solidFill>
                  </a:tcPr>
                </a:tc>
                <a:tc>
                  <a:txBody>
                    <a:bodyPr wrap="square"/>
                    <a:lstStyle/>
                    <a:p>
                      <a:pPr algn="r"/>
                      <a:r>
                        <a:rPr sz="1500" b="0" i="0">
                          <a:solidFill>
                            <a:srgbClr val="0E2841"/>
                          </a:solidFill>
                        </a:rPr>
                        <a:t>0.350</a:t>
                      </a:r>
                    </a:p>
                  </a:txBody>
                  <a:tcPr marL="73152" marR="73152" marT="36576" marB="36576" anchor="ctr">
                    <a:solidFill>
                      <a:srgbClr val="FFFFFF"/>
                    </a:solidFill>
                  </a:tcPr>
                </a:tc>
                <a:tc>
                  <a:txBody>
                    <a:bodyPr wrap="square"/>
                    <a:lstStyle/>
                    <a:p>
                      <a:pPr algn="r"/>
                      <a:r>
                        <a:rPr sz="1500" b="0" i="0">
                          <a:solidFill>
                            <a:srgbClr val="0E2841"/>
                          </a:solidFill>
                        </a:rPr>
                        <a:t>564</a:t>
                      </a:r>
                    </a:p>
                  </a:txBody>
                  <a:tcPr marL="73152" marR="73152" marT="36576" marB="36576" anchor="ctr">
                    <a:solidFill>
                      <a:srgbClr val="FFFFFF"/>
                    </a:solidFill>
                  </a:tcPr>
                </a:tc>
              </a:tr>
              <a:tr h="384048">
                <a:tc>
                  <a:txBody>
                    <a:bodyPr wrap="square"/>
                    <a:lstStyle/>
                    <a:p>
                      <a:r>
                        <a:rPr sz="1500" b="0" i="1">
                          <a:solidFill>
                            <a:srgbClr val="0E2841"/>
                          </a:solidFill>
                        </a:rPr>
                        <a:t>Aquifex</a:t>
                      </a:r>
                      <a:r>
                        <a:rPr sz="1500" b="0" i="0">
                          <a:solidFill>
                            <a:srgbClr val="0E2841"/>
                          </a:solidFill>
                        </a:rPr>
                        <a:t> (</a:t>
                      </a:r>
                      <a:r>
                        <a:rPr sz="1500" b="0" i="0">
                          <a:solidFill>
                            <a:srgbClr val="156082"/>
                          </a:solidFill>
                          <a:latin typeface="Courier New"/>
                        </a:rPr>
                        <a:t>aae</a:t>
                      </a:r>
                      <a:r>
                        <a:rPr sz="1500" b="0" i="0">
                          <a:solidFill>
                            <a:srgbClr val="0E2841"/>
                          </a:solidFill>
                        </a:rPr>
                        <a:t>)</a:t>
                      </a:r>
                    </a:p>
                  </a:txBody>
                  <a:tcPr marL="73152" marR="73152" marT="36576" marB="36576" anchor="ctr">
                    <a:solidFill>
                      <a:srgbClr val="F2F5F9"/>
                    </a:solidFill>
                  </a:tcPr>
                </a:tc>
                <a:tc>
                  <a:txBody>
                    <a:bodyPr wrap="square"/>
                    <a:lstStyle/>
                    <a:p>
                      <a:pPr algn="r"/>
                      <a:r>
                        <a:rPr sz="1500" b="0" i="0">
                          <a:solidFill>
                            <a:srgbClr val="0E2841"/>
                          </a:solidFill>
                        </a:rPr>
                        <a:t>0.348</a:t>
                      </a:r>
                    </a:p>
                  </a:txBody>
                  <a:tcPr marL="73152" marR="73152" marT="36576" marB="36576" anchor="ctr">
                    <a:solidFill>
                      <a:srgbClr val="F2F5F9"/>
                    </a:solidFill>
                  </a:tcPr>
                </a:tc>
                <a:tc>
                  <a:txBody>
                    <a:bodyPr wrap="square"/>
                    <a:lstStyle/>
                    <a:p>
                      <a:pPr algn="r"/>
                      <a:r>
                        <a:rPr sz="1500" b="0" i="0">
                          <a:solidFill>
                            <a:srgbClr val="0E2841"/>
                          </a:solidFill>
                        </a:rPr>
                        <a:t>964</a:t>
                      </a:r>
                    </a:p>
                  </a:txBody>
                  <a:tcPr marL="73152" marR="73152" marT="36576" marB="36576" anchor="ctr">
                    <a:solidFill>
                      <a:srgbClr val="F2F5F9"/>
                    </a:solidFill>
                  </a:tcPr>
                </a:tc>
              </a:tr>
              <a:tr h="384048">
                <a:tc>
                  <a:txBody>
                    <a:bodyPr wrap="square"/>
                    <a:lstStyle/>
                    <a:p>
                      <a:r>
                        <a:rPr sz="1500" b="0" i="1">
                          <a:solidFill>
                            <a:srgbClr val="0E2841"/>
                          </a:solidFill>
                        </a:rPr>
                        <a:t>Treponema</a:t>
                      </a:r>
                      <a:r>
                        <a:rPr sz="1500" b="0" i="0">
                          <a:solidFill>
                            <a:srgbClr val="0E2841"/>
                          </a:solidFill>
                        </a:rPr>
                        <a:t> (</a:t>
                      </a:r>
                      <a:r>
                        <a:rPr sz="1500" b="0" i="0">
                          <a:solidFill>
                            <a:srgbClr val="156082"/>
                          </a:solidFill>
                          <a:latin typeface="Courier New"/>
                        </a:rPr>
                        <a:t>tpa</a:t>
                      </a:r>
                      <a:r>
                        <a:rPr sz="1500" b="0" i="0">
                          <a:solidFill>
                            <a:srgbClr val="0E2841"/>
                          </a:solidFill>
                        </a:rPr>
                        <a:t>)</a:t>
                      </a:r>
                    </a:p>
                  </a:txBody>
                  <a:tcPr marL="73152" marR="73152" marT="36576" marB="36576" anchor="ctr">
                    <a:solidFill>
                      <a:srgbClr val="FFFFFF"/>
                    </a:solidFill>
                  </a:tcPr>
                </a:tc>
                <a:tc>
                  <a:txBody>
                    <a:bodyPr wrap="square"/>
                    <a:lstStyle/>
                    <a:p>
                      <a:pPr algn="r"/>
                      <a:r>
                        <a:rPr sz="1500" b="0" i="0">
                          <a:solidFill>
                            <a:srgbClr val="0E2841"/>
                          </a:solidFill>
                        </a:rPr>
                        <a:t>0.344</a:t>
                      </a:r>
                    </a:p>
                  </a:txBody>
                  <a:tcPr marL="73152" marR="73152" marT="36576" marB="36576" anchor="ctr">
                    <a:solidFill>
                      <a:srgbClr val="FFFFFF"/>
                    </a:solidFill>
                  </a:tcPr>
                </a:tc>
                <a:tc>
                  <a:txBody>
                    <a:bodyPr wrap="square"/>
                    <a:lstStyle/>
                    <a:p>
                      <a:pPr algn="r"/>
                      <a:r>
                        <a:rPr sz="1500" b="0" i="0">
                          <a:solidFill>
                            <a:srgbClr val="0E2841"/>
                          </a:solidFill>
                        </a:rPr>
                        <a:t>570</a:t>
                      </a:r>
                    </a:p>
                  </a:txBody>
                  <a:tcPr marL="73152" marR="73152" marT="36576" marB="36576" anchor="ctr">
                    <a:solidFill>
                      <a:srgbClr val="FFFFFF"/>
                    </a:solidFill>
                  </a:tcPr>
                </a:tc>
              </a:tr>
            </a:tbl>
          </a:graphicData>
        </a:graphic>
      </p:graphicFrame>
      <p:sp>
        <p:nvSpPr>
          <p:cNvPr id="9" name="formula bg"/>
          <p:cNvSpPr/>
          <p:nvPr/>
        </p:nvSpPr>
        <p:spPr>
          <a:xfrm>
            <a:off x="548640" y="4297680"/>
            <a:ext cx="5394960" cy="1920240"/>
          </a:xfrm>
          <a:prstGeom prst="roundRect">
            <a:avLst>
              <a:gd name="adj" fmla="val 2857"/>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formula head"/>
          <p:cNvSpPr txBox="1"/>
          <p:nvPr/>
        </p:nvSpPr>
        <p:spPr>
          <a:xfrm>
            <a:off x="731520" y="4343400"/>
            <a:ext cx="5029200" cy="365760"/>
          </a:xfrm>
          <a:prstGeom prst="rect">
            <a:avLst/>
          </a:prstGeom>
          <a:noFill/>
        </p:spPr>
        <p:txBody>
          <a:bodyPr wrap="square" lIns="45720" rIns="45720" tIns="27432" bIns="27432" anchor="t">
            <a:spAutoFit/>
          </a:bodyPr>
          <a:lstStyle/>
          <a:p>
            <a:pPr algn="l">
              <a:spcAft>
                <a:spcPts val="600"/>
              </a:spcAft>
            </a:pPr>
            <a:r>
              <a:rPr sz="1700" b="1" i="0">
                <a:solidFill>
                  <a:srgbClr val="2E8B3E"/>
                </a:solidFill>
              </a:rPr>
              <a:t>Jaccard index</a:t>
            </a:r>
          </a:p>
        </p:txBody>
      </p:sp>
      <p:sp>
        <p:nvSpPr>
          <p:cNvPr id="11" name="formula"/>
          <p:cNvSpPr txBox="1"/>
          <p:nvPr/>
        </p:nvSpPr>
        <p:spPr>
          <a:xfrm>
            <a:off x="731520" y="4754880"/>
            <a:ext cx="5029200" cy="640080"/>
          </a:xfrm>
          <a:prstGeom prst="rect">
            <a:avLst/>
          </a:prstGeom>
          <a:noFill/>
        </p:spPr>
        <p:txBody>
          <a:bodyPr wrap="square" lIns="45720" rIns="45720" tIns="27432" bIns="27432" anchor="t">
            <a:spAutoFit/>
          </a:bodyPr>
          <a:lstStyle/>
          <a:p>
            <a:pPr algn="l">
              <a:spcAft>
                <a:spcPts val="600"/>
              </a:spcAft>
            </a:pPr>
            <a:r>
              <a:rPr sz="2200" b="1" i="0">
                <a:solidFill>
                  <a:srgbClr val="0E2841"/>
                </a:solidFill>
              </a:rPr>
              <a:t>J(A, B) = |A ∩ B| / |A ∪ B|</a:t>
            </a:r>
          </a:p>
        </p:txBody>
      </p:sp>
      <p:sp>
        <p:nvSpPr>
          <p:cNvPr id="12" name="formula text"/>
          <p:cNvSpPr txBox="1"/>
          <p:nvPr/>
        </p:nvSpPr>
        <p:spPr>
          <a:xfrm>
            <a:off x="731520" y="5394960"/>
            <a:ext cx="5029200" cy="777240"/>
          </a:xfrm>
          <a:prstGeom prst="rect">
            <a:avLst/>
          </a:prstGeom>
          <a:noFill/>
        </p:spPr>
        <p:txBody>
          <a:bodyPr wrap="square" lIns="45720" rIns="45720" tIns="27432" bIns="27432" anchor="t">
            <a:spAutoFit/>
          </a:bodyPr>
          <a:lstStyle/>
          <a:p>
            <a:pPr algn="l">
              <a:spcAft>
                <a:spcPts val="200"/>
              </a:spcAft>
            </a:pPr>
            <a:r>
              <a:rPr sz="1500" b="0" i="0">
                <a:solidFill>
                  <a:srgbClr val="595959"/>
                </a:solidFill>
              </a:rPr>
              <a:t>= shared / (size A + size B − shared)</a:t>
            </a:r>
          </a:p>
          <a:p>
            <a:pPr algn="l">
              <a:spcAft>
                <a:spcPts val="200"/>
              </a:spcAft>
            </a:pPr>
            <a:r>
              <a:rPr sz="1500" b="0" i="0">
                <a:solidFill>
                  <a:srgbClr val="595959"/>
                </a:solidFill>
              </a:rPr>
              <a:t>1 = identical · 0 = nothing in common</a:t>
            </a:r>
          </a:p>
        </p:txBody>
      </p:sp>
      <p:sp>
        <p:nvSpPr>
          <p:cNvPr id="13" name="think bg"/>
          <p:cNvSpPr/>
          <p:nvPr/>
        </p:nvSpPr>
        <p:spPr>
          <a:xfrm>
            <a:off x="6217920" y="4297680"/>
            <a:ext cx="5394960" cy="1920240"/>
          </a:xfrm>
          <a:prstGeom prst="roundRect">
            <a:avLst>
              <a:gd name="adj" fmla="val 2857"/>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hink text"/>
          <p:cNvSpPr txBox="1"/>
          <p:nvPr/>
        </p:nvSpPr>
        <p:spPr>
          <a:xfrm>
            <a:off x="6400800" y="4343400"/>
            <a:ext cx="5029200" cy="1828800"/>
          </a:xfrm>
          <a:prstGeom prst="rect">
            <a:avLst/>
          </a:prstGeom>
          <a:noFill/>
        </p:spPr>
        <p:txBody>
          <a:bodyPr wrap="square" lIns="45720" rIns="45720" tIns="27432" bIns="27432" anchor="t">
            <a:spAutoFit/>
          </a:bodyPr>
          <a:lstStyle/>
          <a:p>
            <a:pPr algn="l">
              <a:spcAft>
                <a:spcPts val="600"/>
              </a:spcAft>
            </a:pPr>
            <a:r>
              <a:rPr sz="1500" b="0" i="0">
                <a:solidFill>
                  <a:srgbClr val="0E2841"/>
                </a:solidFill>
              </a:rPr>
              <a:t>🤔 </a:t>
            </a:r>
            <a:r>
              <a:rPr sz="1500" b="1" i="0">
                <a:solidFill>
                  <a:srgbClr val="0E2841"/>
                </a:solidFill>
              </a:rPr>
              <a:t>Think:</a:t>
            </a:r>
            <a:r>
              <a:rPr sz="1500" b="0" i="0">
                <a:solidFill>
                  <a:srgbClr val="0E2841"/>
                </a:solidFill>
              </a:rPr>
              <a:t> Buchnera and Chlamydia are in different phyla.</a:t>
            </a:r>
          </a:p>
          <a:p>
            <a:pPr algn="l">
              <a:spcAft>
                <a:spcPts val="600"/>
              </a:spcAft>
            </a:pPr>
            <a:r>
              <a:rPr sz="1500" b="0" i="0">
                <a:solidFill>
                  <a:srgbClr val="0E2841"/>
                </a:solidFill>
              </a:rPr>
              <a:t>Both lost most of their metabolism inside host cells: </a:t>
            </a:r>
            <a:r>
              <a:rPr sz="1500" b="1" i="0">
                <a:solidFill>
                  <a:srgbClr val="0E2841"/>
                </a:solidFill>
              </a:rPr>
              <a:t>convergent genome reduction</a:t>
            </a:r>
            <a:r>
              <a:rPr sz="1500" b="0" i="0">
                <a:solidFill>
                  <a:srgbClr val="0E2841"/>
                </a:solidFill>
              </a:rPr>
              <a:t>.</a:t>
            </a:r>
          </a:p>
          <a:p>
            <a:pPr algn="l">
              <a:spcAft>
                <a:spcPts val="600"/>
              </a:spcAft>
            </a:pPr>
            <a:r>
              <a:rPr sz="1500" b="0" i="0">
                <a:solidFill>
                  <a:srgbClr val="0E2841"/>
                </a:solidFill>
              </a:rPr>
              <a:t>Similar repertoire = similar </a:t>
            </a:r>
            <a:r>
              <a:rPr sz="1500" b="0" i="1">
                <a:solidFill>
                  <a:srgbClr val="0E2841"/>
                </a:solidFill>
              </a:rPr>
              <a:t>lifestyle</a:t>
            </a:r>
            <a:r>
              <a:rPr sz="1500" b="0" i="0">
                <a:solidFill>
                  <a:srgbClr val="0E2841"/>
                </a:solidFill>
              </a:rPr>
              <a:t> </a:t>
            </a:r>
            <a:r>
              <a:rPr sz="1500" b="1" i="0">
                <a:solidFill>
                  <a:srgbClr val="0E2841"/>
                </a:solidFill>
              </a:rPr>
              <a:t>and</a:t>
            </a:r>
            <a:r>
              <a:rPr sz="1500" b="0" i="0">
                <a:solidFill>
                  <a:srgbClr val="0E2841"/>
                </a:solidFill>
              </a:rPr>
              <a:t> ancestry.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9509760" cy="777240"/>
          </a:xfrm>
        </p:spPr>
        <p:txBody>
          <a:bodyPr wrap="square" anchor="ctr"/>
          <a:lstStyle/>
          <a:p>
            <a:pPr algn="l"/>
            <a:r>
              <a:rPr sz="3000" b="1" i="0">
                <a:solidFill>
                  <a:srgbClr val="0E2841"/>
                </a:solidFill>
              </a:rPr>
              <a:t>Similarity recovers taxonomy</a:t>
            </a:r>
          </a:p>
        </p:txBody>
      </p:sp>
      <p:sp>
        <p:nvSpPr>
          <p:cNvPr id="3" name="footer"/>
          <p:cNvSpPr txBox="1"/>
          <p:nvPr/>
        </p:nvSpPr>
        <p:spPr>
          <a:xfrm>
            <a:off x="548640" y="6455664"/>
            <a:ext cx="8686800" cy="274320"/>
          </a:xfrm>
          <a:prstGeom prst="rect">
            <a:avLst/>
          </a:prstGeom>
          <a:noFill/>
        </p:spPr>
        <p:txBody>
          <a:bodyPr wrap="square" lIns="45720" rIns="45720" tIns="27432" bIns="27432" anchor="t">
            <a:spAutoFit/>
          </a:bodyPr>
          <a:lstStyle/>
          <a:p>
            <a:pPr algn="l">
              <a:spcAft>
                <a:spcPts val="600"/>
              </a:spcAft>
            </a:pPr>
            <a:r>
              <a:rPr sz="1000" b="0" i="0">
                <a:solidFill>
                  <a:srgbClr val="595959"/>
                </a:solidFill>
              </a:rPr>
              <a:t>NoSQL Databases for Bioinformatics  ·  Lecture 27  ·  Neo4j genome workshop</a:t>
            </a:r>
          </a:p>
        </p:txBody>
      </p:sp>
      <p:sp>
        <p:nvSpPr>
          <p:cNvPr id="4" name="slide number"/>
          <p:cNvSpPr txBox="1"/>
          <p:nvPr/>
        </p:nvSpPr>
        <p:spPr>
          <a:xfrm>
            <a:off x="10698480" y="6455664"/>
            <a:ext cx="914400" cy="274320"/>
          </a:xfrm>
          <a:prstGeom prst="rect">
            <a:avLst/>
          </a:prstGeom>
          <a:noFill/>
        </p:spPr>
        <p:txBody>
          <a:bodyPr wrap="square" lIns="45720" rIns="45720" tIns="27432" bIns="27432" anchor="t">
            <a:spAutoFit/>
          </a:bodyPr>
          <a:lstStyle/>
          <a:p>
            <a:pPr algn="r">
              <a:spcAft>
                <a:spcPts val="600"/>
              </a:spcAft>
            </a:pPr>
            <a:fld id="{B6F15528-21DE-4FAA-801E-634DDDAF4B2B}" type="slidenum">
              <a:rPr lang="en-US" sz="1000">
                <a:solidFill>
                  <a:srgbClr val="595959"/>
                </a:solidFill>
              </a:rPr>
              <a:t>‹#›</a:t>
            </a:fld>
          </a:p>
        </p:txBody>
      </p:sp>
      <p:sp>
        <p:nvSpPr>
          <p:cNvPr id="5" name="step tag"/>
          <p:cNvSpPr/>
          <p:nvPr/>
        </p:nvSpPr>
        <p:spPr>
          <a:xfrm>
            <a:off x="10195560" y="411480"/>
            <a:ext cx="1417320" cy="329184"/>
          </a:xfrm>
          <a:prstGeom prst="roundRect">
            <a:avLst>
              <a:gd name="adj" fmla="val 50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QUERY 1</a:t>
            </a:r>
          </a:p>
        </p:txBody>
      </p:sp>
      <p:pic>
        <p:nvPicPr>
          <p:cNvPr id="6" name="heatmap" descr="similarity_heatmap.png"/>
          <p:cNvPicPr>
            <a:picLocks noChangeAspect="1"/>
          </p:cNvPicPr>
          <p:nvPr/>
        </p:nvPicPr>
        <p:blipFill>
          <a:blip r:embed="rId3"/>
          <a:stretch>
            <a:fillRect/>
          </a:stretch>
        </p:blipFill>
        <p:spPr>
          <a:xfrm>
            <a:off x="548640" y="1532924"/>
            <a:ext cx="7223760" cy="4523670"/>
          </a:xfrm>
          <a:prstGeom prst="rect">
            <a:avLst/>
          </a:prstGeom>
        </p:spPr>
      </p:pic>
      <p:sp>
        <p:nvSpPr>
          <p:cNvPr id="7" name="stat 0"/>
          <p:cNvSpPr/>
          <p:nvPr/>
        </p:nvSpPr>
        <p:spPr>
          <a:xfrm>
            <a:off x="8046720" y="1371600"/>
            <a:ext cx="3566160" cy="1417320"/>
          </a:xfrm>
          <a:prstGeom prst="roundRect">
            <a:avLst>
              <a:gd name="adj" fmla="val 387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stat big 0"/>
          <p:cNvSpPr txBox="1"/>
          <p:nvPr/>
        </p:nvSpPr>
        <p:spPr>
          <a:xfrm>
            <a:off x="8183879" y="1417320"/>
            <a:ext cx="3291840" cy="594360"/>
          </a:xfrm>
          <a:prstGeom prst="rect">
            <a:avLst/>
          </a:prstGeom>
          <a:noFill/>
        </p:spPr>
        <p:txBody>
          <a:bodyPr wrap="square" lIns="45720" rIns="45720" tIns="27432" bIns="27432" anchor="t">
            <a:spAutoFit/>
          </a:bodyPr>
          <a:lstStyle/>
          <a:p>
            <a:pPr algn="l">
              <a:spcAft>
                <a:spcPts val="600"/>
              </a:spcAft>
            </a:pPr>
            <a:r>
              <a:rPr sz="3200" b="1" i="0">
                <a:solidFill>
                  <a:srgbClr val="2E8B3E"/>
                </a:solidFill>
              </a:rPr>
              <a:t>83%</a:t>
            </a:r>
          </a:p>
        </p:txBody>
      </p:sp>
      <p:sp>
        <p:nvSpPr>
          <p:cNvPr id="9" name="stat small 0"/>
          <p:cNvSpPr txBox="1"/>
          <p:nvPr/>
        </p:nvSpPr>
        <p:spPr>
          <a:xfrm>
            <a:off x="8183879" y="2029967"/>
            <a:ext cx="3291840" cy="731520"/>
          </a:xfrm>
          <a:prstGeom prst="rect">
            <a:avLst/>
          </a:prstGeom>
          <a:noFill/>
        </p:spPr>
        <p:txBody>
          <a:bodyPr wrap="square" lIns="45720" rIns="45720" tIns="27432" bIns="27432" anchor="t">
            <a:spAutoFit/>
          </a:bodyPr>
          <a:lstStyle/>
          <a:p>
            <a:pPr algn="l">
              <a:spcAft>
                <a:spcPts val="600"/>
              </a:spcAft>
            </a:pPr>
            <a:r>
              <a:rPr sz="1400" b="0" i="0">
                <a:solidFill>
                  <a:srgbClr val="0E2841"/>
                </a:solidFill>
              </a:rPr>
              <a:t>of genomes have their nearest neighbour in the </a:t>
            </a:r>
            <a:r>
              <a:rPr sz="1400" b="1" i="0">
                <a:solidFill>
                  <a:srgbClr val="0E2841"/>
                </a:solidFill>
              </a:rPr>
              <a:t>same phylum</a:t>
            </a:r>
          </a:p>
        </p:txBody>
      </p:sp>
      <p:sp>
        <p:nvSpPr>
          <p:cNvPr id="10" name="stat 1"/>
          <p:cNvSpPr/>
          <p:nvPr/>
        </p:nvSpPr>
        <p:spPr>
          <a:xfrm>
            <a:off x="8046720" y="2971800"/>
            <a:ext cx="3566160" cy="1417320"/>
          </a:xfrm>
          <a:prstGeom prst="roundRect">
            <a:avLst>
              <a:gd name="adj" fmla="val 387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stat big 1"/>
          <p:cNvSpPr txBox="1"/>
          <p:nvPr/>
        </p:nvSpPr>
        <p:spPr>
          <a:xfrm>
            <a:off x="8183879" y="3017520"/>
            <a:ext cx="3291840" cy="594360"/>
          </a:xfrm>
          <a:prstGeom prst="rect">
            <a:avLst/>
          </a:prstGeom>
          <a:noFill/>
        </p:spPr>
        <p:txBody>
          <a:bodyPr wrap="square" lIns="45720" rIns="45720" tIns="27432" bIns="27432" anchor="t">
            <a:spAutoFit/>
          </a:bodyPr>
          <a:lstStyle/>
          <a:p>
            <a:pPr algn="l">
              <a:spcAft>
                <a:spcPts val="600"/>
              </a:spcAft>
            </a:pPr>
            <a:r>
              <a:rPr sz="3200" b="1" i="0">
                <a:solidFill>
                  <a:srgbClr val="E97132"/>
                </a:solidFill>
              </a:rPr>
              <a:t>9 of 11</a:t>
            </a:r>
          </a:p>
        </p:txBody>
      </p:sp>
      <p:sp>
        <p:nvSpPr>
          <p:cNvPr id="12" name="stat small 1"/>
          <p:cNvSpPr txBox="1"/>
          <p:nvPr/>
        </p:nvSpPr>
        <p:spPr>
          <a:xfrm>
            <a:off x="8183879" y="3630168"/>
            <a:ext cx="3291840" cy="731520"/>
          </a:xfrm>
          <a:prstGeom prst="rect">
            <a:avLst/>
          </a:prstGeom>
          <a:noFill/>
        </p:spPr>
        <p:txBody>
          <a:bodyPr wrap="square" lIns="45720" rIns="45720" tIns="27432" bIns="27432" anchor="t">
            <a:spAutoFit/>
          </a:bodyPr>
          <a:lstStyle/>
          <a:p>
            <a:pPr algn="l">
              <a:spcAft>
                <a:spcPts val="600"/>
              </a:spcAft>
            </a:pPr>
            <a:r>
              <a:rPr sz="1400" b="0" i="0">
                <a:solidFill>
                  <a:srgbClr val="0E2841"/>
                </a:solidFill>
              </a:rPr>
              <a:t>exceptions are the </a:t>
            </a:r>
            <a:r>
              <a:rPr sz="1400" b="1" i="0">
                <a:solidFill>
                  <a:srgbClr val="0E2841"/>
                </a:solidFill>
              </a:rPr>
              <a:t>only genome of their phylum</a:t>
            </a:r>
            <a:r>
              <a:rPr sz="1400" b="0" i="0">
                <a:solidFill>
                  <a:srgbClr val="0E2841"/>
                </a:solidFill>
              </a:rPr>
              <a:t> in the sample: no neighbour to find</a:t>
            </a:r>
          </a:p>
        </p:txBody>
      </p:sp>
      <p:sp>
        <p:nvSpPr>
          <p:cNvPr id="13" name="heat bullets"/>
          <p:cNvSpPr txBox="1"/>
          <p:nvPr/>
        </p:nvSpPr>
        <p:spPr>
          <a:xfrm>
            <a:off x="8046720" y="4572000"/>
            <a:ext cx="3566160" cy="1691640"/>
          </a:xfrm>
          <a:prstGeom prst="rect">
            <a:avLst/>
          </a:prstGeom>
          <a:noFill/>
        </p:spPr>
        <p:txBody>
          <a:bodyPr wrap="square" lIns="45720" rIns="45720" tIns="27432" bIns="27432" anchor="t">
            <a:spAutoFit/>
          </a:bodyPr>
          <a:lstStyle/>
          <a:p>
            <a:pPr algn="l" marL="256032" indent="-256032">
              <a:spcAft>
                <a:spcPts val="500"/>
              </a:spcAft>
              <a:buFont typeface="Arial"/>
              <a:buChar char="•"/>
            </a:pPr>
            <a:r>
              <a:rPr sz="1400" b="0" i="0">
                <a:solidFill>
                  <a:srgbClr val="0E2841"/>
                </a:solidFill>
              </a:rPr>
              <a:t>Genomes sorted by </a:t>
            </a:r>
            <a:r>
              <a:rPr sz="1400" b="1" i="0">
                <a:solidFill>
                  <a:srgbClr val="0E2841"/>
                </a:solidFill>
              </a:rPr>
              <a:t>taxonomy</a:t>
            </a:r>
            <a:r>
              <a:rPr sz="1400" b="0" i="0">
                <a:solidFill>
                  <a:srgbClr val="0E2841"/>
                </a:solidFill>
              </a:rPr>
              <a:t>, not by similarity</a:t>
            </a:r>
          </a:p>
          <a:p>
            <a:pPr algn="l" marL="256032" indent="-256032">
              <a:spcAft>
                <a:spcPts val="500"/>
              </a:spcAft>
              <a:buFont typeface="Arial"/>
              <a:buChar char="•"/>
            </a:pPr>
            <a:r>
              <a:rPr sz="1400" b="0" i="0">
                <a:solidFill>
                  <a:srgbClr val="0E2841"/>
                </a:solidFill>
              </a:rPr>
              <a:t>Bright diagonal blocks = groups of alike genomes</a:t>
            </a:r>
          </a:p>
          <a:p>
            <a:pPr algn="l" marL="256032" indent="-256032">
              <a:spcAft>
                <a:spcPts val="500"/>
              </a:spcAft>
              <a:buFont typeface="Arial"/>
              <a:buChar char="•"/>
            </a:pPr>
            <a:r>
              <a:rPr sz="1400" b="0" i="0">
                <a:solidFill>
                  <a:srgbClr val="0E2841"/>
                </a:solidFill>
              </a:rPr>
              <a:t>→ the KO repertoire is a </a:t>
            </a:r>
            <a:r>
              <a:rPr sz="1400" b="1" i="0">
                <a:solidFill>
                  <a:srgbClr val="0E2841"/>
                </a:solidFill>
              </a:rPr>
              <a:t>fingerprint of ancestry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9509760" cy="777240"/>
          </a:xfrm>
        </p:spPr>
        <p:txBody>
          <a:bodyPr wrap="square" anchor="ctr"/>
          <a:lstStyle/>
          <a:p>
            <a:pPr algn="l"/>
            <a:r>
              <a:rPr sz="3000" b="1" i="0">
                <a:solidFill>
                  <a:srgbClr val="0E2841"/>
                </a:solidFill>
              </a:rPr>
              <a:t>Save the neighbours in the graph</a:t>
            </a:r>
          </a:p>
        </p:txBody>
      </p:sp>
      <p:sp>
        <p:nvSpPr>
          <p:cNvPr id="3" name="footer"/>
          <p:cNvSpPr txBox="1"/>
          <p:nvPr/>
        </p:nvSpPr>
        <p:spPr>
          <a:xfrm>
            <a:off x="548640" y="6455664"/>
            <a:ext cx="8686800" cy="274320"/>
          </a:xfrm>
          <a:prstGeom prst="rect">
            <a:avLst/>
          </a:prstGeom>
          <a:noFill/>
        </p:spPr>
        <p:txBody>
          <a:bodyPr wrap="square" lIns="45720" rIns="45720" tIns="27432" bIns="27432" anchor="t">
            <a:spAutoFit/>
          </a:bodyPr>
          <a:lstStyle/>
          <a:p>
            <a:pPr algn="l">
              <a:spcAft>
                <a:spcPts val="600"/>
              </a:spcAft>
            </a:pPr>
            <a:r>
              <a:rPr sz="1000" b="0" i="0">
                <a:solidFill>
                  <a:srgbClr val="595959"/>
                </a:solidFill>
              </a:rPr>
              <a:t>NoSQL Databases for Bioinformatics  ·  Lecture 27  ·  Neo4j genome workshop</a:t>
            </a:r>
          </a:p>
        </p:txBody>
      </p:sp>
      <p:sp>
        <p:nvSpPr>
          <p:cNvPr id="4" name="slide number"/>
          <p:cNvSpPr txBox="1"/>
          <p:nvPr/>
        </p:nvSpPr>
        <p:spPr>
          <a:xfrm>
            <a:off x="10698480" y="6455664"/>
            <a:ext cx="914400" cy="274320"/>
          </a:xfrm>
          <a:prstGeom prst="rect">
            <a:avLst/>
          </a:prstGeom>
          <a:noFill/>
        </p:spPr>
        <p:txBody>
          <a:bodyPr wrap="square" lIns="45720" rIns="45720" tIns="27432" bIns="27432" anchor="t">
            <a:spAutoFit/>
          </a:bodyPr>
          <a:lstStyle/>
          <a:p>
            <a:pPr algn="r">
              <a:spcAft>
                <a:spcPts val="600"/>
              </a:spcAft>
            </a:pPr>
            <a:fld id="{B6F15528-21DE-4FAA-801E-634DDDAF4B2B}" type="slidenum">
              <a:rPr lang="en-US" sz="1000">
                <a:solidFill>
                  <a:srgbClr val="595959"/>
                </a:solidFill>
              </a:rPr>
              <a:t>‹#›</a:t>
            </a:fld>
          </a:p>
        </p:txBody>
      </p:sp>
      <p:sp>
        <p:nvSpPr>
          <p:cNvPr id="5" name="step tag"/>
          <p:cNvSpPr/>
          <p:nvPr/>
        </p:nvSpPr>
        <p:spPr>
          <a:xfrm>
            <a:off x="10195560" y="411480"/>
            <a:ext cx="1417320" cy="329184"/>
          </a:xfrm>
          <a:prstGeom prst="roundRect">
            <a:avLst>
              <a:gd name="adj" fmla="val 50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QUERY 1</a:t>
            </a:r>
          </a:p>
        </p:txBody>
      </p:sp>
      <p:pic>
        <p:nvPicPr>
          <p:cNvPr id="6" name="knn graph" descr="knn_graph.png"/>
          <p:cNvPicPr>
            <a:picLocks noChangeAspect="1"/>
          </p:cNvPicPr>
          <p:nvPr/>
        </p:nvPicPr>
        <p:blipFill>
          <a:blip r:embed="rId3"/>
          <a:stretch>
            <a:fillRect/>
          </a:stretch>
        </p:blipFill>
        <p:spPr>
          <a:xfrm>
            <a:off x="548640" y="1788543"/>
            <a:ext cx="6949440" cy="4012433"/>
          </a:xfrm>
          <a:prstGeom prst="rect">
            <a:avLst/>
          </a:prstGeom>
        </p:spPr>
      </p:pic>
      <p:sp>
        <p:nvSpPr>
          <p:cNvPr id="7" name="knn code bg"/>
          <p:cNvSpPr/>
          <p:nvPr/>
        </p:nvSpPr>
        <p:spPr>
          <a:xfrm>
            <a:off x="7772400" y="1371600"/>
            <a:ext cx="3840480" cy="2926080"/>
          </a:xfrm>
          <a:prstGeom prst="roundRect">
            <a:avLst>
              <a:gd name="adj" fmla="val 1562"/>
            </a:avLst>
          </a:prstGeom>
          <a:solidFill>
            <a:srgbClr val="F4F6F8"/>
          </a:solidFill>
          <a:ln w="9525">
            <a:solidFill>
              <a:srgbClr val="C9D1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knn code"/>
          <p:cNvSpPr txBox="1"/>
          <p:nvPr/>
        </p:nvSpPr>
        <p:spPr>
          <a:xfrm>
            <a:off x="7863840" y="1435608"/>
            <a:ext cx="3657600" cy="2798064"/>
          </a:xfrm>
          <a:prstGeom prst="rect">
            <a:avLst/>
          </a:prstGeom>
          <a:noFill/>
        </p:spPr>
        <p:txBody>
          <a:bodyPr wrap="square" lIns="45720" rIns="45720" tIns="27432" bIns="27432" anchor="t">
            <a:spAutoFit/>
          </a:bodyPr>
          <a:lstStyle/>
          <a:p>
            <a:pPr algn="l">
              <a:spcAft>
                <a:spcPts val="0"/>
              </a:spcAft>
            </a:pPr>
            <a:r>
              <a:rPr sz="1100" b="0" i="0">
                <a:solidFill>
                  <a:srgbClr val="1F2937"/>
                </a:solidFill>
                <a:latin typeface="Courier New"/>
              </a:rPr>
              <a:t>... jaccard per pair (a, b) ...</a:t>
            </a:r>
          </a:p>
          <a:p>
            <a:pPr algn="l">
              <a:spcAft>
                <a:spcPts val="0"/>
              </a:spcAft>
            </a:pPr>
            <a:r>
              <a:rPr sz="1100" b="0" i="0">
                <a:solidFill>
                  <a:srgbClr val="1F2937"/>
                </a:solidFill>
                <a:latin typeface="Courier New"/>
              </a:rPr>
              <a:t>ORDER BY a.genome_id, jaccard DESC</a:t>
            </a:r>
          </a:p>
          <a:p>
            <a:pPr algn="l">
              <a:spcAft>
                <a:spcPts val="0"/>
              </a:spcAft>
            </a:pPr>
            <a:r>
              <a:rPr sz="1100" b="0" i="0">
                <a:solidFill>
                  <a:srgbClr val="1F2937"/>
                </a:solidFill>
                <a:latin typeface="Courier New"/>
              </a:rPr>
              <a:t>WITH a, collect({genome: b,</a:t>
            </a:r>
          </a:p>
          <a:p>
            <a:pPr algn="l">
              <a:spcAft>
                <a:spcPts val="0"/>
              </a:spcAft>
            </a:pPr>
            <a:r>
              <a:rPr sz="1100" b="0" i="0">
                <a:solidFill>
                  <a:srgbClr val="1F2937"/>
                </a:solidFill>
                <a:latin typeface="Courier New"/>
              </a:rPr>
              <a:t>      jaccard: jaccard})[0..3] AS top3</a:t>
            </a:r>
          </a:p>
          <a:p>
            <a:pPr algn="l">
              <a:spcAft>
                <a:spcPts val="0"/>
              </a:spcAft>
            </a:pPr>
            <a:r>
              <a:rPr sz="1100" b="0" i="0">
                <a:solidFill>
                  <a:srgbClr val="1F2937"/>
                </a:solidFill>
                <a:latin typeface="Courier New"/>
              </a:rPr>
              <a:t>UNWIND top3 AS nb</a:t>
            </a:r>
          </a:p>
          <a:p>
            <a:pPr algn="l">
              <a:spcAft>
                <a:spcPts val="0"/>
              </a:spcAft>
            </a:pPr>
            <a:r>
              <a:rPr sz="1100" b="0" i="0">
                <a:solidFill>
                  <a:srgbClr val="1F2937"/>
                </a:solidFill>
                <a:latin typeface="Courier New"/>
              </a:rPr>
              <a:t>MERGE (a)-[s:SIMILAR_TO]-&gt;(nb.genome)</a:t>
            </a:r>
          </a:p>
          <a:p>
            <a:pPr algn="l">
              <a:spcAft>
                <a:spcPts val="0"/>
              </a:spcAft>
            </a:pPr>
            <a:r>
              <a:rPr sz="1100" b="0" i="0">
                <a:solidFill>
                  <a:srgbClr val="1F2937"/>
                </a:solidFill>
                <a:latin typeface="Courier New"/>
              </a:rPr>
              <a:t>SET s.jaccard = round(nb.jaccard, 3)</a:t>
            </a:r>
          </a:p>
        </p:txBody>
      </p:sp>
      <p:sp>
        <p:nvSpPr>
          <p:cNvPr id="9" name="knn bullets"/>
          <p:cNvSpPr txBox="1"/>
          <p:nvPr/>
        </p:nvSpPr>
        <p:spPr>
          <a:xfrm>
            <a:off x="7772400" y="4480560"/>
            <a:ext cx="3840480" cy="1783080"/>
          </a:xfrm>
          <a:prstGeom prst="rect">
            <a:avLst/>
          </a:prstGeom>
          <a:noFill/>
        </p:spPr>
        <p:txBody>
          <a:bodyPr wrap="square" lIns="45720" rIns="45720" tIns="27432" bIns="27432" anchor="t">
            <a:spAutoFit/>
          </a:bodyPr>
          <a:lstStyle/>
          <a:p>
            <a:pPr algn="l" marL="256032" indent="-256032">
              <a:spcAft>
                <a:spcPts val="600"/>
              </a:spcAft>
              <a:buFont typeface="Arial"/>
              <a:buChar char="•"/>
            </a:pPr>
            <a:r>
              <a:rPr sz="1500" b="1" i="0">
                <a:solidFill>
                  <a:srgbClr val="0E2841"/>
                </a:solidFill>
              </a:rPr>
              <a:t>Materialise</a:t>
            </a:r>
            <a:r>
              <a:rPr sz="1500" b="0" i="0">
                <a:solidFill>
                  <a:srgbClr val="0E2841"/>
                </a:solidFill>
              </a:rPr>
              <a:t> results as relationships: later queries just </a:t>
            </a:r>
            <a:r>
              <a:rPr sz="1500" b="0" i="1">
                <a:solidFill>
                  <a:srgbClr val="0E2841"/>
                </a:solidFill>
              </a:rPr>
              <a:t>follow</a:t>
            </a:r>
            <a:r>
              <a:rPr sz="1500" b="0" i="0">
                <a:solidFill>
                  <a:srgbClr val="0E2841"/>
                </a:solidFill>
              </a:rPr>
              <a:t> them</a:t>
            </a:r>
          </a:p>
          <a:p>
            <a:pPr algn="l" marL="256032" indent="-256032">
              <a:spcAft>
                <a:spcPts val="600"/>
              </a:spcAft>
              <a:buFont typeface="Arial"/>
              <a:buChar char="•"/>
            </a:pPr>
            <a:r>
              <a:rPr sz="1500" b="0" i="0">
                <a:solidFill>
                  <a:srgbClr val="0E2841"/>
                </a:solidFill>
              </a:rPr>
              <a:t>195 </a:t>
            </a:r>
            <a:r>
              <a:rPr sz="1500" b="0" i="0">
                <a:solidFill>
                  <a:srgbClr val="156082"/>
                </a:solidFill>
                <a:latin typeface="Courier New"/>
              </a:rPr>
              <a:t>SIMILAR_TO</a:t>
            </a:r>
            <a:r>
              <a:rPr sz="1500" b="0" i="0">
                <a:solidFill>
                  <a:srgbClr val="0E2841"/>
                </a:solidFill>
              </a:rPr>
              <a:t> relationships (65 × 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9509760" cy="777240"/>
          </a:xfrm>
        </p:spPr>
        <p:txBody>
          <a:bodyPr wrap="square" anchor="ctr"/>
          <a:lstStyle/>
          <a:p>
            <a:pPr algn="l"/>
            <a:r>
              <a:rPr sz="3000" b="1" i="0">
                <a:solidFill>
                  <a:srgbClr val="0E2841"/>
                </a:solidFill>
              </a:rPr>
              <a:t>Query 2: the tree is nodes and CHILD_OF</a:t>
            </a:r>
          </a:p>
        </p:txBody>
      </p:sp>
      <p:sp>
        <p:nvSpPr>
          <p:cNvPr id="3" name="footer"/>
          <p:cNvSpPr txBox="1"/>
          <p:nvPr/>
        </p:nvSpPr>
        <p:spPr>
          <a:xfrm>
            <a:off x="548640" y="6455664"/>
            <a:ext cx="8686800" cy="274320"/>
          </a:xfrm>
          <a:prstGeom prst="rect">
            <a:avLst/>
          </a:prstGeom>
          <a:noFill/>
        </p:spPr>
        <p:txBody>
          <a:bodyPr wrap="square" lIns="45720" rIns="45720" tIns="27432" bIns="27432" anchor="t">
            <a:spAutoFit/>
          </a:bodyPr>
          <a:lstStyle/>
          <a:p>
            <a:pPr algn="l">
              <a:spcAft>
                <a:spcPts val="600"/>
              </a:spcAft>
            </a:pPr>
            <a:r>
              <a:rPr sz="1000" b="0" i="0">
                <a:solidFill>
                  <a:srgbClr val="595959"/>
                </a:solidFill>
              </a:rPr>
              <a:t>NoSQL Databases for Bioinformatics  ·  Lecture 27  ·  Neo4j genome workshop</a:t>
            </a:r>
          </a:p>
        </p:txBody>
      </p:sp>
      <p:sp>
        <p:nvSpPr>
          <p:cNvPr id="4" name="slide number"/>
          <p:cNvSpPr txBox="1"/>
          <p:nvPr/>
        </p:nvSpPr>
        <p:spPr>
          <a:xfrm>
            <a:off x="10698480" y="6455664"/>
            <a:ext cx="914400" cy="274320"/>
          </a:xfrm>
          <a:prstGeom prst="rect">
            <a:avLst/>
          </a:prstGeom>
          <a:noFill/>
        </p:spPr>
        <p:txBody>
          <a:bodyPr wrap="square" lIns="45720" rIns="45720" tIns="27432" bIns="27432" anchor="t">
            <a:spAutoFit/>
          </a:bodyPr>
          <a:lstStyle/>
          <a:p>
            <a:pPr algn="r">
              <a:spcAft>
                <a:spcPts val="600"/>
              </a:spcAft>
            </a:pPr>
            <a:fld id="{B6F15528-21DE-4FAA-801E-634DDDAF4B2B}" type="slidenum">
              <a:rPr lang="en-US" sz="1000">
                <a:solidFill>
                  <a:srgbClr val="595959"/>
                </a:solidFill>
              </a:rPr>
              <a:t>‹#›</a:t>
            </a:fld>
          </a:p>
        </p:txBody>
      </p:sp>
      <p:sp>
        <p:nvSpPr>
          <p:cNvPr id="5" name="step tag"/>
          <p:cNvSpPr/>
          <p:nvPr/>
        </p:nvSpPr>
        <p:spPr>
          <a:xfrm>
            <a:off x="10195560" y="411480"/>
            <a:ext cx="1417320" cy="329184"/>
          </a:xfrm>
          <a:prstGeom prst="roundRect">
            <a:avLst>
              <a:gd name="adj" fmla="val 50000"/>
            </a:avLst>
          </a:prstGeom>
          <a:solidFill>
            <a:srgbClr val="D413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QUERY 2</a:t>
            </a:r>
          </a:p>
        </p:txBody>
      </p:sp>
      <p:sp>
        <p:nvSpPr>
          <p:cNvPr id="6" name="node Genome  eco"/>
          <p:cNvSpPr/>
          <p:nvPr/>
        </p:nvSpPr>
        <p:spPr>
          <a:xfrm>
            <a:off x="2286000" y="5806440"/>
            <a:ext cx="2743200" cy="365760"/>
          </a:xfrm>
          <a:prstGeom prst="roundRect">
            <a:avLst>
              <a:gd name="adj" fmla="val 3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FFFFFF"/>
                </a:solidFill>
              </a:rPr>
              <a:t>Genome  eco</a:t>
            </a:r>
          </a:p>
        </p:txBody>
      </p:sp>
      <p:sp>
        <p:nvSpPr>
          <p:cNvPr id="7" name="rank label"/>
          <p:cNvSpPr txBox="1"/>
          <p:nvPr/>
        </p:nvSpPr>
        <p:spPr>
          <a:xfrm>
            <a:off x="548640" y="5806440"/>
            <a:ext cx="1463040" cy="365760"/>
          </a:xfrm>
          <a:prstGeom prst="rect">
            <a:avLst/>
          </a:prstGeom>
          <a:noFill/>
        </p:spPr>
        <p:txBody>
          <a:bodyPr wrap="square" lIns="45720" rIns="45720" tIns="27432" bIns="27432" anchor="t">
            <a:spAutoFit/>
          </a:bodyPr>
          <a:lstStyle/>
          <a:p>
            <a:pPr algn="r">
              <a:spcAft>
                <a:spcPts val="600"/>
              </a:spcAft>
            </a:pPr>
            <a:r>
              <a:rPr sz="1300" b="0" i="0">
                <a:solidFill>
                  <a:srgbClr val="595959"/>
                </a:solidFill>
              </a:rPr>
              <a:t>genome</a:t>
            </a:r>
          </a:p>
        </p:txBody>
      </p:sp>
      <p:sp>
        <p:nvSpPr>
          <p:cNvPr id="8" name="node Escherichia coli"/>
          <p:cNvSpPr/>
          <p:nvPr/>
        </p:nvSpPr>
        <p:spPr>
          <a:xfrm>
            <a:off x="2286000" y="5257800"/>
            <a:ext cx="2743200" cy="365760"/>
          </a:xfrm>
          <a:prstGeom prst="roundRect">
            <a:avLst>
              <a:gd name="adj" fmla="val 30000"/>
            </a:avLst>
          </a:prstGeom>
          <a:solidFill>
            <a:srgbClr val="2E8B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FFFFFF"/>
                </a:solidFill>
              </a:rPr>
              <a:t>Escherichia coli</a:t>
            </a:r>
          </a:p>
        </p:txBody>
      </p:sp>
      <p:sp>
        <p:nvSpPr>
          <p:cNvPr id="9" name="rank label"/>
          <p:cNvSpPr txBox="1"/>
          <p:nvPr/>
        </p:nvSpPr>
        <p:spPr>
          <a:xfrm>
            <a:off x="548640" y="5257800"/>
            <a:ext cx="1463040" cy="365760"/>
          </a:xfrm>
          <a:prstGeom prst="rect">
            <a:avLst/>
          </a:prstGeom>
          <a:noFill/>
        </p:spPr>
        <p:txBody>
          <a:bodyPr wrap="square" lIns="45720" rIns="45720" tIns="27432" bIns="27432" anchor="t">
            <a:spAutoFit/>
          </a:bodyPr>
          <a:lstStyle/>
          <a:p>
            <a:pPr algn="r">
              <a:spcAft>
                <a:spcPts val="600"/>
              </a:spcAft>
            </a:pPr>
            <a:r>
              <a:rPr sz="1300" b="0" i="0">
                <a:solidFill>
                  <a:srgbClr val="595959"/>
                </a:solidFill>
              </a:rPr>
              <a:t>species</a:t>
            </a:r>
          </a:p>
        </p:txBody>
      </p:sp>
      <p:sp>
        <p:nvSpPr>
          <p:cNvPr id="10" name="node Escherichia"/>
          <p:cNvSpPr/>
          <p:nvPr/>
        </p:nvSpPr>
        <p:spPr>
          <a:xfrm>
            <a:off x="2286000" y="4709159"/>
            <a:ext cx="2743200" cy="365760"/>
          </a:xfrm>
          <a:prstGeom prst="roundRect">
            <a:avLst>
              <a:gd name="adj" fmla="val 30000"/>
            </a:avLst>
          </a:prstGeom>
          <a:solidFill>
            <a:srgbClr val="2E8B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FFFFFF"/>
                </a:solidFill>
              </a:rPr>
              <a:t>Escherichia</a:t>
            </a:r>
          </a:p>
        </p:txBody>
      </p:sp>
      <p:sp>
        <p:nvSpPr>
          <p:cNvPr id="11" name="rank label"/>
          <p:cNvSpPr txBox="1"/>
          <p:nvPr/>
        </p:nvSpPr>
        <p:spPr>
          <a:xfrm>
            <a:off x="548640" y="4709159"/>
            <a:ext cx="1463040" cy="365760"/>
          </a:xfrm>
          <a:prstGeom prst="rect">
            <a:avLst/>
          </a:prstGeom>
          <a:noFill/>
        </p:spPr>
        <p:txBody>
          <a:bodyPr wrap="square" lIns="45720" rIns="45720" tIns="27432" bIns="27432" anchor="t">
            <a:spAutoFit/>
          </a:bodyPr>
          <a:lstStyle/>
          <a:p>
            <a:pPr algn="r">
              <a:spcAft>
                <a:spcPts val="600"/>
              </a:spcAft>
            </a:pPr>
            <a:r>
              <a:rPr sz="1300" b="0" i="0">
                <a:solidFill>
                  <a:srgbClr val="595959"/>
                </a:solidFill>
              </a:rPr>
              <a:t>genus</a:t>
            </a:r>
          </a:p>
        </p:txBody>
      </p:sp>
      <p:sp>
        <p:nvSpPr>
          <p:cNvPr id="12" name="node Enterobacteriaceae"/>
          <p:cNvSpPr/>
          <p:nvPr/>
        </p:nvSpPr>
        <p:spPr>
          <a:xfrm>
            <a:off x="2286000" y="4160520"/>
            <a:ext cx="2743200" cy="365760"/>
          </a:xfrm>
          <a:prstGeom prst="roundRect">
            <a:avLst>
              <a:gd name="adj" fmla="val 30000"/>
            </a:avLst>
          </a:prstGeom>
          <a:solidFill>
            <a:srgbClr val="2E8B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FFFFFF"/>
                </a:solidFill>
              </a:rPr>
              <a:t>Enterobacteriaceae</a:t>
            </a:r>
          </a:p>
        </p:txBody>
      </p:sp>
      <p:sp>
        <p:nvSpPr>
          <p:cNvPr id="13" name="rank label"/>
          <p:cNvSpPr txBox="1"/>
          <p:nvPr/>
        </p:nvSpPr>
        <p:spPr>
          <a:xfrm>
            <a:off x="548640" y="4160520"/>
            <a:ext cx="1463040" cy="365760"/>
          </a:xfrm>
          <a:prstGeom prst="rect">
            <a:avLst/>
          </a:prstGeom>
          <a:noFill/>
        </p:spPr>
        <p:txBody>
          <a:bodyPr wrap="square" lIns="45720" rIns="45720" tIns="27432" bIns="27432" anchor="t">
            <a:spAutoFit/>
          </a:bodyPr>
          <a:lstStyle/>
          <a:p>
            <a:pPr algn="r">
              <a:spcAft>
                <a:spcPts val="600"/>
              </a:spcAft>
            </a:pPr>
            <a:r>
              <a:rPr sz="1300" b="0" i="0">
                <a:solidFill>
                  <a:srgbClr val="595959"/>
                </a:solidFill>
              </a:rPr>
              <a:t>family</a:t>
            </a:r>
          </a:p>
        </p:txBody>
      </p:sp>
      <p:sp>
        <p:nvSpPr>
          <p:cNvPr id="14" name="node Enterobacterales"/>
          <p:cNvSpPr/>
          <p:nvPr/>
        </p:nvSpPr>
        <p:spPr>
          <a:xfrm>
            <a:off x="2286000" y="3611880"/>
            <a:ext cx="2743200" cy="365760"/>
          </a:xfrm>
          <a:prstGeom prst="roundRect">
            <a:avLst>
              <a:gd name="adj" fmla="val 30000"/>
            </a:avLst>
          </a:prstGeom>
          <a:solidFill>
            <a:srgbClr val="2E8B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FFFFFF"/>
                </a:solidFill>
              </a:rPr>
              <a:t>Enterobacterales</a:t>
            </a:r>
          </a:p>
        </p:txBody>
      </p:sp>
      <p:sp>
        <p:nvSpPr>
          <p:cNvPr id="15" name="rank label"/>
          <p:cNvSpPr txBox="1"/>
          <p:nvPr/>
        </p:nvSpPr>
        <p:spPr>
          <a:xfrm>
            <a:off x="548640" y="3611880"/>
            <a:ext cx="1463040" cy="365760"/>
          </a:xfrm>
          <a:prstGeom prst="rect">
            <a:avLst/>
          </a:prstGeom>
          <a:noFill/>
        </p:spPr>
        <p:txBody>
          <a:bodyPr wrap="square" lIns="45720" rIns="45720" tIns="27432" bIns="27432" anchor="t">
            <a:spAutoFit/>
          </a:bodyPr>
          <a:lstStyle/>
          <a:p>
            <a:pPr algn="r">
              <a:spcAft>
                <a:spcPts val="600"/>
              </a:spcAft>
            </a:pPr>
            <a:r>
              <a:rPr sz="1300" b="0" i="0">
                <a:solidFill>
                  <a:srgbClr val="595959"/>
                </a:solidFill>
              </a:rPr>
              <a:t>order</a:t>
            </a:r>
          </a:p>
        </p:txBody>
      </p:sp>
      <p:sp>
        <p:nvSpPr>
          <p:cNvPr id="16" name="node Gammaproteobacteri"/>
          <p:cNvSpPr/>
          <p:nvPr/>
        </p:nvSpPr>
        <p:spPr>
          <a:xfrm>
            <a:off x="2286000" y="3063239"/>
            <a:ext cx="2743200" cy="365760"/>
          </a:xfrm>
          <a:prstGeom prst="roundRect">
            <a:avLst>
              <a:gd name="adj" fmla="val 30000"/>
            </a:avLst>
          </a:prstGeom>
          <a:solidFill>
            <a:srgbClr val="2E8B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FFFFFF"/>
                </a:solidFill>
              </a:rPr>
              <a:t>Gammaproteobacteria</a:t>
            </a:r>
          </a:p>
        </p:txBody>
      </p:sp>
      <p:sp>
        <p:nvSpPr>
          <p:cNvPr id="17" name="rank label"/>
          <p:cNvSpPr txBox="1"/>
          <p:nvPr/>
        </p:nvSpPr>
        <p:spPr>
          <a:xfrm>
            <a:off x="548640" y="3063239"/>
            <a:ext cx="1463040" cy="365760"/>
          </a:xfrm>
          <a:prstGeom prst="rect">
            <a:avLst/>
          </a:prstGeom>
          <a:noFill/>
        </p:spPr>
        <p:txBody>
          <a:bodyPr wrap="square" lIns="45720" rIns="45720" tIns="27432" bIns="27432" anchor="t">
            <a:spAutoFit/>
          </a:bodyPr>
          <a:lstStyle/>
          <a:p>
            <a:pPr algn="r">
              <a:spcAft>
                <a:spcPts val="600"/>
              </a:spcAft>
            </a:pPr>
            <a:r>
              <a:rPr sz="1300" b="0" i="0">
                <a:solidFill>
                  <a:srgbClr val="595959"/>
                </a:solidFill>
              </a:rPr>
              <a:t>class</a:t>
            </a:r>
          </a:p>
        </p:txBody>
      </p:sp>
      <p:sp>
        <p:nvSpPr>
          <p:cNvPr id="18" name="node Pseudomonadota"/>
          <p:cNvSpPr/>
          <p:nvPr/>
        </p:nvSpPr>
        <p:spPr>
          <a:xfrm>
            <a:off x="2286000" y="2514600"/>
            <a:ext cx="2743200" cy="365760"/>
          </a:xfrm>
          <a:prstGeom prst="roundRect">
            <a:avLst>
              <a:gd name="adj" fmla="val 30000"/>
            </a:avLst>
          </a:prstGeom>
          <a:solidFill>
            <a:srgbClr val="2E8B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FFFFFF"/>
                </a:solidFill>
              </a:rPr>
              <a:t>Pseudomonadota</a:t>
            </a:r>
          </a:p>
        </p:txBody>
      </p:sp>
      <p:sp>
        <p:nvSpPr>
          <p:cNvPr id="19" name="rank label"/>
          <p:cNvSpPr txBox="1"/>
          <p:nvPr/>
        </p:nvSpPr>
        <p:spPr>
          <a:xfrm>
            <a:off x="548640" y="2514600"/>
            <a:ext cx="1463040" cy="365760"/>
          </a:xfrm>
          <a:prstGeom prst="rect">
            <a:avLst/>
          </a:prstGeom>
          <a:noFill/>
        </p:spPr>
        <p:txBody>
          <a:bodyPr wrap="square" lIns="45720" rIns="45720" tIns="27432" bIns="27432" anchor="t">
            <a:spAutoFit/>
          </a:bodyPr>
          <a:lstStyle/>
          <a:p>
            <a:pPr algn="r">
              <a:spcAft>
                <a:spcPts val="600"/>
              </a:spcAft>
            </a:pPr>
            <a:r>
              <a:rPr sz="1300" b="0" i="0">
                <a:solidFill>
                  <a:srgbClr val="595959"/>
                </a:solidFill>
              </a:rPr>
              <a:t>phylum</a:t>
            </a:r>
          </a:p>
        </p:txBody>
      </p:sp>
      <p:sp>
        <p:nvSpPr>
          <p:cNvPr id="20" name="node Bacteria"/>
          <p:cNvSpPr/>
          <p:nvPr/>
        </p:nvSpPr>
        <p:spPr>
          <a:xfrm>
            <a:off x="2286000" y="1965959"/>
            <a:ext cx="2743200" cy="365760"/>
          </a:xfrm>
          <a:prstGeom prst="roundRect">
            <a:avLst>
              <a:gd name="adj" fmla="val 30000"/>
            </a:avLst>
          </a:prstGeom>
          <a:solidFill>
            <a:srgbClr val="2E8B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FFFFFF"/>
                </a:solidFill>
              </a:rPr>
              <a:t>Bacteria</a:t>
            </a:r>
          </a:p>
        </p:txBody>
      </p:sp>
      <p:sp>
        <p:nvSpPr>
          <p:cNvPr id="21" name="rank label"/>
          <p:cNvSpPr txBox="1"/>
          <p:nvPr/>
        </p:nvSpPr>
        <p:spPr>
          <a:xfrm>
            <a:off x="548640" y="1965959"/>
            <a:ext cx="1463040" cy="365760"/>
          </a:xfrm>
          <a:prstGeom prst="rect">
            <a:avLst/>
          </a:prstGeom>
          <a:noFill/>
        </p:spPr>
        <p:txBody>
          <a:bodyPr wrap="square" lIns="45720" rIns="45720" tIns="27432" bIns="27432" anchor="t">
            <a:spAutoFit/>
          </a:bodyPr>
          <a:lstStyle/>
          <a:p>
            <a:pPr algn="r">
              <a:spcAft>
                <a:spcPts val="600"/>
              </a:spcAft>
            </a:pPr>
            <a:r>
              <a:rPr sz="1300" b="0" i="0">
                <a:solidFill>
                  <a:srgbClr val="595959"/>
                </a:solidFill>
              </a:rPr>
              <a:t>domain</a:t>
            </a:r>
          </a:p>
        </p:txBody>
      </p:sp>
      <p:sp>
        <p:nvSpPr>
          <p:cNvPr id="22" name="node cellular organisms"/>
          <p:cNvSpPr/>
          <p:nvPr/>
        </p:nvSpPr>
        <p:spPr>
          <a:xfrm>
            <a:off x="2286000" y="1417320"/>
            <a:ext cx="2743200" cy="365760"/>
          </a:xfrm>
          <a:prstGeom prst="roundRect">
            <a:avLst>
              <a:gd name="adj" fmla="val 30000"/>
            </a:avLst>
          </a:prstGeom>
          <a:solidFill>
            <a:srgbClr val="2E8B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i="0">
                <a:solidFill>
                  <a:srgbClr val="FFFFFF"/>
                </a:solidFill>
              </a:rPr>
              <a:t>cellular organisms</a:t>
            </a:r>
          </a:p>
        </p:txBody>
      </p:sp>
      <p:sp>
        <p:nvSpPr>
          <p:cNvPr id="23" name="rank label"/>
          <p:cNvSpPr txBox="1"/>
          <p:nvPr/>
        </p:nvSpPr>
        <p:spPr>
          <a:xfrm>
            <a:off x="548640" y="1417320"/>
            <a:ext cx="1463040" cy="365760"/>
          </a:xfrm>
          <a:prstGeom prst="rect">
            <a:avLst/>
          </a:prstGeom>
          <a:noFill/>
        </p:spPr>
        <p:txBody>
          <a:bodyPr wrap="square" lIns="45720" rIns="45720" tIns="27432" bIns="27432" anchor="t">
            <a:spAutoFit/>
          </a:bodyPr>
          <a:lstStyle/>
          <a:p>
            <a:pPr algn="r">
              <a:spcAft>
                <a:spcPts val="600"/>
              </a:spcAft>
            </a:pPr>
            <a:r>
              <a:rPr sz="1300" b="0" i="0">
                <a:solidFill>
                  <a:srgbClr val="595959"/>
                </a:solidFill>
              </a:rPr>
              <a:t>root</a:t>
            </a:r>
          </a:p>
        </p:txBody>
      </p:sp>
      <p:cxnSp>
        <p:nvCxnSpPr>
          <p:cNvPr id="24" name="edge"/>
          <p:cNvCxnSpPr/>
          <p:nvPr/>
        </p:nvCxnSpPr>
        <p:spPr>
          <a:xfrm flipV="1">
            <a:off x="3657600" y="5623560"/>
            <a:ext cx="0" cy="182880"/>
          </a:xfrm>
          <a:prstGeom prst="line">
            <a:avLst/>
          </a:prstGeom>
          <a:ln w="25400">
            <a:solidFill>
              <a:srgbClr val="595959"/>
            </a:solidFill>
            <a:tailEnd type="triangle"/>
          </a:ln>
        </p:spPr>
        <p:style>
          <a:lnRef idx="2">
            <a:schemeClr val="accent1"/>
          </a:lnRef>
          <a:fillRef idx="0">
            <a:schemeClr val="accent1"/>
          </a:fillRef>
          <a:effectRef idx="1">
            <a:schemeClr val="accent1"/>
          </a:effectRef>
          <a:fontRef idx="minor">
            <a:schemeClr val="tx1"/>
          </a:fontRef>
        </p:style>
      </p:cxnSp>
      <p:cxnSp>
        <p:nvCxnSpPr>
          <p:cNvPr id="25" name="edge"/>
          <p:cNvCxnSpPr/>
          <p:nvPr/>
        </p:nvCxnSpPr>
        <p:spPr>
          <a:xfrm flipV="1">
            <a:off x="3657600" y="5074920"/>
            <a:ext cx="0" cy="182880"/>
          </a:xfrm>
          <a:prstGeom prst="line">
            <a:avLst/>
          </a:prstGeom>
          <a:ln w="25400">
            <a:solidFill>
              <a:srgbClr val="595959"/>
            </a:solidFill>
            <a:tailEnd type="triangle"/>
          </a:ln>
        </p:spPr>
        <p:style>
          <a:lnRef idx="2">
            <a:schemeClr val="accent1"/>
          </a:lnRef>
          <a:fillRef idx="0">
            <a:schemeClr val="accent1"/>
          </a:fillRef>
          <a:effectRef idx="1">
            <a:schemeClr val="accent1"/>
          </a:effectRef>
          <a:fontRef idx="minor">
            <a:schemeClr val="tx1"/>
          </a:fontRef>
        </p:style>
      </p:cxnSp>
      <p:cxnSp>
        <p:nvCxnSpPr>
          <p:cNvPr id="26" name="edge"/>
          <p:cNvCxnSpPr/>
          <p:nvPr/>
        </p:nvCxnSpPr>
        <p:spPr>
          <a:xfrm flipV="1">
            <a:off x="3657600" y="4526280"/>
            <a:ext cx="0" cy="182879"/>
          </a:xfrm>
          <a:prstGeom prst="line">
            <a:avLst/>
          </a:prstGeom>
          <a:ln w="25400">
            <a:solidFill>
              <a:srgbClr val="595959"/>
            </a:solidFill>
            <a:tailEnd type="triangle"/>
          </a:ln>
        </p:spPr>
        <p:style>
          <a:lnRef idx="2">
            <a:schemeClr val="accent1"/>
          </a:lnRef>
          <a:fillRef idx="0">
            <a:schemeClr val="accent1"/>
          </a:fillRef>
          <a:effectRef idx="1">
            <a:schemeClr val="accent1"/>
          </a:effectRef>
          <a:fontRef idx="minor">
            <a:schemeClr val="tx1"/>
          </a:fontRef>
        </p:style>
      </p:cxnSp>
      <p:cxnSp>
        <p:nvCxnSpPr>
          <p:cNvPr id="27" name="edge"/>
          <p:cNvCxnSpPr/>
          <p:nvPr/>
        </p:nvCxnSpPr>
        <p:spPr>
          <a:xfrm flipV="1">
            <a:off x="3657600" y="3977640"/>
            <a:ext cx="0" cy="182880"/>
          </a:xfrm>
          <a:prstGeom prst="line">
            <a:avLst/>
          </a:prstGeom>
          <a:ln w="25400">
            <a:solidFill>
              <a:srgbClr val="595959"/>
            </a:solidFill>
            <a:tailEnd type="triangle"/>
          </a:ln>
        </p:spPr>
        <p:style>
          <a:lnRef idx="2">
            <a:schemeClr val="accent1"/>
          </a:lnRef>
          <a:fillRef idx="0">
            <a:schemeClr val="accent1"/>
          </a:fillRef>
          <a:effectRef idx="1">
            <a:schemeClr val="accent1"/>
          </a:effectRef>
          <a:fontRef idx="minor">
            <a:schemeClr val="tx1"/>
          </a:fontRef>
        </p:style>
      </p:cxnSp>
      <p:cxnSp>
        <p:nvCxnSpPr>
          <p:cNvPr id="28" name="edge"/>
          <p:cNvCxnSpPr/>
          <p:nvPr/>
        </p:nvCxnSpPr>
        <p:spPr>
          <a:xfrm flipV="1">
            <a:off x="3657600" y="3429000"/>
            <a:ext cx="0" cy="182880"/>
          </a:xfrm>
          <a:prstGeom prst="line">
            <a:avLst/>
          </a:prstGeom>
          <a:ln w="25400">
            <a:solidFill>
              <a:srgbClr val="595959"/>
            </a:solidFill>
            <a:tailEnd type="triangle"/>
          </a:ln>
        </p:spPr>
        <p:style>
          <a:lnRef idx="2">
            <a:schemeClr val="accent1"/>
          </a:lnRef>
          <a:fillRef idx="0">
            <a:schemeClr val="accent1"/>
          </a:fillRef>
          <a:effectRef idx="1">
            <a:schemeClr val="accent1"/>
          </a:effectRef>
          <a:fontRef idx="minor">
            <a:schemeClr val="tx1"/>
          </a:fontRef>
        </p:style>
      </p:cxnSp>
      <p:cxnSp>
        <p:nvCxnSpPr>
          <p:cNvPr id="29" name="edge"/>
          <p:cNvCxnSpPr/>
          <p:nvPr/>
        </p:nvCxnSpPr>
        <p:spPr>
          <a:xfrm flipV="1">
            <a:off x="3657600" y="2880360"/>
            <a:ext cx="0" cy="182879"/>
          </a:xfrm>
          <a:prstGeom prst="line">
            <a:avLst/>
          </a:prstGeom>
          <a:ln w="25400">
            <a:solidFill>
              <a:srgbClr val="595959"/>
            </a:solidFill>
            <a:tailEnd type="triangle"/>
          </a:ln>
        </p:spPr>
        <p:style>
          <a:lnRef idx="2">
            <a:schemeClr val="accent1"/>
          </a:lnRef>
          <a:fillRef idx="0">
            <a:schemeClr val="accent1"/>
          </a:fillRef>
          <a:effectRef idx="1">
            <a:schemeClr val="accent1"/>
          </a:effectRef>
          <a:fontRef idx="minor">
            <a:schemeClr val="tx1"/>
          </a:fontRef>
        </p:style>
      </p:cxnSp>
      <p:cxnSp>
        <p:nvCxnSpPr>
          <p:cNvPr id="30" name="edge"/>
          <p:cNvCxnSpPr/>
          <p:nvPr/>
        </p:nvCxnSpPr>
        <p:spPr>
          <a:xfrm flipV="1">
            <a:off x="3657600" y="2331720"/>
            <a:ext cx="0" cy="182880"/>
          </a:xfrm>
          <a:prstGeom prst="line">
            <a:avLst/>
          </a:prstGeom>
          <a:ln w="25400">
            <a:solidFill>
              <a:srgbClr val="595959"/>
            </a:solidFill>
            <a:tailEnd type="triangle"/>
          </a:ln>
        </p:spPr>
        <p:style>
          <a:lnRef idx="2">
            <a:schemeClr val="accent1"/>
          </a:lnRef>
          <a:fillRef idx="0">
            <a:schemeClr val="accent1"/>
          </a:fillRef>
          <a:effectRef idx="1">
            <a:schemeClr val="accent1"/>
          </a:effectRef>
          <a:fontRef idx="minor">
            <a:schemeClr val="tx1"/>
          </a:fontRef>
        </p:style>
      </p:cxnSp>
      <p:cxnSp>
        <p:nvCxnSpPr>
          <p:cNvPr id="31" name="edge"/>
          <p:cNvCxnSpPr/>
          <p:nvPr/>
        </p:nvCxnSpPr>
        <p:spPr>
          <a:xfrm flipV="1">
            <a:off x="3657600" y="1783080"/>
            <a:ext cx="0" cy="182879"/>
          </a:xfrm>
          <a:prstGeom prst="line">
            <a:avLst/>
          </a:prstGeom>
          <a:ln w="25400">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32" name="tag1"/>
          <p:cNvSpPr txBox="1"/>
          <p:nvPr/>
        </p:nvSpPr>
        <p:spPr>
          <a:xfrm>
            <a:off x="5120640" y="5577840"/>
            <a:ext cx="1371600" cy="274320"/>
          </a:xfrm>
          <a:prstGeom prst="rect">
            <a:avLst/>
          </a:prstGeom>
          <a:noFill/>
        </p:spPr>
        <p:txBody>
          <a:bodyPr wrap="square" lIns="45720" rIns="45720" tIns="27432" bIns="27432" anchor="t">
            <a:spAutoFit/>
          </a:bodyPr>
          <a:lstStyle/>
          <a:p>
            <a:pPr algn="l">
              <a:spcAft>
                <a:spcPts val="600"/>
              </a:spcAft>
            </a:pPr>
            <a:r>
              <a:rPr sz="1100" b="0" i="0">
                <a:solidFill>
                  <a:srgbClr val="595959"/>
                </a:solidFill>
                <a:latin typeface="Courier New"/>
              </a:rPr>
              <a:t>CLASSIFIED_AS</a:t>
            </a:r>
          </a:p>
        </p:txBody>
      </p:sp>
      <p:sp>
        <p:nvSpPr>
          <p:cNvPr id="33" name="tag2"/>
          <p:cNvSpPr txBox="1"/>
          <p:nvPr/>
        </p:nvSpPr>
        <p:spPr>
          <a:xfrm>
            <a:off x="5120640" y="5029200"/>
            <a:ext cx="1371600" cy="274320"/>
          </a:xfrm>
          <a:prstGeom prst="rect">
            <a:avLst/>
          </a:prstGeom>
          <a:noFill/>
        </p:spPr>
        <p:txBody>
          <a:bodyPr wrap="square" lIns="45720" rIns="45720" tIns="27432" bIns="27432" anchor="t">
            <a:spAutoFit/>
          </a:bodyPr>
          <a:lstStyle/>
          <a:p>
            <a:pPr algn="l">
              <a:spcAft>
                <a:spcPts val="600"/>
              </a:spcAft>
            </a:pPr>
            <a:r>
              <a:rPr sz="1100" b="0" i="0">
                <a:solidFill>
                  <a:srgbClr val="595959"/>
                </a:solidFill>
                <a:latin typeface="Courier New"/>
              </a:rPr>
              <a:t>CHILD_OF</a:t>
            </a:r>
            <a:r>
              <a:rPr sz="1100" b="0" i="0">
                <a:solidFill>
                  <a:srgbClr val="595959"/>
                </a:solidFill>
              </a:rPr>
              <a:t> ×7</a:t>
            </a:r>
          </a:p>
        </p:txBody>
      </p:sp>
      <p:sp>
        <p:nvSpPr>
          <p:cNvPr id="34" name="vl head"/>
          <p:cNvSpPr txBox="1"/>
          <p:nvPr/>
        </p:nvSpPr>
        <p:spPr>
          <a:xfrm>
            <a:off x="6583680" y="1325880"/>
            <a:ext cx="5029200" cy="365760"/>
          </a:xfrm>
          <a:prstGeom prst="rect">
            <a:avLst/>
          </a:prstGeom>
          <a:noFill/>
        </p:spPr>
        <p:txBody>
          <a:bodyPr wrap="square" lIns="45720" rIns="45720" tIns="27432" bIns="27432" anchor="t">
            <a:spAutoFit/>
          </a:bodyPr>
          <a:lstStyle/>
          <a:p>
            <a:pPr algn="l">
              <a:spcAft>
                <a:spcPts val="600"/>
              </a:spcAft>
            </a:pPr>
            <a:r>
              <a:rPr sz="1800" b="1" i="0">
                <a:solidFill>
                  <a:srgbClr val="0E2841"/>
                </a:solidFill>
              </a:rPr>
              <a:t>Variable-length patterns</a:t>
            </a:r>
          </a:p>
        </p:txBody>
      </p:sp>
      <p:graphicFrame>
        <p:nvGraphicFramePr>
          <p:cNvPr id="35" name="vl table"/>
          <p:cNvGraphicFramePr>
            <a:graphicFrameLocks noGrp="1"/>
          </p:cNvGraphicFramePr>
          <p:nvPr/>
        </p:nvGraphicFramePr>
        <p:xfrm>
          <a:off x="6583680" y="1783080"/>
          <a:ext cx="5029200" cy="2484120"/>
        </p:xfrm>
        <a:graphic>
          <a:graphicData uri="http://schemas.openxmlformats.org/drawingml/2006/table">
            <a:tbl>
              <a:tblPr firstRow="0" bandRow="0">
                <a:tableStyleId>{5C22544A-7EE6-4342-B048-85BDC9FD1C3A}</a:tableStyleId>
              </a:tblPr>
              <a:tblGrid>
                <a:gridCol w="2331720"/>
                <a:gridCol w="2697480"/>
              </a:tblGrid>
              <a:tr h="411480">
                <a:tc>
                  <a:txBody>
                    <a:bodyPr wrap="square"/>
                    <a:lstStyle/>
                    <a:p>
                      <a:r>
                        <a:rPr sz="1300" b="1" i="0">
                          <a:solidFill>
                            <a:srgbClr val="FFFFFF"/>
                          </a:solidFill>
                        </a:rPr>
                        <a:t>pattern</a:t>
                      </a:r>
                    </a:p>
                  </a:txBody>
                  <a:tcPr marL="73152" marR="73152" marT="36576" marB="36576" anchor="ctr">
                    <a:solidFill>
                      <a:srgbClr val="0E2841"/>
                    </a:solidFill>
                  </a:tcPr>
                </a:tc>
                <a:tc>
                  <a:txBody>
                    <a:bodyPr wrap="square"/>
                    <a:lstStyle/>
                    <a:p>
                      <a:r>
                        <a:rPr sz="1300" b="1" i="0">
                          <a:solidFill>
                            <a:srgbClr val="FFFFFF"/>
                          </a:solidFill>
                        </a:rPr>
                        <a:t>follows </a:t>
                      </a:r>
                      <a:r>
                        <a:rPr sz="1300" b="1" i="0">
                          <a:solidFill>
                            <a:srgbClr val="FFFFFF"/>
                          </a:solidFill>
                          <a:latin typeface="Courier New"/>
                        </a:rPr>
                        <a:t>CHILD_OF</a:t>
                      </a:r>
                      <a:r>
                        <a:rPr sz="1300" b="1" i="0">
                          <a:solidFill>
                            <a:srgbClr val="FFFFFF"/>
                          </a:solidFill>
                        </a:rPr>
                        <a:t> …</a:t>
                      </a:r>
                    </a:p>
                  </a:txBody>
                  <a:tcPr marL="73152" marR="73152" marT="36576" marB="36576" anchor="ctr">
                    <a:solidFill>
                      <a:srgbClr val="0E2841"/>
                    </a:solidFill>
                  </a:tcPr>
                </a:tc>
              </a:tr>
              <a:tr h="365760">
                <a:tc>
                  <a:txBody>
                    <a:bodyPr wrap="square"/>
                    <a:lstStyle/>
                    <a:p>
                      <a:r>
                        <a:rPr sz="1300" b="0" i="0">
                          <a:solidFill>
                            <a:srgbClr val="156082"/>
                          </a:solidFill>
                          <a:latin typeface="Courier New"/>
                        </a:rPr>
                        <a:t>-[:CHILD_OF]-&gt;</a:t>
                      </a:r>
                    </a:p>
                  </a:txBody>
                  <a:tcPr marL="73152" marR="73152" marT="36576" marB="36576" anchor="ctr">
                    <a:solidFill>
                      <a:srgbClr val="FFFFFF"/>
                    </a:solidFill>
                  </a:tcPr>
                </a:tc>
                <a:tc>
                  <a:txBody>
                    <a:bodyPr wrap="square"/>
                    <a:lstStyle/>
                    <a:p>
                      <a:r>
                        <a:rPr sz="1300" b="0" i="0">
                          <a:solidFill>
                            <a:srgbClr val="0E2841"/>
                          </a:solidFill>
                        </a:rPr>
                        <a:t>exactly once (the parent)</a:t>
                      </a:r>
                    </a:p>
                  </a:txBody>
                  <a:tcPr marL="73152" marR="73152" marT="36576" marB="36576" anchor="ctr">
                    <a:solidFill>
                      <a:srgbClr val="FFFFFF"/>
                    </a:solidFill>
                  </a:tcPr>
                </a:tc>
              </a:tr>
              <a:tr h="365760">
                <a:tc>
                  <a:txBody>
                    <a:bodyPr wrap="square"/>
                    <a:lstStyle/>
                    <a:p>
                      <a:r>
                        <a:rPr sz="1300" b="0" i="0">
                          <a:solidFill>
                            <a:srgbClr val="156082"/>
                          </a:solidFill>
                          <a:latin typeface="Courier New"/>
                        </a:rPr>
                        <a:t>-[:CHILD_OF*2]-&gt;</a:t>
                      </a:r>
                    </a:p>
                  </a:txBody>
                  <a:tcPr marL="73152" marR="73152" marT="36576" marB="36576" anchor="ctr">
                    <a:solidFill>
                      <a:srgbClr val="F2F5F9"/>
                    </a:solidFill>
                  </a:tcPr>
                </a:tc>
                <a:tc>
                  <a:txBody>
                    <a:bodyPr wrap="square"/>
                    <a:lstStyle/>
                    <a:p>
                      <a:r>
                        <a:rPr sz="1300" b="0" i="0">
                          <a:solidFill>
                            <a:srgbClr val="0E2841"/>
                          </a:solidFill>
                        </a:rPr>
                        <a:t>exactly twice</a:t>
                      </a:r>
                    </a:p>
                  </a:txBody>
                  <a:tcPr marL="73152" marR="73152" marT="36576" marB="36576" anchor="ctr">
                    <a:solidFill>
                      <a:srgbClr val="F2F5F9"/>
                    </a:solidFill>
                  </a:tcPr>
                </a:tc>
              </a:tr>
              <a:tr h="365760">
                <a:tc>
                  <a:txBody>
                    <a:bodyPr wrap="square"/>
                    <a:lstStyle/>
                    <a:p>
                      <a:r>
                        <a:rPr sz="1300" b="0" i="0">
                          <a:solidFill>
                            <a:srgbClr val="156082"/>
                          </a:solidFill>
                          <a:latin typeface="Courier New"/>
                        </a:rPr>
                        <a:t>-[:CHILD_OF*1..3]-&gt;</a:t>
                      </a:r>
                    </a:p>
                  </a:txBody>
                  <a:tcPr marL="73152" marR="73152" marT="36576" marB="36576" anchor="ctr">
                    <a:solidFill>
                      <a:srgbClr val="FFFFFF"/>
                    </a:solidFill>
                  </a:tcPr>
                </a:tc>
                <a:tc>
                  <a:txBody>
                    <a:bodyPr wrap="square"/>
                    <a:lstStyle/>
                    <a:p>
                      <a:r>
                        <a:rPr sz="1300" b="0" i="0">
                          <a:solidFill>
                            <a:srgbClr val="0E2841"/>
                          </a:solidFill>
                        </a:rPr>
                        <a:t>1 to 3 times</a:t>
                      </a:r>
                    </a:p>
                  </a:txBody>
                  <a:tcPr marL="73152" marR="73152" marT="36576" marB="36576" anchor="ctr">
                    <a:solidFill>
                      <a:srgbClr val="FFFFFF"/>
                    </a:solidFill>
                  </a:tcPr>
                </a:tc>
              </a:tr>
              <a:tr h="487680">
                <a:tc>
                  <a:txBody>
                    <a:bodyPr wrap="square"/>
                    <a:lstStyle/>
                    <a:p>
                      <a:r>
                        <a:rPr sz="1300" b="0" i="0">
                          <a:solidFill>
                            <a:srgbClr val="156082"/>
                          </a:solidFill>
                          <a:latin typeface="Courier New"/>
                        </a:rPr>
                        <a:t>-[:CHILD_OF*]-&gt;</a:t>
                      </a:r>
                    </a:p>
                  </a:txBody>
                  <a:tcPr marL="73152" marR="73152" marT="36576" marB="36576" anchor="ctr">
                    <a:solidFill>
                      <a:srgbClr val="F2F5F9"/>
                    </a:solidFill>
                  </a:tcPr>
                </a:tc>
                <a:tc>
                  <a:txBody>
                    <a:bodyPr wrap="square"/>
                    <a:lstStyle/>
                    <a:p>
                      <a:r>
                        <a:rPr sz="1300" b="0" i="0">
                          <a:solidFill>
                            <a:srgbClr val="0E2841"/>
                          </a:solidFill>
                        </a:rPr>
                        <a:t>1 or more times: </a:t>
                      </a:r>
                      <a:r>
                        <a:rPr sz="1300" b="1" i="0">
                          <a:solidFill>
                            <a:srgbClr val="0E2841"/>
                          </a:solidFill>
                        </a:rPr>
                        <a:t>all ancestors</a:t>
                      </a:r>
                    </a:p>
                  </a:txBody>
                  <a:tcPr marL="73152" marR="73152" marT="36576" marB="36576" anchor="ctr">
                    <a:solidFill>
                      <a:srgbClr val="F2F5F9"/>
                    </a:solidFill>
                  </a:tcPr>
                </a:tc>
              </a:tr>
              <a:tr h="487680">
                <a:tc>
                  <a:txBody>
                    <a:bodyPr wrap="square"/>
                    <a:lstStyle/>
                    <a:p>
                      <a:r>
                        <a:rPr sz="1300" b="0" i="0">
                          <a:solidFill>
                            <a:srgbClr val="156082"/>
                          </a:solidFill>
                          <a:latin typeface="Courier New"/>
                        </a:rPr>
                        <a:t>-[:CHILD_OF*0..]-&gt;</a:t>
                      </a:r>
                    </a:p>
                  </a:txBody>
                  <a:tcPr marL="73152" marR="73152" marT="36576" marB="36576" anchor="ctr">
                    <a:solidFill>
                      <a:srgbClr val="FFFFFF"/>
                    </a:solidFill>
                  </a:tcPr>
                </a:tc>
                <a:tc>
                  <a:txBody>
                    <a:bodyPr wrap="square"/>
                    <a:lstStyle/>
                    <a:p>
                      <a:r>
                        <a:rPr sz="1300" b="0" i="0">
                          <a:solidFill>
                            <a:srgbClr val="0E2841"/>
                          </a:solidFill>
                        </a:rPr>
                        <a:t>0 or more: the node </a:t>
                      </a:r>
                      <a:r>
                        <a:rPr sz="1300" b="1" i="0">
                          <a:solidFill>
                            <a:srgbClr val="0E2841"/>
                          </a:solidFill>
                        </a:rPr>
                        <a:t>itself + ancestors</a:t>
                      </a:r>
                    </a:p>
                  </a:txBody>
                  <a:tcPr marL="73152" marR="73152" marT="36576" marB="36576" anchor="ctr">
                    <a:solidFill>
                      <a:srgbClr val="FFFFFF"/>
                    </a:solidFill>
                  </a:tcPr>
                </a:tc>
              </a:tr>
            </a:tbl>
          </a:graphicData>
        </a:graphic>
      </p:graphicFrame>
      <p:sp>
        <p:nvSpPr>
          <p:cNvPr id="36" name="clade code bg"/>
          <p:cNvSpPr/>
          <p:nvPr/>
        </p:nvSpPr>
        <p:spPr>
          <a:xfrm>
            <a:off x="6583680" y="4343400"/>
            <a:ext cx="5029200" cy="1234440"/>
          </a:xfrm>
          <a:prstGeom prst="roundRect">
            <a:avLst>
              <a:gd name="adj" fmla="val 3703"/>
            </a:avLst>
          </a:prstGeom>
          <a:solidFill>
            <a:srgbClr val="F4F6F8"/>
          </a:solidFill>
          <a:ln w="9525">
            <a:solidFill>
              <a:srgbClr val="C9D1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clade code"/>
          <p:cNvSpPr txBox="1"/>
          <p:nvPr/>
        </p:nvSpPr>
        <p:spPr>
          <a:xfrm>
            <a:off x="6675120" y="4407408"/>
            <a:ext cx="4846320" cy="1106424"/>
          </a:xfrm>
          <a:prstGeom prst="rect">
            <a:avLst/>
          </a:prstGeom>
          <a:noFill/>
        </p:spPr>
        <p:txBody>
          <a:bodyPr wrap="square" lIns="45720" rIns="45720" tIns="27432" bIns="27432" anchor="t">
            <a:spAutoFit/>
          </a:bodyPr>
          <a:lstStyle/>
          <a:p>
            <a:pPr algn="l">
              <a:spcAft>
                <a:spcPts val="0"/>
              </a:spcAft>
            </a:pPr>
            <a:r>
              <a:rPr sz="1200" b="0" i="0">
                <a:solidFill>
                  <a:srgbClr val="1F2937"/>
                </a:solidFill>
                <a:latin typeface="Courier New"/>
              </a:rPr>
              <a:t>MATCH (g:Genome)-[:CLASSIFIED_AS]-&gt;(:Taxon)</a:t>
            </a:r>
          </a:p>
          <a:p>
            <a:pPr algn="l">
              <a:spcAft>
                <a:spcPts val="0"/>
              </a:spcAft>
            </a:pPr>
            <a:r>
              <a:rPr sz="1200" b="0" i="0">
                <a:solidFill>
                  <a:srgbClr val="1F2937"/>
                </a:solidFill>
                <a:latin typeface="Courier New"/>
              </a:rPr>
              <a:t>      -[:CHILD_OF*0..]-&gt;(t:Taxon)</a:t>
            </a:r>
          </a:p>
          <a:p>
            <a:pPr algn="l">
              <a:spcAft>
                <a:spcPts val="0"/>
              </a:spcAft>
            </a:pPr>
            <a:r>
              <a:rPr sz="1200" b="0" i="0">
                <a:solidFill>
                  <a:srgbClr val="1F2937"/>
                </a:solidFill>
                <a:latin typeface="Courier New"/>
              </a:rPr>
              <a:t>RETURN t.name, count(DISTINCT g) AS genomes</a:t>
            </a:r>
          </a:p>
        </p:txBody>
      </p:sp>
      <p:sp>
        <p:nvSpPr>
          <p:cNvPr id="38" name="clade note"/>
          <p:cNvSpPr txBox="1"/>
          <p:nvPr/>
        </p:nvSpPr>
        <p:spPr>
          <a:xfrm>
            <a:off x="6583680" y="5669280"/>
            <a:ext cx="5029200" cy="640080"/>
          </a:xfrm>
          <a:prstGeom prst="rect">
            <a:avLst/>
          </a:prstGeom>
          <a:noFill/>
        </p:spPr>
        <p:txBody>
          <a:bodyPr wrap="square" lIns="45720" rIns="45720" tIns="27432" bIns="27432" anchor="t">
            <a:spAutoFit/>
          </a:bodyPr>
          <a:lstStyle/>
          <a:p>
            <a:pPr algn="l">
              <a:spcAft>
                <a:spcPts val="600"/>
              </a:spcAft>
            </a:pPr>
            <a:r>
              <a:rPr sz="1300" b="0" i="0">
                <a:solidFill>
                  <a:srgbClr val="595959"/>
                </a:solidFill>
              </a:rPr>
              <a:t>Clade sizes, stored once as </a:t>
            </a:r>
            <a:r>
              <a:rPr sz="1300" b="0" i="0">
                <a:solidFill>
                  <a:srgbClr val="595959"/>
                </a:solidFill>
                <a:latin typeface="Courier New"/>
              </a:rPr>
              <a:t>Taxon.n_genomes</a:t>
            </a:r>
            <a:r>
              <a:rPr sz="1300" b="0" i="0">
                <a:solidFill>
                  <a:srgbClr val="595959"/>
                </a:solidFill>
              </a:rPr>
              <a:t>: </a:t>
            </a:r>
            <a:r>
              <a:rPr sz="1300" b="0" i="1">
                <a:solidFill>
                  <a:srgbClr val="595959"/>
                </a:solidFill>
              </a:rPr>
              <a:t>OPTIONAL MATCH</a:t>
            </a:r>
            <a:r>
              <a:rPr sz="1300" b="0" i="0">
                <a:solidFill>
                  <a:srgbClr val="595959"/>
                </a:solidFill>
              </a:rPr>
              <a:t> ≈ LEFT JOIN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9509760" cy="777240"/>
          </a:xfrm>
        </p:spPr>
        <p:txBody>
          <a:bodyPr wrap="square" anchor="ctr"/>
          <a:lstStyle/>
          <a:p>
            <a:pPr algn="l"/>
            <a:r>
              <a:rPr sz="3000" b="1" i="0">
                <a:solidFill>
                  <a:srgbClr val="0E2841"/>
                </a:solidFill>
              </a:rPr>
              <a:t>Same query, different evolutionary stories</a:t>
            </a:r>
          </a:p>
        </p:txBody>
      </p:sp>
      <p:sp>
        <p:nvSpPr>
          <p:cNvPr id="3" name="footer"/>
          <p:cNvSpPr txBox="1"/>
          <p:nvPr/>
        </p:nvSpPr>
        <p:spPr>
          <a:xfrm>
            <a:off x="548640" y="6455664"/>
            <a:ext cx="8686800" cy="274320"/>
          </a:xfrm>
          <a:prstGeom prst="rect">
            <a:avLst/>
          </a:prstGeom>
          <a:noFill/>
        </p:spPr>
        <p:txBody>
          <a:bodyPr wrap="square" lIns="45720" rIns="45720" tIns="27432" bIns="27432" anchor="t">
            <a:spAutoFit/>
          </a:bodyPr>
          <a:lstStyle/>
          <a:p>
            <a:pPr algn="l">
              <a:spcAft>
                <a:spcPts val="600"/>
              </a:spcAft>
            </a:pPr>
            <a:r>
              <a:rPr sz="1000" b="0" i="0">
                <a:solidFill>
                  <a:srgbClr val="595959"/>
                </a:solidFill>
              </a:rPr>
              <a:t>NoSQL Databases for Bioinformatics  ·  Lecture 27  ·  Neo4j genome workshop</a:t>
            </a:r>
          </a:p>
        </p:txBody>
      </p:sp>
      <p:sp>
        <p:nvSpPr>
          <p:cNvPr id="4" name="slide number"/>
          <p:cNvSpPr txBox="1"/>
          <p:nvPr/>
        </p:nvSpPr>
        <p:spPr>
          <a:xfrm>
            <a:off x="10698480" y="6455664"/>
            <a:ext cx="914400" cy="274320"/>
          </a:xfrm>
          <a:prstGeom prst="rect">
            <a:avLst/>
          </a:prstGeom>
          <a:noFill/>
        </p:spPr>
        <p:txBody>
          <a:bodyPr wrap="square" lIns="45720" rIns="45720" tIns="27432" bIns="27432" anchor="t">
            <a:spAutoFit/>
          </a:bodyPr>
          <a:lstStyle/>
          <a:p>
            <a:pPr algn="r">
              <a:spcAft>
                <a:spcPts val="600"/>
              </a:spcAft>
            </a:pPr>
            <a:fld id="{B6F15528-21DE-4FAA-801E-634DDDAF4B2B}" type="slidenum">
              <a:rPr lang="en-US" sz="1000">
                <a:solidFill>
                  <a:srgbClr val="595959"/>
                </a:solidFill>
              </a:rPr>
              <a:t>‹#›</a:t>
            </a:fld>
          </a:p>
        </p:txBody>
      </p:sp>
      <p:sp>
        <p:nvSpPr>
          <p:cNvPr id="5" name="step tag"/>
          <p:cNvSpPr/>
          <p:nvPr/>
        </p:nvSpPr>
        <p:spPr>
          <a:xfrm>
            <a:off x="10195560" y="411480"/>
            <a:ext cx="1417320" cy="329184"/>
          </a:xfrm>
          <a:prstGeom prst="roundRect">
            <a:avLst>
              <a:gd name="adj" fmla="val 50000"/>
            </a:avLst>
          </a:prstGeom>
          <a:solidFill>
            <a:srgbClr val="D413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QUERY 2</a:t>
            </a:r>
          </a:p>
        </p:txBody>
      </p:sp>
      <p:graphicFrame>
        <p:nvGraphicFramePr>
          <p:cNvPr id="6" name="stories table"/>
          <p:cNvGraphicFramePr>
            <a:graphicFrameLocks noGrp="1"/>
          </p:cNvGraphicFramePr>
          <p:nvPr/>
        </p:nvGraphicFramePr>
        <p:xfrm>
          <a:off x="548640" y="1371600"/>
          <a:ext cx="11064240" cy="3383280"/>
        </p:xfrm>
        <a:graphic>
          <a:graphicData uri="http://schemas.openxmlformats.org/drawingml/2006/table">
            <a:tbl>
              <a:tblPr firstRow="0" bandRow="0">
                <a:tableStyleId>{5C22544A-7EE6-4342-B048-85BDC9FD1C3A}</a:tableStyleId>
              </a:tblPr>
              <a:tblGrid>
                <a:gridCol w="1097280"/>
                <a:gridCol w="2743200"/>
                <a:gridCol w="3840480"/>
                <a:gridCol w="3383280"/>
              </a:tblGrid>
              <a:tr h="411480">
                <a:tc>
                  <a:txBody>
                    <a:bodyPr wrap="square"/>
                    <a:lstStyle/>
                    <a:p>
                      <a:r>
                        <a:rPr sz="1500" b="1" i="0">
                          <a:solidFill>
                            <a:srgbClr val="FFFFFF"/>
                          </a:solidFill>
                        </a:rPr>
                        <a:t>KO</a:t>
                      </a:r>
                    </a:p>
                  </a:txBody>
                  <a:tcPr marL="73152" marR="73152" marT="36576" marB="36576" anchor="ctr">
                    <a:solidFill>
                      <a:srgbClr val="0E2841"/>
                    </a:solidFill>
                  </a:tcPr>
                </a:tc>
                <a:tc>
                  <a:txBody>
                    <a:bodyPr wrap="square"/>
                    <a:lstStyle/>
                    <a:p>
                      <a:r>
                        <a:rPr sz="1500" b="1" i="0">
                          <a:solidFill>
                            <a:srgbClr val="FFFFFF"/>
                          </a:solidFill>
                        </a:rPr>
                        <a:t>function</a:t>
                      </a:r>
                    </a:p>
                  </a:txBody>
                  <a:tcPr marL="73152" marR="73152" marT="36576" marB="36576" anchor="ctr">
                    <a:solidFill>
                      <a:srgbClr val="0E2841"/>
                    </a:solidFill>
                  </a:tcPr>
                </a:tc>
                <a:tc>
                  <a:txBody>
                    <a:bodyPr wrap="square"/>
                    <a:lstStyle/>
                    <a:p>
                      <a:r>
                        <a:rPr sz="1500" b="1" i="0">
                          <a:solidFill>
                            <a:srgbClr val="FFFFFF"/>
                          </a:solidFill>
                        </a:rPr>
                        <a:t>where in the tree?</a:t>
                      </a:r>
                    </a:p>
                  </a:txBody>
                  <a:tcPr marL="73152" marR="73152" marT="36576" marB="36576" anchor="ctr">
                    <a:solidFill>
                      <a:srgbClr val="0E2841"/>
                    </a:solidFill>
                  </a:tcPr>
                </a:tc>
                <a:tc>
                  <a:txBody>
                    <a:bodyPr wrap="square"/>
                    <a:lstStyle/>
                    <a:p>
                      <a:r>
                        <a:rPr sz="1500" b="1" i="0">
                          <a:solidFill>
                            <a:srgbClr val="FFFFFF"/>
                          </a:solidFill>
                        </a:rPr>
                        <a:t>story</a:t>
                      </a:r>
                    </a:p>
                  </a:txBody>
                  <a:tcPr marL="73152" marR="73152" marT="36576" marB="36576" anchor="ctr">
                    <a:solidFill>
                      <a:srgbClr val="0E2841"/>
                    </a:solidFill>
                  </a:tcPr>
                </a:tc>
              </a:tr>
              <a:tr h="731520">
                <a:tc>
                  <a:txBody>
                    <a:bodyPr wrap="square"/>
                    <a:lstStyle/>
                    <a:p>
                      <a:r>
                        <a:rPr sz="1500" b="0" i="0">
                          <a:solidFill>
                            <a:srgbClr val="156082"/>
                          </a:solidFill>
                          <a:latin typeface="Courier New"/>
                        </a:rPr>
                        <a:t>psbA</a:t>
                      </a:r>
                    </a:p>
                  </a:txBody>
                  <a:tcPr marL="73152" marR="73152" marT="36576" marB="36576" anchor="ctr">
                    <a:solidFill>
                      <a:srgbClr val="FFFFFF"/>
                    </a:solidFill>
                  </a:tcPr>
                </a:tc>
                <a:tc>
                  <a:txBody>
                    <a:bodyPr wrap="square"/>
                    <a:lstStyle/>
                    <a:p>
                      <a:r>
                        <a:rPr sz="1500" b="0" i="0">
                          <a:solidFill>
                            <a:srgbClr val="0E2841"/>
                          </a:solidFill>
                        </a:rPr>
                        <a:t>photosystem II D1 (photosynthesis)</a:t>
                      </a:r>
                    </a:p>
                  </a:txBody>
                  <a:tcPr marL="73152" marR="73152" marT="36576" marB="36576" anchor="ctr">
                    <a:solidFill>
                      <a:srgbClr val="FFFFFF"/>
                    </a:solidFill>
                  </a:tcPr>
                </a:tc>
                <a:tc>
                  <a:txBody>
                    <a:bodyPr wrap="square"/>
                    <a:lstStyle/>
                    <a:p>
                      <a:r>
                        <a:rPr sz="1500" b="0" i="0">
                          <a:solidFill>
                            <a:srgbClr val="0E2841"/>
                          </a:solidFill>
                        </a:rPr>
                        <a:t>Cyanobacteriota: </a:t>
                      </a:r>
                      <a:r>
                        <a:rPr sz="1500" b="1" i="0">
                          <a:solidFill>
                            <a:srgbClr val="0E2841"/>
                          </a:solidFill>
                        </a:rPr>
                        <a:t>4 / 4</a:t>
                      </a:r>
                    </a:p>
                  </a:txBody>
                  <a:tcPr marL="73152" marR="73152" marT="36576" marB="36576" anchor="ctr">
                    <a:solidFill>
                      <a:srgbClr val="FFFFFF"/>
                    </a:solidFill>
                  </a:tcPr>
                </a:tc>
                <a:tc>
                  <a:txBody>
                    <a:bodyPr wrap="square"/>
                    <a:lstStyle/>
                    <a:p>
                      <a:r>
                        <a:rPr sz="1500" b="1" i="0">
                          <a:solidFill>
                            <a:srgbClr val="0E2841"/>
                          </a:solidFill>
                        </a:rPr>
                        <a:t>one innovation</a:t>
                      </a:r>
                      <a:r>
                        <a:rPr sz="1500" b="0" i="0">
                          <a:solidFill>
                            <a:srgbClr val="0E2841"/>
                          </a:solidFill>
                        </a:rPr>
                        <a:t>, inherited by the whole clade</a:t>
                      </a:r>
                    </a:p>
                  </a:txBody>
                  <a:tcPr marL="73152" marR="73152" marT="36576" marB="36576" anchor="ctr">
                    <a:solidFill>
                      <a:srgbClr val="FFFFFF"/>
                    </a:solidFill>
                  </a:tcPr>
                </a:tc>
              </a:tr>
              <a:tr h="731520">
                <a:tc>
                  <a:txBody>
                    <a:bodyPr wrap="square"/>
                    <a:lstStyle/>
                    <a:p>
                      <a:r>
                        <a:rPr sz="1500" b="0" i="0">
                          <a:solidFill>
                            <a:srgbClr val="156082"/>
                          </a:solidFill>
                          <a:latin typeface="Courier New"/>
                        </a:rPr>
                        <a:t>spo0A</a:t>
                      </a:r>
                    </a:p>
                  </a:txBody>
                  <a:tcPr marL="73152" marR="73152" marT="36576" marB="36576" anchor="ctr">
                    <a:solidFill>
                      <a:srgbClr val="F2F5F9"/>
                    </a:solidFill>
                  </a:tcPr>
                </a:tc>
                <a:tc>
                  <a:txBody>
                    <a:bodyPr wrap="square"/>
                    <a:lstStyle/>
                    <a:p>
                      <a:r>
                        <a:rPr sz="1500" b="0" i="0">
                          <a:solidFill>
                            <a:srgbClr val="0E2841"/>
                          </a:solidFill>
                        </a:rPr>
                        <a:t>sporulation master regulator</a:t>
                      </a:r>
                    </a:p>
                  </a:txBody>
                  <a:tcPr marL="73152" marR="73152" marT="36576" marB="36576" anchor="ctr">
                    <a:solidFill>
                      <a:srgbClr val="F2F5F9"/>
                    </a:solidFill>
                  </a:tcPr>
                </a:tc>
                <a:tc>
                  <a:txBody>
                    <a:bodyPr wrap="square"/>
                    <a:lstStyle/>
                    <a:p>
                      <a:r>
                        <a:rPr sz="1500" b="0" i="0">
                          <a:solidFill>
                            <a:srgbClr val="0E2841"/>
                          </a:solidFill>
                        </a:rPr>
                        <a:t>Bacillota: </a:t>
                      </a:r>
                      <a:r>
                        <a:rPr sz="1500" b="1" i="0">
                          <a:solidFill>
                            <a:srgbClr val="0E2841"/>
                          </a:solidFill>
                        </a:rPr>
                        <a:t>4 / 10</a:t>
                      </a:r>
                    </a:p>
                  </a:txBody>
                  <a:tcPr marL="73152" marR="73152" marT="36576" marB="36576" anchor="ctr">
                    <a:solidFill>
                      <a:srgbClr val="F2F5F9"/>
                    </a:solidFill>
                  </a:tcPr>
                </a:tc>
                <a:tc>
                  <a:txBody>
                    <a:bodyPr wrap="square"/>
                    <a:lstStyle/>
                    <a:p>
                      <a:r>
                        <a:rPr sz="1500" b="0" i="0">
                          <a:solidFill>
                            <a:srgbClr val="0E2841"/>
                          </a:solidFill>
                        </a:rPr>
                        <a:t>innovation of a </a:t>
                      </a:r>
                      <a:r>
                        <a:rPr sz="1500" b="1" i="0">
                          <a:solidFill>
                            <a:srgbClr val="0E2841"/>
                          </a:solidFill>
                        </a:rPr>
                        <a:t>sub-group</a:t>
                      </a:r>
                      <a:r>
                        <a:rPr sz="1500" b="0" i="0">
                          <a:solidFill>
                            <a:srgbClr val="0E2841"/>
                          </a:solidFill>
                        </a:rPr>
                        <a:t> (spore formers)</a:t>
                      </a:r>
                    </a:p>
                  </a:txBody>
                  <a:tcPr marL="73152" marR="73152" marT="36576" marB="36576" anchor="ctr">
                    <a:solidFill>
                      <a:srgbClr val="F2F5F9"/>
                    </a:solidFill>
                  </a:tcPr>
                </a:tc>
              </a:tr>
              <a:tr h="777240">
                <a:tc>
                  <a:txBody>
                    <a:bodyPr wrap="square"/>
                    <a:lstStyle/>
                    <a:p>
                      <a:r>
                        <a:rPr sz="1500" b="0" i="0">
                          <a:solidFill>
                            <a:srgbClr val="156082"/>
                          </a:solidFill>
                          <a:latin typeface="Courier New"/>
                        </a:rPr>
                        <a:t>nifH</a:t>
                      </a:r>
                    </a:p>
                  </a:txBody>
                  <a:tcPr marL="73152" marR="73152" marT="36576" marB="36576" anchor="ctr">
                    <a:solidFill>
                      <a:srgbClr val="FFFFFF"/>
                    </a:solidFill>
                  </a:tcPr>
                </a:tc>
                <a:tc>
                  <a:txBody>
                    <a:bodyPr wrap="square"/>
                    <a:lstStyle/>
                    <a:p>
                      <a:r>
                        <a:rPr sz="1500" b="0" i="0">
                          <a:solidFill>
                            <a:srgbClr val="0E2841"/>
                          </a:solidFill>
                        </a:rPr>
                        <a:t>nitrogenase (fixes N2 gas)</a:t>
                      </a:r>
                    </a:p>
                  </a:txBody>
                  <a:tcPr marL="73152" marR="73152" marT="36576" marB="36576" anchor="ctr">
                    <a:solidFill>
                      <a:srgbClr val="FFFFFF"/>
                    </a:solidFill>
                  </a:tcPr>
                </a:tc>
                <a:tc>
                  <a:txBody>
                    <a:bodyPr wrap="square"/>
                    <a:lstStyle/>
                    <a:p>
                      <a:r>
                        <a:rPr sz="1500" b="1" i="0">
                          <a:solidFill>
                            <a:srgbClr val="0E2841"/>
                          </a:solidFill>
                        </a:rPr>
                        <a:t>9 genomes in 6 phyla</a:t>
                      </a:r>
                      <a:r>
                        <a:rPr sz="1500" b="0" i="0">
                          <a:solidFill>
                            <a:srgbClr val="0E2841"/>
                          </a:solidFill>
                        </a:rPr>
                        <a:t>, e.g. Pseudomonadota 2/20, Bacillota 1/10, Methanobacteriota 2/4</a:t>
                      </a:r>
                    </a:p>
                  </a:txBody>
                  <a:tcPr marL="73152" marR="73152" marT="36576" marB="36576" anchor="ctr">
                    <a:solidFill>
                      <a:srgbClr val="FFFFFF"/>
                    </a:solidFill>
                  </a:tcPr>
                </a:tc>
                <a:tc>
                  <a:txBody>
                    <a:bodyPr wrap="square"/>
                    <a:lstStyle/>
                    <a:p>
                      <a:r>
                        <a:rPr sz="1500" b="1" i="0">
                          <a:solidFill>
                            <a:srgbClr val="0E2841"/>
                          </a:solidFill>
                        </a:rPr>
                        <a:t>patchy</a:t>
                      </a:r>
                      <a:r>
                        <a:rPr sz="1500" b="0" i="0">
                          <a:solidFill>
                            <a:srgbClr val="0E2841"/>
                          </a:solidFill>
                        </a:rPr>
                        <a:t>: repeated loss and/or horizontal transfer</a:t>
                      </a:r>
                    </a:p>
                  </a:txBody>
                  <a:tcPr marL="73152" marR="73152" marT="36576" marB="36576" anchor="ctr">
                    <a:solidFill>
                      <a:srgbClr val="FFFFFF"/>
                    </a:solidFill>
                  </a:tcPr>
                </a:tc>
              </a:tr>
              <a:tr h="731520">
                <a:tc>
                  <a:txBody>
                    <a:bodyPr wrap="square"/>
                    <a:lstStyle/>
                    <a:p>
                      <a:r>
                        <a:rPr sz="1500" b="0" i="0">
                          <a:solidFill>
                            <a:srgbClr val="156082"/>
                          </a:solidFill>
                          <a:latin typeface="Courier New"/>
                        </a:rPr>
                        <a:t>groEL</a:t>
                      </a:r>
                    </a:p>
                  </a:txBody>
                  <a:tcPr marL="73152" marR="73152" marT="36576" marB="36576" anchor="ctr">
                    <a:solidFill>
                      <a:srgbClr val="F2F5F9"/>
                    </a:solidFill>
                  </a:tcPr>
                </a:tc>
                <a:tc>
                  <a:txBody>
                    <a:bodyPr wrap="square"/>
                    <a:lstStyle/>
                    <a:p>
                      <a:r>
                        <a:rPr sz="1500" b="0" i="0">
                          <a:solidFill>
                            <a:srgbClr val="0E2841"/>
                          </a:solidFill>
                        </a:rPr>
                        <a:t>chaperonin GroEL</a:t>
                      </a:r>
                    </a:p>
                  </a:txBody>
                  <a:tcPr marL="73152" marR="73152" marT="36576" marB="36576" anchor="ctr">
                    <a:solidFill>
                      <a:srgbClr val="F2F5F9"/>
                    </a:solidFill>
                  </a:tcPr>
                </a:tc>
                <a:tc>
                  <a:txBody>
                    <a:bodyPr wrap="square"/>
                    <a:lstStyle/>
                    <a:p>
                      <a:r>
                        <a:rPr sz="1500" b="0" i="0">
                          <a:solidFill>
                            <a:srgbClr val="0E2841"/>
                          </a:solidFill>
                        </a:rPr>
                        <a:t>all 20 phyla: </a:t>
                      </a:r>
                      <a:r>
                        <a:rPr sz="1500" b="1" i="0">
                          <a:solidFill>
                            <a:srgbClr val="0E2841"/>
                          </a:solidFill>
                        </a:rPr>
                        <a:t>65 / 65</a:t>
                      </a:r>
                    </a:p>
                  </a:txBody>
                  <a:tcPr marL="73152" marR="73152" marT="36576" marB="36576" anchor="ctr">
                    <a:solidFill>
                      <a:srgbClr val="F2F5F9"/>
                    </a:solidFill>
                  </a:tcPr>
                </a:tc>
                <a:tc>
                  <a:txBody>
                    <a:bodyPr wrap="square"/>
                    <a:lstStyle/>
                    <a:p>
                      <a:r>
                        <a:rPr sz="1500" b="1" i="0">
                          <a:solidFill>
                            <a:srgbClr val="0E2841"/>
                          </a:solidFill>
                        </a:rPr>
                        <a:t>ancestral</a:t>
                      </a:r>
                      <a:r>
                        <a:rPr sz="1500" b="0" i="0">
                          <a:solidFill>
                            <a:srgbClr val="0E2841"/>
                          </a:solidFill>
                        </a:rPr>
                        <a:t>, essential</a:t>
                      </a:r>
                    </a:p>
                  </a:txBody>
                  <a:tcPr marL="73152" marR="73152" marT="36576" marB="36576" anchor="ctr">
                    <a:solidFill>
                      <a:srgbClr val="F2F5F9"/>
                    </a:solidFill>
                  </a:tcPr>
                </a:tc>
              </a:tr>
            </a:tbl>
          </a:graphicData>
        </a:graphic>
      </p:graphicFrame>
      <p:sp>
        <p:nvSpPr>
          <p:cNvPr id="7" name="stories code bg"/>
          <p:cNvSpPr/>
          <p:nvPr/>
        </p:nvSpPr>
        <p:spPr>
          <a:xfrm>
            <a:off x="548640" y="5257800"/>
            <a:ext cx="6949440" cy="1005840"/>
          </a:xfrm>
          <a:prstGeom prst="roundRect">
            <a:avLst>
              <a:gd name="adj" fmla="val 4545"/>
            </a:avLst>
          </a:prstGeom>
          <a:solidFill>
            <a:srgbClr val="F4F6F8"/>
          </a:solidFill>
          <a:ln w="9525">
            <a:solidFill>
              <a:srgbClr val="C9D1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stories code"/>
          <p:cNvSpPr txBox="1"/>
          <p:nvPr/>
        </p:nvSpPr>
        <p:spPr>
          <a:xfrm>
            <a:off x="640080" y="5321808"/>
            <a:ext cx="6766559" cy="877824"/>
          </a:xfrm>
          <a:prstGeom prst="rect">
            <a:avLst/>
          </a:prstGeom>
          <a:noFill/>
        </p:spPr>
        <p:txBody>
          <a:bodyPr wrap="square" lIns="45720" rIns="45720" tIns="27432" bIns="27432" anchor="t">
            <a:spAutoFit/>
          </a:bodyPr>
          <a:lstStyle/>
          <a:p>
            <a:pPr algn="l">
              <a:spcAft>
                <a:spcPts val="0"/>
              </a:spcAft>
            </a:pPr>
            <a:r>
              <a:rPr sz="1100" b="0" i="0">
                <a:solidFill>
                  <a:srgbClr val="1F2937"/>
                </a:solidFill>
                <a:latin typeface="Courier New"/>
              </a:rPr>
              <a:t>MATCH (k:KO {ko_id: $ko})&lt;-[:CONTAINS_KO]-(g:Genome)</a:t>
            </a:r>
          </a:p>
          <a:p>
            <a:pPr algn="l">
              <a:spcAft>
                <a:spcPts val="0"/>
              </a:spcAft>
            </a:pPr>
            <a:r>
              <a:rPr sz="1100" b="0" i="0">
                <a:solidFill>
                  <a:srgbClr val="1F2937"/>
                </a:solidFill>
                <a:latin typeface="Courier New"/>
              </a:rPr>
              <a:t>      -[:CLASSIFIED_AS]-&gt;(:Taxon)-[:CHILD_OF*0..]-&gt;(c:Taxon {rank: 'phylum'})</a:t>
            </a:r>
          </a:p>
          <a:p>
            <a:pPr algn="l">
              <a:spcAft>
                <a:spcPts val="0"/>
              </a:spcAft>
            </a:pPr>
            <a:r>
              <a:rPr sz="1100" b="0" i="0">
                <a:solidFill>
                  <a:srgbClr val="1F2937"/>
                </a:solidFill>
                <a:latin typeface="Courier New"/>
              </a:rPr>
              <a:t>RETURN c.name, c.n_genomes, count(DISTINCT g) AS with_ko</a:t>
            </a:r>
          </a:p>
        </p:txBody>
      </p:sp>
      <p:sp>
        <p:nvSpPr>
          <p:cNvPr id="9" name="stories note"/>
          <p:cNvSpPr txBox="1"/>
          <p:nvPr/>
        </p:nvSpPr>
        <p:spPr>
          <a:xfrm>
            <a:off x="7772400" y="5257800"/>
            <a:ext cx="3840480" cy="1005840"/>
          </a:xfrm>
          <a:prstGeom prst="rect">
            <a:avLst/>
          </a:prstGeom>
          <a:noFill/>
        </p:spPr>
        <p:txBody>
          <a:bodyPr wrap="square" lIns="45720" rIns="45720" tIns="27432" bIns="27432" anchor="ctr">
            <a:spAutoFit/>
          </a:bodyPr>
          <a:lstStyle/>
          <a:p>
            <a:pPr algn="l">
              <a:spcAft>
                <a:spcPts val="600"/>
              </a:spcAft>
            </a:pPr>
            <a:r>
              <a:rPr sz="1600" b="0" i="0">
                <a:solidFill>
                  <a:srgbClr val="595959"/>
                </a:solidFill>
              </a:rPr>
              <a:t>Walk </a:t>
            </a:r>
            <a:r>
              <a:rPr sz="1600" b="1" i="0">
                <a:solidFill>
                  <a:srgbClr val="595959"/>
                </a:solidFill>
              </a:rPr>
              <a:t>up</a:t>
            </a:r>
            <a:r>
              <a:rPr sz="1600" b="0" i="0">
                <a:solidFill>
                  <a:srgbClr val="595959"/>
                </a:solidFill>
              </a:rPr>
              <a:t> from the carriers, then count per clade.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9509760" cy="777240"/>
          </a:xfrm>
        </p:spPr>
        <p:txBody>
          <a:bodyPr wrap="square" anchor="ctr"/>
          <a:lstStyle/>
          <a:p>
            <a:pPr algn="l"/>
            <a:r>
              <a:rPr sz="3000" b="1" i="0">
                <a:solidFill>
                  <a:srgbClr val="0E2841"/>
                </a:solidFill>
              </a:rPr>
              <a:t>Origin clade: lowest common ancestor + coverage</a:t>
            </a:r>
          </a:p>
        </p:txBody>
      </p:sp>
      <p:sp>
        <p:nvSpPr>
          <p:cNvPr id="3" name="footer"/>
          <p:cNvSpPr txBox="1"/>
          <p:nvPr/>
        </p:nvSpPr>
        <p:spPr>
          <a:xfrm>
            <a:off x="548640" y="6455664"/>
            <a:ext cx="8686800" cy="274320"/>
          </a:xfrm>
          <a:prstGeom prst="rect">
            <a:avLst/>
          </a:prstGeom>
          <a:noFill/>
        </p:spPr>
        <p:txBody>
          <a:bodyPr wrap="square" lIns="45720" rIns="45720" tIns="27432" bIns="27432" anchor="t">
            <a:spAutoFit/>
          </a:bodyPr>
          <a:lstStyle/>
          <a:p>
            <a:pPr algn="l">
              <a:spcAft>
                <a:spcPts val="600"/>
              </a:spcAft>
            </a:pPr>
            <a:r>
              <a:rPr sz="1000" b="0" i="0">
                <a:solidFill>
                  <a:srgbClr val="595959"/>
                </a:solidFill>
              </a:rPr>
              <a:t>NoSQL Databases for Bioinformatics  ·  Lecture 27  ·  Neo4j genome workshop</a:t>
            </a:r>
          </a:p>
        </p:txBody>
      </p:sp>
      <p:sp>
        <p:nvSpPr>
          <p:cNvPr id="4" name="slide number"/>
          <p:cNvSpPr txBox="1"/>
          <p:nvPr/>
        </p:nvSpPr>
        <p:spPr>
          <a:xfrm>
            <a:off x="10698480" y="6455664"/>
            <a:ext cx="914400" cy="274320"/>
          </a:xfrm>
          <a:prstGeom prst="rect">
            <a:avLst/>
          </a:prstGeom>
          <a:noFill/>
        </p:spPr>
        <p:txBody>
          <a:bodyPr wrap="square" lIns="45720" rIns="45720" tIns="27432" bIns="27432" anchor="t">
            <a:spAutoFit/>
          </a:bodyPr>
          <a:lstStyle/>
          <a:p>
            <a:pPr algn="r">
              <a:spcAft>
                <a:spcPts val="600"/>
              </a:spcAft>
            </a:pPr>
            <a:fld id="{B6F15528-21DE-4FAA-801E-634DDDAF4B2B}" type="slidenum">
              <a:rPr lang="en-US" sz="1000">
                <a:solidFill>
                  <a:srgbClr val="595959"/>
                </a:solidFill>
              </a:rPr>
              <a:t>‹#›</a:t>
            </a:fld>
          </a:p>
        </p:txBody>
      </p:sp>
      <p:sp>
        <p:nvSpPr>
          <p:cNvPr id="5" name="step tag"/>
          <p:cNvSpPr/>
          <p:nvPr/>
        </p:nvSpPr>
        <p:spPr>
          <a:xfrm>
            <a:off x="10195560" y="411480"/>
            <a:ext cx="1417320" cy="329184"/>
          </a:xfrm>
          <a:prstGeom prst="roundRect">
            <a:avLst>
              <a:gd name="adj" fmla="val 50000"/>
            </a:avLst>
          </a:prstGeom>
          <a:solidFill>
            <a:srgbClr val="D413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QUERY 2</a:t>
            </a:r>
          </a:p>
        </p:txBody>
      </p:sp>
      <p:sp>
        <p:nvSpPr>
          <p:cNvPr id="6" name="node root"/>
          <p:cNvSpPr/>
          <p:nvPr/>
        </p:nvSpPr>
        <p:spPr>
          <a:xfrm>
            <a:off x="2766060" y="1600200"/>
            <a:ext cx="868680" cy="457200"/>
          </a:xfrm>
          <a:prstGeom prst="ellipse">
            <a:avLst/>
          </a:prstGeom>
          <a:solidFill>
            <a:srgbClr val="2E8B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FFFFFF"/>
                </a:solidFill>
              </a:rPr>
              <a:t>root</a:t>
            </a:r>
          </a:p>
        </p:txBody>
      </p:sp>
      <p:sp>
        <p:nvSpPr>
          <p:cNvPr id="7" name="node clade A"/>
          <p:cNvSpPr/>
          <p:nvPr/>
        </p:nvSpPr>
        <p:spPr>
          <a:xfrm>
            <a:off x="1600199" y="2514600"/>
            <a:ext cx="1005840" cy="457200"/>
          </a:xfrm>
          <a:prstGeom prst="ellipse">
            <a:avLst/>
          </a:prstGeom>
          <a:solidFill>
            <a:srgbClr val="2E8B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FFFFFF"/>
                </a:solidFill>
              </a:rPr>
              <a:t>clade A</a:t>
            </a:r>
          </a:p>
        </p:txBody>
      </p:sp>
      <p:sp>
        <p:nvSpPr>
          <p:cNvPr id="8" name="node clade B"/>
          <p:cNvSpPr/>
          <p:nvPr/>
        </p:nvSpPr>
        <p:spPr>
          <a:xfrm>
            <a:off x="3794759" y="2514600"/>
            <a:ext cx="1005840" cy="457200"/>
          </a:xfrm>
          <a:prstGeom prst="ellipse">
            <a:avLst/>
          </a:prstGeom>
          <a:solidFill>
            <a:srgbClr val="2E8B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FFFFFF"/>
                </a:solidFill>
              </a:rPr>
              <a:t>clade B</a:t>
            </a:r>
          </a:p>
        </p:txBody>
      </p:sp>
      <p:cxnSp>
        <p:nvCxnSpPr>
          <p:cNvPr id="9" name="edge"/>
          <p:cNvCxnSpPr/>
          <p:nvPr/>
        </p:nvCxnSpPr>
        <p:spPr>
          <a:xfrm flipV="1">
            <a:off x="2343944" y="2022078"/>
            <a:ext cx="624521" cy="520435"/>
          </a:xfrm>
          <a:prstGeom prst="line">
            <a:avLst/>
          </a:prstGeom>
          <a:ln w="19050">
            <a:solidFill>
              <a:srgbClr val="595959"/>
            </a:solidFill>
            <a:tailEnd type="triangle"/>
          </a:ln>
        </p:spPr>
        <p:style>
          <a:lnRef idx="2">
            <a:schemeClr val="accent1"/>
          </a:lnRef>
          <a:fillRef idx="0">
            <a:schemeClr val="accent1"/>
          </a:fillRef>
          <a:effectRef idx="1">
            <a:schemeClr val="accent1"/>
          </a:effectRef>
          <a:fontRef idx="minor">
            <a:schemeClr val="tx1"/>
          </a:fontRef>
        </p:style>
      </p:cxnSp>
      <p:cxnSp>
        <p:nvCxnSpPr>
          <p:cNvPr id="10" name="edge"/>
          <p:cNvCxnSpPr/>
          <p:nvPr/>
        </p:nvCxnSpPr>
        <p:spPr>
          <a:xfrm flipH="1" flipV="1">
            <a:off x="3432334" y="2022078"/>
            <a:ext cx="624521" cy="520435"/>
          </a:xfrm>
          <a:prstGeom prst="line">
            <a:avLst/>
          </a:prstGeom>
          <a:ln w="19050">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11" name="node a1"/>
          <p:cNvSpPr/>
          <p:nvPr/>
        </p:nvSpPr>
        <p:spPr>
          <a:xfrm>
            <a:off x="800099" y="3566160"/>
            <a:ext cx="777240" cy="457200"/>
          </a:xfrm>
          <a:prstGeom prst="roundRect">
            <a:avLst>
              <a:gd name="adj" fmla="val 24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FFFFFF"/>
                </a:solidFill>
              </a:rPr>
              <a:t>a1</a:t>
            </a:r>
          </a:p>
        </p:txBody>
      </p:sp>
      <p:cxnSp>
        <p:nvCxnSpPr>
          <p:cNvPr id="12" name="edge"/>
          <p:cNvCxnSpPr/>
          <p:nvPr/>
        </p:nvCxnSpPr>
        <p:spPr>
          <a:xfrm flipV="1">
            <a:off x="1387502" y="2955795"/>
            <a:ext cx="530752" cy="610365"/>
          </a:xfrm>
          <a:prstGeom prst="line">
            <a:avLst/>
          </a:prstGeom>
          <a:ln w="19050">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13" name="node a2"/>
          <p:cNvSpPr/>
          <p:nvPr/>
        </p:nvSpPr>
        <p:spPr>
          <a:xfrm>
            <a:off x="1714499" y="3566160"/>
            <a:ext cx="777240" cy="457200"/>
          </a:xfrm>
          <a:prstGeom prst="roundRect">
            <a:avLst>
              <a:gd name="adj" fmla="val 24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FFFFFF"/>
                </a:solidFill>
              </a:rPr>
              <a:t>a2</a:t>
            </a:r>
          </a:p>
        </p:txBody>
      </p:sp>
      <p:cxnSp>
        <p:nvCxnSpPr>
          <p:cNvPr id="14" name="edge"/>
          <p:cNvCxnSpPr/>
          <p:nvPr/>
        </p:nvCxnSpPr>
        <p:spPr>
          <a:xfrm flipV="1">
            <a:off x="2103120" y="2971800"/>
            <a:ext cx="0" cy="594360"/>
          </a:xfrm>
          <a:prstGeom prst="line">
            <a:avLst/>
          </a:prstGeom>
          <a:ln w="19050">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15" name="node a3"/>
          <p:cNvSpPr/>
          <p:nvPr/>
        </p:nvSpPr>
        <p:spPr>
          <a:xfrm>
            <a:off x="2628900" y="3566160"/>
            <a:ext cx="777240" cy="457200"/>
          </a:xfrm>
          <a:prstGeom prst="roundRect">
            <a:avLst>
              <a:gd name="adj" fmla="val 24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FFFFFF"/>
                </a:solidFill>
              </a:rPr>
              <a:t>a3</a:t>
            </a:r>
          </a:p>
        </p:txBody>
      </p:sp>
      <p:cxnSp>
        <p:nvCxnSpPr>
          <p:cNvPr id="16" name="edge"/>
          <p:cNvCxnSpPr/>
          <p:nvPr/>
        </p:nvCxnSpPr>
        <p:spPr>
          <a:xfrm flipH="1" flipV="1">
            <a:off x="2287985" y="2955795"/>
            <a:ext cx="530752" cy="610365"/>
          </a:xfrm>
          <a:prstGeom prst="line">
            <a:avLst/>
          </a:prstGeom>
          <a:ln w="19050">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17" name="node b1"/>
          <p:cNvSpPr/>
          <p:nvPr/>
        </p:nvSpPr>
        <p:spPr>
          <a:xfrm>
            <a:off x="3451860" y="3566160"/>
            <a:ext cx="777240" cy="457200"/>
          </a:xfrm>
          <a:prstGeom prst="roundRect">
            <a:avLst>
              <a:gd name="adj" fmla="val 24000"/>
            </a:avLst>
          </a:prstGeom>
          <a:solidFill>
            <a:srgbClr val="D0D5D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0E2841"/>
                </a:solidFill>
              </a:rPr>
              <a:t>b1</a:t>
            </a:r>
          </a:p>
        </p:txBody>
      </p:sp>
      <p:cxnSp>
        <p:nvCxnSpPr>
          <p:cNvPr id="18" name="edge"/>
          <p:cNvCxnSpPr/>
          <p:nvPr/>
        </p:nvCxnSpPr>
        <p:spPr>
          <a:xfrm flipV="1">
            <a:off x="3939871" y="2967462"/>
            <a:ext cx="260303" cy="598698"/>
          </a:xfrm>
          <a:prstGeom prst="line">
            <a:avLst/>
          </a:prstGeom>
          <a:ln w="19050">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19" name="node b2"/>
          <p:cNvSpPr/>
          <p:nvPr/>
        </p:nvSpPr>
        <p:spPr>
          <a:xfrm>
            <a:off x="4366259" y="3566160"/>
            <a:ext cx="777240" cy="457200"/>
          </a:xfrm>
          <a:prstGeom prst="roundRect">
            <a:avLst>
              <a:gd name="adj" fmla="val 24000"/>
            </a:avLst>
          </a:prstGeom>
          <a:solidFill>
            <a:srgbClr val="D0D5D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0E2841"/>
                </a:solidFill>
              </a:rPr>
              <a:t>b2</a:t>
            </a:r>
          </a:p>
        </p:txBody>
      </p:sp>
      <p:cxnSp>
        <p:nvCxnSpPr>
          <p:cNvPr id="20" name="edge"/>
          <p:cNvCxnSpPr/>
          <p:nvPr/>
        </p:nvCxnSpPr>
        <p:spPr>
          <a:xfrm flipH="1" flipV="1">
            <a:off x="4395185" y="2967462"/>
            <a:ext cx="260303" cy="598698"/>
          </a:xfrm>
          <a:prstGeom prst="line">
            <a:avLst/>
          </a:prstGeom>
          <a:ln w="19050">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21" name="LCA ring"/>
          <p:cNvSpPr/>
          <p:nvPr/>
        </p:nvSpPr>
        <p:spPr>
          <a:xfrm>
            <a:off x="1527047" y="2441448"/>
            <a:ext cx="1152144" cy="603504"/>
          </a:xfrm>
          <a:prstGeom prst="ellipse">
            <a:avLst/>
          </a:prstGeom>
          <a:noFill/>
          <a:ln w="38100">
            <a:solidFill>
              <a:srgbClr val="D4134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mini title"/>
          <p:cNvSpPr txBox="1"/>
          <p:nvPr/>
        </p:nvSpPr>
        <p:spPr>
          <a:xfrm>
            <a:off x="548640" y="1325880"/>
            <a:ext cx="2103120" cy="365760"/>
          </a:xfrm>
          <a:prstGeom prst="rect">
            <a:avLst/>
          </a:prstGeom>
          <a:noFill/>
        </p:spPr>
        <p:txBody>
          <a:bodyPr wrap="square" lIns="45720" rIns="45720" tIns="27432" bIns="27432" anchor="t">
            <a:spAutoFit/>
          </a:bodyPr>
          <a:lstStyle/>
          <a:p>
            <a:pPr algn="l">
              <a:spcAft>
                <a:spcPts val="600"/>
              </a:spcAft>
            </a:pPr>
            <a:r>
              <a:rPr sz="1400" b="1" i="0">
                <a:solidFill>
                  <a:srgbClr val="0E2841"/>
                </a:solidFill>
              </a:rPr>
              <a:t>Example 1</a:t>
            </a:r>
          </a:p>
        </p:txBody>
      </p:sp>
      <p:sp>
        <p:nvSpPr>
          <p:cNvPr id="23" name="mini result"/>
          <p:cNvSpPr txBox="1"/>
          <p:nvPr/>
        </p:nvSpPr>
        <p:spPr>
          <a:xfrm>
            <a:off x="548640" y="4206240"/>
            <a:ext cx="5303520" cy="548640"/>
          </a:xfrm>
          <a:prstGeom prst="rect">
            <a:avLst/>
          </a:prstGeom>
          <a:noFill/>
        </p:spPr>
        <p:txBody>
          <a:bodyPr wrap="square" lIns="45720" rIns="45720" tIns="27432" bIns="27432" anchor="t">
            <a:spAutoFit/>
          </a:bodyPr>
          <a:lstStyle/>
          <a:p>
            <a:pPr algn="ctr">
              <a:spcAft>
                <a:spcPts val="600"/>
              </a:spcAft>
            </a:pPr>
            <a:r>
              <a:rPr sz="1400" b="1" i="0">
                <a:solidFill>
                  <a:srgbClr val="D41348"/>
                </a:solidFill>
              </a:rPr>
              <a:t>LCA = clade A · coverage 3/3 = 1.0 → one gain, inherited</a:t>
            </a:r>
          </a:p>
        </p:txBody>
      </p:sp>
      <p:sp>
        <p:nvSpPr>
          <p:cNvPr id="24" name="node root"/>
          <p:cNvSpPr/>
          <p:nvPr/>
        </p:nvSpPr>
        <p:spPr>
          <a:xfrm>
            <a:off x="8526780" y="1600200"/>
            <a:ext cx="868680" cy="457200"/>
          </a:xfrm>
          <a:prstGeom prst="ellipse">
            <a:avLst/>
          </a:prstGeom>
          <a:solidFill>
            <a:srgbClr val="2E8B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FFFFFF"/>
                </a:solidFill>
              </a:rPr>
              <a:t>root</a:t>
            </a:r>
          </a:p>
        </p:txBody>
      </p:sp>
      <p:sp>
        <p:nvSpPr>
          <p:cNvPr id="25" name="node clade A"/>
          <p:cNvSpPr/>
          <p:nvPr/>
        </p:nvSpPr>
        <p:spPr>
          <a:xfrm>
            <a:off x="7360919" y="2514600"/>
            <a:ext cx="1005840" cy="457200"/>
          </a:xfrm>
          <a:prstGeom prst="ellipse">
            <a:avLst/>
          </a:prstGeom>
          <a:solidFill>
            <a:srgbClr val="2E8B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FFFFFF"/>
                </a:solidFill>
              </a:rPr>
              <a:t>clade A</a:t>
            </a:r>
          </a:p>
        </p:txBody>
      </p:sp>
      <p:sp>
        <p:nvSpPr>
          <p:cNvPr id="26" name="node clade B"/>
          <p:cNvSpPr/>
          <p:nvPr/>
        </p:nvSpPr>
        <p:spPr>
          <a:xfrm>
            <a:off x="9555480" y="2514600"/>
            <a:ext cx="1005840" cy="457200"/>
          </a:xfrm>
          <a:prstGeom prst="ellipse">
            <a:avLst/>
          </a:prstGeom>
          <a:solidFill>
            <a:srgbClr val="2E8B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FFFFFF"/>
                </a:solidFill>
              </a:rPr>
              <a:t>clade B</a:t>
            </a:r>
          </a:p>
        </p:txBody>
      </p:sp>
      <p:cxnSp>
        <p:nvCxnSpPr>
          <p:cNvPr id="27" name="edge"/>
          <p:cNvCxnSpPr/>
          <p:nvPr/>
        </p:nvCxnSpPr>
        <p:spPr>
          <a:xfrm flipV="1">
            <a:off x="8104664" y="2022078"/>
            <a:ext cx="624521" cy="520435"/>
          </a:xfrm>
          <a:prstGeom prst="line">
            <a:avLst/>
          </a:prstGeom>
          <a:ln w="19050">
            <a:solidFill>
              <a:srgbClr val="595959"/>
            </a:solidFill>
            <a:tailEnd type="triangle"/>
          </a:ln>
        </p:spPr>
        <p:style>
          <a:lnRef idx="2">
            <a:schemeClr val="accent1"/>
          </a:lnRef>
          <a:fillRef idx="0">
            <a:schemeClr val="accent1"/>
          </a:fillRef>
          <a:effectRef idx="1">
            <a:schemeClr val="accent1"/>
          </a:effectRef>
          <a:fontRef idx="minor">
            <a:schemeClr val="tx1"/>
          </a:fontRef>
        </p:style>
      </p:cxnSp>
      <p:cxnSp>
        <p:nvCxnSpPr>
          <p:cNvPr id="28" name="edge"/>
          <p:cNvCxnSpPr/>
          <p:nvPr/>
        </p:nvCxnSpPr>
        <p:spPr>
          <a:xfrm flipH="1" flipV="1">
            <a:off x="9193054" y="2022078"/>
            <a:ext cx="624521" cy="520435"/>
          </a:xfrm>
          <a:prstGeom prst="line">
            <a:avLst/>
          </a:prstGeom>
          <a:ln w="19050">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29" name="node a1"/>
          <p:cNvSpPr/>
          <p:nvPr/>
        </p:nvSpPr>
        <p:spPr>
          <a:xfrm>
            <a:off x="6560820" y="3566160"/>
            <a:ext cx="777240" cy="457200"/>
          </a:xfrm>
          <a:prstGeom prst="roundRect">
            <a:avLst>
              <a:gd name="adj" fmla="val 24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FFFFFF"/>
                </a:solidFill>
              </a:rPr>
              <a:t>a1</a:t>
            </a:r>
          </a:p>
        </p:txBody>
      </p:sp>
      <p:cxnSp>
        <p:nvCxnSpPr>
          <p:cNvPr id="30" name="edge"/>
          <p:cNvCxnSpPr/>
          <p:nvPr/>
        </p:nvCxnSpPr>
        <p:spPr>
          <a:xfrm flipV="1">
            <a:off x="7148222" y="2955795"/>
            <a:ext cx="530752" cy="610365"/>
          </a:xfrm>
          <a:prstGeom prst="line">
            <a:avLst/>
          </a:prstGeom>
          <a:ln w="19050">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31" name="node a2"/>
          <p:cNvSpPr/>
          <p:nvPr/>
        </p:nvSpPr>
        <p:spPr>
          <a:xfrm>
            <a:off x="7475219" y="3566160"/>
            <a:ext cx="777240" cy="457200"/>
          </a:xfrm>
          <a:prstGeom prst="roundRect">
            <a:avLst>
              <a:gd name="adj" fmla="val 24000"/>
            </a:avLst>
          </a:prstGeom>
          <a:solidFill>
            <a:srgbClr val="D0D5D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0E2841"/>
                </a:solidFill>
              </a:rPr>
              <a:t>a2</a:t>
            </a:r>
          </a:p>
        </p:txBody>
      </p:sp>
      <p:cxnSp>
        <p:nvCxnSpPr>
          <p:cNvPr id="32" name="edge"/>
          <p:cNvCxnSpPr/>
          <p:nvPr/>
        </p:nvCxnSpPr>
        <p:spPr>
          <a:xfrm flipV="1">
            <a:off x="7863840" y="2971800"/>
            <a:ext cx="0" cy="594360"/>
          </a:xfrm>
          <a:prstGeom prst="line">
            <a:avLst/>
          </a:prstGeom>
          <a:ln w="19050">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33" name="node a3"/>
          <p:cNvSpPr/>
          <p:nvPr/>
        </p:nvSpPr>
        <p:spPr>
          <a:xfrm>
            <a:off x="8389620" y="3566160"/>
            <a:ext cx="777240" cy="457200"/>
          </a:xfrm>
          <a:prstGeom prst="roundRect">
            <a:avLst>
              <a:gd name="adj" fmla="val 24000"/>
            </a:avLst>
          </a:prstGeom>
          <a:solidFill>
            <a:srgbClr val="D0D5D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0E2841"/>
                </a:solidFill>
              </a:rPr>
              <a:t>a3</a:t>
            </a:r>
          </a:p>
        </p:txBody>
      </p:sp>
      <p:cxnSp>
        <p:nvCxnSpPr>
          <p:cNvPr id="34" name="edge"/>
          <p:cNvCxnSpPr/>
          <p:nvPr/>
        </p:nvCxnSpPr>
        <p:spPr>
          <a:xfrm flipH="1" flipV="1">
            <a:off x="8048705" y="2955795"/>
            <a:ext cx="530752" cy="610365"/>
          </a:xfrm>
          <a:prstGeom prst="line">
            <a:avLst/>
          </a:prstGeom>
          <a:ln w="19050">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35" name="node b1"/>
          <p:cNvSpPr/>
          <p:nvPr/>
        </p:nvSpPr>
        <p:spPr>
          <a:xfrm>
            <a:off x="9212580" y="3566160"/>
            <a:ext cx="777240" cy="457200"/>
          </a:xfrm>
          <a:prstGeom prst="roundRect">
            <a:avLst>
              <a:gd name="adj" fmla="val 24000"/>
            </a:avLst>
          </a:prstGeom>
          <a:solidFill>
            <a:srgbClr val="D0D5D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0E2841"/>
                </a:solidFill>
              </a:rPr>
              <a:t>b1</a:t>
            </a:r>
          </a:p>
        </p:txBody>
      </p:sp>
      <p:cxnSp>
        <p:nvCxnSpPr>
          <p:cNvPr id="36" name="edge"/>
          <p:cNvCxnSpPr/>
          <p:nvPr/>
        </p:nvCxnSpPr>
        <p:spPr>
          <a:xfrm flipV="1">
            <a:off x="9700591" y="2967462"/>
            <a:ext cx="260303" cy="598698"/>
          </a:xfrm>
          <a:prstGeom prst="line">
            <a:avLst/>
          </a:prstGeom>
          <a:ln w="19050">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37" name="node b2"/>
          <p:cNvSpPr/>
          <p:nvPr/>
        </p:nvSpPr>
        <p:spPr>
          <a:xfrm>
            <a:off x="10126980" y="3566160"/>
            <a:ext cx="777240" cy="457200"/>
          </a:xfrm>
          <a:prstGeom prst="roundRect">
            <a:avLst>
              <a:gd name="adj" fmla="val 24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i="0">
                <a:solidFill>
                  <a:srgbClr val="FFFFFF"/>
                </a:solidFill>
              </a:rPr>
              <a:t>b2</a:t>
            </a:r>
          </a:p>
        </p:txBody>
      </p:sp>
      <p:cxnSp>
        <p:nvCxnSpPr>
          <p:cNvPr id="38" name="edge"/>
          <p:cNvCxnSpPr/>
          <p:nvPr/>
        </p:nvCxnSpPr>
        <p:spPr>
          <a:xfrm flipH="1" flipV="1">
            <a:off x="10155905" y="2967462"/>
            <a:ext cx="260303" cy="598698"/>
          </a:xfrm>
          <a:prstGeom prst="line">
            <a:avLst/>
          </a:prstGeom>
          <a:ln w="19050">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39" name="LCA ring"/>
          <p:cNvSpPr/>
          <p:nvPr/>
        </p:nvSpPr>
        <p:spPr>
          <a:xfrm>
            <a:off x="8453628" y="1527048"/>
            <a:ext cx="1014983" cy="603504"/>
          </a:xfrm>
          <a:prstGeom prst="ellipse">
            <a:avLst/>
          </a:prstGeom>
          <a:noFill/>
          <a:ln w="38100">
            <a:solidFill>
              <a:srgbClr val="D4134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mini title"/>
          <p:cNvSpPr txBox="1"/>
          <p:nvPr/>
        </p:nvSpPr>
        <p:spPr>
          <a:xfrm>
            <a:off x="6309360" y="1325880"/>
            <a:ext cx="2103120" cy="365760"/>
          </a:xfrm>
          <a:prstGeom prst="rect">
            <a:avLst/>
          </a:prstGeom>
          <a:noFill/>
        </p:spPr>
        <p:txBody>
          <a:bodyPr wrap="square" lIns="45720" rIns="45720" tIns="27432" bIns="27432" anchor="t">
            <a:spAutoFit/>
          </a:bodyPr>
          <a:lstStyle/>
          <a:p>
            <a:pPr algn="l">
              <a:spcAft>
                <a:spcPts val="600"/>
              </a:spcAft>
            </a:pPr>
            <a:r>
              <a:rPr sz="1400" b="1" i="0">
                <a:solidFill>
                  <a:srgbClr val="0E2841"/>
                </a:solidFill>
              </a:rPr>
              <a:t>Example 2</a:t>
            </a:r>
          </a:p>
        </p:txBody>
      </p:sp>
      <p:sp>
        <p:nvSpPr>
          <p:cNvPr id="41" name="mini result"/>
          <p:cNvSpPr txBox="1"/>
          <p:nvPr/>
        </p:nvSpPr>
        <p:spPr>
          <a:xfrm>
            <a:off x="6309360" y="4206240"/>
            <a:ext cx="5303520" cy="548640"/>
          </a:xfrm>
          <a:prstGeom prst="rect">
            <a:avLst/>
          </a:prstGeom>
          <a:noFill/>
        </p:spPr>
        <p:txBody>
          <a:bodyPr wrap="square" lIns="45720" rIns="45720" tIns="27432" bIns="27432" anchor="t">
            <a:spAutoFit/>
          </a:bodyPr>
          <a:lstStyle/>
          <a:p>
            <a:pPr algn="ctr">
              <a:spcAft>
                <a:spcPts val="600"/>
              </a:spcAft>
            </a:pPr>
            <a:r>
              <a:rPr sz="1400" b="1" i="0">
                <a:solidFill>
                  <a:srgbClr val="D41348"/>
                </a:solidFill>
              </a:rPr>
              <a:t>LCA = root · coverage 2/5 = 0.4 → patchy</a:t>
            </a:r>
          </a:p>
        </p:txBody>
      </p:sp>
      <p:sp>
        <p:nvSpPr>
          <p:cNvPr id="42" name="step 1"/>
          <p:cNvSpPr/>
          <p:nvPr/>
        </p:nvSpPr>
        <p:spPr>
          <a:xfrm>
            <a:off x="548640" y="4754880"/>
            <a:ext cx="2651760" cy="1371600"/>
          </a:xfrm>
          <a:prstGeom prst="roundRect">
            <a:avLst>
              <a:gd name="adj" fmla="val 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num 1"/>
          <p:cNvSpPr/>
          <p:nvPr/>
        </p:nvSpPr>
        <p:spPr>
          <a:xfrm>
            <a:off x="658368" y="4846320"/>
            <a:ext cx="384048" cy="384048"/>
          </a:xfrm>
          <a:prstGeom prst="ellipse">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i="0">
                <a:solidFill>
                  <a:srgbClr val="FFFFFF"/>
                </a:solidFill>
              </a:rPr>
              <a:t>1</a:t>
            </a:r>
          </a:p>
        </p:txBody>
      </p:sp>
      <p:sp>
        <p:nvSpPr>
          <p:cNvPr id="44" name="t 1"/>
          <p:cNvSpPr txBox="1"/>
          <p:nvPr/>
        </p:nvSpPr>
        <p:spPr>
          <a:xfrm>
            <a:off x="1143000" y="4828032"/>
            <a:ext cx="2011680" cy="411480"/>
          </a:xfrm>
          <a:prstGeom prst="rect">
            <a:avLst/>
          </a:prstGeom>
          <a:noFill/>
        </p:spPr>
        <p:txBody>
          <a:bodyPr wrap="square" lIns="45720" rIns="45720" tIns="27432" bIns="27432" anchor="ctr">
            <a:spAutoFit/>
          </a:bodyPr>
          <a:lstStyle/>
          <a:p>
            <a:pPr algn="l">
              <a:spcAft>
                <a:spcPts val="600"/>
              </a:spcAft>
            </a:pPr>
            <a:r>
              <a:rPr sz="1600" b="1" i="0">
                <a:solidFill>
                  <a:srgbClr val="0E2841"/>
                </a:solidFill>
              </a:rPr>
              <a:t>collect</a:t>
            </a:r>
          </a:p>
        </p:txBody>
      </p:sp>
      <p:sp>
        <p:nvSpPr>
          <p:cNvPr id="45" name="d 1"/>
          <p:cNvSpPr txBox="1"/>
          <p:nvPr/>
        </p:nvSpPr>
        <p:spPr>
          <a:xfrm>
            <a:off x="658368" y="5303520"/>
            <a:ext cx="2468880" cy="868680"/>
          </a:xfrm>
          <a:prstGeom prst="rect">
            <a:avLst/>
          </a:prstGeom>
          <a:noFill/>
        </p:spPr>
        <p:txBody>
          <a:bodyPr wrap="square" lIns="45720" rIns="45720" tIns="27432" bIns="27432" anchor="t">
            <a:spAutoFit/>
          </a:bodyPr>
          <a:lstStyle/>
          <a:p>
            <a:pPr algn="l">
              <a:spcAft>
                <a:spcPts val="600"/>
              </a:spcAft>
            </a:pPr>
            <a:r>
              <a:rPr sz="1400" b="0" i="0">
                <a:solidFill>
                  <a:srgbClr val="0E2841"/>
                </a:solidFill>
              </a:rPr>
              <a:t>the </a:t>
            </a:r>
            <a:r>
              <a:rPr sz="1400" b="1" i="0">
                <a:solidFill>
                  <a:srgbClr val="0E2841"/>
                </a:solidFill>
              </a:rPr>
              <a:t>carriers</a:t>
            </a:r>
            <a:r>
              <a:rPr sz="1400" b="0" i="0">
                <a:solidFill>
                  <a:srgbClr val="0E2841"/>
                </a:solidFill>
              </a:rPr>
              <a:t> of each KO</a:t>
            </a:r>
          </a:p>
        </p:txBody>
      </p:sp>
      <p:sp>
        <p:nvSpPr>
          <p:cNvPr id="46" name="step 2"/>
          <p:cNvSpPr/>
          <p:nvPr/>
        </p:nvSpPr>
        <p:spPr>
          <a:xfrm>
            <a:off x="3346704" y="4754880"/>
            <a:ext cx="2651760" cy="1371600"/>
          </a:xfrm>
          <a:prstGeom prst="roundRect">
            <a:avLst>
              <a:gd name="adj" fmla="val 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num 2"/>
          <p:cNvSpPr/>
          <p:nvPr/>
        </p:nvSpPr>
        <p:spPr>
          <a:xfrm>
            <a:off x="3456432" y="4846320"/>
            <a:ext cx="384048" cy="384048"/>
          </a:xfrm>
          <a:prstGeom prst="ellipse">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i="0">
                <a:solidFill>
                  <a:srgbClr val="FFFFFF"/>
                </a:solidFill>
              </a:rPr>
              <a:t>2</a:t>
            </a:r>
          </a:p>
        </p:txBody>
      </p:sp>
      <p:sp>
        <p:nvSpPr>
          <p:cNvPr id="48" name="t 2"/>
          <p:cNvSpPr txBox="1"/>
          <p:nvPr/>
        </p:nvSpPr>
        <p:spPr>
          <a:xfrm>
            <a:off x="3941064" y="4828032"/>
            <a:ext cx="2011680" cy="411480"/>
          </a:xfrm>
          <a:prstGeom prst="rect">
            <a:avLst/>
          </a:prstGeom>
          <a:noFill/>
        </p:spPr>
        <p:txBody>
          <a:bodyPr wrap="square" lIns="45720" rIns="45720" tIns="27432" bIns="27432" anchor="ctr">
            <a:spAutoFit/>
          </a:bodyPr>
          <a:lstStyle/>
          <a:p>
            <a:pPr algn="l">
              <a:spcAft>
                <a:spcPts val="600"/>
              </a:spcAft>
            </a:pPr>
            <a:r>
              <a:rPr sz="1600" b="1" i="0">
                <a:solidFill>
                  <a:srgbClr val="0E2841"/>
                </a:solidFill>
              </a:rPr>
              <a:t>walk up</a:t>
            </a:r>
          </a:p>
        </p:txBody>
      </p:sp>
      <p:sp>
        <p:nvSpPr>
          <p:cNvPr id="49" name="d 2"/>
          <p:cNvSpPr txBox="1"/>
          <p:nvPr/>
        </p:nvSpPr>
        <p:spPr>
          <a:xfrm>
            <a:off x="3456432" y="5303520"/>
            <a:ext cx="2468880" cy="868680"/>
          </a:xfrm>
          <a:prstGeom prst="rect">
            <a:avLst/>
          </a:prstGeom>
          <a:noFill/>
        </p:spPr>
        <p:txBody>
          <a:bodyPr wrap="square" lIns="45720" rIns="45720" tIns="27432" bIns="27432" anchor="t">
            <a:spAutoFit/>
          </a:bodyPr>
          <a:lstStyle/>
          <a:p>
            <a:pPr algn="l">
              <a:spcAft>
                <a:spcPts val="600"/>
              </a:spcAft>
            </a:pPr>
            <a:r>
              <a:rPr sz="1400" b="0" i="0">
                <a:solidFill>
                  <a:srgbClr val="156082"/>
                </a:solidFill>
                <a:latin typeface="Courier New"/>
              </a:rPr>
              <a:t>CHILD_OF*0..</a:t>
            </a:r>
            <a:r>
              <a:rPr sz="1400" b="0" i="0">
                <a:solidFill>
                  <a:srgbClr val="0E2841"/>
                </a:solidFill>
              </a:rPr>
              <a:t> from every carrier</a:t>
            </a:r>
          </a:p>
        </p:txBody>
      </p:sp>
      <p:sp>
        <p:nvSpPr>
          <p:cNvPr id="50" name="step 3"/>
          <p:cNvSpPr/>
          <p:nvPr/>
        </p:nvSpPr>
        <p:spPr>
          <a:xfrm>
            <a:off x="6144768" y="4754880"/>
            <a:ext cx="2651760" cy="1371600"/>
          </a:xfrm>
          <a:prstGeom prst="roundRect">
            <a:avLst>
              <a:gd name="adj" fmla="val 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num 3"/>
          <p:cNvSpPr/>
          <p:nvPr/>
        </p:nvSpPr>
        <p:spPr>
          <a:xfrm>
            <a:off x="6254496" y="4846320"/>
            <a:ext cx="384048" cy="384048"/>
          </a:xfrm>
          <a:prstGeom prst="ellipse">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i="0">
                <a:solidFill>
                  <a:srgbClr val="FFFFFF"/>
                </a:solidFill>
              </a:rPr>
              <a:t>3</a:t>
            </a:r>
          </a:p>
        </p:txBody>
      </p:sp>
      <p:sp>
        <p:nvSpPr>
          <p:cNvPr id="52" name="t 3"/>
          <p:cNvSpPr txBox="1"/>
          <p:nvPr/>
        </p:nvSpPr>
        <p:spPr>
          <a:xfrm>
            <a:off x="6739128" y="4828032"/>
            <a:ext cx="2011680" cy="411480"/>
          </a:xfrm>
          <a:prstGeom prst="rect">
            <a:avLst/>
          </a:prstGeom>
          <a:noFill/>
        </p:spPr>
        <p:txBody>
          <a:bodyPr wrap="square" lIns="45720" rIns="45720" tIns="27432" bIns="27432" anchor="ctr">
            <a:spAutoFit/>
          </a:bodyPr>
          <a:lstStyle/>
          <a:p>
            <a:pPr algn="l">
              <a:spcAft>
                <a:spcPts val="600"/>
              </a:spcAft>
            </a:pPr>
            <a:r>
              <a:rPr sz="1600" b="1" i="0">
                <a:solidFill>
                  <a:srgbClr val="0E2841"/>
                </a:solidFill>
              </a:rPr>
              <a:t>keep</a:t>
            </a:r>
          </a:p>
        </p:txBody>
      </p:sp>
      <p:sp>
        <p:nvSpPr>
          <p:cNvPr id="53" name="d 3"/>
          <p:cNvSpPr txBox="1"/>
          <p:nvPr/>
        </p:nvSpPr>
        <p:spPr>
          <a:xfrm>
            <a:off x="6254496" y="5303520"/>
            <a:ext cx="2468880" cy="868680"/>
          </a:xfrm>
          <a:prstGeom prst="rect">
            <a:avLst/>
          </a:prstGeom>
          <a:noFill/>
        </p:spPr>
        <p:txBody>
          <a:bodyPr wrap="square" lIns="45720" rIns="45720" tIns="27432" bIns="27432" anchor="t">
            <a:spAutoFit/>
          </a:bodyPr>
          <a:lstStyle/>
          <a:p>
            <a:pPr algn="l">
              <a:spcAft>
                <a:spcPts val="600"/>
              </a:spcAft>
            </a:pPr>
            <a:r>
              <a:rPr sz="1400" b="0" i="0">
                <a:solidFill>
                  <a:srgbClr val="0E2841"/>
                </a:solidFill>
              </a:rPr>
              <a:t>ancestors above </a:t>
            </a:r>
            <a:r>
              <a:rPr sz="1400" b="1" i="0">
                <a:solidFill>
                  <a:srgbClr val="0E2841"/>
                </a:solidFill>
              </a:rPr>
              <a:t>all</a:t>
            </a:r>
            <a:r>
              <a:rPr sz="1400" b="0" i="0">
                <a:solidFill>
                  <a:srgbClr val="0E2841"/>
                </a:solidFill>
              </a:rPr>
              <a:t> carriers</a:t>
            </a:r>
          </a:p>
        </p:txBody>
      </p:sp>
      <p:sp>
        <p:nvSpPr>
          <p:cNvPr id="54" name="step 4"/>
          <p:cNvSpPr/>
          <p:nvPr/>
        </p:nvSpPr>
        <p:spPr>
          <a:xfrm>
            <a:off x="8942832" y="4754880"/>
            <a:ext cx="2651760" cy="1371600"/>
          </a:xfrm>
          <a:prstGeom prst="roundRect">
            <a:avLst>
              <a:gd name="adj" fmla="val 40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num 4"/>
          <p:cNvSpPr/>
          <p:nvPr/>
        </p:nvSpPr>
        <p:spPr>
          <a:xfrm>
            <a:off x="9052559" y="4846320"/>
            <a:ext cx="384048" cy="384048"/>
          </a:xfrm>
          <a:prstGeom prst="ellipse">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i="0">
                <a:solidFill>
                  <a:srgbClr val="FFFFFF"/>
                </a:solidFill>
              </a:rPr>
              <a:t>4</a:t>
            </a:r>
          </a:p>
        </p:txBody>
      </p:sp>
      <p:sp>
        <p:nvSpPr>
          <p:cNvPr id="56" name="t 4"/>
          <p:cNvSpPr txBox="1"/>
          <p:nvPr/>
        </p:nvSpPr>
        <p:spPr>
          <a:xfrm>
            <a:off x="9537192" y="4828032"/>
            <a:ext cx="2011680" cy="411480"/>
          </a:xfrm>
          <a:prstGeom prst="rect">
            <a:avLst/>
          </a:prstGeom>
          <a:noFill/>
        </p:spPr>
        <p:txBody>
          <a:bodyPr wrap="square" lIns="45720" rIns="45720" tIns="27432" bIns="27432" anchor="ctr">
            <a:spAutoFit/>
          </a:bodyPr>
          <a:lstStyle/>
          <a:p>
            <a:pPr algn="l">
              <a:spcAft>
                <a:spcPts val="600"/>
              </a:spcAft>
            </a:pPr>
            <a:r>
              <a:rPr sz="1600" b="1" i="0">
                <a:solidFill>
                  <a:srgbClr val="0E2841"/>
                </a:solidFill>
              </a:rPr>
              <a:t>deepest</a:t>
            </a:r>
          </a:p>
        </p:txBody>
      </p:sp>
      <p:sp>
        <p:nvSpPr>
          <p:cNvPr id="57" name="d 4"/>
          <p:cNvSpPr txBox="1"/>
          <p:nvPr/>
        </p:nvSpPr>
        <p:spPr>
          <a:xfrm>
            <a:off x="9052559" y="5303520"/>
            <a:ext cx="2468880" cy="868680"/>
          </a:xfrm>
          <a:prstGeom prst="rect">
            <a:avLst/>
          </a:prstGeom>
          <a:noFill/>
        </p:spPr>
        <p:txBody>
          <a:bodyPr wrap="square" lIns="45720" rIns="45720" tIns="27432" bIns="27432" anchor="t">
            <a:spAutoFit/>
          </a:bodyPr>
          <a:lstStyle/>
          <a:p>
            <a:pPr algn="l">
              <a:spcAft>
                <a:spcPts val="600"/>
              </a:spcAft>
            </a:pPr>
            <a:r>
              <a:rPr sz="1400" b="0" i="0">
                <a:solidFill>
                  <a:srgbClr val="0E2841"/>
                </a:solidFill>
              </a:rPr>
              <a:t>= LCA; coverage = carriers / clade size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9509760" cy="777240"/>
          </a:xfrm>
        </p:spPr>
        <p:txBody>
          <a:bodyPr wrap="square" anchor="ctr"/>
          <a:lstStyle/>
          <a:p>
            <a:pPr algn="l"/>
            <a:r>
              <a:rPr sz="3000" b="1" i="0">
                <a:solidFill>
                  <a:srgbClr val="0E2841"/>
                </a:solidFill>
              </a:rPr>
              <a:t>Most KOs are patchy: patterns of KO evolution</a:t>
            </a:r>
          </a:p>
        </p:txBody>
      </p:sp>
      <p:sp>
        <p:nvSpPr>
          <p:cNvPr id="3" name="footer"/>
          <p:cNvSpPr txBox="1"/>
          <p:nvPr/>
        </p:nvSpPr>
        <p:spPr>
          <a:xfrm>
            <a:off x="548640" y="6455664"/>
            <a:ext cx="8686800" cy="274320"/>
          </a:xfrm>
          <a:prstGeom prst="rect">
            <a:avLst/>
          </a:prstGeom>
          <a:noFill/>
        </p:spPr>
        <p:txBody>
          <a:bodyPr wrap="square" lIns="45720" rIns="45720" tIns="27432" bIns="27432" anchor="t">
            <a:spAutoFit/>
          </a:bodyPr>
          <a:lstStyle/>
          <a:p>
            <a:pPr algn="l">
              <a:spcAft>
                <a:spcPts val="600"/>
              </a:spcAft>
            </a:pPr>
            <a:r>
              <a:rPr sz="1000" b="0" i="0">
                <a:solidFill>
                  <a:srgbClr val="595959"/>
                </a:solidFill>
              </a:rPr>
              <a:t>NoSQL Databases for Bioinformatics  ·  Lecture 27  ·  Neo4j genome workshop</a:t>
            </a:r>
          </a:p>
        </p:txBody>
      </p:sp>
      <p:sp>
        <p:nvSpPr>
          <p:cNvPr id="4" name="slide number"/>
          <p:cNvSpPr txBox="1"/>
          <p:nvPr/>
        </p:nvSpPr>
        <p:spPr>
          <a:xfrm>
            <a:off x="10698480" y="6455664"/>
            <a:ext cx="914400" cy="274320"/>
          </a:xfrm>
          <a:prstGeom prst="rect">
            <a:avLst/>
          </a:prstGeom>
          <a:noFill/>
        </p:spPr>
        <p:txBody>
          <a:bodyPr wrap="square" lIns="45720" rIns="45720" tIns="27432" bIns="27432" anchor="t">
            <a:spAutoFit/>
          </a:bodyPr>
          <a:lstStyle/>
          <a:p>
            <a:pPr algn="r">
              <a:spcAft>
                <a:spcPts val="600"/>
              </a:spcAft>
            </a:pPr>
            <a:fld id="{B6F15528-21DE-4FAA-801E-634DDDAF4B2B}" type="slidenum">
              <a:rPr lang="en-US" sz="1000">
                <a:solidFill>
                  <a:srgbClr val="595959"/>
                </a:solidFill>
              </a:rPr>
              <a:t>‹#›</a:t>
            </a:fld>
          </a:p>
        </p:txBody>
      </p:sp>
      <p:sp>
        <p:nvSpPr>
          <p:cNvPr id="5" name="step tag"/>
          <p:cNvSpPr/>
          <p:nvPr/>
        </p:nvSpPr>
        <p:spPr>
          <a:xfrm>
            <a:off x="10195560" y="411480"/>
            <a:ext cx="1417320" cy="329184"/>
          </a:xfrm>
          <a:prstGeom prst="roundRect">
            <a:avLst>
              <a:gd name="adj" fmla="val 50000"/>
            </a:avLst>
          </a:prstGeom>
          <a:solidFill>
            <a:srgbClr val="D413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QUERY 2</a:t>
            </a:r>
          </a:p>
        </p:txBody>
      </p:sp>
      <p:pic>
        <p:nvPicPr>
          <p:cNvPr id="6" name="patterns" descr="ko_patterns.png"/>
          <p:cNvPicPr>
            <a:picLocks noChangeAspect="1"/>
          </p:cNvPicPr>
          <p:nvPr/>
        </p:nvPicPr>
        <p:blipFill>
          <a:blip r:embed="rId3"/>
          <a:stretch>
            <a:fillRect/>
          </a:stretch>
        </p:blipFill>
        <p:spPr>
          <a:xfrm>
            <a:off x="548640" y="1436330"/>
            <a:ext cx="6035040" cy="2979498"/>
          </a:xfrm>
          <a:prstGeom prst="rect">
            <a:avLst/>
          </a:prstGeom>
        </p:spPr>
      </p:pic>
      <p:graphicFrame>
        <p:nvGraphicFramePr>
          <p:cNvPr id="7" name="case table"/>
          <p:cNvGraphicFramePr>
            <a:graphicFrameLocks noGrp="1"/>
          </p:cNvGraphicFramePr>
          <p:nvPr/>
        </p:nvGraphicFramePr>
        <p:xfrm>
          <a:off x="6858000" y="1371600"/>
          <a:ext cx="4754880" cy="2849880"/>
        </p:xfrm>
        <a:graphic>
          <a:graphicData uri="http://schemas.openxmlformats.org/drawingml/2006/table">
            <a:tbl>
              <a:tblPr firstRow="0" bandRow="0">
                <a:tableStyleId>{5C22544A-7EE6-4342-B048-85BDC9FD1C3A}</a:tableStyleId>
              </a:tblPr>
              <a:tblGrid>
                <a:gridCol w="1097280"/>
                <a:gridCol w="2651760"/>
                <a:gridCol w="1005840"/>
              </a:tblGrid>
              <a:tr h="411480">
                <a:tc>
                  <a:txBody>
                    <a:bodyPr wrap="square"/>
                    <a:lstStyle/>
                    <a:p>
                      <a:r>
                        <a:rPr sz="1400" b="1" i="0">
                          <a:solidFill>
                            <a:srgbClr val="FFFFFF"/>
                          </a:solidFill>
                        </a:rPr>
                        <a:t>KO</a:t>
                      </a:r>
                    </a:p>
                  </a:txBody>
                  <a:tcPr marL="73152" marR="73152" marT="36576" marB="36576" anchor="ctr">
                    <a:solidFill>
                      <a:srgbClr val="0E2841"/>
                    </a:solidFill>
                  </a:tcPr>
                </a:tc>
                <a:tc>
                  <a:txBody>
                    <a:bodyPr wrap="square"/>
                    <a:lstStyle/>
                    <a:p>
                      <a:r>
                        <a:rPr sz="1400" b="1" i="0">
                          <a:solidFill>
                            <a:srgbClr val="FFFFFF"/>
                          </a:solidFill>
                        </a:rPr>
                        <a:t>origin clade</a:t>
                      </a:r>
                    </a:p>
                  </a:txBody>
                  <a:tcPr marL="73152" marR="73152" marT="36576" marB="36576" anchor="ctr">
                    <a:solidFill>
                      <a:srgbClr val="0E2841"/>
                    </a:solidFill>
                  </a:tcPr>
                </a:tc>
                <a:tc>
                  <a:txBody>
                    <a:bodyPr wrap="square"/>
                    <a:lstStyle/>
                    <a:p>
                      <a:pPr algn="r"/>
                      <a:r>
                        <a:rPr sz="1400" b="1" i="0">
                          <a:solidFill>
                            <a:srgbClr val="FFFFFF"/>
                          </a:solidFill>
                        </a:rPr>
                        <a:t>coverage</a:t>
                      </a:r>
                    </a:p>
                  </a:txBody>
                  <a:tcPr marL="73152" marR="73152" marT="36576" marB="36576" anchor="ctr">
                    <a:solidFill>
                      <a:srgbClr val="0E2841"/>
                    </a:solidFill>
                  </a:tcPr>
                </a:tc>
              </a:tr>
              <a:tr h="384048">
                <a:tc>
                  <a:txBody>
                    <a:bodyPr wrap="square"/>
                    <a:lstStyle/>
                    <a:p>
                      <a:r>
                        <a:rPr sz="1400" b="0" i="0">
                          <a:solidFill>
                            <a:srgbClr val="156082"/>
                          </a:solidFill>
                          <a:latin typeface="Courier New"/>
                        </a:rPr>
                        <a:t>groEL</a:t>
                      </a:r>
                    </a:p>
                  </a:txBody>
                  <a:tcPr marL="73152" marR="73152" marT="36576" marB="36576" anchor="ctr">
                    <a:solidFill>
                      <a:srgbClr val="FFFFFF"/>
                    </a:solidFill>
                  </a:tcPr>
                </a:tc>
                <a:tc>
                  <a:txBody>
                    <a:bodyPr wrap="square"/>
                    <a:lstStyle/>
                    <a:p>
                      <a:r>
                        <a:rPr sz="1400" b="0" i="0">
                          <a:solidFill>
                            <a:srgbClr val="0E2841"/>
                          </a:solidFill>
                        </a:rPr>
                        <a:t>root</a:t>
                      </a:r>
                    </a:p>
                  </a:txBody>
                  <a:tcPr marL="73152" marR="73152" marT="36576" marB="36576" anchor="ctr">
                    <a:solidFill>
                      <a:srgbClr val="FFFFFF"/>
                    </a:solidFill>
                  </a:tcPr>
                </a:tc>
                <a:tc>
                  <a:txBody>
                    <a:bodyPr wrap="square"/>
                    <a:lstStyle/>
                    <a:p>
                      <a:pPr algn="r"/>
                      <a:r>
                        <a:rPr sz="1400" b="0" i="0">
                          <a:solidFill>
                            <a:srgbClr val="0E2841"/>
                          </a:solidFill>
                        </a:rPr>
                        <a:t>1.00</a:t>
                      </a:r>
                    </a:p>
                  </a:txBody>
                  <a:tcPr marL="73152" marR="73152" marT="36576" marB="36576" anchor="ctr">
                    <a:solidFill>
                      <a:srgbClr val="FFFFFF"/>
                    </a:solidFill>
                  </a:tcPr>
                </a:tc>
              </a:tr>
              <a:tr h="518160">
                <a:tc>
                  <a:txBody>
                    <a:bodyPr wrap="square"/>
                    <a:lstStyle/>
                    <a:p>
                      <a:r>
                        <a:rPr sz="1400" b="0" i="0">
                          <a:solidFill>
                            <a:srgbClr val="156082"/>
                          </a:solidFill>
                          <a:latin typeface="Courier New"/>
                        </a:rPr>
                        <a:t>psbA</a:t>
                      </a:r>
                    </a:p>
                  </a:txBody>
                  <a:tcPr marL="73152" marR="73152" marT="36576" marB="36576" anchor="ctr">
                    <a:solidFill>
                      <a:srgbClr val="F2F5F9"/>
                    </a:solidFill>
                  </a:tcPr>
                </a:tc>
                <a:tc>
                  <a:txBody>
                    <a:bodyPr wrap="square"/>
                    <a:lstStyle/>
                    <a:p>
                      <a:r>
                        <a:rPr sz="1400" b="0" i="0">
                          <a:solidFill>
                            <a:srgbClr val="0E2841"/>
                          </a:solidFill>
                        </a:rPr>
                        <a:t>Cyanophyceae (= all cyanobacteria)</a:t>
                      </a:r>
                    </a:p>
                  </a:txBody>
                  <a:tcPr marL="73152" marR="73152" marT="36576" marB="36576" anchor="ctr">
                    <a:solidFill>
                      <a:srgbClr val="F2F5F9"/>
                    </a:solidFill>
                  </a:tcPr>
                </a:tc>
                <a:tc>
                  <a:txBody>
                    <a:bodyPr wrap="square"/>
                    <a:lstStyle/>
                    <a:p>
                      <a:pPr algn="r"/>
                      <a:r>
                        <a:rPr sz="1400" b="0" i="0">
                          <a:solidFill>
                            <a:srgbClr val="0E2841"/>
                          </a:solidFill>
                        </a:rPr>
                        <a:t>1.00</a:t>
                      </a:r>
                    </a:p>
                  </a:txBody>
                  <a:tcPr marL="73152" marR="73152" marT="36576" marB="36576" anchor="ctr">
                    <a:solidFill>
                      <a:srgbClr val="F2F5F9"/>
                    </a:solidFill>
                  </a:tcPr>
                </a:tc>
              </a:tr>
              <a:tr h="384048">
                <a:tc>
                  <a:txBody>
                    <a:bodyPr wrap="square"/>
                    <a:lstStyle/>
                    <a:p>
                      <a:r>
                        <a:rPr sz="1400" b="0" i="0">
                          <a:solidFill>
                            <a:srgbClr val="156082"/>
                          </a:solidFill>
                          <a:latin typeface="Courier New"/>
                        </a:rPr>
                        <a:t>rpoB</a:t>
                      </a:r>
                    </a:p>
                  </a:txBody>
                  <a:tcPr marL="73152" marR="73152" marT="36576" marB="36576" anchor="ctr">
                    <a:solidFill>
                      <a:srgbClr val="FFFFFF"/>
                    </a:solidFill>
                  </a:tcPr>
                </a:tc>
                <a:tc>
                  <a:txBody>
                    <a:bodyPr wrap="square"/>
                    <a:lstStyle/>
                    <a:p>
                      <a:r>
                        <a:rPr sz="1400" b="0" i="0">
                          <a:solidFill>
                            <a:srgbClr val="0E2841"/>
                          </a:solidFill>
                        </a:rPr>
                        <a:t>Bacteria</a:t>
                      </a:r>
                    </a:p>
                  </a:txBody>
                  <a:tcPr marL="73152" marR="73152" marT="36576" marB="36576" anchor="ctr">
                    <a:solidFill>
                      <a:srgbClr val="FFFFFF"/>
                    </a:solidFill>
                  </a:tcPr>
                </a:tc>
                <a:tc>
                  <a:txBody>
                    <a:bodyPr wrap="square"/>
                    <a:lstStyle/>
                    <a:p>
                      <a:pPr algn="r"/>
                      <a:r>
                        <a:rPr sz="1400" b="0" i="0">
                          <a:solidFill>
                            <a:srgbClr val="0E2841"/>
                          </a:solidFill>
                        </a:rPr>
                        <a:t>0.95</a:t>
                      </a:r>
                    </a:p>
                  </a:txBody>
                  <a:tcPr marL="73152" marR="73152" marT="36576" marB="36576" anchor="ctr">
                    <a:solidFill>
                      <a:srgbClr val="FFFFFF"/>
                    </a:solidFill>
                  </a:tcPr>
                </a:tc>
              </a:tr>
              <a:tr h="384048">
                <a:tc>
                  <a:txBody>
                    <a:bodyPr wrap="square"/>
                    <a:lstStyle/>
                    <a:p>
                      <a:r>
                        <a:rPr sz="1400" b="0" i="0">
                          <a:solidFill>
                            <a:srgbClr val="156082"/>
                          </a:solidFill>
                          <a:latin typeface="Courier New"/>
                        </a:rPr>
                        <a:t>fliC</a:t>
                      </a:r>
                    </a:p>
                  </a:txBody>
                  <a:tcPr marL="73152" marR="73152" marT="36576" marB="36576" anchor="ctr">
                    <a:solidFill>
                      <a:srgbClr val="F2F5F9"/>
                    </a:solidFill>
                  </a:tcPr>
                </a:tc>
                <a:tc>
                  <a:txBody>
                    <a:bodyPr wrap="square"/>
                    <a:lstStyle/>
                    <a:p>
                      <a:r>
                        <a:rPr sz="1400" b="0" i="0">
                          <a:solidFill>
                            <a:srgbClr val="0E2841"/>
                          </a:solidFill>
                        </a:rPr>
                        <a:t>Bacteria</a:t>
                      </a:r>
                    </a:p>
                  </a:txBody>
                  <a:tcPr marL="73152" marR="73152" marT="36576" marB="36576" anchor="ctr">
                    <a:solidFill>
                      <a:srgbClr val="F2F5F9"/>
                    </a:solidFill>
                  </a:tcPr>
                </a:tc>
                <a:tc>
                  <a:txBody>
                    <a:bodyPr wrap="square"/>
                    <a:lstStyle/>
                    <a:p>
                      <a:pPr algn="r"/>
                      <a:r>
                        <a:rPr sz="1400" b="0" i="0">
                          <a:solidFill>
                            <a:srgbClr val="0E2841"/>
                          </a:solidFill>
                        </a:rPr>
                        <a:t>0.48</a:t>
                      </a:r>
                    </a:p>
                  </a:txBody>
                  <a:tcPr marL="73152" marR="73152" marT="36576" marB="36576" anchor="ctr">
                    <a:solidFill>
                      <a:srgbClr val="F2F5F9"/>
                    </a:solidFill>
                  </a:tcPr>
                </a:tc>
              </a:tr>
              <a:tr h="384048">
                <a:tc>
                  <a:txBody>
                    <a:bodyPr wrap="square"/>
                    <a:lstStyle/>
                    <a:p>
                      <a:r>
                        <a:rPr sz="1400" b="0" i="0">
                          <a:solidFill>
                            <a:srgbClr val="156082"/>
                          </a:solidFill>
                          <a:latin typeface="Courier New"/>
                        </a:rPr>
                        <a:t>spo0A</a:t>
                      </a:r>
                    </a:p>
                  </a:txBody>
                  <a:tcPr marL="73152" marR="73152" marT="36576" marB="36576" anchor="ctr">
                    <a:solidFill>
                      <a:srgbClr val="FFFFFF"/>
                    </a:solidFill>
                  </a:tcPr>
                </a:tc>
                <a:tc>
                  <a:txBody>
                    <a:bodyPr wrap="square"/>
                    <a:lstStyle/>
                    <a:p>
                      <a:r>
                        <a:rPr sz="1400" b="0" i="0">
                          <a:solidFill>
                            <a:srgbClr val="0E2841"/>
                          </a:solidFill>
                        </a:rPr>
                        <a:t>Bacillota</a:t>
                      </a:r>
                    </a:p>
                  </a:txBody>
                  <a:tcPr marL="73152" marR="73152" marT="36576" marB="36576" anchor="ctr">
                    <a:solidFill>
                      <a:srgbClr val="FFFFFF"/>
                    </a:solidFill>
                  </a:tcPr>
                </a:tc>
                <a:tc>
                  <a:txBody>
                    <a:bodyPr wrap="square"/>
                    <a:lstStyle/>
                    <a:p>
                      <a:pPr algn="r"/>
                      <a:r>
                        <a:rPr sz="1400" b="0" i="0">
                          <a:solidFill>
                            <a:srgbClr val="0E2841"/>
                          </a:solidFill>
                        </a:rPr>
                        <a:t>0.40</a:t>
                      </a:r>
                    </a:p>
                  </a:txBody>
                  <a:tcPr marL="73152" marR="73152" marT="36576" marB="36576" anchor="ctr">
                    <a:solidFill>
                      <a:srgbClr val="FFFFFF"/>
                    </a:solidFill>
                  </a:tcPr>
                </a:tc>
              </a:tr>
              <a:tr h="384048">
                <a:tc>
                  <a:txBody>
                    <a:bodyPr wrap="square"/>
                    <a:lstStyle/>
                    <a:p>
                      <a:r>
                        <a:rPr sz="1400" b="0" i="0">
                          <a:solidFill>
                            <a:srgbClr val="156082"/>
                          </a:solidFill>
                          <a:latin typeface="Courier New"/>
                        </a:rPr>
                        <a:t>nifH</a:t>
                      </a:r>
                    </a:p>
                  </a:txBody>
                  <a:tcPr marL="73152" marR="73152" marT="36576" marB="36576" anchor="ctr">
                    <a:solidFill>
                      <a:srgbClr val="F2F5F9"/>
                    </a:solidFill>
                  </a:tcPr>
                </a:tc>
                <a:tc>
                  <a:txBody>
                    <a:bodyPr wrap="square"/>
                    <a:lstStyle/>
                    <a:p>
                      <a:r>
                        <a:rPr sz="1400" b="0" i="0">
                          <a:solidFill>
                            <a:srgbClr val="0E2841"/>
                          </a:solidFill>
                        </a:rPr>
                        <a:t>root</a:t>
                      </a:r>
                    </a:p>
                  </a:txBody>
                  <a:tcPr marL="73152" marR="73152" marT="36576" marB="36576" anchor="ctr">
                    <a:solidFill>
                      <a:srgbClr val="F2F5F9"/>
                    </a:solidFill>
                  </a:tcPr>
                </a:tc>
                <a:tc>
                  <a:txBody>
                    <a:bodyPr wrap="square"/>
                    <a:lstStyle/>
                    <a:p>
                      <a:pPr algn="r"/>
                      <a:r>
                        <a:rPr sz="1400" b="0" i="0">
                          <a:solidFill>
                            <a:srgbClr val="0E2841"/>
                          </a:solidFill>
                        </a:rPr>
                        <a:t>0.14</a:t>
                      </a:r>
                    </a:p>
                  </a:txBody>
                  <a:tcPr marL="73152" marR="73152" marT="36576" marB="36576" anchor="ctr">
                    <a:solidFill>
                      <a:srgbClr val="F2F5F9"/>
                    </a:solidFill>
                  </a:tcPr>
                </a:tc>
              </a:tr>
            </a:tbl>
          </a:graphicData>
        </a:graphic>
      </p:graphicFrame>
      <p:sp>
        <p:nvSpPr>
          <p:cNvPr id="8" name="rules bg"/>
          <p:cNvSpPr/>
          <p:nvPr/>
        </p:nvSpPr>
        <p:spPr>
          <a:xfrm>
            <a:off x="548640" y="4754880"/>
            <a:ext cx="6035040" cy="1188720"/>
          </a:xfrm>
          <a:prstGeom prst="roundRect">
            <a:avLst>
              <a:gd name="adj" fmla="val 4615"/>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ules"/>
          <p:cNvSpPr txBox="1"/>
          <p:nvPr/>
        </p:nvSpPr>
        <p:spPr>
          <a:xfrm>
            <a:off x="685800" y="4828032"/>
            <a:ext cx="5760720" cy="1097280"/>
          </a:xfrm>
          <a:prstGeom prst="rect">
            <a:avLst/>
          </a:prstGeom>
          <a:noFill/>
        </p:spPr>
        <p:txBody>
          <a:bodyPr wrap="square" lIns="45720" rIns="45720" tIns="27432" bIns="27432" anchor="t">
            <a:spAutoFit/>
          </a:bodyPr>
          <a:lstStyle/>
          <a:p>
            <a:pPr algn="l" marL="256032" indent="-256032">
              <a:spcAft>
                <a:spcPts val="300"/>
              </a:spcAft>
              <a:buFont typeface="Arial"/>
              <a:buChar char="•"/>
            </a:pPr>
            <a:r>
              <a:rPr sz="1400" b="1" i="0">
                <a:solidFill>
                  <a:srgbClr val="0E2841"/>
                </a:solidFill>
              </a:rPr>
              <a:t>universal</a:t>
            </a:r>
            <a:r>
              <a:rPr sz="1400" b="0" i="0">
                <a:solidFill>
                  <a:srgbClr val="0E2841"/>
                </a:solidFill>
              </a:rPr>
              <a:t>: origin = root, coverage ≥ 0.9</a:t>
            </a:r>
          </a:p>
          <a:p>
            <a:pPr algn="l" marL="256032" indent="-256032">
              <a:spcAft>
                <a:spcPts val="300"/>
              </a:spcAft>
              <a:buFont typeface="Arial"/>
              <a:buChar char="•"/>
            </a:pPr>
            <a:r>
              <a:rPr sz="1400" b="1" i="0">
                <a:solidFill>
                  <a:srgbClr val="0E2841"/>
                </a:solidFill>
              </a:rPr>
              <a:t>clade-specific</a:t>
            </a:r>
            <a:r>
              <a:rPr sz="1400" b="0" i="0">
                <a:solidFill>
                  <a:srgbClr val="0E2841"/>
                </a:solidFill>
              </a:rPr>
              <a:t>: origin below root, coverage ≥ 0.9</a:t>
            </a:r>
          </a:p>
          <a:p>
            <a:pPr algn="l" marL="256032" indent="-256032">
              <a:spcAft>
                <a:spcPts val="300"/>
              </a:spcAft>
              <a:buFont typeface="Arial"/>
              <a:buChar char="•"/>
            </a:pPr>
            <a:r>
              <a:rPr sz="1400" b="1" i="0">
                <a:solidFill>
                  <a:srgbClr val="0E2841"/>
                </a:solidFill>
              </a:rPr>
              <a:t>patchy</a:t>
            </a:r>
            <a:r>
              <a:rPr sz="1400" b="0" i="0">
                <a:solidFill>
                  <a:srgbClr val="0E2841"/>
                </a:solidFill>
              </a:rPr>
              <a:t>: coverage &lt; 0.5 (loss and/or transfer)</a:t>
            </a:r>
          </a:p>
        </p:txBody>
      </p:sp>
      <p:sp>
        <p:nvSpPr>
          <p:cNvPr id="10" name="patterns note"/>
          <p:cNvSpPr txBox="1"/>
          <p:nvPr/>
        </p:nvSpPr>
        <p:spPr>
          <a:xfrm>
            <a:off x="6858000" y="4434840"/>
            <a:ext cx="4754880" cy="1828800"/>
          </a:xfrm>
          <a:prstGeom prst="rect">
            <a:avLst/>
          </a:prstGeom>
          <a:noFill/>
        </p:spPr>
        <p:txBody>
          <a:bodyPr wrap="square" lIns="45720" rIns="45720" tIns="27432" bIns="27432" anchor="t">
            <a:spAutoFit/>
          </a:bodyPr>
          <a:lstStyle/>
          <a:p>
            <a:pPr algn="l">
              <a:spcAft>
                <a:spcPts val="600"/>
              </a:spcAft>
            </a:pPr>
            <a:r>
              <a:rPr sz="1400" b="0" i="1">
                <a:solidFill>
                  <a:srgbClr val="595959"/>
                </a:solidFill>
              </a:rPr>
              <a:t>Thresholds are our choice</a:t>
            </a:r>
            <a:r>
              <a:rPr sz="1400" b="0" i="0">
                <a:solidFill>
                  <a:srgbClr val="595959"/>
                </a:solidFill>
              </a:rPr>
              <a:t>: change them and see how the numbers move. Patchy KOs mark where </a:t>
            </a:r>
            <a:r>
              <a:rPr sz="1400" b="1" i="0">
                <a:solidFill>
                  <a:srgbClr val="595959"/>
                </a:solidFill>
              </a:rPr>
              <a:t>horizontal gene transfer</a:t>
            </a:r>
            <a:r>
              <a:rPr sz="1400" b="0" i="0">
                <a:solidFill>
                  <a:srgbClr val="595959"/>
                </a:solidFill>
              </a:rPr>
              <a:t> and repeated </a:t>
            </a:r>
            <a:r>
              <a:rPr sz="1400" b="1" i="0">
                <a:solidFill>
                  <a:srgbClr val="595959"/>
                </a:solidFill>
              </a:rPr>
              <a:t>gene loss</a:t>
            </a:r>
            <a:r>
              <a:rPr sz="1400" b="0" i="0">
                <a:solidFill>
                  <a:srgbClr val="595959"/>
                </a:solidFill>
              </a:rPr>
              <a:t> shape genomes.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9509760" cy="777240"/>
          </a:xfrm>
        </p:spPr>
        <p:txBody>
          <a:bodyPr wrap="square" anchor="ctr"/>
          <a:lstStyle/>
          <a:p>
            <a:pPr algn="l"/>
            <a:r>
              <a:rPr sz="3000" b="1" i="0">
                <a:solidFill>
                  <a:srgbClr val="0E2841"/>
                </a:solidFill>
              </a:rPr>
              <a:t>Signature KOs: what defines a clade?</a:t>
            </a:r>
          </a:p>
        </p:txBody>
      </p:sp>
      <p:sp>
        <p:nvSpPr>
          <p:cNvPr id="3" name="footer"/>
          <p:cNvSpPr txBox="1"/>
          <p:nvPr/>
        </p:nvSpPr>
        <p:spPr>
          <a:xfrm>
            <a:off x="548640" y="6455664"/>
            <a:ext cx="8686800" cy="274320"/>
          </a:xfrm>
          <a:prstGeom prst="rect">
            <a:avLst/>
          </a:prstGeom>
          <a:noFill/>
        </p:spPr>
        <p:txBody>
          <a:bodyPr wrap="square" lIns="45720" rIns="45720" tIns="27432" bIns="27432" anchor="t">
            <a:spAutoFit/>
          </a:bodyPr>
          <a:lstStyle/>
          <a:p>
            <a:pPr algn="l">
              <a:spcAft>
                <a:spcPts val="600"/>
              </a:spcAft>
            </a:pPr>
            <a:r>
              <a:rPr sz="1000" b="0" i="0">
                <a:solidFill>
                  <a:srgbClr val="595959"/>
                </a:solidFill>
              </a:rPr>
              <a:t>NoSQL Databases for Bioinformatics  ·  Lecture 27  ·  Neo4j genome workshop</a:t>
            </a:r>
          </a:p>
        </p:txBody>
      </p:sp>
      <p:sp>
        <p:nvSpPr>
          <p:cNvPr id="4" name="slide number"/>
          <p:cNvSpPr txBox="1"/>
          <p:nvPr/>
        </p:nvSpPr>
        <p:spPr>
          <a:xfrm>
            <a:off x="10698480" y="6455664"/>
            <a:ext cx="914400" cy="274320"/>
          </a:xfrm>
          <a:prstGeom prst="rect">
            <a:avLst/>
          </a:prstGeom>
          <a:noFill/>
        </p:spPr>
        <p:txBody>
          <a:bodyPr wrap="square" lIns="45720" rIns="45720" tIns="27432" bIns="27432" anchor="t">
            <a:spAutoFit/>
          </a:bodyPr>
          <a:lstStyle/>
          <a:p>
            <a:pPr algn="r">
              <a:spcAft>
                <a:spcPts val="600"/>
              </a:spcAft>
            </a:pPr>
            <a:fld id="{B6F15528-21DE-4FAA-801E-634DDDAF4B2B}" type="slidenum">
              <a:rPr lang="en-US" sz="1000">
                <a:solidFill>
                  <a:srgbClr val="595959"/>
                </a:solidFill>
              </a:rPr>
              <a:t>‹#›</a:t>
            </a:fld>
          </a:p>
        </p:txBody>
      </p:sp>
      <p:sp>
        <p:nvSpPr>
          <p:cNvPr id="5" name="step tag"/>
          <p:cNvSpPr/>
          <p:nvPr/>
        </p:nvSpPr>
        <p:spPr>
          <a:xfrm>
            <a:off x="10195560" y="411480"/>
            <a:ext cx="1417320" cy="329184"/>
          </a:xfrm>
          <a:prstGeom prst="roundRect">
            <a:avLst>
              <a:gd name="adj" fmla="val 50000"/>
            </a:avLst>
          </a:prstGeom>
          <a:solidFill>
            <a:srgbClr val="D413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QUERY 2</a:t>
            </a:r>
          </a:p>
        </p:txBody>
      </p:sp>
      <p:pic>
        <p:nvPicPr>
          <p:cNvPr id="6" name="cyano pathways" descr="cyano_pathways.png"/>
          <p:cNvPicPr>
            <a:picLocks noChangeAspect="1"/>
          </p:cNvPicPr>
          <p:nvPr/>
        </p:nvPicPr>
        <p:blipFill>
          <a:blip r:embed="rId3"/>
          <a:stretch>
            <a:fillRect/>
          </a:stretch>
        </p:blipFill>
        <p:spPr>
          <a:xfrm>
            <a:off x="548640" y="1532785"/>
            <a:ext cx="6309360" cy="2603708"/>
          </a:xfrm>
          <a:prstGeom prst="rect">
            <a:avLst/>
          </a:prstGeom>
        </p:spPr>
      </p:pic>
      <p:sp>
        <p:nvSpPr>
          <p:cNvPr id="7" name="signature code bg"/>
          <p:cNvSpPr/>
          <p:nvPr/>
        </p:nvSpPr>
        <p:spPr>
          <a:xfrm>
            <a:off x="548640" y="4572000"/>
            <a:ext cx="6309360" cy="1463040"/>
          </a:xfrm>
          <a:prstGeom prst="roundRect">
            <a:avLst>
              <a:gd name="adj" fmla="val 3125"/>
            </a:avLst>
          </a:prstGeom>
          <a:solidFill>
            <a:srgbClr val="F4F6F8"/>
          </a:solidFill>
          <a:ln w="9525">
            <a:solidFill>
              <a:srgbClr val="C9D1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signature code"/>
          <p:cNvSpPr txBox="1"/>
          <p:nvPr/>
        </p:nvSpPr>
        <p:spPr>
          <a:xfrm>
            <a:off x="640080" y="4636008"/>
            <a:ext cx="6126480" cy="1335024"/>
          </a:xfrm>
          <a:prstGeom prst="rect">
            <a:avLst/>
          </a:prstGeom>
          <a:noFill/>
        </p:spPr>
        <p:txBody>
          <a:bodyPr wrap="square" lIns="45720" rIns="45720" tIns="27432" bIns="27432" anchor="t">
            <a:spAutoFit/>
          </a:bodyPr>
          <a:lstStyle/>
          <a:p>
            <a:pPr algn="l">
              <a:spcAft>
                <a:spcPts val="0"/>
              </a:spcAft>
            </a:pPr>
            <a:r>
              <a:rPr sz="1150" b="0" i="0">
                <a:solidFill>
                  <a:srgbClr val="1F2937"/>
                </a:solidFill>
                <a:latin typeface="Courier New"/>
              </a:rPr>
              <a:t>MATCH (k:KO)-[o:ORIGIN_CLADE]-&gt;(:Taxon)</a:t>
            </a:r>
          </a:p>
          <a:p>
            <a:pPr algn="l">
              <a:spcAft>
                <a:spcPts val="0"/>
              </a:spcAft>
            </a:pPr>
            <a:r>
              <a:rPr sz="1150" b="0" i="0">
                <a:solidFill>
                  <a:srgbClr val="1F2937"/>
                </a:solidFill>
                <a:latin typeface="Courier New"/>
              </a:rPr>
              <a:t>      -[:CHILD_OF*0..]-&gt;(c:Taxon {name: 'Cyanobacteriota'})</a:t>
            </a:r>
          </a:p>
          <a:p>
            <a:pPr algn="l">
              <a:spcAft>
                <a:spcPts val="0"/>
              </a:spcAft>
            </a:pPr>
            <a:r>
              <a:rPr sz="1150" b="0" i="0">
                <a:solidFill>
                  <a:srgbClr val="1F2937"/>
                </a:solidFill>
                <a:latin typeface="Courier New"/>
              </a:rPr>
              <a:t>WHERE o.carriers = c.n_genomes   // all members have it</a:t>
            </a:r>
          </a:p>
          <a:p>
            <a:pPr algn="l">
              <a:spcAft>
                <a:spcPts val="0"/>
              </a:spcAft>
            </a:pPr>
            <a:r>
              <a:rPr sz="1150" b="0" i="0">
                <a:solidFill>
                  <a:srgbClr val="1F2937"/>
                </a:solidFill>
                <a:latin typeface="Courier New"/>
              </a:rPr>
              <a:t>  AND o.carriers &gt;= 3            // ignore tiny clades</a:t>
            </a:r>
          </a:p>
          <a:p>
            <a:pPr algn="l">
              <a:spcAft>
                <a:spcPts val="0"/>
              </a:spcAft>
            </a:pPr>
            <a:r>
              <a:rPr sz="1150" b="0" i="0">
                <a:solidFill>
                  <a:srgbClr val="1F2937"/>
                </a:solidFill>
                <a:latin typeface="Courier New"/>
              </a:rPr>
              <a:t>MATCH (k)-[:IN_PATHWAY]-&gt;(p:Pathway)</a:t>
            </a:r>
          </a:p>
          <a:p>
            <a:pPr algn="l">
              <a:spcAft>
                <a:spcPts val="0"/>
              </a:spcAft>
            </a:pPr>
            <a:r>
              <a:rPr sz="1150" b="0" i="0">
                <a:solidFill>
                  <a:srgbClr val="1F2937"/>
                </a:solidFill>
                <a:latin typeface="Courier New"/>
              </a:rPr>
              <a:t>RETURN p.name, count(DISTINCT k) AS kos</a:t>
            </a:r>
          </a:p>
        </p:txBody>
      </p:sp>
      <p:sp>
        <p:nvSpPr>
          <p:cNvPr id="9" name="stat bg"/>
          <p:cNvSpPr/>
          <p:nvPr/>
        </p:nvSpPr>
        <p:spPr>
          <a:xfrm>
            <a:off x="7132320" y="1371600"/>
            <a:ext cx="4480560" cy="1188720"/>
          </a:xfrm>
          <a:prstGeom prst="roundRect">
            <a:avLst>
              <a:gd name="adj" fmla="val 4615"/>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stat"/>
          <p:cNvSpPr txBox="1"/>
          <p:nvPr/>
        </p:nvSpPr>
        <p:spPr>
          <a:xfrm>
            <a:off x="7269480" y="1389888"/>
            <a:ext cx="4206240" cy="685800"/>
          </a:xfrm>
          <a:prstGeom prst="rect">
            <a:avLst/>
          </a:prstGeom>
          <a:noFill/>
        </p:spPr>
        <p:txBody>
          <a:bodyPr wrap="square" lIns="45720" rIns="45720" tIns="27432" bIns="27432" anchor="t">
            <a:spAutoFit/>
          </a:bodyPr>
          <a:lstStyle/>
          <a:p>
            <a:pPr algn="l">
              <a:spcAft>
                <a:spcPts val="600"/>
              </a:spcAft>
            </a:pPr>
            <a:r>
              <a:rPr sz="3000" b="1" i="0">
                <a:solidFill>
                  <a:srgbClr val="2E8B3E"/>
                </a:solidFill>
              </a:rPr>
              <a:t>104 signature KOs</a:t>
            </a:r>
          </a:p>
        </p:txBody>
      </p:sp>
      <p:sp>
        <p:nvSpPr>
          <p:cNvPr id="11" name="stat sub"/>
          <p:cNvSpPr txBox="1"/>
          <p:nvPr/>
        </p:nvSpPr>
        <p:spPr>
          <a:xfrm>
            <a:off x="7269480" y="2039112"/>
            <a:ext cx="4206240" cy="457200"/>
          </a:xfrm>
          <a:prstGeom prst="rect">
            <a:avLst/>
          </a:prstGeom>
          <a:noFill/>
        </p:spPr>
        <p:txBody>
          <a:bodyPr wrap="square" lIns="45720" rIns="45720" tIns="27432" bIns="27432" anchor="t">
            <a:spAutoFit/>
          </a:bodyPr>
          <a:lstStyle/>
          <a:p>
            <a:pPr algn="l">
              <a:spcAft>
                <a:spcPts val="600"/>
              </a:spcAft>
            </a:pPr>
            <a:r>
              <a:rPr sz="1400" b="0" i="0">
                <a:solidFill>
                  <a:srgbClr val="0E2841"/>
                </a:solidFill>
              </a:rPr>
              <a:t>found in all 4 cyanobacteria, in no other genome</a:t>
            </a:r>
          </a:p>
        </p:txBody>
      </p:sp>
      <p:sp>
        <p:nvSpPr>
          <p:cNvPr id="12" name="what card bg"/>
          <p:cNvSpPr/>
          <p:nvPr/>
        </p:nvSpPr>
        <p:spPr>
          <a:xfrm>
            <a:off x="7132320" y="2743200"/>
            <a:ext cx="4480560" cy="3291840"/>
          </a:xfrm>
          <a:prstGeom prst="roundRect">
            <a:avLst>
              <a:gd name="adj" fmla="val 1666"/>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what card title"/>
          <p:cNvSpPr txBox="1"/>
          <p:nvPr/>
        </p:nvSpPr>
        <p:spPr>
          <a:xfrm>
            <a:off x="7242048" y="2816352"/>
            <a:ext cx="4261104" cy="411480"/>
          </a:xfrm>
          <a:prstGeom prst="rect">
            <a:avLst/>
          </a:prstGeom>
          <a:noFill/>
        </p:spPr>
        <p:txBody>
          <a:bodyPr wrap="square" lIns="45720" rIns="45720" tIns="27432" bIns="27432" anchor="t">
            <a:spAutoFit/>
          </a:bodyPr>
          <a:lstStyle/>
          <a:p>
            <a:pPr algn="l">
              <a:spcAft>
                <a:spcPts val="600"/>
              </a:spcAft>
            </a:pPr>
            <a:r>
              <a:rPr sz="1700" b="1" i="0">
                <a:solidFill>
                  <a:srgbClr val="2E8B3E"/>
                </a:solidFill>
              </a:rPr>
              <a:t>What are they?</a:t>
            </a:r>
          </a:p>
        </p:txBody>
      </p:sp>
      <p:sp>
        <p:nvSpPr>
          <p:cNvPr id="14" name="what card body"/>
          <p:cNvSpPr txBox="1"/>
          <p:nvPr/>
        </p:nvSpPr>
        <p:spPr>
          <a:xfrm>
            <a:off x="7242048" y="3200400"/>
            <a:ext cx="4261104" cy="2743200"/>
          </a:xfrm>
          <a:prstGeom prst="rect">
            <a:avLst/>
          </a:prstGeom>
          <a:noFill/>
        </p:spPr>
        <p:txBody>
          <a:bodyPr wrap="square" lIns="45720" rIns="45720" tIns="27432" bIns="27432" anchor="t">
            <a:spAutoFit/>
          </a:bodyPr>
          <a:lstStyle/>
          <a:p>
            <a:pPr algn="l" marL="256032" indent="-256032">
              <a:spcAft>
                <a:spcPts val="500"/>
              </a:spcAft>
              <a:buFont typeface="Arial"/>
              <a:buChar char="•"/>
            </a:pPr>
            <a:r>
              <a:rPr sz="1400" b="1" i="0">
                <a:solidFill>
                  <a:srgbClr val="0E2841"/>
                </a:solidFill>
              </a:rPr>
              <a:t>Photosystem I</a:t>
            </a:r>
            <a:r>
              <a:rPr sz="1400" b="0" i="0">
                <a:solidFill>
                  <a:srgbClr val="0E2841"/>
                </a:solidFill>
              </a:rPr>
              <a:t>: </a:t>
            </a:r>
            <a:r>
              <a:rPr sz="1400" b="0" i="0">
                <a:solidFill>
                  <a:srgbClr val="156082"/>
                </a:solidFill>
                <a:latin typeface="Courier New"/>
              </a:rPr>
              <a:t>psaA</a:t>
            </a:r>
            <a:r>
              <a:rPr sz="1400" b="0" i="0">
                <a:solidFill>
                  <a:srgbClr val="0E2841"/>
                </a:solidFill>
              </a:rPr>
              <a:t> … </a:t>
            </a:r>
            <a:r>
              <a:rPr sz="1400" b="0" i="0">
                <a:solidFill>
                  <a:srgbClr val="156082"/>
                </a:solidFill>
                <a:latin typeface="Courier New"/>
              </a:rPr>
              <a:t>psaL</a:t>
            </a:r>
          </a:p>
          <a:p>
            <a:pPr algn="l" marL="256032" indent="-256032">
              <a:spcAft>
                <a:spcPts val="500"/>
              </a:spcAft>
              <a:buFont typeface="Arial"/>
              <a:buChar char="•"/>
            </a:pPr>
            <a:r>
              <a:rPr sz="1400" b="1" i="0">
                <a:solidFill>
                  <a:srgbClr val="0E2841"/>
                </a:solidFill>
              </a:rPr>
              <a:t>Photosystem II</a:t>
            </a:r>
            <a:r>
              <a:rPr sz="1400" b="0" i="0">
                <a:solidFill>
                  <a:srgbClr val="0E2841"/>
                </a:solidFill>
              </a:rPr>
              <a:t>: </a:t>
            </a:r>
            <a:r>
              <a:rPr sz="1400" b="0" i="0">
                <a:solidFill>
                  <a:srgbClr val="156082"/>
                </a:solidFill>
                <a:latin typeface="Courier New"/>
              </a:rPr>
              <a:t>psbA</a:t>
            </a:r>
            <a:r>
              <a:rPr sz="1400" b="0" i="0">
                <a:solidFill>
                  <a:srgbClr val="0E2841"/>
                </a:solidFill>
              </a:rPr>
              <a:t> … </a:t>
            </a:r>
            <a:r>
              <a:rPr sz="1400" b="0" i="0">
                <a:solidFill>
                  <a:srgbClr val="156082"/>
                </a:solidFill>
                <a:latin typeface="Courier New"/>
              </a:rPr>
              <a:t>psbZ</a:t>
            </a:r>
          </a:p>
          <a:p>
            <a:pPr algn="l" marL="256032" indent="-256032">
              <a:spcAft>
                <a:spcPts val="500"/>
              </a:spcAft>
              <a:buFont typeface="Arial"/>
              <a:buChar char="•"/>
            </a:pPr>
            <a:r>
              <a:rPr sz="1400" b="1" i="0">
                <a:solidFill>
                  <a:srgbClr val="0E2841"/>
                </a:solidFill>
              </a:rPr>
              <a:t>Cytochrome b6f</a:t>
            </a:r>
            <a:r>
              <a:rPr sz="1400" b="0" i="0">
                <a:solidFill>
                  <a:srgbClr val="0E2841"/>
                </a:solidFill>
              </a:rPr>
              <a:t>: </a:t>
            </a:r>
            <a:r>
              <a:rPr sz="1400" b="0" i="0">
                <a:solidFill>
                  <a:srgbClr val="156082"/>
                </a:solidFill>
                <a:latin typeface="Courier New"/>
              </a:rPr>
              <a:t>petA</a:t>
            </a:r>
            <a:r>
              <a:rPr sz="1400" b="0" i="0">
                <a:solidFill>
                  <a:srgbClr val="0E2841"/>
                </a:solidFill>
              </a:rPr>
              <a:t> … </a:t>
            </a:r>
            <a:r>
              <a:rPr sz="1400" b="0" i="0">
                <a:solidFill>
                  <a:srgbClr val="156082"/>
                </a:solidFill>
                <a:latin typeface="Courier New"/>
              </a:rPr>
              <a:t>petN</a:t>
            </a:r>
          </a:p>
          <a:p>
            <a:pPr algn="l" marL="256032" indent="-256032">
              <a:spcAft>
                <a:spcPts val="500"/>
              </a:spcAft>
              <a:buFont typeface="Arial"/>
              <a:buChar char="•"/>
            </a:pPr>
            <a:r>
              <a:rPr sz="1400" b="0" i="0">
                <a:solidFill>
                  <a:srgbClr val="156082"/>
                </a:solidFill>
                <a:latin typeface="Courier New"/>
              </a:rPr>
              <a:t>hgdD</a:t>
            </a:r>
            <a:r>
              <a:rPr sz="1400" b="0" i="0">
                <a:solidFill>
                  <a:srgbClr val="0E2841"/>
                </a:solidFill>
              </a:rPr>
              <a:t>: heterocyst glycolipid deposition (nitrogen-fixing filaments)</a:t>
            </a:r>
          </a:p>
          <a:p>
            <a:pPr algn="l" marL="256032" indent="-256032">
              <a:spcAft>
                <a:spcPts val="500"/>
              </a:spcAft>
              <a:buFont typeface="Arial"/>
              <a:buChar char="•"/>
            </a:pPr>
            <a:r>
              <a:rPr sz="1400" b="0" i="0">
                <a:solidFill>
                  <a:srgbClr val="0E2841"/>
                </a:solidFill>
              </a:rPr>
              <a:t>Neo4j knows no biology: the </a:t>
            </a:r>
            <a:r>
              <a:rPr sz="1400" b="1" i="0">
                <a:solidFill>
                  <a:srgbClr val="0E2841"/>
                </a:solidFill>
              </a:rPr>
              <a:t>tree + the KO links</a:t>
            </a:r>
            <a:r>
              <a:rPr sz="1400" b="0" i="0">
                <a:solidFill>
                  <a:srgbClr val="0E2841"/>
                </a:solidFill>
              </a:rPr>
              <a:t> were enough</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9509760" cy="777240"/>
          </a:xfrm>
        </p:spPr>
        <p:txBody>
          <a:bodyPr wrap="square" anchor="ctr"/>
          <a:lstStyle/>
          <a:p>
            <a:pPr algn="l"/>
            <a:r>
              <a:rPr sz="3000" b="1" i="0">
                <a:solidFill>
                  <a:srgbClr val="0E2841"/>
                </a:solidFill>
              </a:rPr>
              <a:t>Genome reduction and gene loss</a:t>
            </a:r>
          </a:p>
        </p:txBody>
      </p:sp>
      <p:sp>
        <p:nvSpPr>
          <p:cNvPr id="3" name="footer"/>
          <p:cNvSpPr txBox="1"/>
          <p:nvPr/>
        </p:nvSpPr>
        <p:spPr>
          <a:xfrm>
            <a:off x="548640" y="6455664"/>
            <a:ext cx="8686800" cy="274320"/>
          </a:xfrm>
          <a:prstGeom prst="rect">
            <a:avLst/>
          </a:prstGeom>
          <a:noFill/>
        </p:spPr>
        <p:txBody>
          <a:bodyPr wrap="square" lIns="45720" rIns="45720" tIns="27432" bIns="27432" anchor="t">
            <a:spAutoFit/>
          </a:bodyPr>
          <a:lstStyle/>
          <a:p>
            <a:pPr algn="l">
              <a:spcAft>
                <a:spcPts val="600"/>
              </a:spcAft>
            </a:pPr>
            <a:r>
              <a:rPr sz="1000" b="0" i="0">
                <a:solidFill>
                  <a:srgbClr val="595959"/>
                </a:solidFill>
              </a:rPr>
              <a:t>NoSQL Databases for Bioinformatics  ·  Lecture 27  ·  Neo4j genome workshop</a:t>
            </a:r>
          </a:p>
        </p:txBody>
      </p:sp>
      <p:sp>
        <p:nvSpPr>
          <p:cNvPr id="4" name="slide number"/>
          <p:cNvSpPr txBox="1"/>
          <p:nvPr/>
        </p:nvSpPr>
        <p:spPr>
          <a:xfrm>
            <a:off x="10698480" y="6455664"/>
            <a:ext cx="914400" cy="274320"/>
          </a:xfrm>
          <a:prstGeom prst="rect">
            <a:avLst/>
          </a:prstGeom>
          <a:noFill/>
        </p:spPr>
        <p:txBody>
          <a:bodyPr wrap="square" lIns="45720" rIns="45720" tIns="27432" bIns="27432" anchor="t">
            <a:spAutoFit/>
          </a:bodyPr>
          <a:lstStyle/>
          <a:p>
            <a:pPr algn="r">
              <a:spcAft>
                <a:spcPts val="600"/>
              </a:spcAft>
            </a:pPr>
            <a:fld id="{B6F15528-21DE-4FAA-801E-634DDDAF4B2B}" type="slidenum">
              <a:rPr lang="en-US" sz="1000">
                <a:solidFill>
                  <a:srgbClr val="595959"/>
                </a:solidFill>
              </a:rPr>
              <a:t>‹#›</a:t>
            </a:fld>
          </a:p>
        </p:txBody>
      </p:sp>
      <p:sp>
        <p:nvSpPr>
          <p:cNvPr id="5" name="step tag"/>
          <p:cNvSpPr/>
          <p:nvPr/>
        </p:nvSpPr>
        <p:spPr>
          <a:xfrm>
            <a:off x="10195560" y="411480"/>
            <a:ext cx="1417320" cy="329184"/>
          </a:xfrm>
          <a:prstGeom prst="roundRect">
            <a:avLst>
              <a:gd name="adj" fmla="val 50000"/>
            </a:avLst>
          </a:prstGeom>
          <a:solidFill>
            <a:srgbClr val="D4134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i="0">
                <a:solidFill>
                  <a:srgbClr val="FFFFFF"/>
                </a:solidFill>
              </a:rPr>
              <a:t>QUERY 2</a:t>
            </a:r>
          </a:p>
        </p:txBody>
      </p:sp>
      <p:pic>
        <p:nvPicPr>
          <p:cNvPr id="6" name="core lineage" descr="core_lineage.png"/>
          <p:cNvPicPr>
            <a:picLocks noChangeAspect="1"/>
          </p:cNvPicPr>
          <p:nvPr/>
        </p:nvPicPr>
        <p:blipFill>
          <a:blip r:embed="rId3"/>
          <a:stretch>
            <a:fillRect/>
          </a:stretch>
        </p:blipFill>
        <p:spPr>
          <a:xfrm>
            <a:off x="779832" y="1280160"/>
            <a:ext cx="5024015" cy="3017520"/>
          </a:xfrm>
          <a:prstGeom prst="rect">
            <a:avLst/>
          </a:prstGeom>
        </p:spPr>
      </p:pic>
      <p:pic>
        <p:nvPicPr>
          <p:cNvPr id="7" name="gene loss" descr="gene_loss.png"/>
          <p:cNvPicPr>
            <a:picLocks noChangeAspect="1"/>
          </p:cNvPicPr>
          <p:nvPr/>
        </p:nvPicPr>
        <p:blipFill>
          <a:blip r:embed="rId4"/>
          <a:stretch>
            <a:fillRect/>
          </a:stretch>
        </p:blipFill>
        <p:spPr>
          <a:xfrm>
            <a:off x="6309360" y="1783281"/>
            <a:ext cx="5303520" cy="2011277"/>
          </a:xfrm>
          <a:prstGeom prst="rect">
            <a:avLst/>
          </a:prstGeom>
        </p:spPr>
      </p:pic>
      <p:sp>
        <p:nvSpPr>
          <p:cNvPr id="8" name="core text"/>
          <p:cNvSpPr txBox="1"/>
          <p:nvPr/>
        </p:nvSpPr>
        <p:spPr>
          <a:xfrm>
            <a:off x="548640" y="4480560"/>
            <a:ext cx="5486400" cy="1783080"/>
          </a:xfrm>
          <a:prstGeom prst="rect">
            <a:avLst/>
          </a:prstGeom>
          <a:noFill/>
        </p:spPr>
        <p:txBody>
          <a:bodyPr wrap="square" lIns="45720" rIns="45720" tIns="27432" bIns="27432" anchor="t">
            <a:spAutoFit/>
          </a:bodyPr>
          <a:lstStyle/>
          <a:p>
            <a:pPr algn="l" marL="256032" indent="-256032">
              <a:spcAft>
                <a:spcPts val="500"/>
              </a:spcAft>
              <a:buFont typeface="Arial"/>
              <a:buChar char="•"/>
            </a:pPr>
            <a:r>
              <a:rPr sz="1400" b="0" i="0">
                <a:solidFill>
                  <a:srgbClr val="0E2841"/>
                </a:solidFill>
              </a:rPr>
              <a:t>Core = KOs in ≥ 90% of the genomes of a clade</a:t>
            </a:r>
          </a:p>
          <a:p>
            <a:pPr algn="l" marL="256032" indent="-256032">
              <a:spcAft>
                <a:spcPts val="500"/>
              </a:spcAft>
              <a:buFont typeface="Arial"/>
              <a:buChar char="•"/>
            </a:pPr>
            <a:r>
              <a:rPr sz="1400" b="0" i="0">
                <a:solidFill>
                  <a:srgbClr val="0E2841"/>
                </a:solidFill>
              </a:rPr>
              <a:t>The core </a:t>
            </a:r>
            <a:r>
              <a:rPr sz="1400" b="1" i="0">
                <a:solidFill>
                  <a:srgbClr val="0E2841"/>
                </a:solidFill>
              </a:rPr>
              <a:t>grows</a:t>
            </a:r>
            <a:r>
              <a:rPr sz="1400" b="0" i="0">
                <a:solidFill>
                  <a:srgbClr val="0E2841"/>
                </a:solidFill>
              </a:rPr>
              <a:t> towards narrow clades (122 → 2,071) …</a:t>
            </a:r>
          </a:p>
          <a:p>
            <a:pPr algn="l" marL="256032" indent="-256032">
              <a:spcAft>
                <a:spcPts val="500"/>
              </a:spcAft>
              <a:buFont typeface="Arial"/>
              <a:buChar char="•"/>
            </a:pPr>
            <a:r>
              <a:rPr sz="1400" b="0" i="0">
                <a:solidFill>
                  <a:srgbClr val="0E2841"/>
                </a:solidFill>
              </a:rPr>
              <a:t>… except at </a:t>
            </a:r>
            <a:r>
              <a:rPr sz="1400" b="1" i="0">
                <a:solidFill>
                  <a:srgbClr val="0E2841"/>
                </a:solidFill>
              </a:rPr>
              <a:t>Enterobacterales</a:t>
            </a:r>
            <a:r>
              <a:rPr sz="1400" b="0" i="0">
                <a:solidFill>
                  <a:srgbClr val="0E2841"/>
                </a:solidFill>
              </a:rPr>
              <a:t>: it contains </a:t>
            </a:r>
            <a:r>
              <a:rPr sz="1400" b="0" i="1">
                <a:solidFill>
                  <a:srgbClr val="0E2841"/>
                </a:solidFill>
              </a:rPr>
              <a:t>Buchnera</a:t>
            </a:r>
            <a:r>
              <a:rPr sz="1400" b="0" i="0">
                <a:solidFill>
                  <a:srgbClr val="0E2841"/>
                </a:solidFill>
              </a:rPr>
              <a:t>, a </a:t>
            </a:r>
            <a:r>
              <a:rPr sz="1400" b="1" i="0">
                <a:solidFill>
                  <a:srgbClr val="0E2841"/>
                </a:solidFill>
              </a:rPr>
              <a:t>reduced</a:t>
            </a:r>
            <a:r>
              <a:rPr sz="1400" b="0" i="0">
                <a:solidFill>
                  <a:srgbClr val="0E2841"/>
                </a:solidFill>
              </a:rPr>
              <a:t> genome that caps the core</a:t>
            </a:r>
          </a:p>
        </p:txBody>
      </p:sp>
      <p:sp>
        <p:nvSpPr>
          <p:cNvPr id="9" name="loss text"/>
          <p:cNvSpPr txBox="1"/>
          <p:nvPr/>
        </p:nvSpPr>
        <p:spPr>
          <a:xfrm>
            <a:off x="6309360" y="4480560"/>
            <a:ext cx="5303520" cy="1783080"/>
          </a:xfrm>
          <a:prstGeom prst="rect">
            <a:avLst/>
          </a:prstGeom>
          <a:noFill/>
        </p:spPr>
        <p:txBody>
          <a:bodyPr wrap="square" lIns="45720" rIns="45720" tIns="27432" bIns="27432" anchor="t">
            <a:spAutoFit/>
          </a:bodyPr>
          <a:lstStyle/>
          <a:p>
            <a:pPr algn="l" marL="256032" indent="-256032">
              <a:spcAft>
                <a:spcPts val="500"/>
              </a:spcAft>
              <a:buFont typeface="Arial"/>
              <a:buChar char="•"/>
            </a:pPr>
            <a:r>
              <a:rPr sz="1400" b="0" i="1">
                <a:solidFill>
                  <a:srgbClr val="0E2841"/>
                </a:solidFill>
              </a:rPr>
              <a:t>M. tuberculosis</a:t>
            </a:r>
            <a:r>
              <a:rPr sz="1400" b="0" i="0">
                <a:solidFill>
                  <a:srgbClr val="0E2841"/>
                </a:solidFill>
              </a:rPr>
              <a:t> → </a:t>
            </a:r>
            <a:r>
              <a:rPr sz="1400" b="0" i="1">
                <a:solidFill>
                  <a:srgbClr val="0E2841"/>
                </a:solidFill>
              </a:rPr>
              <a:t>M. leprae</a:t>
            </a:r>
            <a:r>
              <a:rPr sz="1400" b="0" i="0">
                <a:solidFill>
                  <a:srgbClr val="0E2841"/>
                </a:solidFill>
              </a:rPr>
              <a:t>: </a:t>
            </a:r>
            <a:r>
              <a:rPr sz="1400" b="1" i="0">
                <a:solidFill>
                  <a:srgbClr val="0E2841"/>
                </a:solidFill>
              </a:rPr>
              <a:t>668 KOs lost</a:t>
            </a:r>
            <a:r>
              <a:rPr sz="1400" b="0" i="0">
                <a:solidFill>
                  <a:srgbClr val="0E2841"/>
                </a:solidFill>
              </a:rPr>
              <a:t>, only </a:t>
            </a:r>
            <a:r>
              <a:rPr sz="1400" b="1" i="0">
                <a:solidFill>
                  <a:srgbClr val="0E2841"/>
                </a:solidFill>
              </a:rPr>
              <a:t>15</a:t>
            </a:r>
            <a:r>
              <a:rPr sz="1400" b="0" i="0">
                <a:solidFill>
                  <a:srgbClr val="0E2841"/>
                </a:solidFill>
              </a:rPr>
              <a:t> gained</a:t>
            </a:r>
          </a:p>
          <a:p>
            <a:pPr algn="l" marL="256032" indent="-256032">
              <a:spcAft>
                <a:spcPts val="500"/>
              </a:spcAft>
              <a:buFont typeface="Arial"/>
              <a:buChar char="•"/>
            </a:pPr>
            <a:r>
              <a:rPr sz="1400" b="0" i="0">
                <a:solidFill>
                  <a:srgbClr val="0E2841"/>
                </a:solidFill>
              </a:rPr>
              <a:t>Lost: steroid degradation, signalling, transporters, respiration</a:t>
            </a:r>
          </a:p>
          <a:p>
            <a:pPr algn="l" marL="256032" indent="-256032">
              <a:spcAft>
                <a:spcPts val="500"/>
              </a:spcAft>
              <a:buFont typeface="Arial"/>
              <a:buChar char="•"/>
            </a:pPr>
            <a:r>
              <a:rPr sz="1400" b="0" i="0">
                <a:solidFill>
                  <a:srgbClr val="0E2841"/>
                </a:solidFill>
              </a:rPr>
              <a:t>Reductive evolution is mostly </a:t>
            </a:r>
            <a:r>
              <a:rPr sz="1400" b="1" i="0">
                <a:solidFill>
                  <a:srgbClr val="0E2841"/>
                </a:solidFill>
              </a:rPr>
              <a:t>loss</a:t>
            </a:r>
            <a:r>
              <a:rPr sz="1400" b="0" i="0">
                <a:solidFill>
                  <a:srgbClr val="0E2841"/>
                </a:solidFill>
              </a:rPr>
              <a:t>: a host-dependent lifestyle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11064240" cy="777240"/>
          </a:xfrm>
        </p:spPr>
        <p:txBody>
          <a:bodyPr wrap="square" anchor="ctr"/>
          <a:lstStyle/>
          <a:p>
            <a:pPr algn="l"/>
            <a:r>
              <a:rPr sz="3000" b="1" i="0">
                <a:solidFill>
                  <a:srgbClr val="0E2841"/>
                </a:solidFill>
              </a:rPr>
              <a:t>Be a sceptical scientist: limits and next steps</a:t>
            </a:r>
          </a:p>
        </p:txBody>
      </p:sp>
      <p:sp>
        <p:nvSpPr>
          <p:cNvPr id="3" name="footer"/>
          <p:cNvSpPr txBox="1"/>
          <p:nvPr/>
        </p:nvSpPr>
        <p:spPr>
          <a:xfrm>
            <a:off x="548640" y="6455664"/>
            <a:ext cx="8686800" cy="274320"/>
          </a:xfrm>
          <a:prstGeom prst="rect">
            <a:avLst/>
          </a:prstGeom>
          <a:noFill/>
        </p:spPr>
        <p:txBody>
          <a:bodyPr wrap="square" lIns="45720" rIns="45720" tIns="27432" bIns="27432" anchor="t">
            <a:spAutoFit/>
          </a:bodyPr>
          <a:lstStyle/>
          <a:p>
            <a:pPr algn="l">
              <a:spcAft>
                <a:spcPts val="600"/>
              </a:spcAft>
            </a:pPr>
            <a:r>
              <a:rPr sz="1000" b="0" i="0">
                <a:solidFill>
                  <a:srgbClr val="595959"/>
                </a:solidFill>
              </a:rPr>
              <a:t>NoSQL Databases for Bioinformatics  ·  Lecture 27  ·  Neo4j genome workshop</a:t>
            </a:r>
          </a:p>
        </p:txBody>
      </p:sp>
      <p:sp>
        <p:nvSpPr>
          <p:cNvPr id="4" name="slide number"/>
          <p:cNvSpPr txBox="1"/>
          <p:nvPr/>
        </p:nvSpPr>
        <p:spPr>
          <a:xfrm>
            <a:off x="10698480" y="6455664"/>
            <a:ext cx="914400" cy="274320"/>
          </a:xfrm>
          <a:prstGeom prst="rect">
            <a:avLst/>
          </a:prstGeom>
          <a:noFill/>
        </p:spPr>
        <p:txBody>
          <a:bodyPr wrap="square" lIns="45720" rIns="45720" tIns="27432" bIns="27432" anchor="t">
            <a:spAutoFit/>
          </a:bodyPr>
          <a:lstStyle/>
          <a:p>
            <a:pPr algn="r">
              <a:spcAft>
                <a:spcPts val="600"/>
              </a:spcAft>
            </a:pPr>
            <a:fld id="{B6F15528-21DE-4FAA-801E-634DDDAF4B2B}" type="slidenum">
              <a:rPr lang="en-US" sz="1000">
                <a:solidFill>
                  <a:srgbClr val="595959"/>
                </a:solidFill>
              </a:rPr>
              <a:t>‹#›</a:t>
            </a:fld>
          </a:p>
        </p:txBody>
      </p:sp>
      <p:sp>
        <p:nvSpPr>
          <p:cNvPr id="5" name="limits bg"/>
          <p:cNvSpPr/>
          <p:nvPr/>
        </p:nvSpPr>
        <p:spPr>
          <a:xfrm>
            <a:off x="548640" y="1280160"/>
            <a:ext cx="5486400" cy="4983480"/>
          </a:xfrm>
          <a:prstGeom prst="roundRect">
            <a:avLst>
              <a:gd name="adj" fmla="val 11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limits title"/>
          <p:cNvSpPr txBox="1"/>
          <p:nvPr/>
        </p:nvSpPr>
        <p:spPr>
          <a:xfrm>
            <a:off x="658368" y="1353312"/>
            <a:ext cx="5266944" cy="411480"/>
          </a:xfrm>
          <a:prstGeom prst="rect">
            <a:avLst/>
          </a:prstGeom>
          <a:noFill/>
        </p:spPr>
        <p:txBody>
          <a:bodyPr wrap="square" lIns="45720" rIns="45720" tIns="27432" bIns="27432" anchor="t">
            <a:spAutoFit/>
          </a:bodyPr>
          <a:lstStyle/>
          <a:p>
            <a:pPr algn="l">
              <a:spcAft>
                <a:spcPts val="600"/>
              </a:spcAft>
            </a:pPr>
            <a:r>
              <a:rPr sz="1700" b="1" i="0">
                <a:solidFill>
                  <a:srgbClr val="D41348"/>
                </a:solidFill>
              </a:rPr>
              <a:t>Limits of this analysis</a:t>
            </a:r>
          </a:p>
        </p:txBody>
      </p:sp>
      <p:sp>
        <p:nvSpPr>
          <p:cNvPr id="7" name="limits body"/>
          <p:cNvSpPr txBox="1"/>
          <p:nvPr/>
        </p:nvSpPr>
        <p:spPr>
          <a:xfrm>
            <a:off x="658368" y="1737360"/>
            <a:ext cx="5266944" cy="4434840"/>
          </a:xfrm>
          <a:prstGeom prst="rect">
            <a:avLst/>
          </a:prstGeom>
          <a:noFill/>
        </p:spPr>
        <p:txBody>
          <a:bodyPr wrap="square" lIns="45720" rIns="45720" tIns="27432" bIns="27432" anchor="t">
            <a:spAutoFit/>
          </a:bodyPr>
          <a:lstStyle/>
          <a:p>
            <a:pPr algn="l" marL="256032" indent="-256032">
              <a:spcAft>
                <a:spcPts val="800"/>
              </a:spcAft>
              <a:buFont typeface="Arial"/>
              <a:buChar char="•"/>
            </a:pPr>
            <a:r>
              <a:rPr sz="1500" b="1" i="0">
                <a:solidFill>
                  <a:srgbClr val="0E2841"/>
                </a:solidFill>
              </a:rPr>
              <a:t>Taxonomy ≠ phylogeny</a:t>
            </a:r>
            <a:r>
              <a:rPr sz="1500" b="0" i="0">
                <a:solidFill>
                  <a:srgbClr val="0E2841"/>
                </a:solidFill>
              </a:rPr>
              <a:t>: a real tree comes from sequence alignments (e.g. the GTDB tree)</a:t>
            </a:r>
          </a:p>
          <a:p>
            <a:pPr algn="l" marL="256032" indent="-256032">
              <a:spcAft>
                <a:spcPts val="800"/>
              </a:spcAft>
              <a:buFont typeface="Arial"/>
              <a:buChar char="•"/>
            </a:pPr>
            <a:r>
              <a:rPr sz="1500" b="1" i="0">
                <a:solidFill>
                  <a:srgbClr val="0E2841"/>
                </a:solidFill>
              </a:rPr>
              <a:t>KO annotation is incomplete</a:t>
            </a:r>
            <a:r>
              <a:rPr sz="1500" b="0" i="0">
                <a:solidFill>
                  <a:srgbClr val="0E2841"/>
                </a:solidFill>
              </a:rPr>
              <a:t> and biased to well-studied organisms: </a:t>
            </a:r>
            <a:r>
              <a:rPr sz="1500" b="0" i="1">
                <a:solidFill>
                  <a:srgbClr val="0E2841"/>
                </a:solidFill>
              </a:rPr>
              <a:t>absent</a:t>
            </a:r>
            <a:r>
              <a:rPr sz="1500" b="0" i="0">
                <a:solidFill>
                  <a:srgbClr val="0E2841"/>
                </a:solidFill>
              </a:rPr>
              <a:t> may mean </a:t>
            </a:r>
            <a:r>
              <a:rPr sz="1500" b="0" i="1">
                <a:solidFill>
                  <a:srgbClr val="0E2841"/>
                </a:solidFill>
              </a:rPr>
              <a:t>not annotated</a:t>
            </a:r>
          </a:p>
          <a:p>
            <a:pPr algn="l" marL="256032" indent="-256032">
              <a:spcAft>
                <a:spcPts val="800"/>
              </a:spcAft>
              <a:buFont typeface="Arial"/>
              <a:buChar char="•"/>
            </a:pPr>
            <a:r>
              <a:rPr sz="1500" b="1" i="0">
                <a:solidFill>
                  <a:srgbClr val="0E2841"/>
                </a:solidFill>
              </a:rPr>
              <a:t>Presence / absence</a:t>
            </a:r>
            <a:r>
              <a:rPr sz="1500" b="0" i="0">
                <a:solidFill>
                  <a:srgbClr val="0E2841"/>
                </a:solidFill>
              </a:rPr>
              <a:t> ignores gene order, copy number, sequence divergence</a:t>
            </a:r>
          </a:p>
          <a:p>
            <a:pPr algn="l" marL="256032" indent="-256032">
              <a:spcAft>
                <a:spcPts val="800"/>
              </a:spcAft>
              <a:buFont typeface="Arial"/>
              <a:buChar char="•"/>
            </a:pPr>
            <a:r>
              <a:rPr sz="1500" b="1" i="0">
                <a:solidFill>
                  <a:srgbClr val="0E2841"/>
                </a:solidFill>
              </a:rPr>
              <a:t>65 genomes</a:t>
            </a:r>
            <a:r>
              <a:rPr sz="1500" b="0" i="0">
                <a:solidFill>
                  <a:srgbClr val="0E2841"/>
                </a:solidFill>
              </a:rPr>
              <a:t> is a small, uneven sample</a:t>
            </a:r>
          </a:p>
          <a:p>
            <a:pPr algn="l" marL="256032" indent="-256032">
              <a:spcAft>
                <a:spcPts val="800"/>
              </a:spcAft>
              <a:buFont typeface="Arial"/>
              <a:buChar char="•"/>
            </a:pPr>
            <a:r>
              <a:rPr sz="1500" b="1" i="0">
                <a:solidFill>
                  <a:srgbClr val="0E2841"/>
                </a:solidFill>
              </a:rPr>
              <a:t>Parsimony</a:t>
            </a:r>
            <a:r>
              <a:rPr sz="1500" b="0" i="0">
                <a:solidFill>
                  <a:srgbClr val="0E2841"/>
                </a:solidFill>
              </a:rPr>
              <a:t> is a simplification: horizontal transfer breaks “one gain, then inherited”</a:t>
            </a:r>
          </a:p>
        </p:txBody>
      </p:sp>
      <p:sp>
        <p:nvSpPr>
          <p:cNvPr id="8" name="next bg"/>
          <p:cNvSpPr/>
          <p:nvPr/>
        </p:nvSpPr>
        <p:spPr>
          <a:xfrm>
            <a:off x="6172200" y="1280160"/>
            <a:ext cx="5440680" cy="4983480"/>
          </a:xfrm>
          <a:prstGeom prst="roundRect">
            <a:avLst>
              <a:gd name="adj" fmla="val 1100"/>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next title"/>
          <p:cNvSpPr txBox="1"/>
          <p:nvPr/>
        </p:nvSpPr>
        <p:spPr>
          <a:xfrm>
            <a:off x="6281928" y="1353312"/>
            <a:ext cx="5221224" cy="411480"/>
          </a:xfrm>
          <a:prstGeom prst="rect">
            <a:avLst/>
          </a:prstGeom>
          <a:noFill/>
        </p:spPr>
        <p:txBody>
          <a:bodyPr wrap="square" lIns="45720" rIns="45720" tIns="27432" bIns="27432" anchor="t">
            <a:spAutoFit/>
          </a:bodyPr>
          <a:lstStyle/>
          <a:p>
            <a:pPr algn="l">
              <a:spcAft>
                <a:spcPts val="600"/>
              </a:spcAft>
            </a:pPr>
            <a:r>
              <a:rPr sz="1700" b="1" i="0">
                <a:solidFill>
                  <a:srgbClr val="156082"/>
                </a:solidFill>
              </a:rPr>
              <a:t>Where to go next</a:t>
            </a:r>
          </a:p>
        </p:txBody>
      </p:sp>
      <p:sp>
        <p:nvSpPr>
          <p:cNvPr id="10" name="next body"/>
          <p:cNvSpPr txBox="1"/>
          <p:nvPr/>
        </p:nvSpPr>
        <p:spPr>
          <a:xfrm>
            <a:off x="6281928" y="1737360"/>
            <a:ext cx="5221224" cy="4434840"/>
          </a:xfrm>
          <a:prstGeom prst="rect">
            <a:avLst/>
          </a:prstGeom>
          <a:noFill/>
        </p:spPr>
        <p:txBody>
          <a:bodyPr wrap="square" lIns="45720" rIns="45720" tIns="27432" bIns="27432" anchor="t">
            <a:spAutoFit/>
          </a:bodyPr>
          <a:lstStyle/>
          <a:p>
            <a:pPr algn="l" marL="256032" indent="-256032">
              <a:spcAft>
                <a:spcPts val="800"/>
              </a:spcAft>
              <a:buFont typeface="Arial"/>
              <a:buChar char="•"/>
            </a:pPr>
            <a:r>
              <a:rPr sz="1500" b="1" i="0">
                <a:solidFill>
                  <a:srgbClr val="0E2841"/>
                </a:solidFill>
              </a:rPr>
              <a:t>Graph Data Science</a:t>
            </a:r>
            <a:r>
              <a:rPr sz="1500" b="0" i="0">
                <a:solidFill>
                  <a:srgbClr val="0E2841"/>
                </a:solidFill>
              </a:rPr>
              <a:t> library: node similarity, communities, embeddings → Q1 on thousands of genomes</a:t>
            </a:r>
          </a:p>
          <a:p>
            <a:pPr algn="l" marL="256032" indent="-256032">
              <a:spcAft>
                <a:spcPts val="800"/>
              </a:spcAft>
              <a:buFont typeface="Arial"/>
              <a:buChar char="•"/>
            </a:pPr>
            <a:r>
              <a:rPr sz="1500" b="1" i="0">
                <a:solidFill>
                  <a:srgbClr val="0E2841"/>
                </a:solidFill>
              </a:rPr>
              <a:t>More node types</a:t>
            </a:r>
            <a:r>
              <a:rPr sz="1500" b="0" i="0">
                <a:solidFill>
                  <a:srgbClr val="0E2841"/>
                </a:solidFill>
              </a:rPr>
              <a:t>: genes, proteins, phenotypes, habitats, resistance genes: new labels + a few relationships, no schema migration</a:t>
            </a:r>
          </a:p>
          <a:p>
            <a:pPr algn="l" marL="256032" indent="-256032">
              <a:spcAft>
                <a:spcPts val="800"/>
              </a:spcAft>
              <a:buFont typeface="Arial"/>
              <a:buChar char="•"/>
            </a:pPr>
            <a:r>
              <a:rPr sz="1500" b="1" i="0">
                <a:solidFill>
                  <a:srgbClr val="0E2841"/>
                </a:solidFill>
              </a:rPr>
              <a:t>Pangenome graphs</a:t>
            </a:r>
            <a:r>
              <a:rPr sz="1500" b="0" i="0">
                <a:solidFill>
                  <a:srgbClr val="0E2841"/>
                </a:solidFill>
              </a:rPr>
              <a:t>: the sequence itself as a graph (</a:t>
            </a:r>
            <a:r>
              <a:rPr sz="1500" b="0" i="1">
                <a:solidFill>
                  <a:srgbClr val="0E2841"/>
                </a:solidFill>
              </a:rPr>
              <a:t>pgv</a:t>
            </a:r>
            <a:r>
              <a:rPr sz="1500" b="0" i="0">
                <a:solidFill>
                  <a:srgbClr val="0E2841"/>
                </a:solidFill>
              </a:rPr>
              <a:t>, previous lecture)</a:t>
            </a:r>
          </a:p>
          <a:p>
            <a:pPr algn="l" marL="256032" indent="-256032">
              <a:spcAft>
                <a:spcPts val="800"/>
              </a:spcAft>
              <a:buFont typeface="Arial"/>
              <a:buChar char="•"/>
            </a:pPr>
            <a:r>
              <a:rPr sz="1500" b="1" i="0">
                <a:solidFill>
                  <a:srgbClr val="0E2841"/>
                </a:solidFill>
              </a:rPr>
              <a:t>Knowledge graphs</a:t>
            </a:r>
            <a:r>
              <a:rPr sz="1500" b="0" i="0">
                <a:solidFill>
                  <a:srgbClr val="0E2841"/>
                </a:solidFill>
              </a:rPr>
              <a:t> such as Hetionet: genes, diseases, drugs, tissues in one graph</a:t>
            </a:r>
          </a:p>
          <a:p>
            <a:pPr algn="l" marL="256032" indent="-256032">
              <a:spcAft>
                <a:spcPts val="800"/>
              </a:spcAft>
              <a:buFont typeface="Arial"/>
              <a:buChar char="•"/>
            </a:pPr>
            <a:r>
              <a:rPr sz="1500" b="0" i="0">
                <a:solidFill>
                  <a:srgbClr val="0E2841"/>
                </a:solidFill>
              </a:rPr>
              <a:t>Replace the taxonomy by a </a:t>
            </a:r>
            <a:r>
              <a:rPr sz="1500" b="1" i="0">
                <a:solidFill>
                  <a:srgbClr val="0E2841"/>
                </a:solidFill>
              </a:rPr>
              <a:t>real phylogenetic tree</a:t>
            </a:r>
            <a:r>
              <a:rPr sz="1500" b="0" i="0">
                <a:solidFill>
                  <a:srgbClr val="0E2841"/>
                </a:solidFill>
              </a:rPr>
              <a:t> (Newick → nodes + branches)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11064240" cy="777240"/>
          </a:xfrm>
        </p:spPr>
        <p:txBody>
          <a:bodyPr wrap="square" anchor="ctr"/>
          <a:lstStyle/>
          <a:p>
            <a:pPr algn="l"/>
            <a:r>
              <a:rPr sz="3000" b="1" i="0">
                <a:solidFill>
                  <a:srgbClr val="0E2841"/>
                </a:solidFill>
              </a:rPr>
              <a:t>Recap: what you can do now</a:t>
            </a:r>
          </a:p>
        </p:txBody>
      </p:sp>
      <p:sp>
        <p:nvSpPr>
          <p:cNvPr id="3" name="footer"/>
          <p:cNvSpPr txBox="1"/>
          <p:nvPr/>
        </p:nvSpPr>
        <p:spPr>
          <a:xfrm>
            <a:off x="548640" y="6455664"/>
            <a:ext cx="8686800" cy="274320"/>
          </a:xfrm>
          <a:prstGeom prst="rect">
            <a:avLst/>
          </a:prstGeom>
          <a:noFill/>
        </p:spPr>
        <p:txBody>
          <a:bodyPr wrap="square" lIns="45720" rIns="45720" tIns="27432" bIns="27432" anchor="t">
            <a:spAutoFit/>
          </a:bodyPr>
          <a:lstStyle/>
          <a:p>
            <a:pPr algn="l">
              <a:spcAft>
                <a:spcPts val="600"/>
              </a:spcAft>
            </a:pPr>
            <a:r>
              <a:rPr sz="1000" b="0" i="0">
                <a:solidFill>
                  <a:srgbClr val="595959"/>
                </a:solidFill>
              </a:rPr>
              <a:t>NoSQL Databases for Bioinformatics  ·  Lecture 27  ·  Neo4j genome workshop</a:t>
            </a:r>
          </a:p>
        </p:txBody>
      </p:sp>
      <p:sp>
        <p:nvSpPr>
          <p:cNvPr id="4" name="slide number"/>
          <p:cNvSpPr txBox="1"/>
          <p:nvPr/>
        </p:nvSpPr>
        <p:spPr>
          <a:xfrm>
            <a:off x="10698480" y="6455664"/>
            <a:ext cx="914400" cy="274320"/>
          </a:xfrm>
          <a:prstGeom prst="rect">
            <a:avLst/>
          </a:prstGeom>
          <a:noFill/>
        </p:spPr>
        <p:txBody>
          <a:bodyPr wrap="square" lIns="45720" rIns="45720" tIns="27432" bIns="27432" anchor="t">
            <a:spAutoFit/>
          </a:bodyPr>
          <a:lstStyle/>
          <a:p>
            <a:pPr algn="r">
              <a:spcAft>
                <a:spcPts val="600"/>
              </a:spcAft>
            </a:pPr>
            <a:fld id="{B6F15528-21DE-4FAA-801E-634DDDAF4B2B}" type="slidenum">
              <a:rPr lang="en-US" sz="1000">
                <a:solidFill>
                  <a:srgbClr val="595959"/>
                </a:solidFill>
              </a:rPr>
              <a:t>‹#›</a:t>
            </a:fld>
          </a:p>
        </p:txBody>
      </p:sp>
      <p:graphicFrame>
        <p:nvGraphicFramePr>
          <p:cNvPr id="5" name="recap table"/>
          <p:cNvGraphicFramePr>
            <a:graphicFrameLocks noGrp="1"/>
          </p:cNvGraphicFramePr>
          <p:nvPr/>
        </p:nvGraphicFramePr>
        <p:xfrm>
          <a:off x="548640" y="1325880"/>
          <a:ext cx="11064240" cy="4069080"/>
        </p:xfrm>
        <a:graphic>
          <a:graphicData uri="http://schemas.openxmlformats.org/drawingml/2006/table">
            <a:tbl>
              <a:tblPr firstRow="0" bandRow="0">
                <a:tableStyleId>{5C22544A-7EE6-4342-B048-85BDC9FD1C3A}</a:tableStyleId>
              </a:tblPr>
              <a:tblGrid>
                <a:gridCol w="3017520"/>
                <a:gridCol w="4572000"/>
                <a:gridCol w="3474720"/>
              </a:tblGrid>
              <a:tr h="411480">
                <a:tc>
                  <a:txBody>
                    <a:bodyPr wrap="square"/>
                    <a:lstStyle/>
                    <a:p>
                      <a:r>
                        <a:rPr sz="1500" b="1" i="0">
                          <a:solidFill>
                            <a:srgbClr val="FFFFFF"/>
                          </a:solidFill>
                        </a:rPr>
                        <a:t>Objective</a:t>
                      </a:r>
                    </a:p>
                  </a:txBody>
                  <a:tcPr marL="73152" marR="73152" marT="36576" marB="36576" anchor="ctr">
                    <a:solidFill>
                      <a:srgbClr val="0E2841"/>
                    </a:solidFill>
                  </a:tcPr>
                </a:tc>
                <a:tc>
                  <a:txBody>
                    <a:bodyPr wrap="square"/>
                    <a:lstStyle/>
                    <a:p>
                      <a:r>
                        <a:rPr sz="1500" b="1" i="0">
                          <a:solidFill>
                            <a:srgbClr val="FFFFFF"/>
                          </a:solidFill>
                        </a:rPr>
                        <a:t>What we did</a:t>
                      </a:r>
                    </a:p>
                  </a:txBody>
                  <a:tcPr marL="73152" marR="73152" marT="36576" marB="36576" anchor="ctr">
                    <a:solidFill>
                      <a:srgbClr val="0E2841"/>
                    </a:solidFill>
                  </a:tcPr>
                </a:tc>
                <a:tc>
                  <a:txBody>
                    <a:bodyPr wrap="square"/>
                    <a:lstStyle/>
                    <a:p>
                      <a:r>
                        <a:rPr sz="1500" b="1" i="0">
                          <a:solidFill>
                            <a:srgbClr val="FFFFFF"/>
                          </a:solidFill>
                        </a:rPr>
                        <a:t>Key idea</a:t>
                      </a:r>
                    </a:p>
                  </a:txBody>
                  <a:tcPr marL="73152" marR="73152" marT="36576" marB="36576" anchor="ctr">
                    <a:solidFill>
                      <a:srgbClr val="0E2841"/>
                    </a:solidFill>
                  </a:tcPr>
                </a:tc>
              </a:tr>
              <a:tr h="914400">
                <a:tc>
                  <a:txBody>
                    <a:bodyPr wrap="square"/>
                    <a:lstStyle/>
                    <a:p>
                      <a:r>
                        <a:rPr sz="1500" b="1" i="0">
                          <a:solidFill>
                            <a:srgbClr val="0E2841"/>
                          </a:solidFill>
                        </a:rPr>
                        <a:t>Model</a:t>
                      </a:r>
                      <a:r>
                        <a:rPr sz="1500" b="0" i="0">
                          <a:solidFill>
                            <a:srgbClr val="0E2841"/>
                          </a:solidFill>
                        </a:rPr>
                        <a:t> genomic data as a graph</a:t>
                      </a:r>
                    </a:p>
                  </a:txBody>
                  <a:tcPr marL="73152" marR="73152" marT="36576" marB="36576" anchor="ctr">
                    <a:solidFill>
                      <a:srgbClr val="FFFFFF"/>
                    </a:solidFill>
                  </a:tcPr>
                </a:tc>
                <a:tc>
                  <a:txBody>
                    <a:bodyPr wrap="square"/>
                    <a:lstStyle/>
                    <a:p>
                      <a:r>
                        <a:rPr sz="1500" b="0" i="0">
                          <a:solidFill>
                            <a:srgbClr val="0E2841"/>
                          </a:solidFill>
                        </a:rPr>
                        <a:t>whiteboard recipe → </a:t>
                      </a:r>
                      <a:r>
                        <a:rPr sz="1500" b="0" i="0">
                          <a:solidFill>
                            <a:srgbClr val="156082"/>
                          </a:solidFill>
                          <a:latin typeface="Courier New"/>
                        </a:rPr>
                        <a:t>Genome</a:t>
                      </a:r>
                      <a:r>
                        <a:rPr sz="1500" b="0" i="0">
                          <a:solidFill>
                            <a:srgbClr val="0E2841"/>
                          </a:solidFill>
                        </a:rPr>
                        <a:t>, </a:t>
                      </a:r>
                      <a:r>
                        <a:rPr sz="1500" b="0" i="0">
                          <a:solidFill>
                            <a:srgbClr val="156082"/>
                          </a:solidFill>
                          <a:latin typeface="Courier New"/>
                        </a:rPr>
                        <a:t>KO</a:t>
                      </a:r>
                      <a:r>
                        <a:rPr sz="1500" b="0" i="0">
                          <a:solidFill>
                            <a:srgbClr val="0E2841"/>
                          </a:solidFill>
                        </a:rPr>
                        <a:t>, </a:t>
                      </a:r>
                      <a:r>
                        <a:rPr sz="1500" b="0" i="0">
                          <a:solidFill>
                            <a:srgbClr val="156082"/>
                          </a:solidFill>
                          <a:latin typeface="Courier New"/>
                        </a:rPr>
                        <a:t>Taxon</a:t>
                      </a:r>
                      <a:r>
                        <a:rPr sz="1500" b="0" i="0">
                          <a:solidFill>
                            <a:srgbClr val="0E2841"/>
                          </a:solidFill>
                        </a:rPr>
                        <a:t>, </a:t>
                      </a:r>
                      <a:r>
                        <a:rPr sz="1500" b="0" i="0">
                          <a:solidFill>
                            <a:srgbClr val="156082"/>
                          </a:solidFill>
                          <a:latin typeface="Courier New"/>
                        </a:rPr>
                        <a:t>Pathway</a:t>
                      </a:r>
                      <a:r>
                        <a:rPr sz="1500" b="0" i="0">
                          <a:solidFill>
                            <a:srgbClr val="0E2841"/>
                          </a:solidFill>
                        </a:rPr>
                        <a:t> + 4 relationship types</a:t>
                      </a:r>
                    </a:p>
                  </a:txBody>
                  <a:tcPr marL="73152" marR="73152" marT="36576" marB="36576" anchor="ctr">
                    <a:solidFill>
                      <a:srgbClr val="FFFFFF"/>
                    </a:solidFill>
                  </a:tcPr>
                </a:tc>
                <a:tc>
                  <a:txBody>
                    <a:bodyPr wrap="square"/>
                    <a:lstStyle/>
                    <a:p>
                      <a:r>
                        <a:rPr sz="1500" b="0" i="0">
                          <a:solidFill>
                            <a:srgbClr val="0E2841"/>
                          </a:solidFill>
                        </a:rPr>
                        <a:t>nouns → nodes, verbs → relationships; properties on </a:t>
                      </a:r>
                      <a:r>
                        <a:rPr sz="1500" b="1" i="0">
                          <a:solidFill>
                            <a:srgbClr val="0E2841"/>
                          </a:solidFill>
                        </a:rPr>
                        <a:t>both</a:t>
                      </a:r>
                    </a:p>
                  </a:txBody>
                  <a:tcPr marL="73152" marR="73152" marT="36576" marB="36576" anchor="ctr">
                    <a:solidFill>
                      <a:srgbClr val="FFFFFF"/>
                    </a:solidFill>
                  </a:tcPr>
                </a:tc>
              </a:tr>
              <a:tr h="914400">
                <a:tc>
                  <a:txBody>
                    <a:bodyPr wrap="square"/>
                    <a:lstStyle/>
                    <a:p>
                      <a:r>
                        <a:rPr sz="1500" b="1" i="0">
                          <a:solidFill>
                            <a:srgbClr val="0E2841"/>
                          </a:solidFill>
                        </a:rPr>
                        <a:t>Build</a:t>
                      </a:r>
                      <a:r>
                        <a:rPr sz="1500" b="0" i="0">
                          <a:solidFill>
                            <a:srgbClr val="0E2841"/>
                          </a:solidFill>
                        </a:rPr>
                        <a:t> a genomic graph database</a:t>
                      </a:r>
                    </a:p>
                  </a:txBody>
                  <a:tcPr marL="73152" marR="73152" marT="36576" marB="36576" anchor="ctr">
                    <a:solidFill>
                      <a:srgbClr val="F2F5F9"/>
                    </a:solidFill>
                  </a:tcPr>
                </a:tc>
                <a:tc>
                  <a:txBody>
                    <a:bodyPr wrap="square"/>
                    <a:lstStyle/>
                    <a:p>
                      <a:r>
                        <a:rPr sz="1500" b="0" i="0">
                          <a:solidFill>
                            <a:srgbClr val="0E2841"/>
                          </a:solidFill>
                        </a:rPr>
                        <a:t>constraints → batched </a:t>
                      </a:r>
                      <a:r>
                        <a:rPr sz="1500" b="0" i="0">
                          <a:solidFill>
                            <a:srgbClr val="156082"/>
                          </a:solidFill>
                          <a:latin typeface="Courier New"/>
                        </a:rPr>
                        <a:t>UNWIND … MERGE</a:t>
                      </a:r>
                      <a:r>
                        <a:rPr sz="1500" b="0" i="0">
                          <a:solidFill>
                            <a:srgbClr val="0E2841"/>
                          </a:solidFill>
                        </a:rPr>
                        <a:t> → verification (65 / 8,994 / 270 / 356 nodes)</a:t>
                      </a:r>
                    </a:p>
                  </a:txBody>
                  <a:tcPr marL="73152" marR="73152" marT="36576" marB="36576" anchor="ctr">
                    <a:solidFill>
                      <a:srgbClr val="F2F5F9"/>
                    </a:solidFill>
                  </a:tcPr>
                </a:tc>
                <a:tc>
                  <a:txBody>
                    <a:bodyPr wrap="square"/>
                    <a:lstStyle/>
                    <a:p>
                      <a:r>
                        <a:rPr sz="1500" b="0" i="0">
                          <a:solidFill>
                            <a:srgbClr val="156082"/>
                          </a:solidFill>
                          <a:latin typeface="Courier New"/>
                        </a:rPr>
                        <a:t>MERGE</a:t>
                      </a:r>
                      <a:r>
                        <a:rPr sz="1500" b="0" i="0">
                          <a:solidFill>
                            <a:srgbClr val="0E2841"/>
                          </a:solidFill>
                        </a:rPr>
                        <a:t> makes imports re-runnable; </a:t>
                      </a:r>
                      <a:r>
                        <a:rPr sz="1500" b="1" i="0">
                          <a:solidFill>
                            <a:srgbClr val="0E2841"/>
                          </a:solidFill>
                        </a:rPr>
                        <a:t>verify</a:t>
                      </a:r>
                      <a:r>
                        <a:rPr sz="1500" b="0" i="0">
                          <a:solidFill>
                            <a:srgbClr val="0E2841"/>
                          </a:solidFill>
                        </a:rPr>
                        <a:t> every import</a:t>
                      </a:r>
                    </a:p>
                  </a:txBody>
                  <a:tcPr marL="73152" marR="73152" marT="36576" marB="36576" anchor="ctr">
                    <a:solidFill>
                      <a:srgbClr val="F2F5F9"/>
                    </a:solidFill>
                  </a:tcPr>
                </a:tc>
              </a:tr>
              <a:tr h="914400">
                <a:tc>
                  <a:txBody>
                    <a:bodyPr wrap="square"/>
                    <a:lstStyle/>
                    <a:p>
                      <a:r>
                        <a:rPr sz="1500" b="1" i="0">
                          <a:solidFill>
                            <a:srgbClr val="0E2841"/>
                          </a:solidFill>
                        </a:rPr>
                        <a:t>Identify similar genomes</a:t>
                      </a:r>
                      <a:r>
                        <a:rPr sz="1500" b="0" i="0">
                          <a:solidFill>
                            <a:srgbClr val="0E2841"/>
                          </a:solidFill>
                        </a:rPr>
                        <a:t> from shared KOs</a:t>
                      </a:r>
                    </a:p>
                  </a:txBody>
                  <a:tcPr marL="73152" marR="73152" marT="36576" marB="36576" anchor="ctr">
                    <a:solidFill>
                      <a:srgbClr val="FFFFFF"/>
                    </a:solidFill>
                  </a:tcPr>
                </a:tc>
                <a:tc>
                  <a:txBody>
                    <a:bodyPr wrap="square"/>
                    <a:lstStyle/>
                    <a:p>
                      <a:r>
                        <a:rPr sz="1500" b="0" i="0">
                          <a:solidFill>
                            <a:srgbClr val="156082"/>
                          </a:solidFill>
                          <a:latin typeface="Courier New"/>
                        </a:rPr>
                        <a:t>Genome → KO ← Genome</a:t>
                      </a:r>
                      <a:r>
                        <a:rPr sz="1500" b="0" i="0">
                          <a:solidFill>
                            <a:srgbClr val="0E2841"/>
                          </a:solidFill>
                        </a:rPr>
                        <a:t>, Jaccard index, heat map, kNN graph</a:t>
                      </a:r>
                    </a:p>
                  </a:txBody>
                  <a:tcPr marL="73152" marR="73152" marT="36576" marB="36576" anchor="ctr">
                    <a:solidFill>
                      <a:srgbClr val="FFFFFF"/>
                    </a:solidFill>
                  </a:tcPr>
                </a:tc>
                <a:tc>
                  <a:txBody>
                    <a:bodyPr wrap="square"/>
                    <a:lstStyle/>
                    <a:p>
                      <a:r>
                        <a:rPr sz="1500" b="0" i="0">
                          <a:solidFill>
                            <a:srgbClr val="0E2841"/>
                          </a:solidFill>
                        </a:rPr>
                        <a:t>normalise counts; results can be written back</a:t>
                      </a:r>
                    </a:p>
                  </a:txBody>
                  <a:tcPr marL="73152" marR="73152" marT="36576" marB="36576" anchor="ctr">
                    <a:solidFill>
                      <a:srgbClr val="FFFFFF"/>
                    </a:solidFill>
                  </a:tcPr>
                </a:tc>
              </a:tr>
              <a:tr h="914400">
                <a:tc>
                  <a:txBody>
                    <a:bodyPr wrap="square"/>
                    <a:lstStyle/>
                    <a:p>
                      <a:r>
                        <a:rPr sz="1500" b="1" i="0">
                          <a:solidFill>
                            <a:srgbClr val="0E2841"/>
                          </a:solidFill>
                        </a:rPr>
                        <a:t>Infer evolutionary patterns</a:t>
                      </a:r>
                      <a:r>
                        <a:rPr sz="1500" b="0" i="0">
                          <a:solidFill>
                            <a:srgbClr val="0E2841"/>
                          </a:solidFill>
                        </a:rPr>
                        <a:t> of KOs on a tree</a:t>
                      </a:r>
                    </a:p>
                  </a:txBody>
                  <a:tcPr marL="73152" marR="73152" marT="36576" marB="36576" anchor="ctr">
                    <a:solidFill>
                      <a:srgbClr val="F2F5F9"/>
                    </a:solidFill>
                  </a:tcPr>
                </a:tc>
                <a:tc>
                  <a:txBody>
                    <a:bodyPr wrap="square"/>
                    <a:lstStyle/>
                    <a:p>
                      <a:r>
                        <a:rPr sz="1500" b="0" i="0">
                          <a:solidFill>
                            <a:srgbClr val="156082"/>
                          </a:solidFill>
                          <a:latin typeface="Courier New"/>
                        </a:rPr>
                        <a:t>CHILD_OF*0..</a:t>
                      </a:r>
                      <a:r>
                        <a:rPr sz="1500" b="0" i="0">
                          <a:solidFill>
                            <a:srgbClr val="0E2841"/>
                          </a:solidFill>
                        </a:rPr>
                        <a:t>, origin clade (LCA) + coverage, signature KOs, core, gene loss</a:t>
                      </a:r>
                    </a:p>
                  </a:txBody>
                  <a:tcPr marL="73152" marR="73152" marT="36576" marB="36576" anchor="ctr">
                    <a:solidFill>
                      <a:srgbClr val="F2F5F9"/>
                    </a:solidFill>
                  </a:tcPr>
                </a:tc>
                <a:tc>
                  <a:txBody>
                    <a:bodyPr wrap="square"/>
                    <a:lstStyle/>
                    <a:p>
                      <a:r>
                        <a:rPr sz="1500" b="0" i="0">
                          <a:solidFill>
                            <a:srgbClr val="0E2841"/>
                          </a:solidFill>
                        </a:rPr>
                        <a:t>most KOs are </a:t>
                      </a:r>
                      <a:r>
                        <a:rPr sz="1500" b="1" i="0">
                          <a:solidFill>
                            <a:srgbClr val="0E2841"/>
                          </a:solidFill>
                        </a:rPr>
                        <a:t>patchy</a:t>
                      </a:r>
                      <a:r>
                        <a:rPr sz="1500" b="0" i="0">
                          <a:solidFill>
                            <a:srgbClr val="0E2841"/>
                          </a:solidFill>
                        </a:rPr>
                        <a:t>; taxonomy ≠ phylogeny</a:t>
                      </a:r>
                    </a:p>
                  </a:txBody>
                  <a:tcPr marL="73152" marR="73152" marT="36576" marB="36576" anchor="ctr">
                    <a:solidFill>
                      <a:srgbClr val="F2F5F9"/>
                    </a:solidFill>
                  </a:tcPr>
                </a:tc>
              </a:tr>
            </a:tbl>
          </a:graphicData>
        </a:graphic>
      </p:graphicFrame>
      <p:sp>
        <p:nvSpPr>
          <p:cNvPr id="6" name="banner"/>
          <p:cNvSpPr/>
          <p:nvPr/>
        </p:nvSpPr>
        <p:spPr>
          <a:xfrm>
            <a:off x="548640" y="5486400"/>
            <a:ext cx="11064240" cy="777240"/>
          </a:xfrm>
          <a:prstGeom prst="roundRect">
            <a:avLst>
              <a:gd name="adj" fmla="val 7058"/>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anner text"/>
          <p:cNvSpPr txBox="1"/>
          <p:nvPr/>
        </p:nvSpPr>
        <p:spPr>
          <a:xfrm>
            <a:off x="731520" y="5532120"/>
            <a:ext cx="10698480" cy="685800"/>
          </a:xfrm>
          <a:prstGeom prst="rect">
            <a:avLst/>
          </a:prstGeom>
          <a:noFill/>
        </p:spPr>
        <p:txBody>
          <a:bodyPr wrap="square" lIns="45720" rIns="45720" tIns="27432" bIns="27432" anchor="ctr">
            <a:spAutoFit/>
          </a:bodyPr>
          <a:lstStyle/>
          <a:p>
            <a:pPr algn="l">
              <a:spcAft>
                <a:spcPts val="600"/>
              </a:spcAft>
            </a:pPr>
            <a:r>
              <a:rPr sz="1800" b="0" i="0">
                <a:solidFill>
                  <a:srgbClr val="FFFFFF"/>
                </a:solidFill>
              </a:rPr>
              <a:t>The questions were about </a:t>
            </a:r>
            <a:r>
              <a:rPr sz="1800" b="1" i="0">
                <a:solidFill>
                  <a:srgbClr val="FFFFFF"/>
                </a:solidFill>
              </a:rPr>
              <a:t>relationships</a:t>
            </a:r>
            <a:r>
              <a:rPr sz="1800" b="0" i="0">
                <a:solidFill>
                  <a:srgbClr val="FFFFFF"/>
                </a:solidFill>
              </a:rPr>
              <a:t>: in a graph they are </a:t>
            </a:r>
            <a:r>
              <a:rPr sz="1800" b="0" i="1">
                <a:solidFill>
                  <a:srgbClr val="FFFFFF"/>
                </a:solidFill>
              </a:rPr>
              <a:t>stored</a:t>
            </a:r>
            <a:r>
              <a:rPr sz="1800" b="0" i="0">
                <a:solidFill>
                  <a:srgbClr val="FFFFFF"/>
                </a:solidFill>
              </a:rPr>
              <a:t>, so the query looks like the question.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11064240" cy="777240"/>
          </a:xfrm>
        </p:spPr>
        <p:txBody>
          <a:bodyPr wrap="square" anchor="ctr"/>
          <a:lstStyle/>
          <a:p>
            <a:pPr algn="l"/>
            <a:r>
              <a:rPr sz="3000" b="1" i="0">
                <a:solidFill>
                  <a:srgbClr val="0E2841"/>
                </a:solidFill>
              </a:rPr>
              <a:t>Check yourself</a:t>
            </a:r>
          </a:p>
        </p:txBody>
      </p:sp>
      <p:sp>
        <p:nvSpPr>
          <p:cNvPr id="3" name="footer"/>
          <p:cNvSpPr txBox="1"/>
          <p:nvPr/>
        </p:nvSpPr>
        <p:spPr>
          <a:xfrm>
            <a:off x="548640" y="6455664"/>
            <a:ext cx="8686800" cy="274320"/>
          </a:xfrm>
          <a:prstGeom prst="rect">
            <a:avLst/>
          </a:prstGeom>
          <a:noFill/>
        </p:spPr>
        <p:txBody>
          <a:bodyPr wrap="square" lIns="45720" rIns="45720" tIns="27432" bIns="27432" anchor="t">
            <a:spAutoFit/>
          </a:bodyPr>
          <a:lstStyle/>
          <a:p>
            <a:pPr algn="l">
              <a:spcAft>
                <a:spcPts val="600"/>
              </a:spcAft>
            </a:pPr>
            <a:r>
              <a:rPr sz="1000" b="0" i="0">
                <a:solidFill>
                  <a:srgbClr val="595959"/>
                </a:solidFill>
              </a:rPr>
              <a:t>NoSQL Databases for Bioinformatics  ·  Lecture 27  ·  Neo4j genome workshop</a:t>
            </a:r>
          </a:p>
        </p:txBody>
      </p:sp>
      <p:sp>
        <p:nvSpPr>
          <p:cNvPr id="4" name="slide number"/>
          <p:cNvSpPr txBox="1"/>
          <p:nvPr/>
        </p:nvSpPr>
        <p:spPr>
          <a:xfrm>
            <a:off x="10698480" y="6455664"/>
            <a:ext cx="914400" cy="274320"/>
          </a:xfrm>
          <a:prstGeom prst="rect">
            <a:avLst/>
          </a:prstGeom>
          <a:noFill/>
        </p:spPr>
        <p:txBody>
          <a:bodyPr wrap="square" lIns="45720" rIns="45720" tIns="27432" bIns="27432" anchor="t">
            <a:spAutoFit/>
          </a:bodyPr>
          <a:lstStyle/>
          <a:p>
            <a:pPr algn="r">
              <a:spcAft>
                <a:spcPts val="600"/>
              </a:spcAft>
            </a:pPr>
            <a:fld id="{B6F15528-21DE-4FAA-801E-634DDDAF4B2B}" type="slidenum">
              <a:rPr lang="en-US" sz="1000">
                <a:solidFill>
                  <a:srgbClr val="595959"/>
                </a:solidFill>
              </a:rPr>
              <a:t>‹#›</a:t>
            </a:fld>
          </a:p>
        </p:txBody>
      </p:sp>
      <p:sp>
        <p:nvSpPr>
          <p:cNvPr id="5" name="q1"/>
          <p:cNvSpPr/>
          <p:nvPr/>
        </p:nvSpPr>
        <p:spPr>
          <a:xfrm>
            <a:off x="548640" y="1325880"/>
            <a:ext cx="11064240" cy="1051560"/>
          </a:xfrm>
          <a:prstGeom prst="roundRect">
            <a:avLst>
              <a:gd name="adj" fmla="val 5217"/>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qn1"/>
          <p:cNvSpPr/>
          <p:nvPr/>
        </p:nvSpPr>
        <p:spPr>
          <a:xfrm>
            <a:off x="685800" y="1600200"/>
            <a:ext cx="502920" cy="50292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800" b="1" i="0">
                <a:solidFill>
                  <a:srgbClr val="FFFFFF"/>
                </a:solidFill>
              </a:rPr>
              <a:t>1</a:t>
            </a:r>
          </a:p>
        </p:txBody>
      </p:sp>
      <p:sp>
        <p:nvSpPr>
          <p:cNvPr id="7" name="qt1"/>
          <p:cNvSpPr txBox="1"/>
          <p:nvPr/>
        </p:nvSpPr>
        <p:spPr>
          <a:xfrm>
            <a:off x="1371600" y="1371600"/>
            <a:ext cx="10149840" cy="411480"/>
          </a:xfrm>
          <a:prstGeom prst="rect">
            <a:avLst/>
          </a:prstGeom>
          <a:noFill/>
        </p:spPr>
        <p:txBody>
          <a:bodyPr wrap="square" lIns="45720" rIns="45720" tIns="27432" bIns="27432" anchor="t">
            <a:spAutoFit/>
          </a:bodyPr>
          <a:lstStyle/>
          <a:p>
            <a:pPr algn="l">
              <a:spcAft>
                <a:spcPts val="600"/>
              </a:spcAft>
            </a:pPr>
            <a:r>
              <a:rPr sz="1700" b="1" i="0">
                <a:solidFill>
                  <a:srgbClr val="0E2841"/>
                </a:solidFill>
              </a:rPr>
              <a:t>Best way to model “a genome contains a KO”?</a:t>
            </a:r>
          </a:p>
        </p:txBody>
      </p:sp>
      <p:sp>
        <p:nvSpPr>
          <p:cNvPr id="8" name="qa1"/>
          <p:cNvSpPr txBox="1"/>
          <p:nvPr/>
        </p:nvSpPr>
        <p:spPr>
          <a:xfrm>
            <a:off x="1371600" y="1801368"/>
            <a:ext cx="10149840" cy="548640"/>
          </a:xfrm>
          <a:prstGeom prst="rect">
            <a:avLst/>
          </a:prstGeom>
          <a:noFill/>
        </p:spPr>
        <p:txBody>
          <a:bodyPr wrap="square" lIns="45720" rIns="45720" tIns="27432" bIns="27432" anchor="t">
            <a:spAutoFit/>
          </a:bodyPr>
          <a:lstStyle/>
          <a:p>
            <a:pPr algn="l">
              <a:spcAft>
                <a:spcPts val="600"/>
              </a:spcAft>
            </a:pPr>
            <a:r>
              <a:rPr sz="1400" b="0" i="0">
                <a:solidFill>
                  <a:srgbClr val="595959"/>
                </a:solidFill>
              </a:rPr>
              <a:t>A) a list property on the Genome node  ·  B) a </a:t>
            </a:r>
            <a:r>
              <a:rPr sz="1400" b="0" i="0">
                <a:solidFill>
                  <a:srgbClr val="595959"/>
                </a:solidFill>
                <a:latin typeface="Courier New"/>
              </a:rPr>
              <a:t>(:Genome)-[:CONTAINS_KO]-&gt;(:KO)</a:t>
            </a:r>
            <a:r>
              <a:rPr sz="1400" b="0" i="0">
                <a:solidFill>
                  <a:srgbClr val="595959"/>
                </a:solidFill>
              </a:rPr>
              <a:t> relationship  ·  C) merge Genome and KO into one node type</a:t>
            </a:r>
          </a:p>
        </p:txBody>
      </p:sp>
      <p:sp>
        <p:nvSpPr>
          <p:cNvPr id="9" name="q2"/>
          <p:cNvSpPr/>
          <p:nvPr/>
        </p:nvSpPr>
        <p:spPr>
          <a:xfrm>
            <a:off x="548640" y="2496312"/>
            <a:ext cx="11064240" cy="1051560"/>
          </a:xfrm>
          <a:prstGeom prst="roundRect">
            <a:avLst>
              <a:gd name="adj" fmla="val 5217"/>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qn2"/>
          <p:cNvSpPr/>
          <p:nvPr/>
        </p:nvSpPr>
        <p:spPr>
          <a:xfrm>
            <a:off x="685800" y="2770632"/>
            <a:ext cx="502920" cy="50292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800" b="1" i="0">
                <a:solidFill>
                  <a:srgbClr val="FFFFFF"/>
                </a:solidFill>
              </a:rPr>
              <a:t>2</a:t>
            </a:r>
          </a:p>
        </p:txBody>
      </p:sp>
      <p:sp>
        <p:nvSpPr>
          <p:cNvPr id="11" name="qt2"/>
          <p:cNvSpPr txBox="1"/>
          <p:nvPr/>
        </p:nvSpPr>
        <p:spPr>
          <a:xfrm>
            <a:off x="1371600" y="2542032"/>
            <a:ext cx="10149840" cy="411480"/>
          </a:xfrm>
          <a:prstGeom prst="rect">
            <a:avLst/>
          </a:prstGeom>
          <a:noFill/>
        </p:spPr>
        <p:txBody>
          <a:bodyPr wrap="square" lIns="45720" rIns="45720" tIns="27432" bIns="27432" anchor="t">
            <a:spAutoFit/>
          </a:bodyPr>
          <a:lstStyle/>
          <a:p>
            <a:pPr algn="l">
              <a:spcAft>
                <a:spcPts val="600"/>
              </a:spcAft>
            </a:pPr>
            <a:r>
              <a:rPr sz="1700" b="1" i="0">
                <a:solidFill>
                  <a:srgbClr val="0E2841"/>
                </a:solidFill>
              </a:rPr>
              <a:t>How do you find similar genomes by shared KOs?</a:t>
            </a:r>
          </a:p>
        </p:txBody>
      </p:sp>
      <p:sp>
        <p:nvSpPr>
          <p:cNvPr id="12" name="qa2"/>
          <p:cNvSpPr txBox="1"/>
          <p:nvPr/>
        </p:nvSpPr>
        <p:spPr>
          <a:xfrm>
            <a:off x="1371600" y="2971800"/>
            <a:ext cx="10149840" cy="548640"/>
          </a:xfrm>
          <a:prstGeom prst="rect">
            <a:avLst/>
          </a:prstGeom>
          <a:noFill/>
        </p:spPr>
        <p:txBody>
          <a:bodyPr wrap="square" lIns="45720" rIns="45720" tIns="27432" bIns="27432" anchor="t">
            <a:spAutoFit/>
          </a:bodyPr>
          <a:lstStyle/>
          <a:p>
            <a:pPr algn="l">
              <a:spcAft>
                <a:spcPts val="600"/>
              </a:spcAft>
            </a:pPr>
            <a:r>
              <a:rPr sz="1400" b="0" i="0">
                <a:solidFill>
                  <a:srgbClr val="595959"/>
                </a:solidFill>
              </a:rPr>
              <a:t>A) count relationships on a Genome  ·  B) find KOs with no genome  ·  C) traverse Genome → KO → Genome and count</a:t>
            </a:r>
          </a:p>
        </p:txBody>
      </p:sp>
      <p:sp>
        <p:nvSpPr>
          <p:cNvPr id="13" name="q3"/>
          <p:cNvSpPr/>
          <p:nvPr/>
        </p:nvSpPr>
        <p:spPr>
          <a:xfrm>
            <a:off x="548640" y="3666744"/>
            <a:ext cx="11064240" cy="1051560"/>
          </a:xfrm>
          <a:prstGeom prst="roundRect">
            <a:avLst>
              <a:gd name="adj" fmla="val 5217"/>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qn3"/>
          <p:cNvSpPr/>
          <p:nvPr/>
        </p:nvSpPr>
        <p:spPr>
          <a:xfrm>
            <a:off x="685800" y="3941063"/>
            <a:ext cx="502920" cy="50292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800" b="1" i="0">
                <a:solidFill>
                  <a:srgbClr val="FFFFFF"/>
                </a:solidFill>
              </a:rPr>
              <a:t>3</a:t>
            </a:r>
          </a:p>
        </p:txBody>
      </p:sp>
      <p:sp>
        <p:nvSpPr>
          <p:cNvPr id="15" name="qt3"/>
          <p:cNvSpPr txBox="1"/>
          <p:nvPr/>
        </p:nvSpPr>
        <p:spPr>
          <a:xfrm>
            <a:off x="1371600" y="3712463"/>
            <a:ext cx="10149840" cy="411480"/>
          </a:xfrm>
          <a:prstGeom prst="rect">
            <a:avLst/>
          </a:prstGeom>
          <a:noFill/>
        </p:spPr>
        <p:txBody>
          <a:bodyPr wrap="square" lIns="45720" rIns="45720" tIns="27432" bIns="27432" anchor="t">
            <a:spAutoFit/>
          </a:bodyPr>
          <a:lstStyle/>
          <a:p>
            <a:pPr algn="l">
              <a:spcAft>
                <a:spcPts val="600"/>
              </a:spcAft>
            </a:pPr>
            <a:r>
              <a:rPr sz="1700" b="1" i="0">
                <a:solidFill>
                  <a:srgbClr val="0E2841"/>
                </a:solidFill>
              </a:rPr>
              <a:t>Why is the raw number of shared KOs a poor similarity score?</a:t>
            </a:r>
          </a:p>
        </p:txBody>
      </p:sp>
      <p:sp>
        <p:nvSpPr>
          <p:cNvPr id="16" name="qa3"/>
          <p:cNvSpPr txBox="1"/>
          <p:nvPr/>
        </p:nvSpPr>
        <p:spPr>
          <a:xfrm>
            <a:off x="1371600" y="4142231"/>
            <a:ext cx="10149840" cy="548640"/>
          </a:xfrm>
          <a:prstGeom prst="rect">
            <a:avLst/>
          </a:prstGeom>
          <a:noFill/>
        </p:spPr>
        <p:txBody>
          <a:bodyPr wrap="square" lIns="45720" rIns="45720" tIns="27432" bIns="27432" anchor="t">
            <a:spAutoFit/>
          </a:bodyPr>
          <a:lstStyle/>
          <a:p>
            <a:pPr algn="l">
              <a:spcAft>
                <a:spcPts val="600"/>
              </a:spcAft>
            </a:pPr>
            <a:r>
              <a:rPr sz="1400" b="0" i="0">
                <a:solidFill>
                  <a:srgbClr val="595959"/>
                </a:solidFill>
              </a:rPr>
              <a:t>A) it cannot be computed in Cypher  ·  B) it favours genomes with large repertoires  ·  C) it ignores the tree</a:t>
            </a:r>
          </a:p>
        </p:txBody>
      </p:sp>
      <p:sp>
        <p:nvSpPr>
          <p:cNvPr id="17" name="q4"/>
          <p:cNvSpPr/>
          <p:nvPr/>
        </p:nvSpPr>
        <p:spPr>
          <a:xfrm>
            <a:off x="548640" y="4837176"/>
            <a:ext cx="11064240" cy="1051560"/>
          </a:xfrm>
          <a:prstGeom prst="roundRect">
            <a:avLst>
              <a:gd name="adj" fmla="val 5217"/>
            </a:avLst>
          </a:prstGeom>
          <a:solidFill>
            <a:srgbClr val="F2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qn4"/>
          <p:cNvSpPr/>
          <p:nvPr/>
        </p:nvSpPr>
        <p:spPr>
          <a:xfrm>
            <a:off x="685800" y="5111496"/>
            <a:ext cx="502920" cy="50292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800" b="1" i="0">
                <a:solidFill>
                  <a:srgbClr val="FFFFFF"/>
                </a:solidFill>
              </a:rPr>
              <a:t>4</a:t>
            </a:r>
          </a:p>
        </p:txBody>
      </p:sp>
      <p:sp>
        <p:nvSpPr>
          <p:cNvPr id="19" name="qt4"/>
          <p:cNvSpPr txBox="1"/>
          <p:nvPr/>
        </p:nvSpPr>
        <p:spPr>
          <a:xfrm>
            <a:off x="1371600" y="4882896"/>
            <a:ext cx="10149840" cy="411480"/>
          </a:xfrm>
          <a:prstGeom prst="rect">
            <a:avLst/>
          </a:prstGeom>
          <a:noFill/>
        </p:spPr>
        <p:txBody>
          <a:bodyPr wrap="square" lIns="45720" rIns="45720" tIns="27432" bIns="27432" anchor="t">
            <a:spAutoFit/>
          </a:bodyPr>
          <a:lstStyle/>
          <a:p>
            <a:pPr algn="l">
              <a:spcAft>
                <a:spcPts val="600"/>
              </a:spcAft>
            </a:pPr>
            <a:r>
              <a:rPr sz="1700" b="1" i="0">
                <a:solidFill>
                  <a:srgbClr val="0E2841"/>
                </a:solidFill>
              </a:rPr>
              <a:t>Which pattern lists </a:t>
            </a:r>
            <a:r>
              <a:rPr sz="1700" b="1" i="1">
                <a:solidFill>
                  <a:srgbClr val="0E2841"/>
                </a:solidFill>
              </a:rPr>
              <a:t>all ancestors</a:t>
            </a:r>
            <a:r>
              <a:rPr sz="1700" b="1" i="0">
                <a:solidFill>
                  <a:srgbClr val="0E2841"/>
                </a:solidFill>
              </a:rPr>
              <a:t> of a taxon?</a:t>
            </a:r>
          </a:p>
        </p:txBody>
      </p:sp>
      <p:sp>
        <p:nvSpPr>
          <p:cNvPr id="20" name="qa4"/>
          <p:cNvSpPr txBox="1"/>
          <p:nvPr/>
        </p:nvSpPr>
        <p:spPr>
          <a:xfrm>
            <a:off x="1371600" y="5312664"/>
            <a:ext cx="10149840" cy="548640"/>
          </a:xfrm>
          <a:prstGeom prst="rect">
            <a:avLst/>
          </a:prstGeom>
          <a:noFill/>
        </p:spPr>
        <p:txBody>
          <a:bodyPr wrap="square" lIns="45720" rIns="45720" tIns="27432" bIns="27432" anchor="t">
            <a:spAutoFit/>
          </a:bodyPr>
          <a:lstStyle/>
          <a:p>
            <a:pPr algn="l">
              <a:spcAft>
                <a:spcPts val="600"/>
              </a:spcAft>
            </a:pPr>
            <a:r>
              <a:rPr sz="1400" b="0" i="0">
                <a:solidFill>
                  <a:srgbClr val="595959"/>
                </a:solidFill>
              </a:rPr>
              <a:t>A) </a:t>
            </a:r>
            <a:r>
              <a:rPr sz="1400" b="0" i="0">
                <a:solidFill>
                  <a:srgbClr val="595959"/>
                </a:solidFill>
                <a:latin typeface="Courier New"/>
              </a:rPr>
              <a:t>-[:CHILD_OF]-&gt;</a:t>
            </a:r>
            <a:r>
              <a:rPr sz="1400" b="0" i="0">
                <a:solidFill>
                  <a:srgbClr val="595959"/>
                </a:solidFill>
              </a:rPr>
              <a:t>  ·  B) </a:t>
            </a:r>
            <a:r>
              <a:rPr sz="1400" b="0" i="0">
                <a:solidFill>
                  <a:srgbClr val="595959"/>
                </a:solidFill>
                <a:latin typeface="Courier New"/>
              </a:rPr>
              <a:t>-[:CHILD_OF*0..]-&gt;</a:t>
            </a:r>
            <a:r>
              <a:rPr sz="1400" b="0" i="0">
                <a:solidFill>
                  <a:srgbClr val="595959"/>
                </a:solidFill>
              </a:rPr>
              <a:t>  ·  C) </a:t>
            </a:r>
            <a:r>
              <a:rPr sz="1400" b="0" i="0">
                <a:solidFill>
                  <a:srgbClr val="595959"/>
                </a:solidFill>
                <a:latin typeface="Courier New"/>
              </a:rPr>
              <a:t>-[:CLASSIFIED_AS]-&gt;</a:t>
            </a:r>
          </a:p>
        </p:txBody>
      </p:sp>
      <p:sp>
        <p:nvSpPr>
          <p:cNvPr id="21" name="quiz note"/>
          <p:cNvSpPr txBox="1"/>
          <p:nvPr/>
        </p:nvSpPr>
        <p:spPr>
          <a:xfrm>
            <a:off x="548640" y="5989320"/>
            <a:ext cx="11064240" cy="365760"/>
          </a:xfrm>
          <a:prstGeom prst="rect">
            <a:avLst/>
          </a:prstGeom>
          <a:noFill/>
        </p:spPr>
        <p:txBody>
          <a:bodyPr wrap="square" lIns="45720" rIns="45720" tIns="27432" bIns="27432" anchor="t">
            <a:spAutoFit/>
          </a:bodyPr>
          <a:lstStyle/>
          <a:p>
            <a:pPr algn="l">
              <a:spcAft>
                <a:spcPts val="600"/>
              </a:spcAft>
            </a:pPr>
            <a:r>
              <a:rPr sz="1300" b="0" i="0">
                <a:solidFill>
                  <a:srgbClr val="595959"/>
                </a:solidFill>
              </a:rPr>
              <a:t>Answers in the speaker notes · more questions and exercises with solutions in the workbook (Appendix B)</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74320"/>
            <a:ext cx="11064240" cy="777240"/>
          </a:xfrm>
        </p:spPr>
        <p:txBody>
          <a:bodyPr wrap="square" anchor="ctr"/>
          <a:lstStyle/>
          <a:p>
            <a:pPr algn="l"/>
            <a:r>
              <a:rPr sz="3000" b="1" i="0">
                <a:solidFill>
                  <a:srgbClr val="0E2841"/>
                </a:solidFill>
              </a:rPr>
              <a:t>Cypher cheat sheet</a:t>
            </a:r>
          </a:p>
        </p:txBody>
      </p:sp>
      <p:sp>
        <p:nvSpPr>
          <p:cNvPr id="3" name="footer"/>
          <p:cNvSpPr txBox="1"/>
          <p:nvPr/>
        </p:nvSpPr>
        <p:spPr>
          <a:xfrm>
            <a:off x="548640" y="6455664"/>
            <a:ext cx="8686800" cy="274320"/>
          </a:xfrm>
          <a:prstGeom prst="rect">
            <a:avLst/>
          </a:prstGeom>
          <a:noFill/>
        </p:spPr>
        <p:txBody>
          <a:bodyPr wrap="square" lIns="45720" rIns="45720" tIns="27432" bIns="27432" anchor="t">
            <a:spAutoFit/>
          </a:bodyPr>
          <a:lstStyle/>
          <a:p>
            <a:pPr algn="l">
              <a:spcAft>
                <a:spcPts val="600"/>
              </a:spcAft>
            </a:pPr>
            <a:r>
              <a:rPr sz="1000" b="0" i="0">
                <a:solidFill>
                  <a:srgbClr val="595959"/>
                </a:solidFill>
              </a:rPr>
              <a:t>NoSQL Databases for Bioinformatics  ·  Lecture 27  ·  Neo4j genome workshop</a:t>
            </a:r>
          </a:p>
        </p:txBody>
      </p:sp>
      <p:sp>
        <p:nvSpPr>
          <p:cNvPr id="4" name="slide number"/>
          <p:cNvSpPr txBox="1"/>
          <p:nvPr/>
        </p:nvSpPr>
        <p:spPr>
          <a:xfrm>
            <a:off x="10698480" y="6455664"/>
            <a:ext cx="914400" cy="274320"/>
          </a:xfrm>
          <a:prstGeom prst="rect">
            <a:avLst/>
          </a:prstGeom>
          <a:noFill/>
        </p:spPr>
        <p:txBody>
          <a:bodyPr wrap="square" lIns="45720" rIns="45720" tIns="27432" bIns="27432" anchor="t">
            <a:spAutoFit/>
          </a:bodyPr>
          <a:lstStyle/>
          <a:p>
            <a:pPr algn="r">
              <a:spcAft>
                <a:spcPts val="600"/>
              </a:spcAft>
            </a:pPr>
            <a:fld id="{B6F15528-21DE-4FAA-801E-634DDDAF4B2B}" type="slidenum">
              <a:rPr lang="en-US" sz="1000">
                <a:solidFill>
                  <a:srgbClr val="595959"/>
                </a:solidFill>
              </a:rPr>
              <a:t>‹#›</a:t>
            </a:fld>
          </a:p>
        </p:txBody>
      </p:sp>
      <p:graphicFrame>
        <p:nvGraphicFramePr>
          <p:cNvPr id="5" name="syntax"/>
          <p:cNvGraphicFramePr>
            <a:graphicFrameLocks noGrp="1"/>
          </p:cNvGraphicFramePr>
          <p:nvPr/>
        </p:nvGraphicFramePr>
        <p:xfrm>
          <a:off x="548640" y="1280160"/>
          <a:ext cx="11064240" cy="2322576"/>
        </p:xfrm>
        <a:graphic>
          <a:graphicData uri="http://schemas.openxmlformats.org/drawingml/2006/table">
            <a:tbl>
              <a:tblPr firstRow="0" bandRow="0">
                <a:tableStyleId>{5C22544A-7EE6-4342-B048-85BDC9FD1C3A}</a:tableStyleId>
              </a:tblPr>
              <a:tblGrid>
                <a:gridCol w="2926080"/>
                <a:gridCol w="4023360"/>
                <a:gridCol w="4114800"/>
              </a:tblGrid>
              <a:tr h="347472">
                <a:tc>
                  <a:txBody>
                    <a:bodyPr wrap="square"/>
                    <a:lstStyle/>
                    <a:p>
                      <a:r>
                        <a:rPr sz="1300" b="1" i="0">
                          <a:solidFill>
                            <a:srgbClr val="FFFFFF"/>
                          </a:solidFill>
                        </a:rPr>
                        <a:t>Description</a:t>
                      </a:r>
                    </a:p>
                  </a:txBody>
                  <a:tcPr marL="73152" marR="73152" marT="36576" marB="36576" anchor="ctr">
                    <a:solidFill>
                      <a:srgbClr val="0E2841"/>
                    </a:solidFill>
                  </a:tcPr>
                </a:tc>
                <a:tc>
                  <a:txBody>
                    <a:bodyPr wrap="square"/>
                    <a:lstStyle/>
                    <a:p>
                      <a:r>
                        <a:rPr sz="1300" b="1" i="0">
                          <a:solidFill>
                            <a:srgbClr val="FFFFFF"/>
                          </a:solidFill>
                        </a:rPr>
                        <a:t>Node</a:t>
                      </a:r>
                    </a:p>
                  </a:txBody>
                  <a:tcPr marL="73152" marR="73152" marT="36576" marB="36576" anchor="ctr">
                    <a:solidFill>
                      <a:srgbClr val="0E2841"/>
                    </a:solidFill>
                  </a:tcPr>
                </a:tc>
                <a:tc>
                  <a:txBody>
                    <a:bodyPr wrap="square"/>
                    <a:lstStyle/>
                    <a:p>
                      <a:r>
                        <a:rPr sz="1300" b="1" i="0">
                          <a:solidFill>
                            <a:srgbClr val="FFFFFF"/>
                          </a:solidFill>
                        </a:rPr>
                        <a:t>Relationship</a:t>
                      </a:r>
                    </a:p>
                  </a:txBody>
                  <a:tcPr marL="73152" marR="73152" marT="36576" marB="36576" anchor="ctr">
                    <a:solidFill>
                      <a:srgbClr val="0E2841"/>
                    </a:solidFill>
                  </a:tcPr>
                </a:tc>
              </a:tr>
              <a:tr h="329184">
                <a:tc>
                  <a:txBody>
                    <a:bodyPr wrap="square"/>
                    <a:lstStyle/>
                    <a:p>
                      <a:r>
                        <a:rPr sz="1300" b="0" i="0">
                          <a:solidFill>
                            <a:srgbClr val="0E2841"/>
                          </a:solidFill>
                        </a:rPr>
                        <a:t>generic</a:t>
                      </a:r>
                    </a:p>
                  </a:txBody>
                  <a:tcPr marL="73152" marR="73152" marT="36576" marB="36576" anchor="ctr">
                    <a:solidFill>
                      <a:srgbClr val="FFFFFF"/>
                    </a:solidFill>
                  </a:tcPr>
                </a:tc>
                <a:tc>
                  <a:txBody>
                    <a:bodyPr wrap="square"/>
                    <a:lstStyle/>
                    <a:p>
                      <a:r>
                        <a:rPr sz="1300" b="0" i="0">
                          <a:solidFill>
                            <a:srgbClr val="156082"/>
                          </a:solidFill>
                          <a:latin typeface="Courier New"/>
                        </a:rPr>
                        <a:t>()</a:t>
                      </a:r>
                    </a:p>
                  </a:txBody>
                  <a:tcPr marL="73152" marR="73152" marT="36576" marB="36576" anchor="ctr">
                    <a:solidFill>
                      <a:srgbClr val="FFFFFF"/>
                    </a:solidFill>
                  </a:tcPr>
                </a:tc>
                <a:tc>
                  <a:txBody>
                    <a:bodyPr wrap="square"/>
                    <a:lstStyle/>
                    <a:p>
                      <a:r>
                        <a:rPr sz="1300" b="0" i="0">
                          <a:solidFill>
                            <a:srgbClr val="156082"/>
                          </a:solidFill>
                          <a:latin typeface="Courier New"/>
                        </a:rPr>
                        <a:t>--</a:t>
                      </a:r>
                      <a:r>
                        <a:rPr sz="1300" b="0" i="0">
                          <a:solidFill>
                            <a:srgbClr val="0E2841"/>
                          </a:solidFill>
                        </a:rPr>
                        <a:t>  </a:t>
                      </a:r>
                      <a:r>
                        <a:rPr sz="1300" b="0" i="0">
                          <a:solidFill>
                            <a:srgbClr val="156082"/>
                          </a:solidFill>
                          <a:latin typeface="Courier New"/>
                        </a:rPr>
                        <a:t>--&gt;</a:t>
                      </a:r>
                      <a:r>
                        <a:rPr sz="1300" b="0" i="0">
                          <a:solidFill>
                            <a:srgbClr val="0E2841"/>
                          </a:solidFill>
                        </a:rPr>
                        <a:t>  </a:t>
                      </a:r>
                      <a:r>
                        <a:rPr sz="1300" b="0" i="0">
                          <a:solidFill>
                            <a:srgbClr val="156082"/>
                          </a:solidFill>
                          <a:latin typeface="Courier New"/>
                        </a:rPr>
                        <a:t>-[]-</a:t>
                      </a:r>
                    </a:p>
                  </a:txBody>
                  <a:tcPr marL="73152" marR="73152" marT="36576" marB="36576" anchor="ctr">
                    <a:solidFill>
                      <a:srgbClr val="FFFFFF"/>
                    </a:solidFill>
                  </a:tcPr>
                </a:tc>
              </a:tr>
              <a:tr h="329184">
                <a:tc>
                  <a:txBody>
                    <a:bodyPr wrap="square"/>
                    <a:lstStyle/>
                    <a:p>
                      <a:r>
                        <a:rPr sz="1300" b="0" i="0">
                          <a:solidFill>
                            <a:srgbClr val="0E2841"/>
                          </a:solidFill>
                        </a:rPr>
                        <a:t>with a reference</a:t>
                      </a:r>
                    </a:p>
                  </a:txBody>
                  <a:tcPr marL="73152" marR="73152" marT="36576" marB="36576" anchor="ctr">
                    <a:solidFill>
                      <a:srgbClr val="F2F5F9"/>
                    </a:solidFill>
                  </a:tcPr>
                </a:tc>
                <a:tc>
                  <a:txBody>
                    <a:bodyPr wrap="square"/>
                    <a:lstStyle/>
                    <a:p>
                      <a:r>
                        <a:rPr sz="1300" b="0" i="0">
                          <a:solidFill>
                            <a:srgbClr val="156082"/>
                          </a:solidFill>
                          <a:latin typeface="Courier New"/>
                        </a:rPr>
                        <a:t>(n)</a:t>
                      </a:r>
                    </a:p>
                  </a:txBody>
                  <a:tcPr marL="73152" marR="73152" marT="36576" marB="36576" anchor="ctr">
                    <a:solidFill>
                      <a:srgbClr val="F2F5F9"/>
                    </a:solidFill>
                  </a:tcPr>
                </a:tc>
                <a:tc>
                  <a:txBody>
                    <a:bodyPr wrap="square"/>
                    <a:lstStyle/>
                    <a:p>
                      <a:r>
                        <a:rPr sz="1300" b="0" i="0">
                          <a:solidFill>
                            <a:srgbClr val="156082"/>
                          </a:solidFill>
                          <a:latin typeface="Courier New"/>
                        </a:rPr>
                        <a:t>-[r]-</a:t>
                      </a:r>
                    </a:p>
                  </a:txBody>
                  <a:tcPr marL="73152" marR="73152" marT="36576" marB="36576" anchor="ctr">
                    <a:solidFill>
                      <a:srgbClr val="F2F5F9"/>
                    </a:solidFill>
                  </a:tcPr>
                </a:tc>
              </a:tr>
              <a:tr h="329184">
                <a:tc>
                  <a:txBody>
                    <a:bodyPr wrap="square"/>
                    <a:lstStyle/>
                    <a:p>
                      <a:r>
                        <a:rPr sz="1300" b="0" i="0">
                          <a:solidFill>
                            <a:srgbClr val="0E2841"/>
                          </a:solidFill>
                        </a:rPr>
                        <a:t>with a label / type</a:t>
                      </a:r>
                    </a:p>
                  </a:txBody>
                  <a:tcPr marL="73152" marR="73152" marT="36576" marB="36576" anchor="ctr">
                    <a:solidFill>
                      <a:srgbClr val="FFFFFF"/>
                    </a:solidFill>
                  </a:tcPr>
                </a:tc>
                <a:tc>
                  <a:txBody>
                    <a:bodyPr wrap="square"/>
                    <a:lstStyle/>
                    <a:p>
                      <a:r>
                        <a:rPr sz="1300" b="0" i="0">
                          <a:solidFill>
                            <a:srgbClr val="156082"/>
                          </a:solidFill>
                          <a:latin typeface="Courier New"/>
                        </a:rPr>
                        <a:t>(:Genome)</a:t>
                      </a:r>
                    </a:p>
                  </a:txBody>
                  <a:tcPr marL="73152" marR="73152" marT="36576" marB="36576" anchor="ctr">
                    <a:solidFill>
                      <a:srgbClr val="FFFFFF"/>
                    </a:solidFill>
                  </a:tcPr>
                </a:tc>
                <a:tc>
                  <a:txBody>
                    <a:bodyPr wrap="square"/>
                    <a:lstStyle/>
                    <a:p>
                      <a:r>
                        <a:rPr sz="1300" b="0" i="0">
                          <a:solidFill>
                            <a:srgbClr val="156082"/>
                          </a:solidFill>
                          <a:latin typeface="Courier New"/>
                        </a:rPr>
                        <a:t>-[:CONTAINS_KO]-</a:t>
                      </a:r>
                    </a:p>
                  </a:txBody>
                  <a:tcPr marL="73152" marR="73152" marT="36576" marB="36576" anchor="ctr">
                    <a:solidFill>
                      <a:srgbClr val="FFFFFF"/>
                    </a:solidFill>
                  </a:tcPr>
                </a:tc>
              </a:tr>
              <a:tr h="329184">
                <a:tc>
                  <a:txBody>
                    <a:bodyPr wrap="square"/>
                    <a:lstStyle/>
                    <a:p>
                      <a:r>
                        <a:rPr sz="1300" b="0" i="0">
                          <a:solidFill>
                            <a:srgbClr val="0E2841"/>
                          </a:solidFill>
                        </a:rPr>
                        <a:t>with a label / type + property</a:t>
                      </a:r>
                    </a:p>
                  </a:txBody>
                  <a:tcPr marL="73152" marR="73152" marT="36576" marB="36576" anchor="ctr">
                    <a:solidFill>
                      <a:srgbClr val="F2F5F9"/>
                    </a:solidFill>
                  </a:tcPr>
                </a:tc>
                <a:tc>
                  <a:txBody>
                    <a:bodyPr wrap="square"/>
                    <a:lstStyle/>
                    <a:p>
                      <a:r>
                        <a:rPr sz="1300" b="0" i="0">
                          <a:solidFill>
                            <a:srgbClr val="156082"/>
                          </a:solidFill>
                          <a:latin typeface="Courier New"/>
                        </a:rPr>
                        <a:t>(:Genome {genome_id: 'eco'})</a:t>
                      </a:r>
                    </a:p>
                  </a:txBody>
                  <a:tcPr marL="73152" marR="73152" marT="36576" marB="36576" anchor="ctr">
                    <a:solidFill>
                      <a:srgbClr val="F2F5F9"/>
                    </a:solidFill>
                  </a:tcPr>
                </a:tc>
                <a:tc>
                  <a:txBody>
                    <a:bodyPr wrap="square"/>
                    <a:lstStyle/>
                    <a:p>
                      <a:r>
                        <a:rPr sz="1300" b="0" i="0">
                          <a:solidFill>
                            <a:srgbClr val="156082"/>
                          </a:solidFill>
                          <a:latin typeface="Courier New"/>
                        </a:rPr>
                        <a:t>-[:CONTAINS_KO {copies: 1}]-</a:t>
                      </a:r>
                    </a:p>
                  </a:txBody>
                  <a:tcPr marL="73152" marR="73152" marT="36576" marB="36576" anchor="ctr">
                    <a:solidFill>
                      <a:srgbClr val="F2F5F9"/>
                    </a:solidFill>
                  </a:tcPr>
                </a:tc>
              </a:tr>
              <a:tr h="329184">
                <a:tc>
                  <a:txBody>
                    <a:bodyPr wrap="square"/>
                    <a:lstStyle/>
                    <a:p>
                      <a:r>
                        <a:rPr sz="1300" b="0" i="0">
                          <a:solidFill>
                            <a:srgbClr val="0E2841"/>
                          </a:solidFill>
                        </a:rPr>
                        <a:t>variable + label + property</a:t>
                      </a:r>
                    </a:p>
                  </a:txBody>
                  <a:tcPr marL="73152" marR="73152" marT="36576" marB="36576" anchor="ctr">
                    <a:solidFill>
                      <a:srgbClr val="FFFFFF"/>
                    </a:solidFill>
                  </a:tcPr>
                </a:tc>
                <a:tc>
                  <a:txBody>
                    <a:bodyPr wrap="square"/>
                    <a:lstStyle/>
                    <a:p>
                      <a:r>
                        <a:rPr sz="1300" b="0" i="0">
                          <a:solidFill>
                            <a:srgbClr val="156082"/>
                          </a:solidFill>
                          <a:latin typeface="Courier New"/>
                        </a:rPr>
                        <a:t>(g:Genome {genome_id: 'eco'})</a:t>
                      </a:r>
                    </a:p>
                  </a:txBody>
                  <a:tcPr marL="73152" marR="73152" marT="36576" marB="36576" anchor="ctr">
                    <a:solidFill>
                      <a:srgbClr val="FFFFFF"/>
                    </a:solidFill>
                  </a:tcPr>
                </a:tc>
                <a:tc>
                  <a:txBody>
                    <a:bodyPr wrap="square"/>
                    <a:lstStyle/>
                    <a:p>
                      <a:r>
                        <a:rPr sz="1300" b="0" i="0">
                          <a:solidFill>
                            <a:srgbClr val="156082"/>
                          </a:solidFill>
                          <a:latin typeface="Courier New"/>
                        </a:rPr>
                        <a:t>-[r:CONTAINS_KO {copies: 1}]-&gt;</a:t>
                      </a:r>
                    </a:p>
                  </a:txBody>
                  <a:tcPr marL="73152" marR="73152" marT="36576" marB="36576" anchor="ctr">
                    <a:solidFill>
                      <a:srgbClr val="FFFFFF"/>
                    </a:solidFill>
                  </a:tcPr>
                </a:tc>
              </a:tr>
              <a:tr h="329184">
                <a:tc>
                  <a:txBody>
                    <a:bodyPr wrap="square"/>
                    <a:lstStyle/>
                    <a:p>
                      <a:r>
                        <a:rPr sz="1300" b="0" i="0">
                          <a:solidFill>
                            <a:srgbClr val="0E2841"/>
                          </a:solidFill>
                        </a:rPr>
                        <a:t>variable length</a:t>
                      </a:r>
                    </a:p>
                  </a:txBody>
                  <a:tcPr marL="73152" marR="73152" marT="36576" marB="36576" anchor="ctr">
                    <a:solidFill>
                      <a:srgbClr val="F2F5F9"/>
                    </a:solidFill>
                  </a:tcPr>
                </a:tc>
                <a:tc>
                  <a:txBody>
                    <a:bodyPr wrap="square"/>
                    <a:lstStyle/>
                    <a:p/>
                  </a:txBody>
                  <a:tcPr marL="73152" marR="73152" marT="36576" marB="36576" anchor="ctr">
                    <a:solidFill>
                      <a:srgbClr val="F2F5F9"/>
                    </a:solidFill>
                  </a:tcPr>
                </a:tc>
                <a:tc>
                  <a:txBody>
                    <a:bodyPr wrap="square"/>
                    <a:lstStyle/>
                    <a:p>
                      <a:r>
                        <a:rPr sz="1300" b="0" i="0">
                          <a:solidFill>
                            <a:srgbClr val="156082"/>
                          </a:solidFill>
                          <a:latin typeface="Courier New"/>
                        </a:rPr>
                        <a:t>-[:CHILD_OF*]-&gt;</a:t>
                      </a:r>
                      <a:r>
                        <a:rPr sz="1300" b="0" i="0">
                          <a:solidFill>
                            <a:srgbClr val="0E2841"/>
                          </a:solidFill>
                        </a:rPr>
                        <a:t>  </a:t>
                      </a:r>
                      <a:r>
                        <a:rPr sz="1300" b="0" i="0">
                          <a:solidFill>
                            <a:srgbClr val="156082"/>
                          </a:solidFill>
                          <a:latin typeface="Courier New"/>
                        </a:rPr>
                        <a:t>*0..</a:t>
                      </a:r>
                      <a:r>
                        <a:rPr sz="1300" b="0" i="0">
                          <a:solidFill>
                            <a:srgbClr val="0E2841"/>
                          </a:solidFill>
                        </a:rPr>
                        <a:t>  </a:t>
                      </a:r>
                      <a:r>
                        <a:rPr sz="1300" b="0" i="0">
                          <a:solidFill>
                            <a:srgbClr val="156082"/>
                          </a:solidFill>
                          <a:latin typeface="Courier New"/>
                        </a:rPr>
                        <a:t>*1..3</a:t>
                      </a:r>
                    </a:p>
                  </a:txBody>
                  <a:tcPr marL="73152" marR="73152" marT="36576" marB="36576" anchor="ctr">
                    <a:solidFill>
                      <a:srgbClr val="F2F5F9"/>
                    </a:solidFill>
                  </a:tcPr>
                </a:tc>
              </a:tr>
            </a:tbl>
          </a:graphicData>
        </a:graphic>
      </p:graphicFrame>
      <p:graphicFrame>
        <p:nvGraphicFramePr>
          <p:cNvPr id="6" name="clauses"/>
          <p:cNvGraphicFramePr>
            <a:graphicFrameLocks noGrp="1"/>
          </p:cNvGraphicFramePr>
          <p:nvPr/>
        </p:nvGraphicFramePr>
        <p:xfrm>
          <a:off x="548640" y="3931920"/>
          <a:ext cx="11064240" cy="2322576"/>
        </p:xfrm>
        <a:graphic>
          <a:graphicData uri="http://schemas.openxmlformats.org/drawingml/2006/table">
            <a:tbl>
              <a:tblPr firstRow="0" bandRow="0">
                <a:tableStyleId>{5C22544A-7EE6-4342-B048-85BDC9FD1C3A}</a:tableStyleId>
              </a:tblPr>
              <a:tblGrid>
                <a:gridCol w="2468880"/>
                <a:gridCol w="4937760"/>
                <a:gridCol w="3657600"/>
              </a:tblGrid>
              <a:tr h="347472">
                <a:tc>
                  <a:txBody>
                    <a:bodyPr wrap="square"/>
                    <a:lstStyle/>
                    <a:p>
                      <a:r>
                        <a:rPr sz="1300" b="1" i="0">
                          <a:solidFill>
                            <a:srgbClr val="FFFFFF"/>
                          </a:solidFill>
                        </a:rPr>
                        <a:t>Task</a:t>
                      </a:r>
                    </a:p>
                  </a:txBody>
                  <a:tcPr marL="73152" marR="73152" marT="36576" marB="36576" anchor="ctr">
                    <a:solidFill>
                      <a:srgbClr val="0E2841"/>
                    </a:solidFill>
                  </a:tcPr>
                </a:tc>
                <a:tc>
                  <a:txBody>
                    <a:bodyPr wrap="square"/>
                    <a:lstStyle/>
                    <a:p>
                      <a:r>
                        <a:rPr sz="1300" b="1" i="0">
                          <a:solidFill>
                            <a:srgbClr val="FFFFFF"/>
                          </a:solidFill>
                        </a:rPr>
                        <a:t>Cypher</a:t>
                      </a:r>
                    </a:p>
                  </a:txBody>
                  <a:tcPr marL="73152" marR="73152" marT="36576" marB="36576" anchor="ctr">
                    <a:solidFill>
                      <a:srgbClr val="0E2841"/>
                    </a:solidFill>
                  </a:tcPr>
                </a:tc>
                <a:tc>
                  <a:txBody>
                    <a:bodyPr wrap="square"/>
                    <a:lstStyle/>
                    <a:p>
                      <a:r>
                        <a:rPr sz="1300" b="1" i="0">
                          <a:solidFill>
                            <a:srgbClr val="FFFFFF"/>
                          </a:solidFill>
                        </a:rPr>
                        <a:t>SQL analogue</a:t>
                      </a:r>
                    </a:p>
                  </a:txBody>
                  <a:tcPr marL="73152" marR="73152" marT="36576" marB="36576" anchor="ctr">
                    <a:solidFill>
                      <a:srgbClr val="0E2841"/>
                    </a:solidFill>
                  </a:tcPr>
                </a:tc>
              </a:tr>
              <a:tr h="329184">
                <a:tc>
                  <a:txBody>
                    <a:bodyPr wrap="square"/>
                    <a:lstStyle/>
                    <a:p>
                      <a:r>
                        <a:rPr sz="1300" b="0" i="0">
                          <a:solidFill>
                            <a:srgbClr val="0E2841"/>
                          </a:solidFill>
                        </a:rPr>
                        <a:t>find + filter</a:t>
                      </a:r>
                    </a:p>
                  </a:txBody>
                  <a:tcPr marL="73152" marR="73152" marT="36576" marB="36576" anchor="ctr">
                    <a:solidFill>
                      <a:srgbClr val="FFFFFF"/>
                    </a:solidFill>
                  </a:tcPr>
                </a:tc>
                <a:tc>
                  <a:txBody>
                    <a:bodyPr wrap="square"/>
                    <a:lstStyle/>
                    <a:p>
                      <a:r>
                        <a:rPr sz="1300" b="0" i="0">
                          <a:solidFill>
                            <a:srgbClr val="156082"/>
                          </a:solidFill>
                          <a:latin typeface="Courier New"/>
                        </a:rPr>
                        <a:t>MATCH (g:Genome) WHERE … RETURN …</a:t>
                      </a:r>
                    </a:p>
                  </a:txBody>
                  <a:tcPr marL="73152" marR="73152" marT="36576" marB="36576" anchor="ctr">
                    <a:solidFill>
                      <a:srgbClr val="FFFFFF"/>
                    </a:solidFill>
                  </a:tcPr>
                </a:tc>
                <a:tc>
                  <a:txBody>
                    <a:bodyPr wrap="square"/>
                    <a:lstStyle/>
                    <a:p>
                      <a:r>
                        <a:rPr sz="1300" b="0" i="0">
                          <a:solidFill>
                            <a:srgbClr val="156082"/>
                          </a:solidFill>
                          <a:latin typeface="Courier New"/>
                        </a:rPr>
                        <a:t>SELECT … FROM … WHERE</a:t>
                      </a:r>
                    </a:p>
                  </a:txBody>
                  <a:tcPr marL="73152" marR="73152" marT="36576" marB="36576" anchor="ctr">
                    <a:solidFill>
                      <a:srgbClr val="FFFFFF"/>
                    </a:solidFill>
                  </a:tcPr>
                </a:tc>
              </a:tr>
              <a:tr h="329184">
                <a:tc>
                  <a:txBody>
                    <a:bodyPr wrap="square"/>
                    <a:lstStyle/>
                    <a:p>
                      <a:r>
                        <a:rPr sz="1300" b="0" i="0">
                          <a:solidFill>
                            <a:srgbClr val="0E2841"/>
                          </a:solidFill>
                        </a:rPr>
                        <a:t>group + count</a:t>
                      </a:r>
                    </a:p>
                  </a:txBody>
                  <a:tcPr marL="73152" marR="73152" marT="36576" marB="36576" anchor="ctr">
                    <a:solidFill>
                      <a:srgbClr val="F2F5F9"/>
                    </a:solidFill>
                  </a:tcPr>
                </a:tc>
                <a:tc>
                  <a:txBody>
                    <a:bodyPr wrap="square"/>
                    <a:lstStyle/>
                    <a:p>
                      <a:r>
                        <a:rPr sz="1300" b="0" i="0">
                          <a:solidFill>
                            <a:srgbClr val="156082"/>
                          </a:solidFill>
                          <a:latin typeface="Courier New"/>
                        </a:rPr>
                        <a:t>RETURN g.name, count(*)</a:t>
                      </a:r>
                    </a:p>
                  </a:txBody>
                  <a:tcPr marL="73152" marR="73152" marT="36576" marB="36576" anchor="ctr">
                    <a:solidFill>
                      <a:srgbClr val="F2F5F9"/>
                    </a:solidFill>
                  </a:tcPr>
                </a:tc>
                <a:tc>
                  <a:txBody>
                    <a:bodyPr wrap="square"/>
                    <a:lstStyle/>
                    <a:p>
                      <a:r>
                        <a:rPr sz="1300" b="0" i="0">
                          <a:solidFill>
                            <a:srgbClr val="156082"/>
                          </a:solidFill>
                          <a:latin typeface="Courier New"/>
                        </a:rPr>
                        <a:t>GROUP BY</a:t>
                      </a:r>
                      <a:r>
                        <a:rPr sz="1300" b="0" i="0">
                          <a:solidFill>
                            <a:srgbClr val="0E2841"/>
                          </a:solidFill>
                        </a:rPr>
                        <a:t> (implicit in Cypher)</a:t>
                      </a:r>
                    </a:p>
                  </a:txBody>
                  <a:tcPr marL="73152" marR="73152" marT="36576" marB="36576" anchor="ctr">
                    <a:solidFill>
                      <a:srgbClr val="F2F5F9"/>
                    </a:solidFill>
                  </a:tcPr>
                </a:tc>
              </a:tr>
              <a:tr h="329184">
                <a:tc>
                  <a:txBody>
                    <a:bodyPr wrap="square"/>
                    <a:lstStyle/>
                    <a:p>
                      <a:r>
                        <a:rPr sz="1300" b="0" i="0">
                          <a:solidFill>
                            <a:srgbClr val="0E2841"/>
                          </a:solidFill>
                        </a:rPr>
                        <a:t>pipe a result on</a:t>
                      </a:r>
                    </a:p>
                  </a:txBody>
                  <a:tcPr marL="73152" marR="73152" marT="36576" marB="36576" anchor="ctr">
                    <a:solidFill>
                      <a:srgbClr val="FFFFFF"/>
                    </a:solidFill>
                  </a:tcPr>
                </a:tc>
                <a:tc>
                  <a:txBody>
                    <a:bodyPr wrap="square"/>
                    <a:lstStyle/>
                    <a:p>
                      <a:r>
                        <a:rPr sz="1300" b="0" i="0">
                          <a:solidFill>
                            <a:srgbClr val="156082"/>
                          </a:solidFill>
                          <a:latin typeface="Courier New"/>
                        </a:rPr>
                        <a:t>WITH x, count(*) AS n WHERE n &gt; 1</a:t>
                      </a:r>
                    </a:p>
                  </a:txBody>
                  <a:tcPr marL="73152" marR="73152" marT="36576" marB="36576" anchor="ctr">
                    <a:solidFill>
                      <a:srgbClr val="FFFFFF"/>
                    </a:solidFill>
                  </a:tcPr>
                </a:tc>
                <a:tc>
                  <a:txBody>
                    <a:bodyPr wrap="square"/>
                    <a:lstStyle/>
                    <a:p>
                      <a:r>
                        <a:rPr sz="1300" b="0" i="0">
                          <a:solidFill>
                            <a:srgbClr val="156082"/>
                          </a:solidFill>
                          <a:latin typeface="Courier New"/>
                        </a:rPr>
                        <a:t>HAVING</a:t>
                      </a:r>
                      <a:r>
                        <a:rPr sz="1300" b="0" i="0">
                          <a:solidFill>
                            <a:srgbClr val="0E2841"/>
                          </a:solidFill>
                        </a:rPr>
                        <a:t> / sub-select</a:t>
                      </a:r>
                    </a:p>
                  </a:txBody>
                  <a:tcPr marL="73152" marR="73152" marT="36576" marB="36576" anchor="ctr">
                    <a:solidFill>
                      <a:srgbClr val="FFFFFF"/>
                    </a:solidFill>
                  </a:tcPr>
                </a:tc>
              </a:tr>
              <a:tr h="329184">
                <a:tc>
                  <a:txBody>
                    <a:bodyPr wrap="square"/>
                    <a:lstStyle/>
                    <a:p>
                      <a:r>
                        <a:rPr sz="1300" b="0" i="0">
                          <a:solidFill>
                            <a:srgbClr val="0E2841"/>
                          </a:solidFill>
                        </a:rPr>
                        <a:t>get-or-create</a:t>
                      </a:r>
                    </a:p>
                  </a:txBody>
                  <a:tcPr marL="73152" marR="73152" marT="36576" marB="36576" anchor="ctr">
                    <a:solidFill>
                      <a:srgbClr val="F2F5F9"/>
                    </a:solidFill>
                  </a:tcPr>
                </a:tc>
                <a:tc>
                  <a:txBody>
                    <a:bodyPr wrap="square"/>
                    <a:lstStyle/>
                    <a:p>
                      <a:r>
                        <a:rPr sz="1300" b="0" i="0">
                          <a:solidFill>
                            <a:srgbClr val="156082"/>
                          </a:solidFill>
                          <a:latin typeface="Courier New"/>
                        </a:rPr>
                        <a:t>MERGE (g:Genome {genome_id: 'eco'})</a:t>
                      </a:r>
                    </a:p>
                  </a:txBody>
                  <a:tcPr marL="73152" marR="73152" marT="36576" marB="36576" anchor="ctr">
                    <a:solidFill>
                      <a:srgbClr val="F2F5F9"/>
                    </a:solidFill>
                  </a:tcPr>
                </a:tc>
                <a:tc>
                  <a:txBody>
                    <a:bodyPr wrap="square"/>
                    <a:lstStyle/>
                    <a:p>
                      <a:r>
                        <a:rPr sz="1300" b="0" i="0">
                          <a:solidFill>
                            <a:srgbClr val="156082"/>
                          </a:solidFill>
                          <a:latin typeface="Courier New"/>
                        </a:rPr>
                        <a:t>INSERT … ON CONFLICT</a:t>
                      </a:r>
                    </a:p>
                  </a:txBody>
                  <a:tcPr marL="73152" marR="73152" marT="36576" marB="36576" anchor="ctr">
                    <a:solidFill>
                      <a:srgbClr val="F2F5F9"/>
                    </a:solidFill>
                  </a:tcPr>
                </a:tc>
              </a:tr>
              <a:tr h="329184">
                <a:tc>
                  <a:txBody>
                    <a:bodyPr wrap="square"/>
                    <a:lstStyle/>
                    <a:p>
                      <a:r>
                        <a:rPr sz="1300" b="0" i="0">
                          <a:solidFill>
                            <a:srgbClr val="0E2841"/>
                          </a:solidFill>
                        </a:rPr>
                        <a:t>optional match</a:t>
                      </a:r>
                    </a:p>
                  </a:txBody>
                  <a:tcPr marL="73152" marR="73152" marT="36576" marB="36576" anchor="ctr">
                    <a:solidFill>
                      <a:srgbClr val="FFFFFF"/>
                    </a:solidFill>
                  </a:tcPr>
                </a:tc>
                <a:tc>
                  <a:txBody>
                    <a:bodyPr wrap="square"/>
                    <a:lstStyle/>
                    <a:p>
                      <a:r>
                        <a:rPr sz="1300" b="0" i="0">
                          <a:solidFill>
                            <a:srgbClr val="156082"/>
                          </a:solidFill>
                          <a:latin typeface="Courier New"/>
                        </a:rPr>
                        <a:t>OPTIONAL MATCH …</a:t>
                      </a:r>
                    </a:p>
                  </a:txBody>
                  <a:tcPr marL="73152" marR="73152" marT="36576" marB="36576" anchor="ctr">
                    <a:solidFill>
                      <a:srgbClr val="FFFFFF"/>
                    </a:solidFill>
                  </a:tcPr>
                </a:tc>
                <a:tc>
                  <a:txBody>
                    <a:bodyPr wrap="square"/>
                    <a:lstStyle/>
                    <a:p>
                      <a:r>
                        <a:rPr sz="1300" b="0" i="0">
                          <a:solidFill>
                            <a:srgbClr val="156082"/>
                          </a:solidFill>
                          <a:latin typeface="Courier New"/>
                        </a:rPr>
                        <a:t>LEFT JOIN</a:t>
                      </a:r>
                    </a:p>
                  </a:txBody>
                  <a:tcPr marL="73152" marR="73152" marT="36576" marB="36576" anchor="ctr">
                    <a:solidFill>
                      <a:srgbClr val="FFFFFF"/>
                    </a:solidFill>
                  </a:tcPr>
                </a:tc>
              </a:tr>
              <a:tr h="329184">
                <a:tc>
                  <a:txBody>
                    <a:bodyPr wrap="square"/>
                    <a:lstStyle/>
                    <a:p>
                      <a:r>
                        <a:rPr sz="1300" b="0" i="0">
                          <a:solidFill>
                            <a:srgbClr val="0E2841"/>
                          </a:solidFill>
                        </a:rPr>
                        <a:t>delete with relationships</a:t>
                      </a:r>
                    </a:p>
                  </a:txBody>
                  <a:tcPr marL="73152" marR="73152" marT="36576" marB="36576" anchor="ctr">
                    <a:solidFill>
                      <a:srgbClr val="F2F5F9"/>
                    </a:solidFill>
                  </a:tcPr>
                </a:tc>
                <a:tc>
                  <a:txBody>
                    <a:bodyPr wrap="square"/>
                    <a:lstStyle/>
                    <a:p>
                      <a:r>
                        <a:rPr sz="1300" b="0" i="0">
                          <a:solidFill>
                            <a:srgbClr val="156082"/>
                          </a:solidFill>
                          <a:latin typeface="Courier New"/>
                        </a:rPr>
                        <a:t>MATCH (n) DETACH DELETE n</a:t>
                      </a:r>
                    </a:p>
                  </a:txBody>
                  <a:tcPr marL="73152" marR="73152" marT="36576" marB="36576" anchor="ctr">
                    <a:solidFill>
                      <a:srgbClr val="F2F5F9"/>
                    </a:solidFill>
                  </a:tcPr>
                </a:tc>
                <a:tc>
                  <a:txBody>
                    <a:bodyPr wrap="square"/>
                    <a:lstStyle/>
                    <a:p>
                      <a:r>
                        <a:rPr sz="1300" b="0" i="0">
                          <a:solidFill>
                            <a:srgbClr val="156082"/>
                          </a:solidFill>
                          <a:latin typeface="Courier New"/>
                        </a:rPr>
                        <a:t>DELETE … CASCADE</a:t>
                      </a:r>
                    </a:p>
                  </a:txBody>
                  <a:tcPr marL="73152" marR="73152" marT="36576" marB="36576" anchor="ctr">
                    <a:solidFill>
                      <a:srgbClr val="F2F5F9"/>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65ce1208-e929-4ec4-be64-9138d78922c0}" enabled="1" method="Standard" siteId="{22340fa8-9226-4871-b677-d3b3e377af72}" removed="0"/>
</clbl:labelList>
</file>

<file path=docProps/app.xml><?xml version="1.0" encoding="utf-8"?>
<Properties xmlns="http://schemas.openxmlformats.org/officeDocument/2006/extended-properties" xmlns:vt="http://schemas.openxmlformats.org/officeDocument/2006/docPropsVTypes">
  <TotalTime>8240</TotalTime>
  <Words>7301</Words>
  <Application>Microsoft Macintosh PowerPoint</Application>
  <PresentationFormat>Widescreen</PresentationFormat>
  <Paragraphs>190</Paragraphs>
  <Slides>31</Slides>
  <Notes>31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31</vt:i4>
      </vt:variant>
    </vt:vector>
  </HeadingPairs>
  <TitlesOfParts>
    <vt:vector size="40" baseType="lpstr">
      <vt:lpstr>Aptos</vt:lpstr>
      <vt:lpstr>Aptos Display</vt:lpstr>
      <vt:lpstr>Arial</vt:lpstr>
      <vt:lpstr>Calibri</vt:lpstr>
      <vt:lpstr>Courier New</vt:lpstr>
      <vt:lpstr>Merriweather Sans</vt:lpstr>
      <vt:lpstr>Times New Roman</vt:lpstr>
      <vt:lpstr>Wingdings</vt:lpstr>
      <vt:lpstr>Office Theme</vt:lpstr>
      <vt:lpstr>NoSQL Databases for Bioinformatics </vt:lpstr>
      <vt:lpstr>Learning Objectives </vt:lpstr>
      <vt:lpstr>Steps</vt:lpstr>
      <vt:lpstr>Draw a graph model</vt:lpstr>
      <vt:lpstr>Map source data to your graph</vt:lpstr>
      <vt:lpstr>Map source data to your graph</vt:lpstr>
      <vt:lpstr>Draw Graph Model</vt:lpstr>
      <vt:lpstr>Preview and Import your data</vt:lpstr>
      <vt:lpstr>Import Add Files + Map</vt:lpstr>
      <vt:lpstr>Import Map</vt:lpstr>
      <vt:lpstr>Import  Preview</vt:lpstr>
      <vt:lpstr>Import Results</vt:lpstr>
      <vt:lpstr>Preview and Import your data</vt:lpstr>
      <vt:lpstr>Explore - Show me a Graph</vt:lpstr>
      <vt:lpstr>Explore Path</vt:lpstr>
      <vt:lpstr>Explore Path</vt:lpstr>
      <vt:lpstr>Write Queries</vt:lpstr>
      <vt:lpstr>Cypher</vt:lpstr>
      <vt:lpstr>Cypher</vt:lpstr>
      <vt:lpstr>Cypher</vt:lpstr>
      <vt:lpstr>PowerPoint Presentation</vt:lpstr>
      <vt:lpstr>Use MATCH to retrieve nodes</vt:lpstr>
      <vt:lpstr>Use MATCH to retrieve nodes</vt:lpstr>
      <vt:lpstr>Use MATCH and properties to retrieve nodes </vt:lpstr>
      <vt:lpstr>Use MATCH and properties to retrieve nodes </vt:lpstr>
      <vt:lpstr>Use MATCH and properties to retrieve nodes </vt:lpstr>
      <vt:lpstr>Extending the MATCH</vt:lpstr>
      <vt:lpstr>Extending the MATCH</vt:lpstr>
      <vt:lpstr>MERGE </vt:lpstr>
      <vt:lpstr>MERGE </vt:lpstr>
      <vt:lpstr>Nodes and relationships at a glance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Zhang, Ziang</dc:creator>
  <cp:lastModifiedBy>Zhang, Ziang</cp:lastModifiedBy>
  <cp:revision>7</cp:revision>
  <dcterms:created xsi:type="dcterms:W3CDTF">2025-07-25T02:03:29Z</dcterms:created>
  <dcterms:modified xsi:type="dcterms:W3CDTF">2025-10-22T17:52:59Z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Theme:8</vt:lpwstr>
  </property>
  <property fmtid="{D5CDD505-2E9C-101B-9397-08002B2CF9AE}" pid="3" name="ClassificationContentMarkingFooterText">
    <vt:lpwstr>St. Jude - Confidential</vt:lpwstr>
  </property>
</Properties>
</file>