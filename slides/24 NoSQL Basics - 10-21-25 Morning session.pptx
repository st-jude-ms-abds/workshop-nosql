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9" r:id="rId3"/>
    <p:sldId id="257" r:id="rId4"/>
    <p:sldId id="258" r:id="rId5"/>
    <p:sldId id="263" r:id="rId6"/>
    <p:sldId id="264" r:id="rId7"/>
    <p:sldId id="265" r:id="rId8"/>
    <p:sldId id="266" r:id="rId9"/>
    <p:sldId id="275" r:id="rId10"/>
    <p:sldId id="271" r:id="rId11"/>
    <p:sldId id="276" r:id="rId12"/>
    <p:sldId id="277" r:id="rId13"/>
    <p:sldId id="278" r:id="rId14"/>
    <p:sldId id="281" r:id="rId15"/>
    <p:sldId id="273" r:id="rId16"/>
    <p:sldId id="282" r:id="rId17"/>
    <p:sldId id="283" r:id="rId18"/>
    <p:sldId id="26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13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0BAD27-72FB-9B4B-8286-9A0D026A885B}" v="4" dt="2025-10-21T13:51:19.0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87397"/>
  </p:normalViewPr>
  <p:slideViewPr>
    <p:cSldViewPr snapToGrid="0">
      <p:cViewPr varScale="1">
        <p:scale>
          <a:sx n="109" d="100"/>
          <a:sy n="109" d="100"/>
        </p:scale>
        <p:origin x="21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ng, Ziang" userId="86022b89-3620-4733-abee-95d8d72b2d97" providerId="ADAL" clId="{48F4A9CE-C642-5EFE-B34D-78AF252C9260}"/>
    <pc:docChg chg="mod addSld delSld modSld modMainMaster">
      <pc:chgData name="Zhang, Ziang" userId="86022b89-3620-4733-abee-95d8d72b2d97" providerId="ADAL" clId="{48F4A9CE-C642-5EFE-B34D-78AF252C9260}" dt="2025-10-21T13:51:24.976" v="13" actId="2696"/>
      <pc:docMkLst>
        <pc:docMk/>
      </pc:docMkLst>
      <pc:sldChg chg="delSp add del setBg delDesignElem">
        <pc:chgData name="Zhang, Ziang" userId="86022b89-3620-4733-abee-95d8d72b2d97" providerId="ADAL" clId="{48F4A9CE-C642-5EFE-B34D-78AF252C9260}" dt="2025-10-21T13:51:24.976" v="13" actId="2696"/>
        <pc:sldMkLst>
          <pc:docMk/>
          <pc:sldMk cId="3336493751" sldId="282"/>
        </pc:sldMkLst>
        <pc:spChg chg="del">
          <ac:chgData name="Zhang, Ziang" userId="86022b89-3620-4733-abee-95d8d72b2d97" providerId="ADAL" clId="{48F4A9CE-C642-5EFE-B34D-78AF252C9260}" dt="2025-10-21T13:49:57.635" v="1"/>
          <ac:spMkLst>
            <pc:docMk/>
            <pc:sldMk cId="3336493751" sldId="282"/>
            <ac:spMk id="17" creationId="{1E020063-2385-44AC-BD67-258E1F0B9FCE}"/>
          </ac:spMkLst>
        </pc:spChg>
        <pc:spChg chg="del">
          <ac:chgData name="Zhang, Ziang" userId="86022b89-3620-4733-abee-95d8d72b2d97" providerId="ADAL" clId="{48F4A9CE-C642-5EFE-B34D-78AF252C9260}" dt="2025-10-21T13:49:57.635" v="1"/>
          <ac:spMkLst>
            <pc:docMk/>
            <pc:sldMk cId="3336493751" sldId="282"/>
            <ac:spMk id="19" creationId="{7E014A0B-5338-4077-AFE9-A90D04D4492B}"/>
          </ac:spMkLst>
        </pc:spChg>
        <pc:grpChg chg="del">
          <ac:chgData name="Zhang, Ziang" userId="86022b89-3620-4733-abee-95d8d72b2d97" providerId="ADAL" clId="{48F4A9CE-C642-5EFE-B34D-78AF252C9260}" dt="2025-10-21T13:49:57.635" v="1"/>
          <ac:grpSpMkLst>
            <pc:docMk/>
            <pc:sldMk cId="3336493751" sldId="282"/>
            <ac:grpSpMk id="21" creationId="{78127680-150F-4A90-9950-F66392578116}"/>
          </ac:grpSpMkLst>
        </pc:grpChg>
        <pc:grpChg chg="del">
          <ac:chgData name="Zhang, Ziang" userId="86022b89-3620-4733-abee-95d8d72b2d97" providerId="ADAL" clId="{48F4A9CE-C642-5EFE-B34D-78AF252C9260}" dt="2025-10-21T13:49:57.635" v="1"/>
          <ac:grpSpMkLst>
            <pc:docMk/>
            <pc:sldMk cId="3336493751" sldId="282"/>
            <ac:grpSpMk id="27" creationId="{466920E5-8640-4C24-A775-8647637094A7}"/>
          </ac:grpSpMkLst>
        </pc:grpChg>
      </pc:sldChg>
      <pc:sldChg chg="delSp add del setBg delDesignElem">
        <pc:chgData name="Zhang, Ziang" userId="86022b89-3620-4733-abee-95d8d72b2d97" providerId="ADAL" clId="{48F4A9CE-C642-5EFE-B34D-78AF252C9260}" dt="2025-10-21T13:51:23.465" v="12" actId="2696"/>
        <pc:sldMkLst>
          <pc:docMk/>
          <pc:sldMk cId="3662311860" sldId="283"/>
        </pc:sldMkLst>
        <pc:spChg chg="del">
          <ac:chgData name="Zhang, Ziang" userId="86022b89-3620-4733-abee-95d8d72b2d97" providerId="ADAL" clId="{48F4A9CE-C642-5EFE-B34D-78AF252C9260}" dt="2025-10-21T13:50:13.879" v="5"/>
          <ac:spMkLst>
            <pc:docMk/>
            <pc:sldMk cId="3662311860" sldId="283"/>
            <ac:spMk id="17" creationId="{1E020063-2385-44AC-BD67-258E1F0B9FCE}"/>
          </ac:spMkLst>
        </pc:spChg>
        <pc:spChg chg="del">
          <ac:chgData name="Zhang, Ziang" userId="86022b89-3620-4733-abee-95d8d72b2d97" providerId="ADAL" clId="{48F4A9CE-C642-5EFE-B34D-78AF252C9260}" dt="2025-10-21T13:50:13.879" v="5"/>
          <ac:spMkLst>
            <pc:docMk/>
            <pc:sldMk cId="3662311860" sldId="283"/>
            <ac:spMk id="19" creationId="{7E014A0B-5338-4077-AFE9-A90D04D4492B}"/>
          </ac:spMkLst>
        </pc:spChg>
        <pc:grpChg chg="del">
          <ac:chgData name="Zhang, Ziang" userId="86022b89-3620-4733-abee-95d8d72b2d97" providerId="ADAL" clId="{48F4A9CE-C642-5EFE-B34D-78AF252C9260}" dt="2025-10-21T13:50:13.879" v="5"/>
          <ac:grpSpMkLst>
            <pc:docMk/>
            <pc:sldMk cId="3662311860" sldId="283"/>
            <ac:grpSpMk id="21" creationId="{78127680-150F-4A90-9950-F66392578116}"/>
          </ac:grpSpMkLst>
        </pc:grpChg>
        <pc:grpChg chg="del">
          <ac:chgData name="Zhang, Ziang" userId="86022b89-3620-4733-abee-95d8d72b2d97" providerId="ADAL" clId="{48F4A9CE-C642-5EFE-B34D-78AF252C9260}" dt="2025-10-21T13:50:13.879" v="5"/>
          <ac:grpSpMkLst>
            <pc:docMk/>
            <pc:sldMk cId="3662311860" sldId="283"/>
            <ac:grpSpMk id="27" creationId="{466920E5-8640-4C24-A775-8647637094A7}"/>
          </ac:grpSpMkLst>
        </pc:grpChg>
      </pc:sldChg>
      <pc:sldChg chg="delSp add del setBg delDesignElem">
        <pc:chgData name="Zhang, Ziang" userId="86022b89-3620-4733-abee-95d8d72b2d97" providerId="ADAL" clId="{48F4A9CE-C642-5EFE-B34D-78AF252C9260}" dt="2025-10-21T13:51:21.684" v="11" actId="2696"/>
        <pc:sldMkLst>
          <pc:docMk/>
          <pc:sldMk cId="445561855" sldId="284"/>
        </pc:sldMkLst>
        <pc:spChg chg="del">
          <ac:chgData name="Zhang, Ziang" userId="86022b89-3620-4733-abee-95d8d72b2d97" providerId="ADAL" clId="{48F4A9CE-C642-5EFE-B34D-78AF252C9260}" dt="2025-10-21T13:51:19.066" v="10"/>
          <ac:spMkLst>
            <pc:docMk/>
            <pc:sldMk cId="445561855" sldId="284"/>
            <ac:spMk id="11" creationId="{051537D9-F857-DEA6-4E2C-4340E20EBE70}"/>
          </ac:spMkLst>
        </pc:spChg>
        <pc:spChg chg="del">
          <ac:chgData name="Zhang, Ziang" userId="86022b89-3620-4733-abee-95d8d72b2d97" providerId="ADAL" clId="{48F4A9CE-C642-5EFE-B34D-78AF252C9260}" dt="2025-10-21T13:51:19.066" v="10"/>
          <ac:spMkLst>
            <pc:docMk/>
            <pc:sldMk cId="445561855" sldId="284"/>
            <ac:spMk id="13" creationId="{883DE5DB-8DDE-0428-1654-E11905EF7E7A}"/>
          </ac:spMkLst>
        </pc:spChg>
        <pc:grpChg chg="del">
          <ac:chgData name="Zhang, Ziang" userId="86022b89-3620-4733-abee-95d8d72b2d97" providerId="ADAL" clId="{48F4A9CE-C642-5EFE-B34D-78AF252C9260}" dt="2025-10-21T13:51:19.066" v="10"/>
          <ac:grpSpMkLst>
            <pc:docMk/>
            <pc:sldMk cId="445561855" sldId="284"/>
            <ac:grpSpMk id="15" creationId="{F86A02EC-D29B-332D-EE1A-F34DB809C8EC}"/>
          </ac:grpSpMkLst>
        </pc:grpChg>
      </pc:sldChg>
      <pc:sldChg chg="delSp add del setBg delDesignElem">
        <pc:chgData name="Zhang, Ziang" userId="86022b89-3620-4733-abee-95d8d72b2d97" providerId="ADAL" clId="{48F4A9CE-C642-5EFE-B34D-78AF252C9260}" dt="2025-10-21T13:51:13.704" v="8" actId="2696"/>
        <pc:sldMkLst>
          <pc:docMk/>
          <pc:sldMk cId="2375050253" sldId="284"/>
        </pc:sldMkLst>
        <pc:spChg chg="del">
          <ac:chgData name="Zhang, Ziang" userId="86022b89-3620-4733-abee-95d8d72b2d97" providerId="ADAL" clId="{48F4A9CE-C642-5EFE-B34D-78AF252C9260}" dt="2025-10-21T13:50:58.054" v="7"/>
          <ac:spMkLst>
            <pc:docMk/>
            <pc:sldMk cId="2375050253" sldId="284"/>
            <ac:spMk id="17" creationId="{97CDE390-9E97-833F-9A4B-2543BB585E03}"/>
          </ac:spMkLst>
        </pc:spChg>
        <pc:spChg chg="del">
          <ac:chgData name="Zhang, Ziang" userId="86022b89-3620-4733-abee-95d8d72b2d97" providerId="ADAL" clId="{48F4A9CE-C642-5EFE-B34D-78AF252C9260}" dt="2025-10-21T13:50:58.054" v="7"/>
          <ac:spMkLst>
            <pc:docMk/>
            <pc:sldMk cId="2375050253" sldId="284"/>
            <ac:spMk id="19" creationId="{A66A1A6B-1B49-9886-C4D2-E984B21C371D}"/>
          </ac:spMkLst>
        </pc:spChg>
        <pc:grpChg chg="del">
          <ac:chgData name="Zhang, Ziang" userId="86022b89-3620-4733-abee-95d8d72b2d97" providerId="ADAL" clId="{48F4A9CE-C642-5EFE-B34D-78AF252C9260}" dt="2025-10-21T13:50:58.054" v="7"/>
          <ac:grpSpMkLst>
            <pc:docMk/>
            <pc:sldMk cId="2375050253" sldId="284"/>
            <ac:grpSpMk id="21" creationId="{F099D924-01C8-4704-67ED-A276F7FCB864}"/>
          </ac:grpSpMkLst>
        </pc:grpChg>
        <pc:grpChg chg="del">
          <ac:chgData name="Zhang, Ziang" userId="86022b89-3620-4733-abee-95d8d72b2d97" providerId="ADAL" clId="{48F4A9CE-C642-5EFE-B34D-78AF252C9260}" dt="2025-10-21T13:50:58.054" v="7"/>
          <ac:grpSpMkLst>
            <pc:docMk/>
            <pc:sldMk cId="2375050253" sldId="284"/>
            <ac:grpSpMk id="27" creationId="{CAB21D0F-A4E7-FCBB-A191-38837B9095B1}"/>
          </ac:grpSpMkLst>
        </pc:grpChg>
      </pc:sldChg>
      <pc:sldMasterChg chg="addSp mod">
        <pc:chgData name="Zhang, Ziang" userId="86022b89-3620-4733-abee-95d8d72b2d97" providerId="ADAL" clId="{48F4A9CE-C642-5EFE-B34D-78AF252C9260}" dt="2025-10-21T13:50:09.218" v="2" actId="33475"/>
        <pc:sldMasterMkLst>
          <pc:docMk/>
          <pc:sldMasterMk cId="4135623836" sldId="2147483648"/>
        </pc:sldMasterMkLst>
        <pc:spChg chg="add">
          <ac:chgData name="Zhang, Ziang" userId="86022b89-3620-4733-abee-95d8d72b2d97" providerId="ADAL" clId="{48F4A9CE-C642-5EFE-B34D-78AF252C9260}" dt="2025-10-21T13:50:09.218" v="2" actId="33475"/>
          <ac:spMkLst>
            <pc:docMk/>
            <pc:sldMasterMk cId="4135623836" sldId="2147483648"/>
            <ac:spMk id="8" creationId="{FE0147CF-C9D1-DD18-0DEB-1C814F853F8E}"/>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306857-204C-AC47-96FD-9722BEC647FD}" type="datetimeFigureOut">
              <a:rPr lang="en-US" smtClean="0"/>
              <a:t>10/17/26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784608-109B-AB47-A93C-DEA587F8BA7F}" type="slidenum">
              <a:rPr lang="en-US" smtClean="0"/>
              <a:t>‹#›</a:t>
            </a:fld>
            <a:endParaRPr lang="en-US"/>
          </a:p>
        </p:txBody>
      </p:sp>
    </p:spTree>
    <p:extLst>
      <p:ext uri="{BB962C8B-B14F-4D97-AF65-F5344CB8AC3E}">
        <p14:creationId xmlns:p14="http://schemas.microsoft.com/office/powerpoint/2010/main" val="2432587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Pending refine</a:t>
            </a:r>
          </a:p>
        </p:txBody>
      </p:sp>
      <p:sp>
        <p:nvSpPr>
          <p:cNvPr id="4" name="Slide Number Placeholder 3"/>
          <p:cNvSpPr>
            <a:spLocks noGrp="1"/>
          </p:cNvSpPr>
          <p:nvPr>
            <p:ph type="sldNum" sz="quarter" idx="5"/>
          </p:nvPr>
        </p:nvSpPr>
        <p:spPr/>
        <p:txBody>
          <a:bodyPr/>
          <a:lstStyle/>
          <a:p>
            <a:fld id="{5F784608-109B-AB47-A93C-DEA587F8BA7F}" type="slidenum">
              <a:rPr lang="en-US" smtClean="0"/>
              <a:t>1</a:t>
            </a:fld>
            <a:endParaRPr lang="en-US"/>
          </a:p>
        </p:txBody>
      </p:sp>
    </p:spTree>
    <p:extLst>
      <p:ext uri="{BB962C8B-B14F-4D97-AF65-F5344CB8AC3E}">
        <p14:creationId xmlns:p14="http://schemas.microsoft.com/office/powerpoint/2010/main" val="3688062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784608-109B-AB47-A93C-DEA587F8BA7F}" type="slidenum">
              <a:rPr lang="en-US" smtClean="0"/>
              <a:t>2</a:t>
            </a:fld>
            <a:endParaRPr lang="en-US"/>
          </a:p>
        </p:txBody>
      </p:sp>
    </p:spTree>
    <p:extLst>
      <p:ext uri="{BB962C8B-B14F-4D97-AF65-F5344CB8AC3E}">
        <p14:creationId xmlns:p14="http://schemas.microsoft.com/office/powerpoint/2010/main" val="4116216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go to the technical terms, I would like to run a quick poll to get what's your opinions about a database  </a:t>
            </a:r>
          </a:p>
        </p:txBody>
      </p:sp>
      <p:sp>
        <p:nvSpPr>
          <p:cNvPr id="4" name="Slide Number Placeholder 3"/>
          <p:cNvSpPr>
            <a:spLocks noGrp="1"/>
          </p:cNvSpPr>
          <p:nvPr>
            <p:ph type="sldNum" sz="quarter" idx="5"/>
          </p:nvPr>
        </p:nvSpPr>
        <p:spPr/>
        <p:txBody>
          <a:bodyPr/>
          <a:lstStyle/>
          <a:p>
            <a:fld id="{5F784608-109B-AB47-A93C-DEA587F8BA7F}" type="slidenum">
              <a:rPr lang="en-US" smtClean="0"/>
              <a:t>3</a:t>
            </a:fld>
            <a:endParaRPr lang="en-US"/>
          </a:p>
        </p:txBody>
      </p:sp>
    </p:spTree>
    <p:extLst>
      <p:ext uri="{BB962C8B-B14F-4D97-AF65-F5344CB8AC3E}">
        <p14:creationId xmlns:p14="http://schemas.microsoft.com/office/powerpoint/2010/main" val="1844717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question: what have happened just now?</a:t>
            </a:r>
          </a:p>
          <a:p>
            <a:r>
              <a:rPr lang="en-US" dirty="0"/>
              <a:t>Slowly describes:</a:t>
            </a:r>
          </a:p>
          <a:p>
            <a:pPr marL="171450" indent="-171450">
              <a:buFontTx/>
              <a:buChar char="-"/>
            </a:pPr>
            <a:r>
              <a:rPr lang="en-US" dirty="0"/>
              <a:t>You submitted your opinions over the web</a:t>
            </a:r>
          </a:p>
          <a:p>
            <a:pPr marL="171450" indent="-171450">
              <a:buFontTx/>
              <a:buChar char="-"/>
            </a:pPr>
            <a:r>
              <a:rPr lang="en-US" dirty="0"/>
              <a:t>The web app remembered all submissions</a:t>
            </a:r>
          </a:p>
          <a:p>
            <a:pPr marL="171450" indent="-171450">
              <a:buFontTx/>
              <a:buChar char="-"/>
            </a:pPr>
            <a:r>
              <a:rPr lang="en-US" dirty="0"/>
              <a:t>The web app showed the summary to you</a:t>
            </a:r>
          </a:p>
          <a:p>
            <a:pPr marL="171450" indent="-171450">
              <a:buFontTx/>
              <a:buChar char="-"/>
            </a:pPr>
            <a:endParaRPr lang="en-US" dirty="0"/>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5F784608-109B-AB47-A93C-DEA587F8BA7F}" type="slidenum">
              <a:rPr lang="en-US" smtClean="0"/>
              <a:t>4</a:t>
            </a:fld>
            <a:endParaRPr lang="en-US"/>
          </a:p>
        </p:txBody>
      </p:sp>
    </p:spTree>
    <p:extLst>
      <p:ext uri="{BB962C8B-B14F-4D97-AF65-F5344CB8AC3E}">
        <p14:creationId xmlns:p14="http://schemas.microsoft.com/office/powerpoint/2010/main" val="8169681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further breakdown of the dataflow</a:t>
            </a:r>
          </a:p>
          <a:p>
            <a:endParaRPr lang="en-US" dirty="0"/>
          </a:p>
          <a:p>
            <a:r>
              <a:rPr lang="en-US" dirty="0"/>
              <a:t>The student interacts with a web form.</a:t>
            </a:r>
          </a:p>
          <a:p>
            <a:r>
              <a:rPr lang="en-US" dirty="0"/>
              <a:t>The browser sends the vote to your server backend.</a:t>
            </a:r>
          </a:p>
          <a:p>
            <a:r>
              <a:rPr lang="en-US" dirty="0"/>
              <a:t>webserver stores the vote in MongoDB.</a:t>
            </a:r>
          </a:p>
          <a:p>
            <a:r>
              <a:rPr lang="en-US" dirty="0"/>
              <a:t>The student is redirected to a results page that queries MongoDB for a summary.</a:t>
            </a:r>
          </a:p>
          <a:p>
            <a:endParaRPr lang="en-US" dirty="0"/>
          </a:p>
          <a:p>
            <a:r>
              <a:rPr lang="en-US" dirty="0"/>
              <a:t>The example will be available o the </a:t>
            </a:r>
            <a:r>
              <a:rPr lang="en-US" dirty="0" err="1"/>
              <a:t>github</a:t>
            </a:r>
            <a:r>
              <a:rPr lang="en-US" dirty="0"/>
              <a:t> repository. You can play with the example later. You can also design your own poll software</a:t>
            </a:r>
          </a:p>
        </p:txBody>
      </p:sp>
      <p:sp>
        <p:nvSpPr>
          <p:cNvPr id="4" name="Slide Number Placeholder 3"/>
          <p:cNvSpPr>
            <a:spLocks noGrp="1"/>
          </p:cNvSpPr>
          <p:nvPr>
            <p:ph type="sldNum" sz="quarter" idx="5"/>
          </p:nvPr>
        </p:nvSpPr>
        <p:spPr/>
        <p:txBody>
          <a:bodyPr/>
          <a:lstStyle/>
          <a:p>
            <a:fld id="{5F784608-109B-AB47-A93C-DEA587F8BA7F}" type="slidenum">
              <a:rPr lang="en-US" smtClean="0"/>
              <a:t>5</a:t>
            </a:fld>
            <a:endParaRPr lang="en-US"/>
          </a:p>
        </p:txBody>
      </p:sp>
    </p:spTree>
    <p:extLst>
      <p:ext uri="{BB962C8B-B14F-4D97-AF65-F5344CB8AC3E}">
        <p14:creationId xmlns:p14="http://schemas.microsoft.com/office/powerpoint/2010/main" val="36070651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design the database scheme?</a:t>
            </a:r>
          </a:p>
          <a:p>
            <a:r>
              <a:rPr lang="en-US" dirty="0"/>
              <a:t>For an application with dynamic number of questions, un</a:t>
            </a:r>
          </a:p>
          <a:p>
            <a:r>
              <a:rPr lang="en-US" dirty="0"/>
              <a:t>We can have a quick compare. The SQL scheme is good ….</a:t>
            </a:r>
          </a:p>
          <a:p>
            <a:endParaRPr lang="en-US" dirty="0"/>
          </a:p>
          <a:p>
            <a:r>
              <a:rPr lang="en-US" dirty="0"/>
              <a:t>"So you’ve just interacted with a NoSQL database. It’s flexible, intuitive, and worked great for our poll...</a:t>
            </a:r>
            <a:br>
              <a:rPr lang="en-US" dirty="0"/>
            </a:br>
            <a:br>
              <a:rPr lang="en-US" dirty="0"/>
            </a:br>
            <a:r>
              <a:rPr lang="en-US" dirty="0"/>
              <a:t>I would like to pause and ask a question: how do you think of the No SQL:</a:t>
            </a:r>
          </a:p>
          <a:p>
            <a:r>
              <a:rPr lang="en-US" b="1" dirty="0"/>
              <a:t>But wait — if NoSQL is so great, why did we start with SQL?  </a:t>
            </a:r>
            <a:endParaRPr lang="en-US" dirty="0"/>
          </a:p>
          <a:p>
            <a:r>
              <a:rPr lang="en-US" dirty="0"/>
              <a:t>And eve   n today, why do so many businesses still rely on relational databases?"</a:t>
            </a:r>
          </a:p>
          <a:p>
            <a:endParaRPr lang="en-US" dirty="0"/>
          </a:p>
          <a:p>
            <a:r>
              <a:rPr lang="en-US" dirty="0"/>
              <a:t>JSON is not known to everyone</a:t>
            </a:r>
          </a:p>
          <a:p>
            <a:endParaRPr lang="en-US" dirty="0"/>
          </a:p>
          <a:p>
            <a:r>
              <a:rPr lang="en-US" dirty="0"/>
              <a:t>Admits to</a:t>
            </a:r>
          </a:p>
          <a:p>
            <a:endParaRPr lang="en-US" dirty="0"/>
          </a:p>
        </p:txBody>
      </p:sp>
      <p:sp>
        <p:nvSpPr>
          <p:cNvPr id="4" name="Slide Number Placeholder 3"/>
          <p:cNvSpPr>
            <a:spLocks noGrp="1"/>
          </p:cNvSpPr>
          <p:nvPr>
            <p:ph type="sldNum" sz="quarter" idx="5"/>
          </p:nvPr>
        </p:nvSpPr>
        <p:spPr/>
        <p:txBody>
          <a:bodyPr/>
          <a:lstStyle/>
          <a:p>
            <a:fld id="{5F784608-109B-AB47-A93C-DEA587F8BA7F}" type="slidenum">
              <a:rPr lang="en-US" smtClean="0"/>
              <a:t>6</a:t>
            </a:fld>
            <a:endParaRPr lang="en-US"/>
          </a:p>
        </p:txBody>
      </p:sp>
    </p:spTree>
    <p:extLst>
      <p:ext uri="{BB962C8B-B14F-4D97-AF65-F5344CB8AC3E}">
        <p14:creationId xmlns:p14="http://schemas.microsoft.com/office/powerpoint/2010/main" val="32869524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Herman Hollerith funded a company called Tabulating Machine Company in. 1896. The company, along with other 3 companies, merged to a new company called ”Computing Tabulating Recording Company” in 1911. Then the company was renamed to International Business Machine, which is IBM.</a:t>
            </a:r>
          </a:p>
        </p:txBody>
      </p:sp>
      <p:sp>
        <p:nvSpPr>
          <p:cNvPr id="4" name="Slide Number Placeholder 3"/>
          <p:cNvSpPr>
            <a:spLocks noGrp="1"/>
          </p:cNvSpPr>
          <p:nvPr>
            <p:ph type="sldNum" sz="quarter" idx="5"/>
          </p:nvPr>
        </p:nvSpPr>
        <p:spPr/>
        <p:txBody>
          <a:bodyPr/>
          <a:lstStyle/>
          <a:p>
            <a:fld id="{5F784608-109B-AB47-A93C-DEA587F8BA7F}" type="slidenum">
              <a:rPr lang="en-US" smtClean="0"/>
              <a:t>8</a:t>
            </a:fld>
            <a:endParaRPr lang="en-US"/>
          </a:p>
        </p:txBody>
      </p:sp>
    </p:spTree>
    <p:extLst>
      <p:ext uri="{BB962C8B-B14F-4D97-AF65-F5344CB8AC3E}">
        <p14:creationId xmlns:p14="http://schemas.microsoft.com/office/powerpoint/2010/main" val="5227881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8E42E-A77E-43D5-EEF3-59BD8C836E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EE1FF3-C058-CD18-75EE-ED55CEAEBA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5CC5AE-89D0-2964-F624-4D63C7CD7ABF}"/>
              </a:ext>
            </a:extLst>
          </p:cNvPr>
          <p:cNvSpPr>
            <a:spLocks noGrp="1"/>
          </p:cNvSpPr>
          <p:nvPr>
            <p:ph type="body" idx="1"/>
          </p:nvPr>
        </p:nvSpPr>
        <p:spPr/>
        <p:txBody>
          <a:bodyPr/>
          <a:lstStyle/>
          <a:p>
            <a:r>
              <a:rPr lang="en-US" dirty="0"/>
              <a:t>IBM innovated its first Hierarchical database in a contract with NASA, where NASA needs a database to track the rocket parts. Each record has strict </a:t>
            </a:r>
            <a:r>
              <a:rPr lang="en-US" dirty="0" err="1"/>
              <a:t>partent</a:t>
            </a:r>
            <a:r>
              <a:rPr lang="en-US" dirty="0"/>
              <a:t> and </a:t>
            </a:r>
            <a:r>
              <a:rPr lang="en-US" dirty="0" err="1"/>
              <a:t>childs</a:t>
            </a:r>
            <a:r>
              <a:rPr lang="en-US" dirty="0"/>
              <a:t> pointers. Around the same time, Network model came up, supporting more complex relationships. Enabling many-to-many mapping.</a:t>
            </a:r>
          </a:p>
          <a:p>
            <a:r>
              <a:rPr lang="en-US" dirty="0"/>
              <a:t>The schema is fixed.</a:t>
            </a:r>
          </a:p>
          <a:p>
            <a:endParaRPr lang="en-US" dirty="0"/>
          </a:p>
          <a:p>
            <a:r>
              <a:rPr lang="en-US" dirty="0"/>
              <a:t>this is literally rocket science </a:t>
            </a:r>
          </a:p>
        </p:txBody>
      </p:sp>
      <p:sp>
        <p:nvSpPr>
          <p:cNvPr id="4" name="Slide Number Placeholder 3">
            <a:extLst>
              <a:ext uri="{FF2B5EF4-FFF2-40B4-BE49-F238E27FC236}">
                <a16:creationId xmlns:a16="http://schemas.microsoft.com/office/drawing/2014/main" id="{646DADD8-87C3-F6E0-3E87-959BB32BA555}"/>
              </a:ext>
            </a:extLst>
          </p:cNvPr>
          <p:cNvSpPr>
            <a:spLocks noGrp="1"/>
          </p:cNvSpPr>
          <p:nvPr>
            <p:ph type="sldNum" sz="quarter" idx="5"/>
          </p:nvPr>
        </p:nvSpPr>
        <p:spPr/>
        <p:txBody>
          <a:bodyPr/>
          <a:lstStyle/>
          <a:p>
            <a:fld id="{5F784608-109B-AB47-A93C-DEA587F8BA7F}" type="slidenum">
              <a:rPr lang="en-US" smtClean="0"/>
              <a:t>9</a:t>
            </a:fld>
            <a:endParaRPr lang="en-US"/>
          </a:p>
        </p:txBody>
      </p:sp>
    </p:spTree>
    <p:extLst>
      <p:ext uri="{BB962C8B-B14F-4D97-AF65-F5344CB8AC3E}">
        <p14:creationId xmlns:p14="http://schemas.microsoft.com/office/powerpoint/2010/main" val="2261109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document database looks similar to the pre-relational Hierarchical database. In stead of using the explicit pointers to program the relationship, the Document database supports the document (typically </a:t>
            </a:r>
            <a:r>
              <a:rPr lang="en-US" dirty="0" err="1"/>
              <a:t>json</a:t>
            </a:r>
            <a:r>
              <a:rPr lang="en-US" dirty="0"/>
              <a:t>) natively.</a:t>
            </a:r>
          </a:p>
          <a:p>
            <a:endParaRPr lang="en-US" dirty="0"/>
          </a:p>
          <a:p>
            <a:r>
              <a:rPr lang="en-US" dirty="0"/>
              <a:t>are they both NoSQL or ask students which is the new one or which is the new one?</a:t>
            </a:r>
          </a:p>
          <a:p>
            <a:endParaRPr lang="en-US" dirty="0"/>
          </a:p>
          <a:p>
            <a:r>
              <a:rPr lang="en-US" dirty="0"/>
              <a:t>25% final exam</a:t>
            </a:r>
          </a:p>
        </p:txBody>
      </p:sp>
      <p:sp>
        <p:nvSpPr>
          <p:cNvPr id="4" name="Slide Number Placeholder 3"/>
          <p:cNvSpPr>
            <a:spLocks noGrp="1"/>
          </p:cNvSpPr>
          <p:nvPr>
            <p:ph type="sldNum" sz="quarter" idx="5"/>
          </p:nvPr>
        </p:nvSpPr>
        <p:spPr/>
        <p:txBody>
          <a:bodyPr/>
          <a:lstStyle/>
          <a:p>
            <a:fld id="{5F784608-109B-AB47-A93C-DEA587F8BA7F}" type="slidenum">
              <a:rPr lang="en-US" smtClean="0"/>
              <a:t>10</a:t>
            </a:fld>
            <a:endParaRPr lang="en-US"/>
          </a:p>
        </p:txBody>
      </p:sp>
    </p:spTree>
    <p:extLst>
      <p:ext uri="{BB962C8B-B14F-4D97-AF65-F5344CB8AC3E}">
        <p14:creationId xmlns:p14="http://schemas.microsoft.com/office/powerpoint/2010/main" val="3383796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9F898-E721-9025-9FE1-98D21FBCE1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43CBEB-3C14-3A5C-0BD9-5868D61AAB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4C7D9C-9559-A880-BE19-178F8C03FB59}"/>
              </a:ext>
            </a:extLst>
          </p:cNvPr>
          <p:cNvSpPr>
            <a:spLocks noGrp="1"/>
          </p:cNvSpPr>
          <p:nvPr>
            <p:ph type="body" idx="1"/>
          </p:nvPr>
        </p:nvSpPr>
        <p:spPr/>
        <p:txBody>
          <a:bodyPr/>
          <a:lstStyle/>
          <a:p>
            <a:r>
              <a:rPr lang="en-US" dirty="0"/>
              <a:t>A document database looks similar to the pre-relational Hierarchical database. In stead of using the explicit pointers to program the relationship, the Document database supports the document (typically </a:t>
            </a:r>
            <a:r>
              <a:rPr lang="en-US" dirty="0" err="1"/>
              <a:t>json</a:t>
            </a:r>
            <a:r>
              <a:rPr lang="en-US" dirty="0"/>
              <a:t>) natively.</a:t>
            </a:r>
          </a:p>
        </p:txBody>
      </p:sp>
      <p:sp>
        <p:nvSpPr>
          <p:cNvPr id="4" name="Slide Number Placeholder 3">
            <a:extLst>
              <a:ext uri="{FF2B5EF4-FFF2-40B4-BE49-F238E27FC236}">
                <a16:creationId xmlns:a16="http://schemas.microsoft.com/office/drawing/2014/main" id="{1140CF1A-C1C9-CCDA-3AA7-C310472DEB0A}"/>
              </a:ext>
            </a:extLst>
          </p:cNvPr>
          <p:cNvSpPr>
            <a:spLocks noGrp="1"/>
          </p:cNvSpPr>
          <p:nvPr>
            <p:ph type="sldNum" sz="quarter" idx="5"/>
          </p:nvPr>
        </p:nvSpPr>
        <p:spPr/>
        <p:txBody>
          <a:bodyPr/>
          <a:lstStyle/>
          <a:p>
            <a:fld id="{5F784608-109B-AB47-A93C-DEA587F8BA7F}" type="slidenum">
              <a:rPr lang="en-US" smtClean="0"/>
              <a:t>11</a:t>
            </a:fld>
            <a:endParaRPr lang="en-US"/>
          </a:p>
        </p:txBody>
      </p:sp>
    </p:spTree>
    <p:extLst>
      <p:ext uri="{BB962C8B-B14F-4D97-AF65-F5344CB8AC3E}">
        <p14:creationId xmlns:p14="http://schemas.microsoft.com/office/powerpoint/2010/main" val="10663138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D1FC4-006E-3291-7988-B1718C1B3E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BCD003-922E-A91A-8328-94D6F9E0B4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A17A68-305F-4EFC-14FB-5D1901151C9E}"/>
              </a:ext>
            </a:extLst>
          </p:cNvPr>
          <p:cNvSpPr>
            <a:spLocks noGrp="1"/>
          </p:cNvSpPr>
          <p:nvPr>
            <p:ph type="body" idx="1"/>
          </p:nvPr>
        </p:nvSpPr>
        <p:spPr/>
        <p:txBody>
          <a:bodyPr/>
          <a:lstStyle/>
          <a:p>
            <a:r>
              <a:rPr lang="en-US" dirty="0"/>
              <a:t>A document database looks similar to the pre-relational Hierarchical database. In stead of using the explicit pointers to program the relationship, the Document database supports the document (typically </a:t>
            </a:r>
            <a:r>
              <a:rPr lang="en-US" dirty="0" err="1"/>
              <a:t>json</a:t>
            </a:r>
            <a:r>
              <a:rPr lang="en-US" dirty="0"/>
              <a:t>) natively.</a:t>
            </a:r>
          </a:p>
        </p:txBody>
      </p:sp>
      <p:sp>
        <p:nvSpPr>
          <p:cNvPr id="4" name="Slide Number Placeholder 3">
            <a:extLst>
              <a:ext uri="{FF2B5EF4-FFF2-40B4-BE49-F238E27FC236}">
                <a16:creationId xmlns:a16="http://schemas.microsoft.com/office/drawing/2014/main" id="{DFE61E63-93A6-0CE6-BD8C-ECE184F58E00}"/>
              </a:ext>
            </a:extLst>
          </p:cNvPr>
          <p:cNvSpPr>
            <a:spLocks noGrp="1"/>
          </p:cNvSpPr>
          <p:nvPr>
            <p:ph type="sldNum" sz="quarter" idx="5"/>
          </p:nvPr>
        </p:nvSpPr>
        <p:spPr/>
        <p:txBody>
          <a:bodyPr/>
          <a:lstStyle/>
          <a:p>
            <a:fld id="{5F784608-109B-AB47-A93C-DEA587F8BA7F}" type="slidenum">
              <a:rPr lang="en-US" smtClean="0"/>
              <a:t>12</a:t>
            </a:fld>
            <a:endParaRPr lang="en-US"/>
          </a:p>
        </p:txBody>
      </p:sp>
    </p:spTree>
    <p:extLst>
      <p:ext uri="{BB962C8B-B14F-4D97-AF65-F5344CB8AC3E}">
        <p14:creationId xmlns:p14="http://schemas.microsoft.com/office/powerpoint/2010/main" val="14013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interesting project called het</a:t>
            </a:r>
          </a:p>
        </p:txBody>
      </p:sp>
      <p:sp>
        <p:nvSpPr>
          <p:cNvPr id="4" name="Slide Number Placeholder 3"/>
          <p:cNvSpPr>
            <a:spLocks noGrp="1"/>
          </p:cNvSpPr>
          <p:nvPr>
            <p:ph type="sldNum" sz="quarter" idx="5"/>
          </p:nvPr>
        </p:nvSpPr>
        <p:spPr/>
        <p:txBody>
          <a:bodyPr/>
          <a:lstStyle/>
          <a:p>
            <a:fld id="{5F784608-109B-AB47-A93C-DEA587F8BA7F}" type="slidenum">
              <a:rPr lang="en-US" smtClean="0"/>
              <a:t>14</a:t>
            </a:fld>
            <a:endParaRPr lang="en-US"/>
          </a:p>
        </p:txBody>
      </p:sp>
    </p:spTree>
    <p:extLst>
      <p:ext uri="{BB962C8B-B14F-4D97-AF65-F5344CB8AC3E}">
        <p14:creationId xmlns:p14="http://schemas.microsoft.com/office/powerpoint/2010/main" val="22026677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ACID: </a:t>
            </a:r>
            <a:r>
              <a:rPr lang="en-US" sz="1200" b="1" i="0" kern="1200" dirty="0">
                <a:solidFill>
                  <a:schemeClr val="tx1"/>
                </a:solidFill>
                <a:effectLst/>
                <a:latin typeface="+mn-lt"/>
                <a:ea typeface="+mn-ea"/>
                <a:cs typeface="+mn-cs"/>
              </a:rPr>
              <a:t>Atomicity, Consistency, Isolation, and Durability</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speak slower</a:t>
            </a:r>
            <a:endParaRPr lang="en-US" dirty="0"/>
          </a:p>
        </p:txBody>
      </p:sp>
      <p:sp>
        <p:nvSpPr>
          <p:cNvPr id="4" name="Slide Number Placeholder 3"/>
          <p:cNvSpPr>
            <a:spLocks noGrp="1"/>
          </p:cNvSpPr>
          <p:nvPr>
            <p:ph type="sldNum" sz="quarter" idx="5"/>
          </p:nvPr>
        </p:nvSpPr>
        <p:spPr/>
        <p:txBody>
          <a:bodyPr/>
          <a:lstStyle/>
          <a:p>
            <a:fld id="{5F784608-109B-AB47-A93C-DEA587F8BA7F}" type="slidenum">
              <a:rPr lang="en-US" smtClean="0"/>
              <a:t>15</a:t>
            </a:fld>
            <a:endParaRPr lang="en-US"/>
          </a:p>
        </p:txBody>
      </p:sp>
    </p:spTree>
    <p:extLst>
      <p:ext uri="{BB962C8B-B14F-4D97-AF65-F5344CB8AC3E}">
        <p14:creationId xmlns:p14="http://schemas.microsoft.com/office/powerpoint/2010/main" val="25802675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Today was about concepts: why NoSQL databases emerged, the four data models, and where they are used in the biosciences. The next three lectures turn the two models that matter most for bioinformatics into hands-on skills.</a:t>
            </a:r>
          </a:p>
          <a:p>
            <a:r>
              <a:t>Lecture 25 (MongoDB, documents): we store genetic variants from a VCF file as documents, learn the CRUD operations, access control (RBAC), indexes and the aggregation framework, which does what bcftools stats does on the command line. Lecture 26 (graph basics): nodes, relationships, properties, and the Cypher query language, using this very course as the example, ending with a first look at genomic data as a graph. Lecture 27 (Neo4j): a real data set of 65 genomes annotated with KEGG Orthology (KO) gene functions and the tree of life: we find similar genomes and infer how KOs evolved.</a:t>
            </a:r>
          </a:p>
          <a:p>
            <a:r>
              <a:t>All workshops run on your own laptop: MongoDB and Neo4j run in Docker containers and the notebooks in JupyterLab, so you need no cloud account and the materials keep working after the course. The next slide is your preparation checklist.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Please do this before the hands-on sessions; it takes 20 to 30 minutes, mostly downloading, and about 4 GB of disk space. You need an internet connection only for this preparation; afterwards everything works offline.</a:t>
            </a:r>
          </a:p>
          <a:p>
            <a:r>
              <a:t>Step 1: install Docker Desktop (macOS and Windows) or Docker Engine with the Compose plugin (Linux). Test it with docker --version and docker compose version. On a managed hospital laptop you may need your IT help desk for the installation. Step 2: get the course materials with git clone, and start the databases with docker compose up -d in the docker folder; the first start downloads about 1.5 GB of database images. Wait until docker compose ps says healthy. Step 3: create a Python virtual environment and install the packages with pip install -r requirements.txt, then run python scripts/check_setup.py: it tests Python, the packages, the data files and both databases and tells you how to fix anything that is wrong.</a:t>
            </a:r>
          </a:p>
          <a:p>
            <a:r>
              <a:t>The full guide with Windows, macOS and Linux details and a troubleshooting table is SETUP.md in the repository. If your check fails, bring the output to the session.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784608-109B-AB47-A93C-DEA587F8BA7F}" type="slidenum">
              <a:rPr lang="en-US" smtClean="0"/>
              <a:t>18</a:t>
            </a:fld>
            <a:endParaRPr lang="en-US"/>
          </a:p>
        </p:txBody>
      </p:sp>
    </p:spTree>
    <p:extLst>
      <p:ext uri="{BB962C8B-B14F-4D97-AF65-F5344CB8AC3E}">
        <p14:creationId xmlns:p14="http://schemas.microsoft.com/office/powerpoint/2010/main" val="2777708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44D13-0AF5-47F0-2154-DEEE798AB6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ED7F924-BF3D-5B36-5DC4-608CDB5A46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09B1FBE-3F45-CA79-D23B-8E5974315474}"/>
              </a:ext>
            </a:extLst>
          </p:cNvPr>
          <p:cNvSpPr>
            <a:spLocks noGrp="1"/>
          </p:cNvSpPr>
          <p:nvPr>
            <p:ph type="dt" sz="half" idx="10"/>
          </p:nvPr>
        </p:nvSpPr>
        <p:spPr/>
        <p:txBody>
          <a:bodyPr/>
          <a:lstStyle/>
          <a:p>
            <a:fld id="{154F0F4B-3552-6348-A459-82F3827CA3A8}" type="datetimeFigureOut">
              <a:rPr lang="en-US" smtClean="0"/>
              <a:t>10/17/26</a:t>
            </a:fld>
            <a:endParaRPr lang="en-US"/>
          </a:p>
        </p:txBody>
      </p:sp>
      <p:sp>
        <p:nvSpPr>
          <p:cNvPr id="5" name="Footer Placeholder 4">
            <a:extLst>
              <a:ext uri="{FF2B5EF4-FFF2-40B4-BE49-F238E27FC236}">
                <a16:creationId xmlns:a16="http://schemas.microsoft.com/office/drawing/2014/main" id="{7423A7D1-9D94-05B0-4D46-AE1147C5E7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0AB79-8B4E-5342-AEB8-44CF898470D5}"/>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3775741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39940-A560-E2E7-DDD7-05BF822197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D9329C-8D59-1596-4134-12EA9B347B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A29BAB-2993-0D65-BCA4-8DF00C8C88E9}"/>
              </a:ext>
            </a:extLst>
          </p:cNvPr>
          <p:cNvSpPr>
            <a:spLocks noGrp="1"/>
          </p:cNvSpPr>
          <p:nvPr>
            <p:ph type="dt" sz="half" idx="10"/>
          </p:nvPr>
        </p:nvSpPr>
        <p:spPr/>
        <p:txBody>
          <a:bodyPr/>
          <a:lstStyle/>
          <a:p>
            <a:fld id="{154F0F4B-3552-6348-A459-82F3827CA3A8}" type="datetimeFigureOut">
              <a:rPr lang="en-US" smtClean="0"/>
              <a:t>10/17/26</a:t>
            </a:fld>
            <a:endParaRPr lang="en-US"/>
          </a:p>
        </p:txBody>
      </p:sp>
      <p:sp>
        <p:nvSpPr>
          <p:cNvPr id="5" name="Footer Placeholder 4">
            <a:extLst>
              <a:ext uri="{FF2B5EF4-FFF2-40B4-BE49-F238E27FC236}">
                <a16:creationId xmlns:a16="http://schemas.microsoft.com/office/drawing/2014/main" id="{DE3D3EF9-9A0A-DD9B-CB88-11AF441AFB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50B04C-643B-81F1-F377-8C2B89622C6D}"/>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354611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5B155-6E8E-376C-26CB-3D865588897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12015B3-E391-6D15-8A78-316E2F4D143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3EF4DC-101A-B984-05D7-DD1BAFEB4118}"/>
              </a:ext>
            </a:extLst>
          </p:cNvPr>
          <p:cNvSpPr>
            <a:spLocks noGrp="1"/>
          </p:cNvSpPr>
          <p:nvPr>
            <p:ph type="dt" sz="half" idx="10"/>
          </p:nvPr>
        </p:nvSpPr>
        <p:spPr/>
        <p:txBody>
          <a:bodyPr/>
          <a:lstStyle/>
          <a:p>
            <a:fld id="{154F0F4B-3552-6348-A459-82F3827CA3A8}" type="datetimeFigureOut">
              <a:rPr lang="en-US" smtClean="0"/>
              <a:t>10/17/26</a:t>
            </a:fld>
            <a:endParaRPr lang="en-US"/>
          </a:p>
        </p:txBody>
      </p:sp>
      <p:sp>
        <p:nvSpPr>
          <p:cNvPr id="5" name="Footer Placeholder 4">
            <a:extLst>
              <a:ext uri="{FF2B5EF4-FFF2-40B4-BE49-F238E27FC236}">
                <a16:creationId xmlns:a16="http://schemas.microsoft.com/office/drawing/2014/main" id="{D45B6271-FF54-8C23-3A90-27D5FF9E9C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B36372-ECF6-3C7F-B309-F357A010C563}"/>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1379249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B3846-017D-106B-84B5-24D10B0B84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77E763-2A29-3D0E-842A-58B63DA132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94DA7A-DA73-8FE2-49B7-365AB47F89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04BF4BA-D9BF-6AC4-4A89-7B2C25AEB8EB}"/>
              </a:ext>
            </a:extLst>
          </p:cNvPr>
          <p:cNvSpPr>
            <a:spLocks noGrp="1"/>
          </p:cNvSpPr>
          <p:nvPr>
            <p:ph type="dt" sz="half" idx="10"/>
          </p:nvPr>
        </p:nvSpPr>
        <p:spPr/>
        <p:txBody>
          <a:bodyPr/>
          <a:lstStyle/>
          <a:p>
            <a:fld id="{154F0F4B-3552-6348-A459-82F3827CA3A8}" type="datetimeFigureOut">
              <a:rPr lang="en-US" smtClean="0"/>
              <a:t>10/17/26</a:t>
            </a:fld>
            <a:endParaRPr lang="en-US"/>
          </a:p>
        </p:txBody>
      </p:sp>
      <p:sp>
        <p:nvSpPr>
          <p:cNvPr id="6" name="Footer Placeholder 5">
            <a:extLst>
              <a:ext uri="{FF2B5EF4-FFF2-40B4-BE49-F238E27FC236}">
                <a16:creationId xmlns:a16="http://schemas.microsoft.com/office/drawing/2014/main" id="{1E183F5F-AAC5-3E0E-B3AA-9C980FD1A9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C5408D-10B3-6105-1D03-7A26B17860CF}"/>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3618218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CC433-06F8-E695-0C23-87CC6D0D8C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5AD5F79-D6C5-DDC9-0886-8A01B176E5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B407BD-463E-F7FC-A36C-6586270DC9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F390DBE-DDF1-FAA8-03D2-E38663C2D1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25112C-78C2-90D4-CA10-0777929D1E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9460DEC-3586-CAE4-66A8-449CC374F6C6}"/>
              </a:ext>
            </a:extLst>
          </p:cNvPr>
          <p:cNvSpPr>
            <a:spLocks noGrp="1"/>
          </p:cNvSpPr>
          <p:nvPr>
            <p:ph type="dt" sz="half" idx="10"/>
          </p:nvPr>
        </p:nvSpPr>
        <p:spPr/>
        <p:txBody>
          <a:bodyPr/>
          <a:lstStyle/>
          <a:p>
            <a:fld id="{154F0F4B-3552-6348-A459-82F3827CA3A8}" type="datetimeFigureOut">
              <a:rPr lang="en-US" smtClean="0"/>
              <a:t>10/17/26</a:t>
            </a:fld>
            <a:endParaRPr lang="en-US"/>
          </a:p>
        </p:txBody>
      </p:sp>
      <p:sp>
        <p:nvSpPr>
          <p:cNvPr id="8" name="Footer Placeholder 7">
            <a:extLst>
              <a:ext uri="{FF2B5EF4-FFF2-40B4-BE49-F238E27FC236}">
                <a16:creationId xmlns:a16="http://schemas.microsoft.com/office/drawing/2014/main" id="{BF12A016-B8A1-0DAF-D862-FC300467557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303DA9C-442F-83F5-C93D-7DE100E7F1F3}"/>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2718455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7A5A5-98E1-60E5-E817-7C6DFC75D1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1AAD21-240E-4E28-8D8B-BD9B230D9DD6}"/>
              </a:ext>
            </a:extLst>
          </p:cNvPr>
          <p:cNvSpPr>
            <a:spLocks noGrp="1"/>
          </p:cNvSpPr>
          <p:nvPr>
            <p:ph type="dt" sz="half" idx="10"/>
          </p:nvPr>
        </p:nvSpPr>
        <p:spPr/>
        <p:txBody>
          <a:bodyPr/>
          <a:lstStyle/>
          <a:p>
            <a:fld id="{154F0F4B-3552-6348-A459-82F3827CA3A8}" type="datetimeFigureOut">
              <a:rPr lang="en-US" smtClean="0"/>
              <a:t>10/17/26</a:t>
            </a:fld>
            <a:endParaRPr lang="en-US"/>
          </a:p>
        </p:txBody>
      </p:sp>
      <p:sp>
        <p:nvSpPr>
          <p:cNvPr id="4" name="Footer Placeholder 3">
            <a:extLst>
              <a:ext uri="{FF2B5EF4-FFF2-40B4-BE49-F238E27FC236}">
                <a16:creationId xmlns:a16="http://schemas.microsoft.com/office/drawing/2014/main" id="{C9D699FA-3E5E-9BD8-744C-66E8294B8C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2028DD-7A5E-9B20-D393-EE4E75E1BB70}"/>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2845853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AB1358-3613-13C9-C0B7-004C584EE157}"/>
              </a:ext>
            </a:extLst>
          </p:cNvPr>
          <p:cNvSpPr>
            <a:spLocks noGrp="1"/>
          </p:cNvSpPr>
          <p:nvPr>
            <p:ph type="dt" sz="half" idx="10"/>
          </p:nvPr>
        </p:nvSpPr>
        <p:spPr/>
        <p:txBody>
          <a:bodyPr/>
          <a:lstStyle/>
          <a:p>
            <a:fld id="{154F0F4B-3552-6348-A459-82F3827CA3A8}" type="datetimeFigureOut">
              <a:rPr lang="en-US" smtClean="0"/>
              <a:t>10/17/26</a:t>
            </a:fld>
            <a:endParaRPr lang="en-US"/>
          </a:p>
        </p:txBody>
      </p:sp>
      <p:sp>
        <p:nvSpPr>
          <p:cNvPr id="3" name="Footer Placeholder 2">
            <a:extLst>
              <a:ext uri="{FF2B5EF4-FFF2-40B4-BE49-F238E27FC236}">
                <a16:creationId xmlns:a16="http://schemas.microsoft.com/office/drawing/2014/main" id="{05EBEEDD-FBF9-64FF-AB78-FEBF1B6485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618850-5319-D707-1354-A44DB7F170AD}"/>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1036537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27E20-43D5-C764-70E7-119B8C126B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1AD1B9-29A7-66B6-5260-FE5B7EECC3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F4B2D96-26C8-F12F-C61F-4C72247943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AC8492-E391-D49F-DC61-DBDC541E8D4F}"/>
              </a:ext>
            </a:extLst>
          </p:cNvPr>
          <p:cNvSpPr>
            <a:spLocks noGrp="1"/>
          </p:cNvSpPr>
          <p:nvPr>
            <p:ph type="dt" sz="half" idx="10"/>
          </p:nvPr>
        </p:nvSpPr>
        <p:spPr/>
        <p:txBody>
          <a:bodyPr/>
          <a:lstStyle/>
          <a:p>
            <a:fld id="{154F0F4B-3552-6348-A459-82F3827CA3A8}" type="datetimeFigureOut">
              <a:rPr lang="en-US" smtClean="0"/>
              <a:t>10/17/26</a:t>
            </a:fld>
            <a:endParaRPr lang="en-US"/>
          </a:p>
        </p:txBody>
      </p:sp>
      <p:sp>
        <p:nvSpPr>
          <p:cNvPr id="6" name="Footer Placeholder 5">
            <a:extLst>
              <a:ext uri="{FF2B5EF4-FFF2-40B4-BE49-F238E27FC236}">
                <a16:creationId xmlns:a16="http://schemas.microsoft.com/office/drawing/2014/main" id="{9C8040B7-491C-5862-8257-FF839B3F69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4FE5F6-D920-CE6A-DF40-F3230961B0F7}"/>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3108989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064CB-02D7-67C6-1187-217524B956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A55BF9C-BFB1-7176-D5BD-1401A6A080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D67268B-5579-224D-3C04-6D638C5B52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9A34E-CD93-4E68-66CE-72F31E91021B}"/>
              </a:ext>
            </a:extLst>
          </p:cNvPr>
          <p:cNvSpPr>
            <a:spLocks noGrp="1"/>
          </p:cNvSpPr>
          <p:nvPr>
            <p:ph type="dt" sz="half" idx="10"/>
          </p:nvPr>
        </p:nvSpPr>
        <p:spPr/>
        <p:txBody>
          <a:bodyPr/>
          <a:lstStyle/>
          <a:p>
            <a:fld id="{154F0F4B-3552-6348-A459-82F3827CA3A8}" type="datetimeFigureOut">
              <a:rPr lang="en-US" smtClean="0"/>
              <a:t>10/17/26</a:t>
            </a:fld>
            <a:endParaRPr lang="en-US"/>
          </a:p>
        </p:txBody>
      </p:sp>
      <p:sp>
        <p:nvSpPr>
          <p:cNvPr id="6" name="Footer Placeholder 5">
            <a:extLst>
              <a:ext uri="{FF2B5EF4-FFF2-40B4-BE49-F238E27FC236}">
                <a16:creationId xmlns:a16="http://schemas.microsoft.com/office/drawing/2014/main" id="{EDD6924A-BD6C-86C4-11CF-0E15EAD5E6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76B134-9AA5-3BFD-CABD-21DADF99FA0A}"/>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653781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034A4-7FBC-300F-A6B2-9827080A758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CC1AF9-FA4C-4625-BA29-317CA723CA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EFA009-4915-B8F0-2B28-12C40C0969C8}"/>
              </a:ext>
            </a:extLst>
          </p:cNvPr>
          <p:cNvSpPr>
            <a:spLocks noGrp="1"/>
          </p:cNvSpPr>
          <p:nvPr>
            <p:ph type="dt" sz="half" idx="10"/>
          </p:nvPr>
        </p:nvSpPr>
        <p:spPr/>
        <p:txBody>
          <a:bodyPr/>
          <a:lstStyle/>
          <a:p>
            <a:fld id="{154F0F4B-3552-6348-A459-82F3827CA3A8}" type="datetimeFigureOut">
              <a:rPr lang="en-US" smtClean="0"/>
              <a:t>10/17/26</a:t>
            </a:fld>
            <a:endParaRPr lang="en-US"/>
          </a:p>
        </p:txBody>
      </p:sp>
      <p:sp>
        <p:nvSpPr>
          <p:cNvPr id="5" name="Footer Placeholder 4">
            <a:extLst>
              <a:ext uri="{FF2B5EF4-FFF2-40B4-BE49-F238E27FC236}">
                <a16:creationId xmlns:a16="http://schemas.microsoft.com/office/drawing/2014/main" id="{886208DF-491D-B73A-6462-D7B50B4C2E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FDC0A0-7C24-D6AC-3539-5456C8DC670E}"/>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3145496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9FFA73-D82D-7E4D-01F0-3CB1E6EF84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D7CFF21-A84B-7FEC-A2D6-34627ADA61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03EE14-D5B7-B0D7-59FA-03CA58E2C519}"/>
              </a:ext>
            </a:extLst>
          </p:cNvPr>
          <p:cNvSpPr>
            <a:spLocks noGrp="1"/>
          </p:cNvSpPr>
          <p:nvPr>
            <p:ph type="dt" sz="half" idx="10"/>
          </p:nvPr>
        </p:nvSpPr>
        <p:spPr/>
        <p:txBody>
          <a:bodyPr/>
          <a:lstStyle/>
          <a:p>
            <a:fld id="{154F0F4B-3552-6348-A459-82F3827CA3A8}" type="datetimeFigureOut">
              <a:rPr lang="en-US" smtClean="0"/>
              <a:t>10/17/26</a:t>
            </a:fld>
            <a:endParaRPr lang="en-US"/>
          </a:p>
        </p:txBody>
      </p:sp>
      <p:sp>
        <p:nvSpPr>
          <p:cNvPr id="5" name="Footer Placeholder 4">
            <a:extLst>
              <a:ext uri="{FF2B5EF4-FFF2-40B4-BE49-F238E27FC236}">
                <a16:creationId xmlns:a16="http://schemas.microsoft.com/office/drawing/2014/main" id="{18284A9E-F68E-339E-54E7-4A1BA4A9E1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00ACD3-038C-7BAD-C0A3-AC45790649EF}"/>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180222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BE5405-6037-EE6E-D727-D6686B85FF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C2CAE8-BE39-4227-66CD-4396168819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125CE9-8491-BCBB-1709-1D87D69361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4F0F4B-3552-6348-A459-82F3827CA3A8}" type="datetimeFigureOut">
              <a:rPr lang="en-US" smtClean="0"/>
              <a:t>10/17/26</a:t>
            </a:fld>
            <a:endParaRPr lang="en-US"/>
          </a:p>
        </p:txBody>
      </p:sp>
      <p:sp>
        <p:nvSpPr>
          <p:cNvPr id="5" name="Footer Placeholder 4">
            <a:extLst>
              <a:ext uri="{FF2B5EF4-FFF2-40B4-BE49-F238E27FC236}">
                <a16:creationId xmlns:a16="http://schemas.microsoft.com/office/drawing/2014/main" id="{FCEA9951-2D4E-21B8-2877-E266D2AD42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4F427C4-DC15-99A2-0E9E-75F25EF73E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BE4B7F-C25D-E74A-A11E-9EDAC9D4396D}" type="slidenum">
              <a:rPr lang="en-US" smtClean="0"/>
              <a:t>‹#›</a:t>
            </a:fld>
            <a:endParaRPr lang="en-US"/>
          </a:p>
        </p:txBody>
      </p:sp>
      <p:sp>
        <p:nvSpPr>
          <p:cNvPr id="8" name="TextBox 7">
            <a:extLst>
              <a:ext uri="{FF2B5EF4-FFF2-40B4-BE49-F238E27FC236}">
                <a16:creationId xmlns:a16="http://schemas.microsoft.com/office/drawing/2014/main" id="{FE0147CF-C9D1-DD18-0DEB-1C814F853F8E}"/>
              </a:ext>
            </a:extLst>
          </p:cNvPr>
          <p:cNvSpPr txBox="1"/>
          <p:nvPr userDrawn="1">
            <p:extLst>
              <p:ext uri="{1162E1C5-73C7-4A58-AE30-91384D911F3F}">
                <p184:classification xmlns:p184="http://schemas.microsoft.com/office/powerpoint/2018/4/main" val="ftr"/>
              </p:ext>
            </p:extLst>
          </p:nvPr>
        </p:nvSpPr>
        <p:spPr>
          <a:xfrm>
            <a:off x="63500" y="6642100"/>
            <a:ext cx="1220788"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St. Jude - Confidential</a:t>
            </a:r>
          </a:p>
        </p:txBody>
      </p:sp>
    </p:spTree>
    <p:extLst>
      <p:ext uri="{BB962C8B-B14F-4D97-AF65-F5344CB8AC3E}">
        <p14:creationId xmlns:p14="http://schemas.microsoft.com/office/powerpoint/2010/main" val="41356238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St-Jude-MS-ABDS/workshop-NoSQ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2CCF75-A32F-6D3E-356A-4F6CF28F53AF}"/>
              </a:ext>
            </a:extLst>
          </p:cNvPr>
          <p:cNvSpPr>
            <a:spLocks noGrp="1"/>
          </p:cNvSpPr>
          <p:nvPr>
            <p:ph type="ctrTitle"/>
          </p:nvPr>
        </p:nvSpPr>
        <p:spPr>
          <a:xfrm>
            <a:off x="6574282" y="1100818"/>
            <a:ext cx="4805996" cy="1297115"/>
          </a:xfrm>
        </p:spPr>
        <p:txBody>
          <a:bodyPr anchor="t">
            <a:normAutofit/>
          </a:bodyPr>
          <a:lstStyle/>
          <a:p>
            <a:pPr algn="l"/>
            <a:r>
              <a:rPr lang="en-US" sz="4000" dirty="0">
                <a:solidFill>
                  <a:schemeClr val="tx2"/>
                </a:solidFill>
              </a:rPr>
              <a:t>NoSQL Databases for Bioinformatics</a:t>
            </a:r>
            <a:r>
              <a:rPr lang="en-US" sz="4000" dirty="0">
                <a:solidFill>
                  <a:schemeClr val="tx2"/>
                </a:solidFill>
                <a:effectLst/>
              </a:rPr>
              <a:t> </a:t>
            </a:r>
            <a:endParaRPr lang="en-US" sz="4000" dirty="0">
              <a:solidFill>
                <a:schemeClr val="tx2"/>
              </a:solidFill>
            </a:endParaRPr>
          </a:p>
        </p:txBody>
      </p:sp>
      <p:sp>
        <p:nvSpPr>
          <p:cNvPr id="4" name="Rectangle 3">
            <a:extLst>
              <a:ext uri="{FF2B5EF4-FFF2-40B4-BE49-F238E27FC236}">
                <a16:creationId xmlns:a16="http://schemas.microsoft.com/office/drawing/2014/main" id="{0F89DE96-BD63-5DF4-75A8-78E5DF718320}"/>
              </a:ext>
            </a:extLst>
          </p:cNvPr>
          <p:cNvSpPr/>
          <p:nvPr/>
        </p:nvSpPr>
        <p:spPr>
          <a:xfrm>
            <a:off x="132994" y="3965861"/>
            <a:ext cx="3608842" cy="1624237"/>
          </a:xfrm>
          <a:prstGeom prst="rect">
            <a:avLst/>
          </a:prstGeom>
          <a:solidFill>
            <a:srgbClr val="D413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04117F24-66B9-F755-8690-F8EDDD63AE17}"/>
              </a:ext>
            </a:extLst>
          </p:cNvPr>
          <p:cNvSpPr>
            <a:spLocks noGrp="1"/>
          </p:cNvSpPr>
          <p:nvPr>
            <p:ph type="subTitle" idx="1"/>
          </p:nvPr>
        </p:nvSpPr>
        <p:spPr>
          <a:xfrm>
            <a:off x="6604973" y="2283702"/>
            <a:ext cx="4805691" cy="838831"/>
          </a:xfrm>
        </p:spPr>
        <p:txBody>
          <a:bodyPr anchor="b">
            <a:noAutofit/>
          </a:bodyPr>
          <a:lstStyle/>
          <a:p>
            <a:pPr algn="l"/>
            <a:r>
              <a:rPr lang="en-US" dirty="0">
                <a:solidFill>
                  <a:schemeClr val="tx2"/>
                </a:solidFill>
              </a:rPr>
              <a:t>Foundations of Not only SQL (NoSQL) Databases</a:t>
            </a:r>
            <a:endParaRPr lang="en-US" dirty="0">
              <a:solidFill>
                <a:schemeClr val="tx2"/>
              </a:solidFill>
              <a:effectLst/>
            </a:endParaRPr>
          </a:p>
        </p:txBody>
      </p:sp>
      <p:pic>
        <p:nvPicPr>
          <p:cNvPr id="6" name="Picture 5">
            <a:extLst>
              <a:ext uri="{FF2B5EF4-FFF2-40B4-BE49-F238E27FC236}">
                <a16:creationId xmlns:a16="http://schemas.microsoft.com/office/drawing/2014/main" id="{0BCAC87D-BE74-14F2-47C6-B5516D0E5B4B}"/>
              </a:ext>
            </a:extLst>
          </p:cNvPr>
          <p:cNvPicPr>
            <a:picLocks noChangeAspect="1"/>
          </p:cNvPicPr>
          <p:nvPr/>
        </p:nvPicPr>
        <p:blipFill>
          <a:blip r:embed="rId3"/>
          <a:stretch>
            <a:fillRect/>
          </a:stretch>
        </p:blipFill>
        <p:spPr>
          <a:xfrm>
            <a:off x="276300" y="2117618"/>
            <a:ext cx="4141760" cy="145997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5" name="Group 14">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6" name="Freeform: Shape 15">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extBox 4">
            <a:extLst>
              <a:ext uri="{FF2B5EF4-FFF2-40B4-BE49-F238E27FC236}">
                <a16:creationId xmlns:a16="http://schemas.microsoft.com/office/drawing/2014/main" id="{603EC705-FED4-B532-631E-6EB9FDCD9F12}"/>
              </a:ext>
            </a:extLst>
          </p:cNvPr>
          <p:cNvSpPr txBox="1"/>
          <p:nvPr/>
        </p:nvSpPr>
        <p:spPr>
          <a:xfrm>
            <a:off x="-4253" y="6400800"/>
            <a:ext cx="12196253" cy="497111"/>
          </a:xfrm>
          <a:prstGeom prst="rect">
            <a:avLst/>
          </a:prstGeom>
          <a:solidFill>
            <a:srgbClr val="000000">
              <a:alpha val="50000"/>
            </a:srgbClr>
          </a:solidFill>
          <a:ln>
            <a:noFill/>
          </a:ln>
        </p:spPr>
        <p:txBody>
          <a:bodyPr wrap="square">
            <a:noAutofit/>
          </a:bodyPr>
          <a:lstStyle/>
          <a:p>
            <a:pPr algn="ctr">
              <a:spcAft>
                <a:spcPts val="600"/>
              </a:spcAft>
            </a:pPr>
            <a:r>
              <a:rPr lang="en-US" sz="2400" b="1">
                <a:solidFill>
                  <a:srgbClr val="FFFFFF"/>
                </a:solidFill>
              </a:rPr>
              <a:t>Data Bases and Data Wrangling Series.  </a:t>
            </a:r>
            <a:r>
              <a:rPr lang="en-US" sz="2400" b="1" dirty="0">
                <a:solidFill>
                  <a:srgbClr val="FFFFFF"/>
                </a:solidFill>
              </a:rPr>
              <a:t>Lecture#24</a:t>
            </a:r>
          </a:p>
        </p:txBody>
      </p:sp>
      <p:grpSp>
        <p:nvGrpSpPr>
          <p:cNvPr id="10" name="Group 9">
            <a:extLst>
              <a:ext uri="{FF2B5EF4-FFF2-40B4-BE49-F238E27FC236}">
                <a16:creationId xmlns:a16="http://schemas.microsoft.com/office/drawing/2014/main" id="{CA514136-51C1-DB95-EF15-31D96C91756B}"/>
              </a:ext>
            </a:extLst>
          </p:cNvPr>
          <p:cNvGrpSpPr/>
          <p:nvPr/>
        </p:nvGrpSpPr>
        <p:grpSpPr>
          <a:xfrm>
            <a:off x="6573977" y="5205034"/>
            <a:ext cx="2490469" cy="585398"/>
            <a:chOff x="6869852" y="4458043"/>
            <a:chExt cx="2490469" cy="585398"/>
          </a:xfrm>
        </p:grpSpPr>
        <p:pic>
          <p:nvPicPr>
            <p:cNvPr id="1026" name="Picture 2">
              <a:extLst>
                <a:ext uri="{FF2B5EF4-FFF2-40B4-BE49-F238E27FC236}">
                  <a16:creationId xmlns:a16="http://schemas.microsoft.com/office/drawing/2014/main" id="{A45DF704-9241-D370-D1C2-7757764ADB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9852" y="4494801"/>
              <a:ext cx="548640" cy="54864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7AD7D6A-0A13-9BA1-C7FE-AA069D576572}"/>
                </a:ext>
              </a:extLst>
            </p:cNvPr>
            <p:cNvSpPr txBox="1"/>
            <p:nvPr/>
          </p:nvSpPr>
          <p:spPr>
            <a:xfrm>
              <a:off x="7459288" y="4458043"/>
              <a:ext cx="1901033" cy="584775"/>
            </a:xfrm>
            <a:prstGeom prst="rect">
              <a:avLst/>
            </a:prstGeom>
            <a:noFill/>
          </p:spPr>
          <p:txBody>
            <a:bodyPr wrap="none" rtlCol="0">
              <a:spAutoFit/>
            </a:bodyPr>
            <a:lstStyle/>
            <a:p>
              <a:r>
                <a:rPr lang="en-US" sz="3200" dirty="0"/>
                <a:t>Yawei Hui</a:t>
              </a:r>
            </a:p>
          </p:txBody>
        </p:sp>
      </p:grpSp>
      <p:grpSp>
        <p:nvGrpSpPr>
          <p:cNvPr id="14" name="Group 13">
            <a:extLst>
              <a:ext uri="{FF2B5EF4-FFF2-40B4-BE49-F238E27FC236}">
                <a16:creationId xmlns:a16="http://schemas.microsoft.com/office/drawing/2014/main" id="{742227D3-F0DD-3D14-1B7F-15F4604223D0}"/>
              </a:ext>
            </a:extLst>
          </p:cNvPr>
          <p:cNvGrpSpPr/>
          <p:nvPr/>
        </p:nvGrpSpPr>
        <p:grpSpPr>
          <a:xfrm>
            <a:off x="9274424" y="5200075"/>
            <a:ext cx="2917271" cy="584775"/>
            <a:chOff x="9274424" y="5200075"/>
            <a:chExt cx="2917271" cy="584775"/>
          </a:xfrm>
        </p:grpSpPr>
        <p:pic>
          <p:nvPicPr>
            <p:cNvPr id="1028" name="Picture 4">
              <a:extLst>
                <a:ext uri="{FF2B5EF4-FFF2-40B4-BE49-F238E27FC236}">
                  <a16:creationId xmlns:a16="http://schemas.microsoft.com/office/drawing/2014/main" id="{03B96E4B-60E8-C395-D33B-7EEE67CF48F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74424" y="5205034"/>
              <a:ext cx="548640" cy="54864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9493716A-E960-4C7D-607F-DA4214854DDB}"/>
                </a:ext>
              </a:extLst>
            </p:cNvPr>
            <p:cNvSpPr txBox="1"/>
            <p:nvPr/>
          </p:nvSpPr>
          <p:spPr>
            <a:xfrm>
              <a:off x="9891065" y="5200075"/>
              <a:ext cx="2300630" cy="584775"/>
            </a:xfrm>
            <a:prstGeom prst="rect">
              <a:avLst/>
            </a:prstGeom>
            <a:noFill/>
          </p:spPr>
          <p:txBody>
            <a:bodyPr wrap="none" rtlCol="0">
              <a:spAutoFit/>
            </a:bodyPr>
            <a:lstStyle/>
            <a:p>
              <a:r>
                <a:rPr lang="en-US" sz="3200" dirty="0"/>
                <a:t>Ziang Zhang</a:t>
              </a:r>
            </a:p>
          </p:txBody>
        </p:sp>
      </p:grpSp>
      <p:sp>
        <p:nvSpPr>
          <p:cNvPr id="20" name="TextBox 19">
            <a:extLst>
              <a:ext uri="{FF2B5EF4-FFF2-40B4-BE49-F238E27FC236}">
                <a16:creationId xmlns:a16="http://schemas.microsoft.com/office/drawing/2014/main" id="{6381C003-B846-E9BF-C90E-F6CCB39663C4}"/>
              </a:ext>
            </a:extLst>
          </p:cNvPr>
          <p:cNvSpPr txBox="1"/>
          <p:nvPr/>
        </p:nvSpPr>
        <p:spPr>
          <a:xfrm>
            <a:off x="132994" y="5110709"/>
            <a:ext cx="3540841" cy="461665"/>
          </a:xfrm>
          <a:prstGeom prst="rect">
            <a:avLst/>
          </a:prstGeom>
          <a:noFill/>
        </p:spPr>
        <p:txBody>
          <a:bodyPr wrap="none" rtlCol="0">
            <a:spAutoFit/>
          </a:bodyPr>
          <a:lstStyle/>
          <a:p>
            <a:r>
              <a:rPr lang="en-US" sz="2400" i="1" dirty="0">
                <a:solidFill>
                  <a:schemeClr val="bg1"/>
                </a:solidFill>
              </a:rPr>
              <a:t>H</a:t>
            </a:r>
            <a:r>
              <a:rPr lang="en-US" sz="1400" i="1" dirty="0">
                <a:solidFill>
                  <a:schemeClr val="bg1"/>
                </a:solidFill>
              </a:rPr>
              <a:t>igh </a:t>
            </a:r>
            <a:r>
              <a:rPr lang="en-US" sz="2400" i="1" dirty="0">
                <a:solidFill>
                  <a:schemeClr val="bg1"/>
                </a:solidFill>
              </a:rPr>
              <a:t>P</a:t>
            </a:r>
            <a:r>
              <a:rPr lang="en-US" sz="1400" i="1" dirty="0">
                <a:solidFill>
                  <a:schemeClr val="bg1"/>
                </a:solidFill>
              </a:rPr>
              <a:t>erformance </a:t>
            </a:r>
            <a:r>
              <a:rPr lang="en-US" sz="2400" i="1" dirty="0">
                <a:solidFill>
                  <a:schemeClr val="bg1"/>
                </a:solidFill>
              </a:rPr>
              <a:t>C</a:t>
            </a:r>
            <a:r>
              <a:rPr lang="en-US" sz="1400" i="1" dirty="0">
                <a:solidFill>
                  <a:schemeClr val="bg1"/>
                </a:solidFill>
              </a:rPr>
              <a:t>omputing </a:t>
            </a:r>
            <a:r>
              <a:rPr lang="en-US" sz="2400" i="1" dirty="0">
                <a:solidFill>
                  <a:schemeClr val="bg1"/>
                </a:solidFill>
              </a:rPr>
              <a:t>S</a:t>
            </a:r>
            <a:r>
              <a:rPr lang="en-US" sz="1400" i="1" dirty="0">
                <a:solidFill>
                  <a:schemeClr val="bg1"/>
                </a:solidFill>
              </a:rPr>
              <a:t>upport</a:t>
            </a:r>
          </a:p>
        </p:txBody>
      </p:sp>
      <p:pic>
        <p:nvPicPr>
          <p:cNvPr id="8" name="Graphic 7">
            <a:extLst>
              <a:ext uri="{FF2B5EF4-FFF2-40B4-BE49-F238E27FC236}">
                <a16:creationId xmlns:a16="http://schemas.microsoft.com/office/drawing/2014/main" id="{386C0F30-25DA-EA4D-71A5-EE973ADB9E0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37260" y="3959883"/>
            <a:ext cx="1012152" cy="1012152"/>
          </a:xfrm>
          <a:prstGeom prst="rect">
            <a:avLst/>
          </a:prstGeom>
        </p:spPr>
      </p:pic>
      <p:sp>
        <p:nvSpPr>
          <p:cNvPr id="21" name="TextBox 20">
            <a:extLst>
              <a:ext uri="{FF2B5EF4-FFF2-40B4-BE49-F238E27FC236}">
                <a16:creationId xmlns:a16="http://schemas.microsoft.com/office/drawing/2014/main" id="{86A84C94-EE15-E071-8D54-E70F1EF18F77}"/>
              </a:ext>
            </a:extLst>
          </p:cNvPr>
          <p:cNvSpPr txBox="1"/>
          <p:nvPr/>
        </p:nvSpPr>
        <p:spPr>
          <a:xfrm>
            <a:off x="230580" y="4737905"/>
            <a:ext cx="1415340" cy="430887"/>
          </a:xfrm>
          <a:prstGeom prst="rect">
            <a:avLst/>
          </a:prstGeom>
          <a:noFill/>
        </p:spPr>
        <p:txBody>
          <a:bodyPr wrap="square" rtlCol="0">
            <a:spAutoFit/>
          </a:bodyPr>
          <a:lstStyle/>
          <a:p>
            <a:r>
              <a:rPr lang="en-US" sz="1100" dirty="0">
                <a:solidFill>
                  <a:schemeClr val="bg1"/>
                </a:solidFill>
                <a:latin typeface="Times New Roman" panose="02020603050405020304" pitchFamily="18" charset="0"/>
                <a:cs typeface="Times New Roman" panose="02020603050405020304" pitchFamily="18" charset="0"/>
              </a:rPr>
              <a:t>St. Jude Children’s Research Hospital</a:t>
            </a:r>
          </a:p>
        </p:txBody>
      </p:sp>
      <p:sp>
        <p:nvSpPr>
          <p:cNvPr id="22" name="TextBox 21">
            <a:extLst>
              <a:ext uri="{FF2B5EF4-FFF2-40B4-BE49-F238E27FC236}">
                <a16:creationId xmlns:a16="http://schemas.microsoft.com/office/drawing/2014/main" id="{0146AEE2-38F9-1A41-DBA9-871A2EAC2D07}"/>
              </a:ext>
            </a:extLst>
          </p:cNvPr>
          <p:cNvSpPr txBox="1"/>
          <p:nvPr/>
        </p:nvSpPr>
        <p:spPr>
          <a:xfrm>
            <a:off x="1605369" y="4230266"/>
            <a:ext cx="2546371" cy="837665"/>
          </a:xfrm>
          <a:prstGeom prst="rect">
            <a:avLst/>
          </a:prstGeom>
          <a:noFill/>
        </p:spPr>
        <p:txBody>
          <a:bodyPr wrap="square" rtlCol="0">
            <a:spAutoFit/>
          </a:bodyPr>
          <a:lstStyle/>
          <a:p>
            <a:pPr>
              <a:spcAft>
                <a:spcPts val="600"/>
              </a:spcAft>
            </a:pPr>
            <a:r>
              <a:rPr lang="en-US" sz="2600" b="1" dirty="0">
                <a:solidFill>
                  <a:schemeClr val="bg1"/>
                </a:solidFill>
                <a:latin typeface="Arial" panose="020B0604020202020204" pitchFamily="34" charset="0"/>
                <a:ea typeface="Verdana" panose="020B0604030504040204" pitchFamily="34" charset="0"/>
                <a:cs typeface="Arial" panose="020B0604020202020204" pitchFamily="34" charset="0"/>
              </a:rPr>
              <a:t>Information </a:t>
            </a:r>
          </a:p>
          <a:p>
            <a:pPr>
              <a:lnSpc>
                <a:spcPts val="2020"/>
              </a:lnSpc>
              <a:spcAft>
                <a:spcPts val="600"/>
              </a:spcAft>
            </a:pPr>
            <a:r>
              <a:rPr lang="en-US" sz="2600" b="1" dirty="0">
                <a:solidFill>
                  <a:schemeClr val="bg1"/>
                </a:solidFill>
                <a:latin typeface="Arial" panose="020B0604020202020204" pitchFamily="34" charset="0"/>
                <a:ea typeface="Verdana" panose="020B0604030504040204" pitchFamily="34" charset="0"/>
                <a:cs typeface="Arial" panose="020B0604020202020204" pitchFamily="34" charset="0"/>
              </a:rPr>
              <a:t>Services</a:t>
            </a:r>
          </a:p>
        </p:txBody>
      </p:sp>
      <p:cxnSp>
        <p:nvCxnSpPr>
          <p:cNvPr id="25" name="Straight Connector 24">
            <a:extLst>
              <a:ext uri="{FF2B5EF4-FFF2-40B4-BE49-F238E27FC236}">
                <a16:creationId xmlns:a16="http://schemas.microsoft.com/office/drawing/2014/main" id="{F1D151AA-1106-8BFC-1C6D-BD7B569F8E53}"/>
              </a:ext>
            </a:extLst>
          </p:cNvPr>
          <p:cNvCxnSpPr/>
          <p:nvPr/>
        </p:nvCxnSpPr>
        <p:spPr>
          <a:xfrm flipV="1">
            <a:off x="1565329" y="4254285"/>
            <a:ext cx="0" cy="790413"/>
          </a:xfrm>
          <a:prstGeom prst="line">
            <a:avLst/>
          </a:prstGeom>
          <a:ln>
            <a:solidFill>
              <a:schemeClr val="bg1"/>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2530847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2777C1-2C22-5788-A2AC-238F5FCA8338}"/>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09A58A-BDE9-3576-8D56-65261A24286D}"/>
              </a:ext>
            </a:extLst>
          </p:cNvPr>
          <p:cNvSpPr>
            <a:spLocks noGrp="1"/>
          </p:cNvSpPr>
          <p:nvPr>
            <p:ph type="title"/>
          </p:nvPr>
        </p:nvSpPr>
        <p:spPr>
          <a:xfrm>
            <a:off x="6094105" y="802955"/>
            <a:ext cx="4977976" cy="1454051"/>
          </a:xfrm>
        </p:spPr>
        <p:txBody>
          <a:bodyPr>
            <a:normAutofit/>
          </a:bodyPr>
          <a:lstStyle/>
          <a:p>
            <a:r>
              <a:rPr lang="en-US" sz="3600" dirty="0">
                <a:solidFill>
                  <a:schemeClr val="tx2"/>
                </a:solidFill>
              </a:rPr>
              <a:t>Learning Objectives </a:t>
            </a:r>
          </a:p>
        </p:txBody>
      </p:sp>
      <p:pic>
        <p:nvPicPr>
          <p:cNvPr id="21" name="Graphic 20" descr="Database">
            <a:extLst>
              <a:ext uri="{FF2B5EF4-FFF2-40B4-BE49-F238E27FC236}">
                <a16:creationId xmlns:a16="http://schemas.microsoft.com/office/drawing/2014/main" id="{CBF2D29C-C293-65C1-A399-C3423462AAE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9D541AE3-87E5-D467-9399-6EFE23CD1F5E}"/>
              </a:ext>
            </a:extLst>
          </p:cNvPr>
          <p:cNvSpPr>
            <a:spLocks noGrp="1"/>
          </p:cNvSpPr>
          <p:nvPr>
            <p:ph idx="1"/>
          </p:nvPr>
        </p:nvSpPr>
        <p:spPr>
          <a:xfrm>
            <a:off x="6094102" y="1254852"/>
            <a:ext cx="5928606" cy="4536348"/>
          </a:xfrm>
        </p:spPr>
        <p:txBody>
          <a:bodyPr anchor="ctr">
            <a:normAutofit/>
          </a:bodyPr>
          <a:lstStyle/>
          <a:p>
            <a:pPr marL="0" indent="0">
              <a:buNone/>
            </a:pPr>
            <a:r>
              <a:rPr lang="en-US" sz="2000" dirty="0">
                <a:solidFill>
                  <a:schemeClr val="tx2"/>
                </a:solidFill>
              </a:rPr>
              <a:t>At the end of the session, you will be able to:</a:t>
            </a:r>
          </a:p>
          <a:p>
            <a:pPr>
              <a:buFont typeface="Wingdings" pitchFamily="2" charset="2"/>
              <a:buChar char="q"/>
            </a:pPr>
            <a:r>
              <a:rPr lang="en-US" sz="2000" b="1" dirty="0">
                <a:solidFill>
                  <a:schemeClr val="tx2"/>
                </a:solidFill>
              </a:rPr>
              <a:t>Explain</a:t>
            </a:r>
            <a:r>
              <a:rPr lang="en-US" sz="2000" dirty="0">
                <a:solidFill>
                  <a:schemeClr val="tx2"/>
                </a:solidFill>
              </a:rPr>
              <a:t> how &amp; why NoSQL databases emerged to address modern data challenges</a:t>
            </a:r>
          </a:p>
          <a:p>
            <a:pPr>
              <a:buFont typeface="Wingdings" pitchFamily="2" charset="2"/>
              <a:buChar char="q"/>
            </a:pPr>
            <a:r>
              <a:rPr lang="en-US" sz="2000" b="1" dirty="0">
                <a:solidFill>
                  <a:schemeClr val="tx2"/>
                </a:solidFill>
              </a:rPr>
              <a:t>Compare</a:t>
            </a:r>
            <a:r>
              <a:rPr lang="en-US" sz="2000" dirty="0">
                <a:solidFill>
                  <a:schemeClr val="tx2"/>
                </a:solidFill>
              </a:rPr>
              <a:t> major NoSQL data models:</a:t>
            </a:r>
            <a:br>
              <a:rPr lang="en-US" sz="2000" dirty="0">
                <a:solidFill>
                  <a:schemeClr val="tx2"/>
                </a:solidFill>
              </a:rPr>
            </a:br>
            <a:r>
              <a:rPr lang="en-US" sz="2000" dirty="0">
                <a:solidFill>
                  <a:schemeClr val="tx2"/>
                </a:solidFill>
              </a:rPr>
              <a:t>    • Document (e.g. MongoDB)</a:t>
            </a:r>
            <a:br>
              <a:rPr lang="en-US" sz="2000" dirty="0">
                <a:solidFill>
                  <a:schemeClr val="tx2"/>
                </a:solidFill>
              </a:rPr>
            </a:br>
            <a:r>
              <a:rPr lang="en-US" sz="2000" dirty="0">
                <a:solidFill>
                  <a:schemeClr val="tx2"/>
                </a:solidFill>
              </a:rPr>
              <a:t>    • Key-Value (e.g. Redis)</a:t>
            </a:r>
            <a:br>
              <a:rPr lang="en-US" sz="2000" dirty="0">
                <a:solidFill>
                  <a:schemeClr val="tx2"/>
                </a:solidFill>
              </a:rPr>
            </a:br>
            <a:r>
              <a:rPr lang="en-US" sz="2000" dirty="0">
                <a:solidFill>
                  <a:schemeClr val="tx2"/>
                </a:solidFill>
              </a:rPr>
              <a:t>    • Wide-column (e.g. Cassandra)</a:t>
            </a:r>
            <a:br>
              <a:rPr lang="en-US" sz="2000" dirty="0">
                <a:solidFill>
                  <a:schemeClr val="tx2"/>
                </a:solidFill>
              </a:rPr>
            </a:br>
            <a:r>
              <a:rPr lang="en-US" sz="2000" dirty="0">
                <a:solidFill>
                  <a:schemeClr val="tx2"/>
                </a:solidFill>
              </a:rPr>
              <a:t>    • Graph (e.g. Neo4j)</a:t>
            </a:r>
          </a:p>
          <a:p>
            <a:pPr>
              <a:buFont typeface="Wingdings" pitchFamily="2" charset="2"/>
              <a:buChar char="q"/>
            </a:pPr>
            <a:r>
              <a:rPr lang="en-US" sz="2000" b="1" dirty="0">
                <a:solidFill>
                  <a:schemeClr val="tx2"/>
                </a:solidFill>
              </a:rPr>
              <a:t>Acknowledge</a:t>
            </a:r>
            <a:r>
              <a:rPr lang="en-US" sz="2000" dirty="0">
                <a:solidFill>
                  <a:schemeClr val="tx2"/>
                </a:solidFill>
              </a:rPr>
              <a:t> the use case of NoSQL data models in bioscience</a:t>
            </a:r>
          </a:p>
          <a:p>
            <a:pPr>
              <a:buFont typeface="Wingdings" pitchFamily="2" charset="2"/>
              <a:buChar char="q"/>
            </a:pPr>
            <a:endParaRPr lang="en-US" sz="2000" dirty="0">
              <a:solidFill>
                <a:schemeClr val="tx2"/>
              </a:solidFill>
            </a:endParaRPr>
          </a:p>
        </p:txBody>
      </p:sp>
      <p:grpSp>
        <p:nvGrpSpPr>
          <p:cNvPr id="28" name="Group 27">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29" name="Freeform: Shape 28">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475010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32" name="Freeform: Shape 31">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79E5056-7918-E440-5492-EA15E12B396F}"/>
              </a:ext>
            </a:extLst>
          </p:cNvPr>
          <p:cNvSpPr>
            <a:spLocks noGrp="1"/>
          </p:cNvSpPr>
          <p:nvPr>
            <p:ph type="title"/>
          </p:nvPr>
        </p:nvSpPr>
        <p:spPr>
          <a:xfrm>
            <a:off x="2775857" y="991261"/>
            <a:ext cx="6282417" cy="1837349"/>
          </a:xfrm>
        </p:spPr>
        <p:txBody>
          <a:bodyPr>
            <a:normAutofit/>
          </a:bodyPr>
          <a:lstStyle/>
          <a:p>
            <a:pPr algn="ctr"/>
            <a:r>
              <a:rPr lang="en-US" sz="3600" dirty="0">
                <a:solidFill>
                  <a:schemeClr val="tx2"/>
                </a:solidFill>
              </a:rPr>
              <a:t>Before we talk about database</a:t>
            </a:r>
          </a:p>
        </p:txBody>
      </p:sp>
      <p:sp>
        <p:nvSpPr>
          <p:cNvPr id="3" name="Content Placeholder 2">
            <a:extLst>
              <a:ext uri="{FF2B5EF4-FFF2-40B4-BE49-F238E27FC236}">
                <a16:creationId xmlns:a16="http://schemas.microsoft.com/office/drawing/2014/main" id="{96638B36-3651-D61F-F18E-D3F55C4488CC}"/>
              </a:ext>
            </a:extLst>
          </p:cNvPr>
          <p:cNvSpPr>
            <a:spLocks noGrp="1"/>
          </p:cNvSpPr>
          <p:nvPr>
            <p:ph idx="1"/>
          </p:nvPr>
        </p:nvSpPr>
        <p:spPr>
          <a:xfrm>
            <a:off x="3050412" y="2979336"/>
            <a:ext cx="5709721" cy="2430864"/>
          </a:xfrm>
        </p:spPr>
        <p:txBody>
          <a:bodyPr anchor="t">
            <a:normAutofit/>
          </a:bodyPr>
          <a:lstStyle/>
          <a:p>
            <a:pPr marL="0" indent="0">
              <a:buNone/>
            </a:pPr>
            <a:r>
              <a:rPr lang="en-US" sz="2000" dirty="0">
                <a:solidFill>
                  <a:schemeClr val="tx2"/>
                </a:solidFill>
              </a:rPr>
              <a:t>Opinion poll </a:t>
            </a:r>
            <a:r>
              <a:rPr lang="en-US" sz="2000" dirty="0">
                <a:solidFill>
                  <a:schemeClr val="tx2"/>
                </a:solidFill>
                <a:hlinkClick r:id="rId3"/>
              </a:rPr>
              <a:t>https://github.com/St-Jude-MS-ABDS/workshop-NoSQL</a:t>
            </a:r>
            <a:endParaRPr lang="en-US" sz="2000" dirty="0">
              <a:solidFill>
                <a:schemeClr val="tx2"/>
              </a:solidFill>
            </a:endParaRPr>
          </a:p>
          <a:p>
            <a:pPr marL="0" indent="0">
              <a:buNone/>
            </a:pPr>
            <a:endParaRPr lang="en-US" sz="2000" dirty="0">
              <a:solidFill>
                <a:schemeClr val="tx2"/>
              </a:solidFill>
            </a:endParaRPr>
          </a:p>
        </p:txBody>
      </p:sp>
      <p:grpSp>
        <p:nvGrpSpPr>
          <p:cNvPr id="37" name="Group 36">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38" name="Freeform: Shape 37">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38">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41" name="Freeform: Shape 40">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173016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 name="Group 5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53" name="Freeform: Shape 5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4" name="Freeform: Shape 5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5" name="Freeform: Shape 5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6" name="Freeform: Shape 5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7" name="Freeform: Shape 5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58" name="Freeform: Shape 5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9" name="Freeform: Shape 5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EF99DDFC-06DB-1B65-3E01-AAAE8A0628B4}"/>
              </a:ext>
            </a:extLst>
          </p:cNvPr>
          <p:cNvSpPr>
            <a:spLocks noGrp="1"/>
          </p:cNvSpPr>
          <p:nvPr>
            <p:ph type="title"/>
          </p:nvPr>
        </p:nvSpPr>
        <p:spPr>
          <a:xfrm>
            <a:off x="2823842" y="2726871"/>
            <a:ext cx="7071271" cy="1004948"/>
          </a:xfrm>
        </p:spPr>
        <p:txBody>
          <a:bodyPr vert="horz" lIns="91440" tIns="45720" rIns="91440" bIns="45720" rtlCol="0" anchor="b">
            <a:normAutofit/>
          </a:bodyPr>
          <a:lstStyle/>
          <a:p>
            <a:pPr algn="ctr"/>
            <a:r>
              <a:rPr lang="en-US" sz="5200" dirty="0">
                <a:solidFill>
                  <a:schemeClr val="tx2"/>
                </a:solidFill>
              </a:rPr>
              <a:t>What have happened</a:t>
            </a:r>
            <a:r>
              <a:rPr lang="en-US" sz="5200" kern="1200" dirty="0">
                <a:solidFill>
                  <a:schemeClr val="tx2"/>
                </a:solidFill>
                <a:latin typeface="+mj-lt"/>
                <a:ea typeface="+mj-ea"/>
                <a:cs typeface="+mj-cs"/>
              </a:rPr>
              <a:t>?</a:t>
            </a:r>
          </a:p>
        </p:txBody>
      </p:sp>
      <p:sp>
        <p:nvSpPr>
          <p:cNvPr id="13" name="TextBox 12">
            <a:extLst>
              <a:ext uri="{FF2B5EF4-FFF2-40B4-BE49-F238E27FC236}">
                <a16:creationId xmlns:a16="http://schemas.microsoft.com/office/drawing/2014/main" id="{15018CEE-2F85-FC06-D535-6A62066DB209}"/>
              </a:ext>
            </a:extLst>
          </p:cNvPr>
          <p:cNvSpPr txBox="1"/>
          <p:nvPr/>
        </p:nvSpPr>
        <p:spPr>
          <a:xfrm>
            <a:off x="3370729" y="4123765"/>
            <a:ext cx="7695325" cy="1015663"/>
          </a:xfrm>
          <a:prstGeom prst="rect">
            <a:avLst/>
          </a:prstGeom>
          <a:noFill/>
        </p:spPr>
        <p:txBody>
          <a:bodyPr wrap="square" rtlCol="0">
            <a:spAutoFit/>
          </a:bodyPr>
          <a:lstStyle/>
          <a:p>
            <a:pPr marL="285750" indent="-285750">
              <a:buFont typeface="Arial" panose="020B0604020202020204" pitchFamily="34" charset="0"/>
              <a:buChar char="•"/>
            </a:pPr>
            <a:r>
              <a:rPr lang="en-US" sz="2000" dirty="0"/>
              <a:t>You submitted your opinions over the web</a:t>
            </a:r>
          </a:p>
          <a:p>
            <a:pPr marL="285750" indent="-285750">
              <a:buFont typeface="Arial" panose="020B0604020202020204" pitchFamily="34" charset="0"/>
              <a:buChar char="•"/>
            </a:pPr>
            <a:r>
              <a:rPr lang="en-US" sz="2000" dirty="0"/>
              <a:t>The web app </a:t>
            </a:r>
            <a:r>
              <a:rPr lang="en-US" sz="2000" b="1" dirty="0"/>
              <a:t>remembered</a:t>
            </a:r>
            <a:r>
              <a:rPr lang="en-US" sz="2000" dirty="0"/>
              <a:t> all submissions</a:t>
            </a:r>
          </a:p>
          <a:p>
            <a:pPr marL="285750" indent="-285750">
              <a:buFont typeface="Arial" panose="020B0604020202020204" pitchFamily="34" charset="0"/>
              <a:buChar char="•"/>
            </a:pPr>
            <a:r>
              <a:rPr lang="en-US" sz="2000" dirty="0"/>
              <a:t>The web app showed the summary to you</a:t>
            </a:r>
          </a:p>
        </p:txBody>
      </p:sp>
    </p:spTree>
    <p:extLst>
      <p:ext uri="{BB962C8B-B14F-4D97-AF65-F5344CB8AC3E}">
        <p14:creationId xmlns:p14="http://schemas.microsoft.com/office/powerpoint/2010/main" val="1115305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xEl>
                                              <p:pRg st="0" end="0"/>
                                            </p:txEl>
                                          </p:spTgt>
                                        </p:tgtEl>
                                        <p:attrNameLst>
                                          <p:attrName>style.visibility</p:attrName>
                                        </p:attrNameLst>
                                      </p:cBhvr>
                                      <p:to>
                                        <p:strVal val="visible"/>
                                      </p:to>
                                    </p:set>
                                    <p:animEffect transition="in" filter="fade">
                                      <p:cBhvr>
                                        <p:cTn id="12" dur="3000"/>
                                        <p:tgtEl>
                                          <p:spTgt spid="1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xEl>
                                              <p:pRg st="1" end="1"/>
                                            </p:txEl>
                                          </p:spTgt>
                                        </p:tgtEl>
                                        <p:attrNameLst>
                                          <p:attrName>style.visibility</p:attrName>
                                        </p:attrNameLst>
                                      </p:cBhvr>
                                      <p:to>
                                        <p:strVal val="visible"/>
                                      </p:to>
                                    </p:set>
                                    <p:animEffect transition="in" filter="fade">
                                      <p:cBhvr>
                                        <p:cTn id="17" dur="3000"/>
                                        <p:tgtEl>
                                          <p:spTgt spid="1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xEl>
                                              <p:pRg st="2" end="2"/>
                                            </p:txEl>
                                          </p:spTgt>
                                        </p:tgtEl>
                                        <p:attrNameLst>
                                          <p:attrName>style.visibility</p:attrName>
                                        </p:attrNameLst>
                                      </p:cBhvr>
                                      <p:to>
                                        <p:strVal val="visible"/>
                                      </p:to>
                                    </p:set>
                                    <p:animEffect transition="in" filter="fade">
                                      <p:cBhvr>
                                        <p:cTn id="22" dur="30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E020063-2385-44AC-BD67-258E1F0B9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E014A0B-5338-4077-AFE9-A90D04D44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78127680-150F-4A90-9950-F66392578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9"/>
            <a:chOff x="-305" y="-1"/>
            <a:chExt cx="3832880" cy="2876136"/>
          </a:xfrm>
        </p:grpSpPr>
        <p:sp>
          <p:nvSpPr>
            <p:cNvPr id="22" name="Freeform: Shape 21">
              <a:extLst>
                <a:ext uri="{FF2B5EF4-FFF2-40B4-BE49-F238E27FC236}">
                  <a16:creationId xmlns:a16="http://schemas.microsoft.com/office/drawing/2014/main" id="{5088F97A-8362-4967-B664-D748B846E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30F9DEDE-4318-412A-81C5-C8C90F689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09E97DE9-7844-4707-8928-1CD88ADB7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EC58954E-44A5-4A0D-97A9-8A2BB43D6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A42F1165-91EA-F60B-D745-A29582C98742}"/>
              </a:ext>
            </a:extLst>
          </p:cNvPr>
          <p:cNvSpPr txBox="1"/>
          <p:nvPr/>
        </p:nvSpPr>
        <p:spPr>
          <a:xfrm>
            <a:off x="249501" y="378133"/>
            <a:ext cx="5126896" cy="525381"/>
          </a:xfrm>
          <a:prstGeom prst="rect">
            <a:avLst/>
          </a:prstGeom>
        </p:spPr>
        <p:txBody>
          <a:bodyPr vert="horz" lIns="91440" tIns="45720" rIns="91440" bIns="45720" rtlCol="0" anchor="ctr">
            <a:normAutofit/>
          </a:bodyPr>
          <a:lstStyle/>
          <a:p>
            <a:pPr>
              <a:lnSpc>
                <a:spcPct val="90000"/>
              </a:lnSpc>
              <a:spcAft>
                <a:spcPts val="600"/>
              </a:spcAft>
            </a:pPr>
            <a:r>
              <a:rPr lang="en-US" dirty="0">
                <a:solidFill>
                  <a:schemeClr val="tx2"/>
                </a:solidFill>
              </a:rPr>
              <a:t>Data flow sequence</a:t>
            </a:r>
          </a:p>
        </p:txBody>
      </p:sp>
      <p:grpSp>
        <p:nvGrpSpPr>
          <p:cNvPr id="27" name="Group 26">
            <a:extLst>
              <a:ext uri="{FF2B5EF4-FFF2-40B4-BE49-F238E27FC236}">
                <a16:creationId xmlns:a16="http://schemas.microsoft.com/office/drawing/2014/main" id="{466920E5-8640-4C24-A775-8647637094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5732" y="4852038"/>
            <a:ext cx="2151670" cy="1860256"/>
            <a:chOff x="-305" y="-4155"/>
            <a:chExt cx="2514948" cy="2174333"/>
          </a:xfrm>
        </p:grpSpPr>
        <p:sp>
          <p:nvSpPr>
            <p:cNvPr id="28" name="Freeform: Shape 27">
              <a:extLst>
                <a:ext uri="{FF2B5EF4-FFF2-40B4-BE49-F238E27FC236}">
                  <a16:creationId xmlns:a16="http://schemas.microsoft.com/office/drawing/2014/main" id="{2CBA3142-5A82-43CE-87A2-EB14B17A5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AEF5A1C7-9938-4A33-A5A4-2B05353B3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262A936D-E9F6-4A68-82C2-1D1CC7772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1" name="Freeform: Shape 30">
              <a:extLst>
                <a:ext uri="{FF2B5EF4-FFF2-40B4-BE49-F238E27FC236}">
                  <a16:creationId xmlns:a16="http://schemas.microsoft.com/office/drawing/2014/main" id="{C68A9229-BBBE-4934-9700-BA72A1BB0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0" name="Picture 9" descr="A diagram of a web server&#10;&#10;AI-generated content may be incorrect.">
            <a:extLst>
              <a:ext uri="{FF2B5EF4-FFF2-40B4-BE49-F238E27FC236}">
                <a16:creationId xmlns:a16="http://schemas.microsoft.com/office/drawing/2014/main" id="{73275C60-EFB4-BE33-5639-304ABF1F7576}"/>
              </a:ext>
            </a:extLst>
          </p:cNvPr>
          <p:cNvPicPr>
            <a:picLocks noChangeAspect="1"/>
          </p:cNvPicPr>
          <p:nvPr/>
        </p:nvPicPr>
        <p:blipFill>
          <a:blip r:embed="rId3"/>
          <a:stretch>
            <a:fillRect/>
          </a:stretch>
        </p:blipFill>
        <p:spPr>
          <a:xfrm>
            <a:off x="1144040" y="903514"/>
            <a:ext cx="9903614" cy="5248913"/>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20" name="Rectangle 19">
            <a:extLst>
              <a:ext uri="{FF2B5EF4-FFF2-40B4-BE49-F238E27FC236}">
                <a16:creationId xmlns:a16="http://schemas.microsoft.com/office/drawing/2014/main" id="{FE60DC47-A1B3-4801-64D9-FD50F5D7B463}"/>
              </a:ext>
            </a:extLst>
          </p:cNvPr>
          <p:cNvSpPr/>
          <p:nvPr/>
        </p:nvSpPr>
        <p:spPr>
          <a:xfrm>
            <a:off x="2183281" y="4683551"/>
            <a:ext cx="2348437" cy="5600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D45D504-7467-05DD-8626-711EF233792E}"/>
              </a:ext>
            </a:extLst>
          </p:cNvPr>
          <p:cNvSpPr/>
          <p:nvPr/>
        </p:nvSpPr>
        <p:spPr>
          <a:xfrm>
            <a:off x="4560498" y="1807028"/>
            <a:ext cx="2991775" cy="5600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B0DE03E4-04A1-D22E-7823-CDB230819A95}"/>
              </a:ext>
            </a:extLst>
          </p:cNvPr>
          <p:cNvSpPr/>
          <p:nvPr/>
        </p:nvSpPr>
        <p:spPr>
          <a:xfrm>
            <a:off x="7594762" y="2095164"/>
            <a:ext cx="2397537" cy="5600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8B6DCD4D-C2C6-D27D-0FD0-30C4B8270657}"/>
              </a:ext>
            </a:extLst>
          </p:cNvPr>
          <p:cNvSpPr/>
          <p:nvPr/>
        </p:nvSpPr>
        <p:spPr>
          <a:xfrm>
            <a:off x="7606411" y="2730002"/>
            <a:ext cx="2397537" cy="5600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A46218F8-255F-FA34-B135-80E8FE78BBCC}"/>
              </a:ext>
            </a:extLst>
          </p:cNvPr>
          <p:cNvSpPr/>
          <p:nvPr/>
        </p:nvSpPr>
        <p:spPr>
          <a:xfrm>
            <a:off x="4560838" y="2925275"/>
            <a:ext cx="2991775" cy="5600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356C8101-A888-922A-259F-57DE893D7457}"/>
              </a:ext>
            </a:extLst>
          </p:cNvPr>
          <p:cNvSpPr/>
          <p:nvPr/>
        </p:nvSpPr>
        <p:spPr>
          <a:xfrm>
            <a:off x="4560498" y="3472751"/>
            <a:ext cx="2991775" cy="5600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615FABC3-66B5-13D2-9641-75F14E42FCA2}"/>
              </a:ext>
            </a:extLst>
          </p:cNvPr>
          <p:cNvSpPr/>
          <p:nvPr/>
        </p:nvSpPr>
        <p:spPr>
          <a:xfrm>
            <a:off x="7594762" y="3532037"/>
            <a:ext cx="2397537" cy="5600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FF038E31-82A7-7CED-03E5-6A1F6BC17838}"/>
              </a:ext>
            </a:extLst>
          </p:cNvPr>
          <p:cNvSpPr/>
          <p:nvPr/>
        </p:nvSpPr>
        <p:spPr>
          <a:xfrm>
            <a:off x="7594762" y="4126007"/>
            <a:ext cx="2397537" cy="5600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D54A2965-E4B3-8D74-7325-B9FF9A10E55B}"/>
              </a:ext>
            </a:extLst>
          </p:cNvPr>
          <p:cNvSpPr/>
          <p:nvPr/>
        </p:nvSpPr>
        <p:spPr>
          <a:xfrm>
            <a:off x="4556496" y="4388859"/>
            <a:ext cx="2991775" cy="5600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4854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26"/>
                                        </p:tgtEl>
                                      </p:cBhvr>
                                    </p:animEffect>
                                    <p:set>
                                      <p:cBhvr>
                                        <p:cTn id="7" dur="1" fill="hold">
                                          <p:stCondLst>
                                            <p:cond delay="499"/>
                                          </p:stCondLst>
                                        </p:cTn>
                                        <p:tgtEl>
                                          <p:spTgt spid="2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32"/>
                                        </p:tgtEl>
                                      </p:cBhvr>
                                    </p:animEffect>
                                    <p:set>
                                      <p:cBhvr>
                                        <p:cTn id="12" dur="1" fill="hold">
                                          <p:stCondLst>
                                            <p:cond delay="499"/>
                                          </p:stCondLst>
                                        </p:cTn>
                                        <p:tgtEl>
                                          <p:spTgt spid="3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45"/>
                                        </p:tgtEl>
                                      </p:cBhvr>
                                    </p:animEffect>
                                    <p:set>
                                      <p:cBhvr>
                                        <p:cTn id="17" dur="1" fill="hold">
                                          <p:stCondLst>
                                            <p:cond delay="499"/>
                                          </p:stCondLst>
                                        </p:cTn>
                                        <p:tgtEl>
                                          <p:spTgt spid="4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46"/>
                                        </p:tgtEl>
                                      </p:cBhvr>
                                    </p:animEffect>
                                    <p:set>
                                      <p:cBhvr>
                                        <p:cTn id="22" dur="1" fill="hold">
                                          <p:stCondLst>
                                            <p:cond delay="499"/>
                                          </p:stCondLst>
                                        </p:cTn>
                                        <p:tgtEl>
                                          <p:spTgt spid="4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grpId="0" nodeType="clickEffect">
                                  <p:stCondLst>
                                    <p:cond delay="0"/>
                                  </p:stCondLst>
                                  <p:childTnLst>
                                    <p:animEffect transition="out" filter="dissolve">
                                      <p:cBhvr>
                                        <p:cTn id="26" dur="500"/>
                                        <p:tgtEl>
                                          <p:spTgt spid="47"/>
                                        </p:tgtEl>
                                      </p:cBhvr>
                                    </p:animEffect>
                                    <p:set>
                                      <p:cBhvr>
                                        <p:cTn id="27" dur="1" fill="hold">
                                          <p:stCondLst>
                                            <p:cond delay="499"/>
                                          </p:stCondLst>
                                        </p:cTn>
                                        <p:tgtEl>
                                          <p:spTgt spid="47"/>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9" presetClass="exit" presetSubtype="0" fill="hold" grpId="0" nodeType="clickEffect">
                                  <p:stCondLst>
                                    <p:cond delay="0"/>
                                  </p:stCondLst>
                                  <p:childTnLst>
                                    <p:animEffect transition="out" filter="dissolve">
                                      <p:cBhvr>
                                        <p:cTn id="31" dur="500"/>
                                        <p:tgtEl>
                                          <p:spTgt spid="48"/>
                                        </p:tgtEl>
                                      </p:cBhvr>
                                    </p:animEffect>
                                    <p:set>
                                      <p:cBhvr>
                                        <p:cTn id="32" dur="1" fill="hold">
                                          <p:stCondLst>
                                            <p:cond delay="499"/>
                                          </p:stCondLst>
                                        </p:cTn>
                                        <p:tgtEl>
                                          <p:spTgt spid="4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9" presetClass="exit" presetSubtype="0" fill="hold" grpId="0" nodeType="clickEffect">
                                  <p:stCondLst>
                                    <p:cond delay="0"/>
                                  </p:stCondLst>
                                  <p:childTnLst>
                                    <p:animEffect transition="out" filter="dissolve">
                                      <p:cBhvr>
                                        <p:cTn id="36" dur="500"/>
                                        <p:tgtEl>
                                          <p:spTgt spid="49"/>
                                        </p:tgtEl>
                                      </p:cBhvr>
                                    </p:animEffect>
                                    <p:set>
                                      <p:cBhvr>
                                        <p:cTn id="37" dur="1" fill="hold">
                                          <p:stCondLst>
                                            <p:cond delay="499"/>
                                          </p:stCondLst>
                                        </p:cTn>
                                        <p:tgtEl>
                                          <p:spTgt spid="49"/>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9" presetClass="exit" presetSubtype="0" fill="hold" grpId="0" nodeType="clickEffect">
                                  <p:stCondLst>
                                    <p:cond delay="0"/>
                                  </p:stCondLst>
                                  <p:childTnLst>
                                    <p:animEffect transition="out" filter="dissolve">
                                      <p:cBhvr>
                                        <p:cTn id="41" dur="500"/>
                                        <p:tgtEl>
                                          <p:spTgt spid="50"/>
                                        </p:tgtEl>
                                      </p:cBhvr>
                                    </p:animEffect>
                                    <p:set>
                                      <p:cBhvr>
                                        <p:cTn id="42" dur="1" fill="hold">
                                          <p:stCondLst>
                                            <p:cond delay="499"/>
                                          </p:stCondLst>
                                        </p:cTn>
                                        <p:tgtEl>
                                          <p:spTgt spid="50"/>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9" presetClass="exit" presetSubtype="0" fill="hold" grpId="0" nodeType="clickEffect">
                                  <p:stCondLst>
                                    <p:cond delay="0"/>
                                  </p:stCondLst>
                                  <p:childTnLst>
                                    <p:animEffect transition="out" filter="dissolve">
                                      <p:cBhvr>
                                        <p:cTn id="46" dur="500"/>
                                        <p:tgtEl>
                                          <p:spTgt spid="20"/>
                                        </p:tgtEl>
                                      </p:cBhvr>
                                    </p:animEffect>
                                    <p:set>
                                      <p:cBhvr>
                                        <p:cTn id="47"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6" grpId="0" animBg="1"/>
      <p:bldP spid="32" grpId="0" animBg="1"/>
      <p:bldP spid="45" grpId="0" animBg="1"/>
      <p:bldP spid="46" grpId="0" animBg="1"/>
      <p:bldP spid="47" grpId="0" animBg="1"/>
      <p:bldP spid="48" grpId="0" animBg="1"/>
      <p:bldP spid="49" grpId="0" animBg="1"/>
      <p:bldP spid="5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A2F42F6F-FDA2-4441-805F-CF30FBC99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18226A8C-7793-4AE1-93F3-C51E771AB9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448099" y="0"/>
            <a:ext cx="3743596" cy="3921836"/>
            <a:chOff x="8310716" y="0"/>
            <a:chExt cx="3878237" cy="4062888"/>
          </a:xfrm>
        </p:grpSpPr>
        <p:sp>
          <p:nvSpPr>
            <p:cNvPr id="23" name="Freeform: Shape 22">
              <a:extLst>
                <a:ext uri="{FF2B5EF4-FFF2-40B4-BE49-F238E27FC236}">
                  <a16:creationId xmlns:a16="http://schemas.microsoft.com/office/drawing/2014/main" id="{33835AF5-9945-4DCC-B810-B2A76714A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10716" y="1"/>
              <a:ext cx="3878236" cy="4062887"/>
            </a:xfrm>
            <a:custGeom>
              <a:avLst/>
              <a:gdLst>
                <a:gd name="connsiteX0" fmla="*/ 458236 w 3878236"/>
                <a:gd name="connsiteY0" fmla="*/ 0 h 4062887"/>
                <a:gd name="connsiteX1" fmla="*/ 626135 w 3878236"/>
                <a:gd name="connsiteY1" fmla="*/ 0 h 4062887"/>
                <a:gd name="connsiteX2" fmla="*/ 541802 w 3878236"/>
                <a:gd name="connsiteY2" fmla="*/ 96785 h 4062887"/>
                <a:gd name="connsiteX3" fmla="*/ 393588 w 3878236"/>
                <a:gd name="connsiteY3" fmla="*/ 301059 h 4062887"/>
                <a:gd name="connsiteX4" fmla="*/ 267407 w 3878236"/>
                <a:gd name="connsiteY4" fmla="*/ 519085 h 4062887"/>
                <a:gd name="connsiteX5" fmla="*/ 239453 w 3878236"/>
                <a:gd name="connsiteY5" fmla="*/ 575472 h 4062887"/>
                <a:gd name="connsiteX6" fmla="*/ 225864 w 3878236"/>
                <a:gd name="connsiteY6" fmla="*/ 603893 h 4062887"/>
                <a:gd name="connsiteX7" fmla="*/ 212955 w 3878236"/>
                <a:gd name="connsiteY7" fmla="*/ 632590 h 4062887"/>
                <a:gd name="connsiteX8" fmla="*/ 188301 w 3878236"/>
                <a:gd name="connsiteY8" fmla="*/ 690444 h 4062887"/>
                <a:gd name="connsiteX9" fmla="*/ 165201 w 3878236"/>
                <a:gd name="connsiteY9" fmla="*/ 748939 h 4062887"/>
                <a:gd name="connsiteX10" fmla="*/ 90074 w 3878236"/>
                <a:gd name="connsiteY10" fmla="*/ 988511 h 4062887"/>
                <a:gd name="connsiteX11" fmla="*/ 29119 w 3878236"/>
                <a:gd name="connsiteY11" fmla="*/ 1484891 h 4062887"/>
                <a:gd name="connsiteX12" fmla="*/ 54743 w 3878236"/>
                <a:gd name="connsiteY12" fmla="*/ 1732714 h 4062887"/>
                <a:gd name="connsiteX13" fmla="*/ 132976 w 3878236"/>
                <a:gd name="connsiteY13" fmla="*/ 1969719 h 4062887"/>
                <a:gd name="connsiteX14" fmla="*/ 159959 w 3878236"/>
                <a:gd name="connsiteY14" fmla="*/ 2026381 h 4062887"/>
                <a:gd name="connsiteX15" fmla="*/ 189951 w 3878236"/>
                <a:gd name="connsiteY15" fmla="*/ 2081758 h 4062887"/>
                <a:gd name="connsiteX16" fmla="*/ 256439 w 3878236"/>
                <a:gd name="connsiteY16" fmla="*/ 2189121 h 4062887"/>
                <a:gd name="connsiteX17" fmla="*/ 329818 w 3878236"/>
                <a:gd name="connsiteY17" fmla="*/ 2292816 h 4062887"/>
                <a:gd name="connsiteX18" fmla="*/ 408438 w 3878236"/>
                <a:gd name="connsiteY18" fmla="*/ 2393577 h 4062887"/>
                <a:gd name="connsiteX19" fmla="*/ 572086 w 3878236"/>
                <a:gd name="connsiteY19" fmla="*/ 2592900 h 4062887"/>
                <a:gd name="connsiteX20" fmla="*/ 653909 w 3878236"/>
                <a:gd name="connsiteY20" fmla="*/ 2693936 h 4062887"/>
                <a:gd name="connsiteX21" fmla="*/ 733500 w 3878236"/>
                <a:gd name="connsiteY21" fmla="*/ 2796256 h 4062887"/>
                <a:gd name="connsiteX22" fmla="*/ 813091 w 3878236"/>
                <a:gd name="connsiteY22" fmla="*/ 2895093 h 4062887"/>
                <a:gd name="connsiteX23" fmla="*/ 896273 w 3878236"/>
                <a:gd name="connsiteY23" fmla="*/ 2990536 h 4062887"/>
                <a:gd name="connsiteX24" fmla="*/ 1072636 w 3878236"/>
                <a:gd name="connsiteY24" fmla="*/ 3170513 h 4062887"/>
                <a:gd name="connsiteX25" fmla="*/ 1468747 w 3878236"/>
                <a:gd name="connsiteY25" fmla="*/ 3470964 h 4062887"/>
                <a:gd name="connsiteX26" fmla="*/ 1687720 w 3878236"/>
                <a:gd name="connsiteY26" fmla="*/ 3583919 h 4062887"/>
                <a:gd name="connsiteX27" fmla="*/ 1918825 w 3878236"/>
                <a:gd name="connsiteY27" fmla="*/ 3669278 h 4062887"/>
                <a:gd name="connsiteX28" fmla="*/ 2159540 w 3878236"/>
                <a:gd name="connsiteY28" fmla="*/ 3728230 h 4062887"/>
                <a:gd name="connsiteX29" fmla="*/ 2407729 w 3878236"/>
                <a:gd name="connsiteY29" fmla="*/ 3761238 h 4062887"/>
                <a:gd name="connsiteX30" fmla="*/ 2660479 w 3878236"/>
                <a:gd name="connsiteY30" fmla="*/ 3771598 h 4062887"/>
                <a:gd name="connsiteX31" fmla="*/ 2723278 w 3878236"/>
                <a:gd name="connsiteY31" fmla="*/ 3771139 h 4062887"/>
                <a:gd name="connsiteX32" fmla="*/ 2754047 w 3878236"/>
                <a:gd name="connsiteY32" fmla="*/ 3770406 h 4062887"/>
                <a:gd name="connsiteX33" fmla="*/ 2784719 w 3878236"/>
                <a:gd name="connsiteY33" fmla="*/ 3768938 h 4062887"/>
                <a:gd name="connsiteX34" fmla="*/ 2906629 w 3878236"/>
                <a:gd name="connsiteY34" fmla="*/ 3758853 h 4062887"/>
                <a:gd name="connsiteX35" fmla="*/ 3376896 w 3878236"/>
                <a:gd name="connsiteY35" fmla="*/ 3638838 h 4062887"/>
                <a:gd name="connsiteX36" fmla="*/ 3599460 w 3878236"/>
                <a:gd name="connsiteY36" fmla="*/ 3534685 h 4062887"/>
                <a:gd name="connsiteX37" fmla="*/ 3814356 w 3878236"/>
                <a:gd name="connsiteY37" fmla="*/ 3407976 h 4062887"/>
                <a:gd name="connsiteX38" fmla="*/ 3878236 w 3878236"/>
                <a:gd name="connsiteY38" fmla="*/ 3364122 h 4062887"/>
                <a:gd name="connsiteX39" fmla="*/ 3878236 w 3878236"/>
                <a:gd name="connsiteY39" fmla="*/ 3711785 h 4062887"/>
                <a:gd name="connsiteX40" fmla="*/ 3754080 w 3878236"/>
                <a:gd name="connsiteY40" fmla="*/ 3788192 h 4062887"/>
                <a:gd name="connsiteX41" fmla="*/ 3499971 w 3878236"/>
                <a:gd name="connsiteY41" fmla="*/ 3910041 h 4062887"/>
                <a:gd name="connsiteX42" fmla="*/ 2943222 w 3878236"/>
                <a:gd name="connsiteY42" fmla="*/ 4051144 h 4062887"/>
                <a:gd name="connsiteX43" fmla="*/ 2799278 w 3878236"/>
                <a:gd name="connsiteY43" fmla="*/ 4061321 h 4062887"/>
                <a:gd name="connsiteX44" fmla="*/ 2763268 w 3878236"/>
                <a:gd name="connsiteY44" fmla="*/ 4062604 h 4062887"/>
                <a:gd name="connsiteX45" fmla="*/ 2727355 w 3878236"/>
                <a:gd name="connsiteY45" fmla="*/ 4062788 h 4062887"/>
                <a:gd name="connsiteX46" fmla="*/ 2656790 w 3878236"/>
                <a:gd name="connsiteY46" fmla="*/ 4061963 h 4062887"/>
                <a:gd name="connsiteX47" fmla="*/ 2516924 w 3878236"/>
                <a:gd name="connsiteY47" fmla="*/ 4056461 h 4062887"/>
                <a:gd name="connsiteX48" fmla="*/ 2376959 w 3878236"/>
                <a:gd name="connsiteY48" fmla="*/ 4043809 h 4062887"/>
                <a:gd name="connsiteX49" fmla="*/ 2098196 w 3878236"/>
                <a:gd name="connsiteY49" fmla="*/ 3998700 h 4062887"/>
                <a:gd name="connsiteX50" fmla="*/ 1825645 w 3878236"/>
                <a:gd name="connsiteY50" fmla="*/ 3920860 h 4062887"/>
                <a:gd name="connsiteX51" fmla="*/ 1566586 w 3878236"/>
                <a:gd name="connsiteY51" fmla="*/ 3807996 h 4062887"/>
                <a:gd name="connsiteX52" fmla="*/ 1328784 w 3878236"/>
                <a:gd name="connsiteY52" fmla="*/ 3661117 h 4062887"/>
                <a:gd name="connsiteX53" fmla="*/ 930925 w 3878236"/>
                <a:gd name="connsiteY53" fmla="*/ 3291079 h 4062887"/>
                <a:gd name="connsiteX54" fmla="*/ 769122 w 3878236"/>
                <a:gd name="connsiteY54" fmla="*/ 3081303 h 4062887"/>
                <a:gd name="connsiteX55" fmla="*/ 626149 w 3878236"/>
                <a:gd name="connsiteY55" fmla="*/ 2862544 h 4062887"/>
                <a:gd name="connsiteX56" fmla="*/ 559467 w 3878236"/>
                <a:gd name="connsiteY56" fmla="*/ 2753990 h 4062887"/>
                <a:gd name="connsiteX57" fmla="*/ 490165 w 3878236"/>
                <a:gd name="connsiteY57" fmla="*/ 2647269 h 4062887"/>
                <a:gd name="connsiteX58" fmla="*/ 345542 w 3878236"/>
                <a:gd name="connsiteY58" fmla="*/ 2434743 h 4062887"/>
                <a:gd name="connsiteX59" fmla="*/ 274784 w 3878236"/>
                <a:gd name="connsiteY59" fmla="*/ 2326648 h 4062887"/>
                <a:gd name="connsiteX60" fmla="*/ 207422 w 3878236"/>
                <a:gd name="connsiteY60" fmla="*/ 2216167 h 4062887"/>
                <a:gd name="connsiteX61" fmla="*/ 93956 w 3878236"/>
                <a:gd name="connsiteY61" fmla="*/ 1984388 h 4062887"/>
                <a:gd name="connsiteX62" fmla="*/ 22422 w 3878236"/>
                <a:gd name="connsiteY62" fmla="*/ 1738399 h 4062887"/>
                <a:gd name="connsiteX63" fmla="*/ 0 w 3878236"/>
                <a:gd name="connsiteY63" fmla="*/ 1484891 h 4062887"/>
                <a:gd name="connsiteX64" fmla="*/ 200337 w 3878236"/>
                <a:gd name="connsiteY64" fmla="*/ 491671 h 4062887"/>
                <a:gd name="connsiteX65" fmla="*/ 308076 w 3878236"/>
                <a:gd name="connsiteY65" fmla="*/ 256776 h 4062887"/>
                <a:gd name="connsiteX66" fmla="*/ 437072 w 3878236"/>
                <a:gd name="connsiteY66" fmla="*/ 30498 h 4062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3878236" h="4062887">
                  <a:moveTo>
                    <a:pt x="458236" y="0"/>
                  </a:moveTo>
                  <a:lnTo>
                    <a:pt x="626135" y="0"/>
                  </a:lnTo>
                  <a:lnTo>
                    <a:pt x="541802" y="96785"/>
                  </a:lnTo>
                  <a:cubicBezTo>
                    <a:pt x="489388" y="162616"/>
                    <a:pt x="439790" y="230737"/>
                    <a:pt x="393588" y="301059"/>
                  </a:cubicBezTo>
                  <a:cubicBezTo>
                    <a:pt x="348163" y="371748"/>
                    <a:pt x="305261" y="444179"/>
                    <a:pt x="267407" y="519085"/>
                  </a:cubicBezTo>
                  <a:cubicBezTo>
                    <a:pt x="257604" y="537697"/>
                    <a:pt x="248480" y="556584"/>
                    <a:pt x="239453" y="575472"/>
                  </a:cubicBezTo>
                  <a:lnTo>
                    <a:pt x="225864" y="603893"/>
                  </a:lnTo>
                  <a:lnTo>
                    <a:pt x="212955" y="632590"/>
                  </a:lnTo>
                  <a:cubicBezTo>
                    <a:pt x="204511" y="651753"/>
                    <a:pt x="195969" y="670915"/>
                    <a:pt x="188301" y="690444"/>
                  </a:cubicBezTo>
                  <a:cubicBezTo>
                    <a:pt x="180633" y="709972"/>
                    <a:pt x="172189" y="729227"/>
                    <a:pt x="165201" y="748939"/>
                  </a:cubicBezTo>
                  <a:cubicBezTo>
                    <a:pt x="135305" y="827237"/>
                    <a:pt x="109971" y="907186"/>
                    <a:pt x="90074" y="988511"/>
                  </a:cubicBezTo>
                  <a:cubicBezTo>
                    <a:pt x="49696" y="1150792"/>
                    <a:pt x="29022" y="1317842"/>
                    <a:pt x="29119" y="1484891"/>
                  </a:cubicBezTo>
                  <a:cubicBezTo>
                    <a:pt x="29604" y="1568141"/>
                    <a:pt x="37855" y="1651207"/>
                    <a:pt x="54743" y="1732714"/>
                  </a:cubicBezTo>
                  <a:cubicBezTo>
                    <a:pt x="72506" y="1814039"/>
                    <a:pt x="98227" y="1893621"/>
                    <a:pt x="132976" y="1969719"/>
                  </a:cubicBezTo>
                  <a:cubicBezTo>
                    <a:pt x="141226" y="1988882"/>
                    <a:pt x="150835" y="2007585"/>
                    <a:pt x="159959" y="2026381"/>
                  </a:cubicBezTo>
                  <a:cubicBezTo>
                    <a:pt x="169860" y="2044901"/>
                    <a:pt x="179274" y="2063604"/>
                    <a:pt x="189951" y="2081758"/>
                  </a:cubicBezTo>
                  <a:cubicBezTo>
                    <a:pt x="210334" y="2118432"/>
                    <a:pt x="233046" y="2154006"/>
                    <a:pt x="256439" y="2189121"/>
                  </a:cubicBezTo>
                  <a:cubicBezTo>
                    <a:pt x="279734" y="2224328"/>
                    <a:pt x="304679" y="2258617"/>
                    <a:pt x="329818" y="2292816"/>
                  </a:cubicBezTo>
                  <a:cubicBezTo>
                    <a:pt x="355345" y="2326740"/>
                    <a:pt x="381844" y="2360204"/>
                    <a:pt x="408438" y="2393577"/>
                  </a:cubicBezTo>
                  <a:cubicBezTo>
                    <a:pt x="461725" y="2460416"/>
                    <a:pt x="517440" y="2525879"/>
                    <a:pt x="572086" y="2592900"/>
                  </a:cubicBezTo>
                  <a:cubicBezTo>
                    <a:pt x="599554" y="2626273"/>
                    <a:pt x="626926" y="2659921"/>
                    <a:pt x="653909" y="2693936"/>
                  </a:cubicBezTo>
                  <a:cubicBezTo>
                    <a:pt x="680796" y="2727676"/>
                    <a:pt x="707487" y="2763525"/>
                    <a:pt x="733500" y="2796256"/>
                  </a:cubicBezTo>
                  <a:cubicBezTo>
                    <a:pt x="759319" y="2829813"/>
                    <a:pt x="786399" y="2862362"/>
                    <a:pt x="813091" y="2895093"/>
                  </a:cubicBezTo>
                  <a:cubicBezTo>
                    <a:pt x="840560" y="2927274"/>
                    <a:pt x="867834" y="2959455"/>
                    <a:pt x="896273" y="2990536"/>
                  </a:cubicBezTo>
                  <a:cubicBezTo>
                    <a:pt x="952764" y="3053066"/>
                    <a:pt x="1011486" y="3113302"/>
                    <a:pt x="1072636" y="3170513"/>
                  </a:cubicBezTo>
                  <a:cubicBezTo>
                    <a:pt x="1195128" y="3284660"/>
                    <a:pt x="1327328" y="3386522"/>
                    <a:pt x="1468747" y="3470964"/>
                  </a:cubicBezTo>
                  <a:cubicBezTo>
                    <a:pt x="1539603" y="3512956"/>
                    <a:pt x="1612303" y="3551463"/>
                    <a:pt x="1687720" y="3583919"/>
                  </a:cubicBezTo>
                  <a:cubicBezTo>
                    <a:pt x="1762652" y="3617292"/>
                    <a:pt x="1840010" y="3645440"/>
                    <a:pt x="1918825" y="3669278"/>
                  </a:cubicBezTo>
                  <a:cubicBezTo>
                    <a:pt x="1997640" y="3693207"/>
                    <a:pt x="2078007" y="3712553"/>
                    <a:pt x="2159540" y="3728230"/>
                  </a:cubicBezTo>
                  <a:cubicBezTo>
                    <a:pt x="2241170" y="3743633"/>
                    <a:pt x="2324158" y="3754177"/>
                    <a:pt x="2407729" y="3761238"/>
                  </a:cubicBezTo>
                  <a:cubicBezTo>
                    <a:pt x="2491299" y="3768389"/>
                    <a:pt x="2575743" y="3771506"/>
                    <a:pt x="2660479" y="3771598"/>
                  </a:cubicBezTo>
                  <a:cubicBezTo>
                    <a:pt x="2681638" y="3771598"/>
                    <a:pt x="2703089" y="3771964"/>
                    <a:pt x="2723278" y="3771139"/>
                  </a:cubicBezTo>
                  <a:lnTo>
                    <a:pt x="2754047" y="3770406"/>
                  </a:lnTo>
                  <a:lnTo>
                    <a:pt x="2784719" y="3768938"/>
                  </a:lnTo>
                  <a:cubicBezTo>
                    <a:pt x="2825582" y="3767197"/>
                    <a:pt x="2866251" y="3763346"/>
                    <a:pt x="2906629" y="3758853"/>
                  </a:cubicBezTo>
                  <a:cubicBezTo>
                    <a:pt x="3068334" y="3740150"/>
                    <a:pt x="3225672" y="3699166"/>
                    <a:pt x="3376896" y="3638838"/>
                  </a:cubicBezTo>
                  <a:cubicBezTo>
                    <a:pt x="3452702" y="3608949"/>
                    <a:pt x="3526664" y="3573467"/>
                    <a:pt x="3599460" y="3534685"/>
                  </a:cubicBezTo>
                  <a:cubicBezTo>
                    <a:pt x="3672354" y="3496085"/>
                    <a:pt x="3743888" y="3453269"/>
                    <a:pt x="3814356" y="3407976"/>
                  </a:cubicBezTo>
                  <a:lnTo>
                    <a:pt x="3878236" y="3364122"/>
                  </a:lnTo>
                  <a:lnTo>
                    <a:pt x="3878236" y="3711785"/>
                  </a:lnTo>
                  <a:lnTo>
                    <a:pt x="3754080" y="3788192"/>
                  </a:lnTo>
                  <a:cubicBezTo>
                    <a:pt x="3672450" y="3832843"/>
                    <a:pt x="3588007" y="3874284"/>
                    <a:pt x="3499971" y="3910041"/>
                  </a:cubicBezTo>
                  <a:cubicBezTo>
                    <a:pt x="3324482" y="3982472"/>
                    <a:pt x="3134920" y="4030882"/>
                    <a:pt x="2943222" y="4051144"/>
                  </a:cubicBezTo>
                  <a:cubicBezTo>
                    <a:pt x="2895272" y="4055911"/>
                    <a:pt x="2847227" y="4059763"/>
                    <a:pt x="2799278" y="4061321"/>
                  </a:cubicBezTo>
                  <a:lnTo>
                    <a:pt x="2763268" y="4062604"/>
                  </a:lnTo>
                  <a:lnTo>
                    <a:pt x="2727355" y="4062788"/>
                  </a:lnTo>
                  <a:cubicBezTo>
                    <a:pt x="2703089" y="4063155"/>
                    <a:pt x="2680085" y="4062421"/>
                    <a:pt x="2656790" y="4061963"/>
                  </a:cubicBezTo>
                  <a:cubicBezTo>
                    <a:pt x="2610297" y="4061413"/>
                    <a:pt x="2563514" y="4058754"/>
                    <a:pt x="2516924" y="4056461"/>
                  </a:cubicBezTo>
                  <a:cubicBezTo>
                    <a:pt x="2470237" y="4052795"/>
                    <a:pt x="2423549" y="4049402"/>
                    <a:pt x="2376959" y="4043809"/>
                  </a:cubicBezTo>
                  <a:cubicBezTo>
                    <a:pt x="2283683" y="4033265"/>
                    <a:pt x="2190503" y="4018871"/>
                    <a:pt x="2098196" y="3998700"/>
                  </a:cubicBezTo>
                  <a:cubicBezTo>
                    <a:pt x="2005891" y="3978530"/>
                    <a:pt x="1914652" y="3952583"/>
                    <a:pt x="1825645" y="3920860"/>
                  </a:cubicBezTo>
                  <a:cubicBezTo>
                    <a:pt x="1736639" y="3889045"/>
                    <a:pt x="1649963" y="3851089"/>
                    <a:pt x="1566586" y="3807996"/>
                  </a:cubicBezTo>
                  <a:cubicBezTo>
                    <a:pt x="1483501" y="3764263"/>
                    <a:pt x="1403716" y="3715395"/>
                    <a:pt x="1328784" y="3661117"/>
                  </a:cubicBezTo>
                  <a:cubicBezTo>
                    <a:pt x="1178337" y="3553113"/>
                    <a:pt x="1046527" y="3426497"/>
                    <a:pt x="930925" y="3291079"/>
                  </a:cubicBezTo>
                  <a:cubicBezTo>
                    <a:pt x="873367" y="3223048"/>
                    <a:pt x="819789" y="3152818"/>
                    <a:pt x="769122" y="3081303"/>
                  </a:cubicBezTo>
                  <a:cubicBezTo>
                    <a:pt x="718358" y="3009790"/>
                    <a:pt x="670992" y="2936717"/>
                    <a:pt x="626149" y="2862544"/>
                  </a:cubicBezTo>
                  <a:cubicBezTo>
                    <a:pt x="603243" y="2825046"/>
                    <a:pt x="582277" y="2789930"/>
                    <a:pt x="559467" y="2753990"/>
                  </a:cubicBezTo>
                  <a:cubicBezTo>
                    <a:pt x="536852" y="2718325"/>
                    <a:pt x="513849" y="2682660"/>
                    <a:pt x="490165" y="2647269"/>
                  </a:cubicBezTo>
                  <a:lnTo>
                    <a:pt x="345542" y="2434743"/>
                  </a:lnTo>
                  <a:cubicBezTo>
                    <a:pt x="321567" y="2398987"/>
                    <a:pt x="297884" y="2363046"/>
                    <a:pt x="274784" y="2326648"/>
                  </a:cubicBezTo>
                  <a:cubicBezTo>
                    <a:pt x="251682" y="2290248"/>
                    <a:pt x="228776" y="2253759"/>
                    <a:pt x="207422" y="2216167"/>
                  </a:cubicBezTo>
                  <a:cubicBezTo>
                    <a:pt x="164618" y="2141353"/>
                    <a:pt x="125308" y="2064338"/>
                    <a:pt x="93956" y="1984388"/>
                  </a:cubicBezTo>
                  <a:cubicBezTo>
                    <a:pt x="62023" y="1904715"/>
                    <a:pt x="38340" y="1822107"/>
                    <a:pt x="22422" y="1738399"/>
                  </a:cubicBezTo>
                  <a:cubicBezTo>
                    <a:pt x="7183" y="1654692"/>
                    <a:pt x="0" y="1569700"/>
                    <a:pt x="0" y="1484891"/>
                  </a:cubicBezTo>
                  <a:cubicBezTo>
                    <a:pt x="1262" y="1146758"/>
                    <a:pt x="70468" y="809542"/>
                    <a:pt x="200337" y="491671"/>
                  </a:cubicBezTo>
                  <a:cubicBezTo>
                    <a:pt x="232950" y="412273"/>
                    <a:pt x="268280" y="333607"/>
                    <a:pt x="308076" y="256776"/>
                  </a:cubicBezTo>
                  <a:cubicBezTo>
                    <a:pt x="347290" y="179668"/>
                    <a:pt x="390482" y="104213"/>
                    <a:pt x="437072" y="3049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95D01A87-EFF2-48AC-9C6B-C4653A804F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29928" y="0"/>
              <a:ext cx="3859024" cy="3823730"/>
            </a:xfrm>
            <a:custGeom>
              <a:avLst/>
              <a:gdLst>
                <a:gd name="connsiteX0" fmla="*/ 517815 w 3859024"/>
                <a:gd name="connsiteY0" fmla="*/ 0 h 3823730"/>
                <a:gd name="connsiteX1" fmla="*/ 810951 w 3859024"/>
                <a:gd name="connsiteY1" fmla="*/ 0 h 3823730"/>
                <a:gd name="connsiteX2" fmla="*/ 657209 w 3859024"/>
                <a:gd name="connsiteY2" fmla="*/ 169897 h 3823730"/>
                <a:gd name="connsiteX3" fmla="*/ 398052 w 3859024"/>
                <a:gd name="connsiteY3" fmla="*/ 551580 h 3823730"/>
                <a:gd name="connsiteX4" fmla="*/ 222175 w 3859024"/>
                <a:gd name="connsiteY4" fmla="*/ 973513 h 3823730"/>
                <a:gd name="connsiteX5" fmla="*/ 158212 w 3859024"/>
                <a:gd name="connsiteY5" fmla="*/ 1423317 h 3823730"/>
                <a:gd name="connsiteX6" fmla="*/ 185195 w 3859024"/>
                <a:gd name="connsiteY6" fmla="*/ 1643544 h 3823730"/>
                <a:gd name="connsiteX7" fmla="*/ 264883 w 3859024"/>
                <a:gd name="connsiteY7" fmla="*/ 1849559 h 3823730"/>
                <a:gd name="connsiteX8" fmla="*/ 320500 w 3859024"/>
                <a:gd name="connsiteY8" fmla="*/ 1946562 h 3823730"/>
                <a:gd name="connsiteX9" fmla="*/ 384367 w 3859024"/>
                <a:gd name="connsiteY9" fmla="*/ 2040447 h 3823730"/>
                <a:gd name="connsiteX10" fmla="*/ 531902 w 3859024"/>
                <a:gd name="connsiteY10" fmla="*/ 2221891 h 3823730"/>
                <a:gd name="connsiteX11" fmla="*/ 691569 w 3859024"/>
                <a:gd name="connsiteY11" fmla="*/ 2404710 h 3823730"/>
                <a:gd name="connsiteX12" fmla="*/ 770966 w 3859024"/>
                <a:gd name="connsiteY12" fmla="*/ 2500153 h 3823730"/>
                <a:gd name="connsiteX13" fmla="*/ 809112 w 3859024"/>
                <a:gd name="connsiteY13" fmla="*/ 2547004 h 3823730"/>
                <a:gd name="connsiteX14" fmla="*/ 846480 w 3859024"/>
                <a:gd name="connsiteY14" fmla="*/ 2591838 h 3823730"/>
                <a:gd name="connsiteX15" fmla="*/ 1167563 w 3859024"/>
                <a:gd name="connsiteY15" fmla="*/ 2923186 h 3823730"/>
                <a:gd name="connsiteX16" fmla="*/ 1338296 w 3859024"/>
                <a:gd name="connsiteY16" fmla="*/ 3072266 h 3823730"/>
                <a:gd name="connsiteX17" fmla="*/ 1517085 w 3859024"/>
                <a:gd name="connsiteY17" fmla="*/ 3209700 h 3823730"/>
                <a:gd name="connsiteX18" fmla="*/ 1916496 w 3859024"/>
                <a:gd name="connsiteY18" fmla="*/ 3427085 h 3823730"/>
                <a:gd name="connsiteX19" fmla="*/ 2139934 w 3859024"/>
                <a:gd name="connsiteY19" fmla="*/ 3488513 h 3823730"/>
                <a:gd name="connsiteX20" fmla="*/ 2197200 w 3859024"/>
                <a:gd name="connsiteY20" fmla="*/ 3499332 h 3823730"/>
                <a:gd name="connsiteX21" fmla="*/ 2254952 w 3859024"/>
                <a:gd name="connsiteY21" fmla="*/ 3508409 h 3823730"/>
                <a:gd name="connsiteX22" fmla="*/ 2371524 w 3859024"/>
                <a:gd name="connsiteY22" fmla="*/ 3521428 h 3823730"/>
                <a:gd name="connsiteX23" fmla="*/ 2430150 w 3859024"/>
                <a:gd name="connsiteY23" fmla="*/ 3525646 h 3823730"/>
                <a:gd name="connsiteX24" fmla="*/ 2488970 w 3859024"/>
                <a:gd name="connsiteY24" fmla="*/ 3528580 h 3823730"/>
                <a:gd name="connsiteX25" fmla="*/ 2547984 w 3859024"/>
                <a:gd name="connsiteY25" fmla="*/ 3529863 h 3823730"/>
                <a:gd name="connsiteX26" fmla="*/ 2607095 w 3859024"/>
                <a:gd name="connsiteY26" fmla="*/ 3529589 h 3823730"/>
                <a:gd name="connsiteX27" fmla="*/ 2636698 w 3859024"/>
                <a:gd name="connsiteY27" fmla="*/ 3529313 h 3823730"/>
                <a:gd name="connsiteX28" fmla="*/ 2665235 w 3859024"/>
                <a:gd name="connsiteY28" fmla="*/ 3528121 h 3823730"/>
                <a:gd name="connsiteX29" fmla="*/ 2693674 w 3859024"/>
                <a:gd name="connsiteY29" fmla="*/ 3526746 h 3823730"/>
                <a:gd name="connsiteX30" fmla="*/ 2722016 w 3859024"/>
                <a:gd name="connsiteY30" fmla="*/ 3524546 h 3823730"/>
                <a:gd name="connsiteX31" fmla="*/ 2834415 w 3859024"/>
                <a:gd name="connsiteY31" fmla="*/ 3511435 h 3823730"/>
                <a:gd name="connsiteX32" fmla="*/ 3262556 w 3859024"/>
                <a:gd name="connsiteY32" fmla="*/ 3378675 h 3823730"/>
                <a:gd name="connsiteX33" fmla="*/ 3658086 w 3859024"/>
                <a:gd name="connsiteY33" fmla="*/ 3145979 h 3823730"/>
                <a:gd name="connsiteX34" fmla="*/ 3753983 w 3859024"/>
                <a:gd name="connsiteY34" fmla="*/ 3077583 h 3823730"/>
                <a:gd name="connsiteX35" fmla="*/ 3849881 w 3859024"/>
                <a:gd name="connsiteY35" fmla="*/ 3006894 h 3823730"/>
                <a:gd name="connsiteX36" fmla="*/ 3859024 w 3859024"/>
                <a:gd name="connsiteY36" fmla="*/ 2999988 h 3823730"/>
                <a:gd name="connsiteX37" fmla="*/ 3859024 w 3859024"/>
                <a:gd name="connsiteY37" fmla="*/ 3461786 h 3823730"/>
                <a:gd name="connsiteX38" fmla="*/ 3652845 w 3859024"/>
                <a:gd name="connsiteY38" fmla="*/ 3578823 h 3823730"/>
                <a:gd name="connsiteX39" fmla="*/ 3408248 w 3859024"/>
                <a:gd name="connsiteY39" fmla="*/ 3688569 h 3823730"/>
                <a:gd name="connsiteX40" fmla="*/ 2875958 w 3859024"/>
                <a:gd name="connsiteY40" fmla="*/ 3814819 h 3823730"/>
                <a:gd name="connsiteX41" fmla="*/ 2738905 w 3859024"/>
                <a:gd name="connsiteY41" fmla="*/ 3822979 h 3823730"/>
                <a:gd name="connsiteX42" fmla="*/ 2704642 w 3859024"/>
                <a:gd name="connsiteY42" fmla="*/ 3823712 h 3823730"/>
                <a:gd name="connsiteX43" fmla="*/ 2670476 w 3859024"/>
                <a:gd name="connsiteY43" fmla="*/ 3823529 h 3823730"/>
                <a:gd name="connsiteX44" fmla="*/ 2636408 w 3859024"/>
                <a:gd name="connsiteY44" fmla="*/ 3823162 h 3823730"/>
                <a:gd name="connsiteX45" fmla="*/ 2603310 w 3859024"/>
                <a:gd name="connsiteY45" fmla="*/ 3821971 h 3823730"/>
                <a:gd name="connsiteX46" fmla="*/ 2338911 w 3859024"/>
                <a:gd name="connsiteY46" fmla="*/ 3802074 h 3823730"/>
                <a:gd name="connsiteX47" fmla="*/ 2076164 w 3859024"/>
                <a:gd name="connsiteY47" fmla="*/ 3758250 h 3823730"/>
                <a:gd name="connsiteX48" fmla="*/ 1818075 w 3859024"/>
                <a:gd name="connsiteY48" fmla="*/ 3689578 h 3823730"/>
                <a:gd name="connsiteX49" fmla="*/ 1324027 w 3859024"/>
                <a:gd name="connsiteY49" fmla="*/ 3483104 h 3823730"/>
                <a:gd name="connsiteX50" fmla="*/ 907727 w 3859024"/>
                <a:gd name="connsiteY50" fmla="*/ 3161658 h 3823730"/>
                <a:gd name="connsiteX51" fmla="*/ 738935 w 3859024"/>
                <a:gd name="connsiteY51" fmla="*/ 2968204 h 3823730"/>
                <a:gd name="connsiteX52" fmla="*/ 591498 w 3859024"/>
                <a:gd name="connsiteY52" fmla="*/ 2763380 h 3823730"/>
                <a:gd name="connsiteX53" fmla="*/ 557041 w 3859024"/>
                <a:gd name="connsiteY53" fmla="*/ 2711212 h 3823730"/>
                <a:gd name="connsiteX54" fmla="*/ 524137 w 3859024"/>
                <a:gd name="connsiteY54" fmla="*/ 2660602 h 3823730"/>
                <a:gd name="connsiteX55" fmla="*/ 459202 w 3859024"/>
                <a:gd name="connsiteY55" fmla="*/ 2562498 h 3823730"/>
                <a:gd name="connsiteX56" fmla="*/ 324673 w 3859024"/>
                <a:gd name="connsiteY56" fmla="*/ 2362077 h 3823730"/>
                <a:gd name="connsiteX57" fmla="*/ 193348 w 3859024"/>
                <a:gd name="connsiteY57" fmla="*/ 2150193 h 3823730"/>
                <a:gd name="connsiteX58" fmla="*/ 134141 w 3859024"/>
                <a:gd name="connsiteY58" fmla="*/ 2037880 h 3823730"/>
                <a:gd name="connsiteX59" fmla="*/ 83862 w 3859024"/>
                <a:gd name="connsiteY59" fmla="*/ 1920339 h 3823730"/>
                <a:gd name="connsiteX60" fmla="*/ 45329 w 3859024"/>
                <a:gd name="connsiteY60" fmla="*/ 1798399 h 3823730"/>
                <a:gd name="connsiteX61" fmla="*/ 30963 w 3859024"/>
                <a:gd name="connsiteY61" fmla="*/ 1736238 h 3823730"/>
                <a:gd name="connsiteX62" fmla="*/ 24655 w 3859024"/>
                <a:gd name="connsiteY62" fmla="*/ 1705064 h 3823730"/>
                <a:gd name="connsiteX63" fmla="*/ 19413 w 3859024"/>
                <a:gd name="connsiteY63" fmla="*/ 1673800 h 3823730"/>
                <a:gd name="connsiteX64" fmla="*/ 0 w 3859024"/>
                <a:gd name="connsiteY64" fmla="*/ 1423317 h 3823730"/>
                <a:gd name="connsiteX65" fmla="*/ 53870 w 3859024"/>
                <a:gd name="connsiteY65" fmla="*/ 935280 h 3823730"/>
                <a:gd name="connsiteX66" fmla="*/ 215770 w 3859024"/>
                <a:gd name="connsiteY66" fmla="*/ 467689 h 3823730"/>
                <a:gd name="connsiteX67" fmla="*/ 480592 w 3859024"/>
                <a:gd name="connsiteY67" fmla="*/ 43968 h 382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859024" h="3823730">
                  <a:moveTo>
                    <a:pt x="517815" y="0"/>
                  </a:moveTo>
                  <a:lnTo>
                    <a:pt x="810951" y="0"/>
                  </a:lnTo>
                  <a:lnTo>
                    <a:pt x="657209" y="169897"/>
                  </a:lnTo>
                  <a:cubicBezTo>
                    <a:pt x="558303" y="289087"/>
                    <a:pt x="471043" y="416896"/>
                    <a:pt x="398052" y="551580"/>
                  </a:cubicBezTo>
                  <a:cubicBezTo>
                    <a:pt x="325062" y="686173"/>
                    <a:pt x="264301" y="827092"/>
                    <a:pt x="222175" y="973513"/>
                  </a:cubicBezTo>
                  <a:cubicBezTo>
                    <a:pt x="179954" y="1119567"/>
                    <a:pt x="158114" y="1271396"/>
                    <a:pt x="158212" y="1423317"/>
                  </a:cubicBezTo>
                  <a:cubicBezTo>
                    <a:pt x="159085" y="1497949"/>
                    <a:pt x="166850" y="1572030"/>
                    <a:pt x="185195" y="1643544"/>
                  </a:cubicBezTo>
                  <a:cubicBezTo>
                    <a:pt x="203249" y="1715150"/>
                    <a:pt x="231300" y="1783638"/>
                    <a:pt x="264883" y="1849559"/>
                  </a:cubicBezTo>
                  <a:cubicBezTo>
                    <a:pt x="281869" y="1882474"/>
                    <a:pt x="300700" y="1914747"/>
                    <a:pt x="320500" y="1946562"/>
                  </a:cubicBezTo>
                  <a:cubicBezTo>
                    <a:pt x="340592" y="1978284"/>
                    <a:pt x="362043" y="2009549"/>
                    <a:pt x="384367" y="2040447"/>
                  </a:cubicBezTo>
                  <a:cubicBezTo>
                    <a:pt x="429598" y="2102059"/>
                    <a:pt x="479876" y="2161837"/>
                    <a:pt x="531902" y="2221891"/>
                  </a:cubicBezTo>
                  <a:cubicBezTo>
                    <a:pt x="583927" y="2282036"/>
                    <a:pt x="638282" y="2342181"/>
                    <a:pt x="691569" y="2404710"/>
                  </a:cubicBezTo>
                  <a:cubicBezTo>
                    <a:pt x="718261" y="2435882"/>
                    <a:pt x="744662" y="2467788"/>
                    <a:pt x="770966" y="2500153"/>
                  </a:cubicBezTo>
                  <a:lnTo>
                    <a:pt x="809112" y="2547004"/>
                  </a:lnTo>
                  <a:cubicBezTo>
                    <a:pt x="821632" y="2561949"/>
                    <a:pt x="833571" y="2577261"/>
                    <a:pt x="846480" y="2591838"/>
                  </a:cubicBezTo>
                  <a:cubicBezTo>
                    <a:pt x="947232" y="2710478"/>
                    <a:pt x="1056523" y="2819674"/>
                    <a:pt x="1167563" y="2923186"/>
                  </a:cubicBezTo>
                  <a:cubicBezTo>
                    <a:pt x="1223374" y="2974713"/>
                    <a:pt x="1280155" y="3024498"/>
                    <a:pt x="1338296" y="3072266"/>
                  </a:cubicBezTo>
                  <a:cubicBezTo>
                    <a:pt x="1396436" y="3120033"/>
                    <a:pt x="1455644" y="3166242"/>
                    <a:pt x="1517085" y="3209700"/>
                  </a:cubicBezTo>
                  <a:cubicBezTo>
                    <a:pt x="1639480" y="3296801"/>
                    <a:pt x="1771485" y="3374641"/>
                    <a:pt x="1916496" y="3427085"/>
                  </a:cubicBezTo>
                  <a:cubicBezTo>
                    <a:pt x="1988808" y="3453307"/>
                    <a:pt x="2063740" y="3473385"/>
                    <a:pt x="2139934" y="3488513"/>
                  </a:cubicBezTo>
                  <a:cubicBezTo>
                    <a:pt x="2159055" y="3492089"/>
                    <a:pt x="2177982" y="3496216"/>
                    <a:pt x="2197200" y="3499332"/>
                  </a:cubicBezTo>
                  <a:lnTo>
                    <a:pt x="2254952" y="3508409"/>
                  </a:lnTo>
                  <a:cubicBezTo>
                    <a:pt x="2293680" y="3513268"/>
                    <a:pt x="2332409" y="3518403"/>
                    <a:pt x="2371524" y="3521428"/>
                  </a:cubicBezTo>
                  <a:cubicBezTo>
                    <a:pt x="2391034" y="3523170"/>
                    <a:pt x="2410544" y="3524821"/>
                    <a:pt x="2430150" y="3525646"/>
                  </a:cubicBezTo>
                  <a:cubicBezTo>
                    <a:pt x="2449757" y="3526562"/>
                    <a:pt x="2469266" y="3528029"/>
                    <a:pt x="2488970" y="3528580"/>
                  </a:cubicBezTo>
                  <a:lnTo>
                    <a:pt x="2547984" y="3529863"/>
                  </a:lnTo>
                  <a:cubicBezTo>
                    <a:pt x="2567590" y="3530321"/>
                    <a:pt x="2587391" y="3529680"/>
                    <a:pt x="2607095" y="3529589"/>
                  </a:cubicBezTo>
                  <a:lnTo>
                    <a:pt x="2636698" y="3529313"/>
                  </a:lnTo>
                  <a:cubicBezTo>
                    <a:pt x="2646308" y="3529038"/>
                    <a:pt x="2655723" y="3528489"/>
                    <a:pt x="2665235" y="3528121"/>
                  </a:cubicBezTo>
                  <a:cubicBezTo>
                    <a:pt x="2674747" y="3527663"/>
                    <a:pt x="2684260" y="3527388"/>
                    <a:pt x="2693674" y="3526746"/>
                  </a:cubicBezTo>
                  <a:lnTo>
                    <a:pt x="2722016" y="3524546"/>
                  </a:lnTo>
                  <a:cubicBezTo>
                    <a:pt x="2759774" y="3521703"/>
                    <a:pt x="2797240" y="3516936"/>
                    <a:pt x="2834415" y="3511435"/>
                  </a:cubicBezTo>
                  <a:cubicBezTo>
                    <a:pt x="2983212" y="3488147"/>
                    <a:pt x="3126281" y="3442580"/>
                    <a:pt x="3262556" y="3378675"/>
                  </a:cubicBezTo>
                  <a:cubicBezTo>
                    <a:pt x="3399318" y="3315505"/>
                    <a:pt x="3529478" y="3234639"/>
                    <a:pt x="3658086" y="3145979"/>
                  </a:cubicBezTo>
                  <a:cubicBezTo>
                    <a:pt x="3690214" y="3123884"/>
                    <a:pt x="3722147" y="3100779"/>
                    <a:pt x="3753983" y="3077583"/>
                  </a:cubicBezTo>
                  <a:cubicBezTo>
                    <a:pt x="3786014" y="3054387"/>
                    <a:pt x="3817948" y="3030824"/>
                    <a:pt x="3849881" y="3006894"/>
                  </a:cubicBezTo>
                  <a:lnTo>
                    <a:pt x="3859024" y="2999988"/>
                  </a:lnTo>
                  <a:lnTo>
                    <a:pt x="3859024" y="3461786"/>
                  </a:lnTo>
                  <a:lnTo>
                    <a:pt x="3652845" y="3578823"/>
                  </a:lnTo>
                  <a:cubicBezTo>
                    <a:pt x="3574224" y="3619073"/>
                    <a:pt x="3492886" y="3656479"/>
                    <a:pt x="3408248" y="3688569"/>
                  </a:cubicBezTo>
                  <a:cubicBezTo>
                    <a:pt x="3239748" y="3753666"/>
                    <a:pt x="3058726" y="3797582"/>
                    <a:pt x="2875958" y="3814819"/>
                  </a:cubicBezTo>
                  <a:cubicBezTo>
                    <a:pt x="2830241" y="3818945"/>
                    <a:pt x="2784525" y="3822062"/>
                    <a:pt x="2738905" y="3822979"/>
                  </a:cubicBezTo>
                  <a:lnTo>
                    <a:pt x="2704642" y="3823712"/>
                  </a:lnTo>
                  <a:cubicBezTo>
                    <a:pt x="2693286" y="3823804"/>
                    <a:pt x="2681833" y="3823529"/>
                    <a:pt x="2670476" y="3823529"/>
                  </a:cubicBezTo>
                  <a:lnTo>
                    <a:pt x="2636408" y="3823162"/>
                  </a:lnTo>
                  <a:lnTo>
                    <a:pt x="2603310" y="3821971"/>
                  </a:lnTo>
                  <a:cubicBezTo>
                    <a:pt x="2515176" y="3819311"/>
                    <a:pt x="2426850" y="3812711"/>
                    <a:pt x="2338911" y="3802074"/>
                  </a:cubicBezTo>
                  <a:cubicBezTo>
                    <a:pt x="2250876" y="3791990"/>
                    <a:pt x="2163034" y="3777503"/>
                    <a:pt x="2076164" y="3758250"/>
                  </a:cubicBezTo>
                  <a:cubicBezTo>
                    <a:pt x="1989390" y="3738813"/>
                    <a:pt x="1903295" y="3715799"/>
                    <a:pt x="1818075" y="3689578"/>
                  </a:cubicBezTo>
                  <a:cubicBezTo>
                    <a:pt x="1647925" y="3636676"/>
                    <a:pt x="1479715" y="3570846"/>
                    <a:pt x="1324027" y="3483104"/>
                  </a:cubicBezTo>
                  <a:cubicBezTo>
                    <a:pt x="1168242" y="3395545"/>
                    <a:pt x="1029152" y="3284515"/>
                    <a:pt x="907727" y="3161658"/>
                  </a:cubicBezTo>
                  <a:cubicBezTo>
                    <a:pt x="846675" y="3100321"/>
                    <a:pt x="791155" y="3035041"/>
                    <a:pt x="738935" y="2968204"/>
                  </a:cubicBezTo>
                  <a:cubicBezTo>
                    <a:pt x="687008" y="2901090"/>
                    <a:pt x="637602" y="2832969"/>
                    <a:pt x="591498" y="2763380"/>
                  </a:cubicBezTo>
                  <a:cubicBezTo>
                    <a:pt x="579656" y="2746143"/>
                    <a:pt x="568494" y="2728631"/>
                    <a:pt x="557041" y="2711212"/>
                  </a:cubicBezTo>
                  <a:lnTo>
                    <a:pt x="524137" y="2660602"/>
                  </a:lnTo>
                  <a:cubicBezTo>
                    <a:pt x="503074" y="2627871"/>
                    <a:pt x="481236" y="2595414"/>
                    <a:pt x="459202" y="2562498"/>
                  </a:cubicBezTo>
                  <a:lnTo>
                    <a:pt x="324673" y="2362077"/>
                  </a:lnTo>
                  <a:cubicBezTo>
                    <a:pt x="279540" y="2293772"/>
                    <a:pt x="234988" y="2223449"/>
                    <a:pt x="193348" y="2150193"/>
                  </a:cubicBezTo>
                  <a:cubicBezTo>
                    <a:pt x="172576" y="2113519"/>
                    <a:pt x="152485" y="2076203"/>
                    <a:pt x="134141" y="2037880"/>
                  </a:cubicBezTo>
                  <a:cubicBezTo>
                    <a:pt x="115893" y="1999464"/>
                    <a:pt x="98907" y="1960315"/>
                    <a:pt x="83862" y="1920339"/>
                  </a:cubicBezTo>
                  <a:cubicBezTo>
                    <a:pt x="69108" y="1880274"/>
                    <a:pt x="56005" y="1839657"/>
                    <a:pt x="45329" y="1798399"/>
                  </a:cubicBezTo>
                  <a:cubicBezTo>
                    <a:pt x="40281" y="1777771"/>
                    <a:pt x="35137" y="1757049"/>
                    <a:pt x="30963" y="1736238"/>
                  </a:cubicBezTo>
                  <a:lnTo>
                    <a:pt x="24655" y="1705064"/>
                  </a:lnTo>
                  <a:lnTo>
                    <a:pt x="19413" y="1673800"/>
                  </a:lnTo>
                  <a:cubicBezTo>
                    <a:pt x="5727" y="1590367"/>
                    <a:pt x="0" y="1506476"/>
                    <a:pt x="0" y="1423317"/>
                  </a:cubicBezTo>
                  <a:cubicBezTo>
                    <a:pt x="388" y="1259661"/>
                    <a:pt x="18539" y="1096004"/>
                    <a:pt x="53870" y="935280"/>
                  </a:cubicBezTo>
                  <a:cubicBezTo>
                    <a:pt x="89104" y="774649"/>
                    <a:pt x="143070" y="617135"/>
                    <a:pt x="215770" y="467689"/>
                  </a:cubicBezTo>
                  <a:cubicBezTo>
                    <a:pt x="288809" y="318243"/>
                    <a:pt x="378252" y="176659"/>
                    <a:pt x="480592" y="4396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2C02A9F7-5A86-41CD-98C2-5EE1CDE3A7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28916" y="0"/>
              <a:ext cx="3860037" cy="3776788"/>
            </a:xfrm>
            <a:custGeom>
              <a:avLst/>
              <a:gdLst>
                <a:gd name="connsiteX0" fmla="*/ 558050 w 3860037"/>
                <a:gd name="connsiteY0" fmla="*/ 0 h 3776788"/>
                <a:gd name="connsiteX1" fmla="*/ 1224060 w 3860037"/>
                <a:gd name="connsiteY1" fmla="*/ 0 h 3776788"/>
                <a:gd name="connsiteX2" fmla="*/ 1103279 w 3860037"/>
                <a:gd name="connsiteY2" fmla="*/ 106801 h 3776788"/>
                <a:gd name="connsiteX3" fmla="*/ 697005 w 3860037"/>
                <a:gd name="connsiteY3" fmla="*/ 633564 h 3776788"/>
                <a:gd name="connsiteX4" fmla="*/ 485409 w 3860037"/>
                <a:gd name="connsiteY4" fmla="*/ 1429020 h 3776788"/>
                <a:gd name="connsiteX5" fmla="*/ 835609 w 3860037"/>
                <a:gd name="connsiteY5" fmla="*/ 2167631 h 3776788"/>
                <a:gd name="connsiteX6" fmla="*/ 1012069 w 3860037"/>
                <a:gd name="connsiteY6" fmla="*/ 2402068 h 3776788"/>
                <a:gd name="connsiteX7" fmla="*/ 2667856 w 3860037"/>
                <a:gd name="connsiteY7" fmla="*/ 3318457 h 3776788"/>
                <a:gd name="connsiteX8" fmla="*/ 3757171 w 3860037"/>
                <a:gd name="connsiteY8" fmla="*/ 2876678 h 3776788"/>
                <a:gd name="connsiteX9" fmla="*/ 3860037 w 3860037"/>
                <a:gd name="connsiteY9" fmla="*/ 2801824 h 3776788"/>
                <a:gd name="connsiteX10" fmla="*/ 3860037 w 3860037"/>
                <a:gd name="connsiteY10" fmla="*/ 3372874 h 3776788"/>
                <a:gd name="connsiteX11" fmla="*/ 3694757 w 3860037"/>
                <a:gd name="connsiteY11" fmla="*/ 3476377 h 3776788"/>
                <a:gd name="connsiteX12" fmla="*/ 2667759 w 3860037"/>
                <a:gd name="connsiteY12" fmla="*/ 3776788 h 3776788"/>
                <a:gd name="connsiteX13" fmla="*/ 610425 w 3860037"/>
                <a:gd name="connsiteY13" fmla="*/ 2659336 h 3776788"/>
                <a:gd name="connsiteX14" fmla="*/ 0 w 3860037"/>
                <a:gd name="connsiteY14" fmla="*/ 1428928 h 3776788"/>
                <a:gd name="connsiteX15" fmla="*/ 405569 w 3860037"/>
                <a:gd name="connsiteY15" fmla="*/ 197288 h 3776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0037" h="3776788">
                  <a:moveTo>
                    <a:pt x="558050" y="0"/>
                  </a:moveTo>
                  <a:lnTo>
                    <a:pt x="1224060" y="0"/>
                  </a:lnTo>
                  <a:lnTo>
                    <a:pt x="1103279" y="106801"/>
                  </a:lnTo>
                  <a:cubicBezTo>
                    <a:pt x="936215" y="268568"/>
                    <a:pt x="800012" y="445084"/>
                    <a:pt x="697005" y="633564"/>
                  </a:cubicBezTo>
                  <a:cubicBezTo>
                    <a:pt x="556653" y="890464"/>
                    <a:pt x="485409" y="1158092"/>
                    <a:pt x="485409" y="1429020"/>
                  </a:cubicBezTo>
                  <a:cubicBezTo>
                    <a:pt x="485409" y="1701873"/>
                    <a:pt x="599069" y="1861221"/>
                    <a:pt x="835609" y="2167631"/>
                  </a:cubicBezTo>
                  <a:cubicBezTo>
                    <a:pt x="892682" y="2241529"/>
                    <a:pt x="951696" y="2317994"/>
                    <a:pt x="1012069" y="2402068"/>
                  </a:cubicBezTo>
                  <a:cubicBezTo>
                    <a:pt x="1473407" y="3044412"/>
                    <a:pt x="1968619" y="3318457"/>
                    <a:pt x="2667856" y="3318457"/>
                  </a:cubicBezTo>
                  <a:cubicBezTo>
                    <a:pt x="3069403" y="3318457"/>
                    <a:pt x="3377389" y="3147529"/>
                    <a:pt x="3757171" y="2876678"/>
                  </a:cubicBezTo>
                  <a:lnTo>
                    <a:pt x="3860037" y="2801824"/>
                  </a:lnTo>
                  <a:lnTo>
                    <a:pt x="3860037" y="3372874"/>
                  </a:lnTo>
                  <a:lnTo>
                    <a:pt x="3694757" y="3476377"/>
                  </a:lnTo>
                  <a:cubicBezTo>
                    <a:pt x="3392861" y="3653193"/>
                    <a:pt x="3067353" y="3776788"/>
                    <a:pt x="2667759" y="3776788"/>
                  </a:cubicBezTo>
                  <a:cubicBezTo>
                    <a:pt x="1719653" y="3776788"/>
                    <a:pt x="1104085" y="3346695"/>
                    <a:pt x="610425" y="2659336"/>
                  </a:cubicBezTo>
                  <a:cubicBezTo>
                    <a:pt x="314191" y="2246938"/>
                    <a:pt x="0" y="1964091"/>
                    <a:pt x="0" y="1428928"/>
                  </a:cubicBezTo>
                  <a:cubicBezTo>
                    <a:pt x="0" y="982968"/>
                    <a:pt x="151158" y="563404"/>
                    <a:pt x="405569" y="19728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8535FA6-8D15-4E17-B087-AD3D457117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28916" y="0"/>
              <a:ext cx="3860037" cy="3776788"/>
            </a:xfrm>
            <a:custGeom>
              <a:avLst/>
              <a:gdLst>
                <a:gd name="connsiteX0" fmla="*/ 558050 w 3860037"/>
                <a:gd name="connsiteY0" fmla="*/ 0 h 3776788"/>
                <a:gd name="connsiteX1" fmla="*/ 1370196 w 3860037"/>
                <a:gd name="connsiteY1" fmla="*/ 0 h 3776788"/>
                <a:gd name="connsiteX2" fmla="*/ 1343634 w 3860037"/>
                <a:gd name="connsiteY2" fmla="*/ 19644 h 3776788"/>
                <a:gd name="connsiteX3" fmla="*/ 783196 w 3860037"/>
                <a:gd name="connsiteY3" fmla="*/ 675555 h 3776788"/>
                <a:gd name="connsiteX4" fmla="*/ 582374 w 3860037"/>
                <a:gd name="connsiteY4" fmla="*/ 1429020 h 3776788"/>
                <a:gd name="connsiteX5" fmla="*/ 913939 w 3860037"/>
                <a:gd name="connsiteY5" fmla="*/ 2113629 h 3776788"/>
                <a:gd name="connsiteX6" fmla="*/ 1092340 w 3860037"/>
                <a:gd name="connsiteY6" fmla="*/ 2350634 h 3776788"/>
                <a:gd name="connsiteX7" fmla="*/ 1772941 w 3860037"/>
                <a:gd name="connsiteY7" fmla="*/ 3006913 h 3776788"/>
                <a:gd name="connsiteX8" fmla="*/ 2667759 w 3860037"/>
                <a:gd name="connsiteY8" fmla="*/ 3226772 h 3776788"/>
                <a:gd name="connsiteX9" fmla="*/ 3243339 w 3860037"/>
                <a:gd name="connsiteY9" fmla="*/ 3086769 h 3776788"/>
                <a:gd name="connsiteX10" fmla="*/ 3702873 w 3860037"/>
                <a:gd name="connsiteY10" fmla="*/ 2800709 h 3776788"/>
                <a:gd name="connsiteX11" fmla="*/ 3860037 w 3860037"/>
                <a:gd name="connsiteY11" fmla="*/ 2686097 h 3776788"/>
                <a:gd name="connsiteX12" fmla="*/ 3860037 w 3860037"/>
                <a:gd name="connsiteY12" fmla="*/ 3372874 h 3776788"/>
                <a:gd name="connsiteX13" fmla="*/ 3694757 w 3860037"/>
                <a:gd name="connsiteY13" fmla="*/ 3476377 h 3776788"/>
                <a:gd name="connsiteX14" fmla="*/ 2667759 w 3860037"/>
                <a:gd name="connsiteY14" fmla="*/ 3776788 h 3776788"/>
                <a:gd name="connsiteX15" fmla="*/ 610425 w 3860037"/>
                <a:gd name="connsiteY15" fmla="*/ 2659336 h 3776788"/>
                <a:gd name="connsiteX16" fmla="*/ 0 w 3860037"/>
                <a:gd name="connsiteY16" fmla="*/ 1428928 h 3776788"/>
                <a:gd name="connsiteX17" fmla="*/ 405569 w 3860037"/>
                <a:gd name="connsiteY17" fmla="*/ 197288 h 3776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60037" h="3776788">
                  <a:moveTo>
                    <a:pt x="558050" y="0"/>
                  </a:moveTo>
                  <a:lnTo>
                    <a:pt x="1370196" y="0"/>
                  </a:lnTo>
                  <a:lnTo>
                    <a:pt x="1343634" y="19644"/>
                  </a:lnTo>
                  <a:cubicBezTo>
                    <a:pt x="1106705" y="211357"/>
                    <a:pt x="912969" y="438184"/>
                    <a:pt x="783196" y="675555"/>
                  </a:cubicBezTo>
                  <a:cubicBezTo>
                    <a:pt x="649929" y="919345"/>
                    <a:pt x="582374" y="1172853"/>
                    <a:pt x="582374" y="1429020"/>
                  </a:cubicBezTo>
                  <a:cubicBezTo>
                    <a:pt x="582374" y="1673817"/>
                    <a:pt x="683999" y="1815838"/>
                    <a:pt x="913939" y="2113629"/>
                  </a:cubicBezTo>
                  <a:cubicBezTo>
                    <a:pt x="971497" y="2188169"/>
                    <a:pt x="1030996" y="2265275"/>
                    <a:pt x="1092340" y="2350634"/>
                  </a:cubicBezTo>
                  <a:cubicBezTo>
                    <a:pt x="1309274" y="2652643"/>
                    <a:pt x="1531839" y="2867368"/>
                    <a:pt x="1772941" y="3006913"/>
                  </a:cubicBezTo>
                  <a:cubicBezTo>
                    <a:pt x="2028506" y="3154891"/>
                    <a:pt x="2321246" y="3226772"/>
                    <a:pt x="2667759" y="3226772"/>
                  </a:cubicBezTo>
                  <a:cubicBezTo>
                    <a:pt x="2864407" y="3226772"/>
                    <a:pt x="3047273" y="3182305"/>
                    <a:pt x="3243339" y="3086769"/>
                  </a:cubicBezTo>
                  <a:cubicBezTo>
                    <a:pt x="3394318" y="3013193"/>
                    <a:pt x="3544153" y="2914345"/>
                    <a:pt x="3702873" y="2800709"/>
                  </a:cubicBezTo>
                  <a:lnTo>
                    <a:pt x="3860037" y="2686097"/>
                  </a:lnTo>
                  <a:lnTo>
                    <a:pt x="3860037" y="3372874"/>
                  </a:lnTo>
                  <a:lnTo>
                    <a:pt x="3694757" y="3476377"/>
                  </a:lnTo>
                  <a:cubicBezTo>
                    <a:pt x="3392861" y="3653193"/>
                    <a:pt x="3067353" y="3776788"/>
                    <a:pt x="2667759" y="3776788"/>
                  </a:cubicBezTo>
                  <a:cubicBezTo>
                    <a:pt x="1719653" y="3776788"/>
                    <a:pt x="1104085" y="3346695"/>
                    <a:pt x="610425" y="2659336"/>
                  </a:cubicBezTo>
                  <a:cubicBezTo>
                    <a:pt x="314191" y="2246938"/>
                    <a:pt x="0" y="1964091"/>
                    <a:pt x="0" y="1428928"/>
                  </a:cubicBezTo>
                  <a:cubicBezTo>
                    <a:pt x="0" y="982968"/>
                    <a:pt x="151158" y="563404"/>
                    <a:pt x="405569" y="19728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27E72ADF-6BDB-33B3-F8E0-8FE0D3E1243D}"/>
              </a:ext>
            </a:extLst>
          </p:cNvPr>
          <p:cNvGrpSpPr/>
          <p:nvPr/>
        </p:nvGrpSpPr>
        <p:grpSpPr>
          <a:xfrm>
            <a:off x="7469754" y="730337"/>
            <a:ext cx="4515980" cy="4535654"/>
            <a:chOff x="6470636" y="2814552"/>
            <a:chExt cx="8043063" cy="8078104"/>
          </a:xfrm>
        </p:grpSpPr>
        <p:sp>
          <p:nvSpPr>
            <p:cNvPr id="6" name="TextBox 5">
              <a:extLst>
                <a:ext uri="{FF2B5EF4-FFF2-40B4-BE49-F238E27FC236}">
                  <a16:creationId xmlns:a16="http://schemas.microsoft.com/office/drawing/2014/main" id="{F0601960-83C2-ACAC-AC9D-5A50BA503AA2}"/>
                </a:ext>
              </a:extLst>
            </p:cNvPr>
            <p:cNvSpPr txBox="1"/>
            <p:nvPr/>
          </p:nvSpPr>
          <p:spPr>
            <a:xfrm>
              <a:off x="6470636" y="9960789"/>
              <a:ext cx="8043063" cy="931867"/>
            </a:xfrm>
            <a:prstGeom prst="rect">
              <a:avLst/>
            </a:prstGeom>
            <a:noFill/>
          </p:spPr>
          <p:txBody>
            <a:bodyPr wrap="none" rtlCol="0">
              <a:spAutoFit/>
            </a:bodyPr>
            <a:lstStyle/>
            <a:p>
              <a:pPr defTabSz="512064">
                <a:spcAft>
                  <a:spcPts val="600"/>
                </a:spcAft>
              </a:pPr>
              <a:r>
                <a:rPr lang="en-US" sz="2800" dirty="0"/>
                <a:t>NoSQL Schema (document)</a:t>
              </a:r>
            </a:p>
          </p:txBody>
        </p:sp>
        <p:pic>
          <p:nvPicPr>
            <p:cNvPr id="8" name="Picture 7" descr="A close-up of a ballot&#10;&#10;AI-generated content may be incorrect.">
              <a:extLst>
                <a:ext uri="{FF2B5EF4-FFF2-40B4-BE49-F238E27FC236}">
                  <a16:creationId xmlns:a16="http://schemas.microsoft.com/office/drawing/2014/main" id="{6025401A-51F4-6B7C-8E98-C9547AF045B4}"/>
                </a:ext>
              </a:extLst>
            </p:cNvPr>
            <p:cNvPicPr>
              <a:picLocks noChangeAspect="1"/>
            </p:cNvPicPr>
            <p:nvPr/>
          </p:nvPicPr>
          <p:blipFill>
            <a:blip r:embed="rId3"/>
            <a:stretch>
              <a:fillRect/>
            </a:stretch>
          </p:blipFill>
          <p:spPr>
            <a:xfrm>
              <a:off x="6470636" y="2814552"/>
              <a:ext cx="5977163" cy="6984879"/>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grpSp>
      <p:pic>
        <p:nvPicPr>
          <p:cNvPr id="10" name="Picture 9" descr="A diagram of a question&#10;&#10;AI-generated content may be incorrect.">
            <a:extLst>
              <a:ext uri="{FF2B5EF4-FFF2-40B4-BE49-F238E27FC236}">
                <a16:creationId xmlns:a16="http://schemas.microsoft.com/office/drawing/2014/main" id="{C2BE224F-B8F7-CEB1-287B-8DEBF6AE772D}"/>
              </a:ext>
            </a:extLst>
          </p:cNvPr>
          <p:cNvPicPr>
            <a:picLocks noChangeAspect="1"/>
          </p:cNvPicPr>
          <p:nvPr/>
        </p:nvPicPr>
        <p:blipFill>
          <a:blip r:embed="rId4"/>
          <a:stretch>
            <a:fillRect/>
          </a:stretch>
        </p:blipFill>
        <p:spPr>
          <a:xfrm>
            <a:off x="1679199" y="385920"/>
            <a:ext cx="4198442" cy="4865914"/>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18" name="TextBox 17">
            <a:extLst>
              <a:ext uri="{FF2B5EF4-FFF2-40B4-BE49-F238E27FC236}">
                <a16:creationId xmlns:a16="http://schemas.microsoft.com/office/drawing/2014/main" id="{47D13FB5-AF2A-9BDC-C5ED-3B5FFB3BD3AE}"/>
              </a:ext>
            </a:extLst>
          </p:cNvPr>
          <p:cNvSpPr txBox="1"/>
          <p:nvPr/>
        </p:nvSpPr>
        <p:spPr>
          <a:xfrm>
            <a:off x="2703446" y="5367050"/>
            <a:ext cx="2151551" cy="523220"/>
          </a:xfrm>
          <a:prstGeom prst="rect">
            <a:avLst/>
          </a:prstGeom>
          <a:noFill/>
        </p:spPr>
        <p:txBody>
          <a:bodyPr wrap="none" rtlCol="0">
            <a:spAutoFit/>
          </a:bodyPr>
          <a:lstStyle/>
          <a:p>
            <a:r>
              <a:rPr lang="en-US" sz="2800" dirty="0"/>
              <a:t>SQL schema</a:t>
            </a:r>
          </a:p>
        </p:txBody>
      </p:sp>
      <p:sp>
        <p:nvSpPr>
          <p:cNvPr id="29" name="TextBox 28">
            <a:extLst>
              <a:ext uri="{FF2B5EF4-FFF2-40B4-BE49-F238E27FC236}">
                <a16:creationId xmlns:a16="http://schemas.microsoft.com/office/drawing/2014/main" id="{5F4B99DD-B650-45E9-288A-DB9896B0ABE7}"/>
              </a:ext>
            </a:extLst>
          </p:cNvPr>
          <p:cNvSpPr txBox="1"/>
          <p:nvPr/>
        </p:nvSpPr>
        <p:spPr>
          <a:xfrm>
            <a:off x="8325853" y="5251834"/>
            <a:ext cx="2186948" cy="1631216"/>
          </a:xfrm>
          <a:prstGeom prst="rect">
            <a:avLst/>
          </a:prstGeom>
          <a:noFill/>
        </p:spPr>
        <p:txBody>
          <a:bodyPr wrap="square">
            <a:spAutoFit/>
          </a:bodyPr>
          <a:lstStyle/>
          <a:p>
            <a:r>
              <a:rPr lang="en-US" sz="2000" b="1" dirty="0"/>
              <a:t>📦 Compact</a:t>
            </a:r>
            <a:r>
              <a:rPr lang="en-US" sz="2000" dirty="0"/>
              <a:t> </a:t>
            </a:r>
          </a:p>
          <a:p>
            <a:r>
              <a:rPr lang="en-US" sz="2000" b="1" dirty="0"/>
              <a:t>🔀 Flexible</a:t>
            </a:r>
            <a:r>
              <a:rPr lang="en-US" sz="2000" dirty="0"/>
              <a:t> </a:t>
            </a:r>
          </a:p>
          <a:p>
            <a:r>
              <a:rPr lang="en-US" sz="2000" b="1" dirty="0"/>
              <a:t>🧠 Intuitive</a:t>
            </a:r>
            <a:r>
              <a:rPr lang="en-US" sz="2000" dirty="0"/>
              <a:t> </a:t>
            </a:r>
          </a:p>
          <a:p>
            <a:r>
              <a:rPr lang="en-US" sz="2000" b="1" dirty="0"/>
              <a:t>⚡ Fast Iteration</a:t>
            </a:r>
            <a:r>
              <a:rPr lang="en-US" sz="2000" dirty="0"/>
              <a:t> </a:t>
            </a:r>
          </a:p>
          <a:p>
            <a:r>
              <a:rPr lang="en-US" sz="2000" b="1" dirty="0"/>
              <a:t>🧰 Fewer Joins</a:t>
            </a:r>
            <a:r>
              <a:rPr lang="en-US" sz="2000" dirty="0"/>
              <a:t> </a:t>
            </a:r>
          </a:p>
        </p:txBody>
      </p:sp>
      <p:sp>
        <p:nvSpPr>
          <p:cNvPr id="32" name="TextBox 31">
            <a:extLst>
              <a:ext uri="{FF2B5EF4-FFF2-40B4-BE49-F238E27FC236}">
                <a16:creationId xmlns:a16="http://schemas.microsoft.com/office/drawing/2014/main" id="{24AF17D6-A766-2604-E5B5-E588EEA890FF}"/>
              </a:ext>
            </a:extLst>
          </p:cNvPr>
          <p:cNvSpPr txBox="1"/>
          <p:nvPr/>
        </p:nvSpPr>
        <p:spPr>
          <a:xfrm>
            <a:off x="2554295" y="5811513"/>
            <a:ext cx="3028358" cy="707886"/>
          </a:xfrm>
          <a:prstGeom prst="rect">
            <a:avLst/>
          </a:prstGeom>
          <a:noFill/>
        </p:spPr>
        <p:txBody>
          <a:bodyPr wrap="square">
            <a:spAutoFit/>
          </a:bodyPr>
          <a:lstStyle/>
          <a:p>
            <a:r>
              <a:rPr lang="en-US" sz="2000" dirty="0"/>
              <a:t>🔒 </a:t>
            </a:r>
            <a:r>
              <a:rPr lang="en-US" sz="2000" b="1" dirty="0"/>
              <a:t>Data Integrity</a:t>
            </a:r>
          </a:p>
          <a:p>
            <a:r>
              <a:rPr lang="en-US" sz="2000" dirty="0"/>
              <a:t>📐 Structured by Design</a:t>
            </a:r>
            <a:endParaRPr lang="en-US" sz="2000" b="1" dirty="0"/>
          </a:p>
        </p:txBody>
      </p:sp>
      <p:sp>
        <p:nvSpPr>
          <p:cNvPr id="35" name="TextBox 34">
            <a:extLst>
              <a:ext uri="{FF2B5EF4-FFF2-40B4-BE49-F238E27FC236}">
                <a16:creationId xmlns:a16="http://schemas.microsoft.com/office/drawing/2014/main" id="{43B50664-2256-DF82-2A48-E28E7C1DEAB9}"/>
              </a:ext>
            </a:extLst>
          </p:cNvPr>
          <p:cNvSpPr txBox="1"/>
          <p:nvPr/>
        </p:nvSpPr>
        <p:spPr>
          <a:xfrm>
            <a:off x="-32086" y="2854645"/>
            <a:ext cx="12384506" cy="646331"/>
          </a:xfrm>
          <a:prstGeom prst="rect">
            <a:avLst/>
          </a:prstGeom>
          <a:solidFill>
            <a:schemeClr val="bg1">
              <a:lumMod val="85000"/>
            </a:schemeClr>
          </a:solidFill>
        </p:spPr>
        <p:txBody>
          <a:bodyPr wrap="square" rtlCol="0">
            <a:spAutoFit/>
          </a:bodyPr>
          <a:lstStyle/>
          <a:p>
            <a:r>
              <a:rPr lang="en-US" sz="3600" b="1" dirty="0"/>
              <a:t>But wait — if NoSQL is so great, why did we start with SQL?</a:t>
            </a:r>
            <a:endParaRPr lang="en-US" sz="3600" dirty="0"/>
          </a:p>
        </p:txBody>
      </p:sp>
      <p:pic>
        <p:nvPicPr>
          <p:cNvPr id="37" name="Picture 36" descr="A screenshot of a computer code&#10;&#10;AI-generated content may be incorrect.">
            <a:extLst>
              <a:ext uri="{FF2B5EF4-FFF2-40B4-BE49-F238E27FC236}">
                <a16:creationId xmlns:a16="http://schemas.microsoft.com/office/drawing/2014/main" id="{F7A4CD0B-0741-0883-D7FE-AA7878A19E1E}"/>
              </a:ext>
            </a:extLst>
          </p:cNvPr>
          <p:cNvPicPr>
            <a:picLocks noChangeAspect="1"/>
          </p:cNvPicPr>
          <p:nvPr/>
        </p:nvPicPr>
        <p:blipFill>
          <a:blip r:embed="rId5"/>
          <a:stretch>
            <a:fillRect/>
          </a:stretch>
        </p:blipFill>
        <p:spPr>
          <a:xfrm>
            <a:off x="-353421" y="1088715"/>
            <a:ext cx="7907840" cy="3393364"/>
          </a:xfrm>
          <a:prstGeom prst="rect">
            <a:avLst/>
          </a:prstGeom>
        </p:spPr>
      </p:pic>
    </p:spTree>
    <p:extLst>
      <p:ext uri="{BB962C8B-B14F-4D97-AF65-F5344CB8AC3E}">
        <p14:creationId xmlns:p14="http://schemas.microsoft.com/office/powerpoint/2010/main" val="8335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dissolv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nodeType="clickEffect">
                                  <p:stCondLst>
                                    <p:cond delay="0"/>
                                  </p:stCondLst>
                                  <p:childTnLst>
                                    <p:animEffect transition="out" filter="dissolve">
                                      <p:cBhvr>
                                        <p:cTn id="11" dur="500"/>
                                        <p:tgtEl>
                                          <p:spTgt spid="37"/>
                                        </p:tgtEl>
                                      </p:cBhvr>
                                    </p:animEffect>
                                    <p:set>
                                      <p:cBhvr>
                                        <p:cTn id="12" dur="1" fill="hold">
                                          <p:stCondLst>
                                            <p:cond delay="499"/>
                                          </p:stCondLst>
                                        </p:cTn>
                                        <p:tgtEl>
                                          <p:spTgt spid="3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2">
                                            <p:txEl>
                                              <p:pRg st="0" end="0"/>
                                            </p:txEl>
                                          </p:spTgt>
                                        </p:tgtEl>
                                        <p:attrNameLst>
                                          <p:attrName>style.visibility</p:attrName>
                                        </p:attrNameLst>
                                      </p:cBhvr>
                                      <p:to>
                                        <p:strVal val="visible"/>
                                      </p:to>
                                    </p:set>
                                    <p:animEffect transition="in" filter="dissolve">
                                      <p:cBhvr>
                                        <p:cTn id="17" dur="250"/>
                                        <p:tgtEl>
                                          <p:spTgt spid="3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2">
                                            <p:txEl>
                                              <p:pRg st="1" end="1"/>
                                            </p:txEl>
                                          </p:spTgt>
                                        </p:tgtEl>
                                        <p:attrNameLst>
                                          <p:attrName>style.visibility</p:attrName>
                                        </p:attrNameLst>
                                      </p:cBhvr>
                                      <p:to>
                                        <p:strVal val="visible"/>
                                      </p:to>
                                    </p:set>
                                    <p:animEffect transition="in" filter="dissolve">
                                      <p:cBhvr>
                                        <p:cTn id="22" dur="250"/>
                                        <p:tgtEl>
                                          <p:spTgt spid="32">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9">
                                            <p:txEl>
                                              <p:pRg st="0" end="0"/>
                                            </p:txEl>
                                          </p:spTgt>
                                        </p:tgtEl>
                                        <p:attrNameLst>
                                          <p:attrName>style.visibility</p:attrName>
                                        </p:attrNameLst>
                                      </p:cBhvr>
                                      <p:to>
                                        <p:strVal val="visible"/>
                                      </p:to>
                                    </p:set>
                                    <p:animEffect transition="in" filter="dissolve">
                                      <p:cBhvr>
                                        <p:cTn id="27" dur="500"/>
                                        <p:tgtEl>
                                          <p:spTgt spid="29">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9">
                                            <p:txEl>
                                              <p:pRg st="1" end="1"/>
                                            </p:txEl>
                                          </p:spTgt>
                                        </p:tgtEl>
                                        <p:attrNameLst>
                                          <p:attrName>style.visibility</p:attrName>
                                        </p:attrNameLst>
                                      </p:cBhvr>
                                      <p:to>
                                        <p:strVal val="visible"/>
                                      </p:to>
                                    </p:set>
                                    <p:animEffect transition="in" filter="dissolve">
                                      <p:cBhvr>
                                        <p:cTn id="32" dur="500"/>
                                        <p:tgtEl>
                                          <p:spTgt spid="29">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9">
                                            <p:txEl>
                                              <p:pRg st="2" end="2"/>
                                            </p:txEl>
                                          </p:spTgt>
                                        </p:tgtEl>
                                        <p:attrNameLst>
                                          <p:attrName>style.visibility</p:attrName>
                                        </p:attrNameLst>
                                      </p:cBhvr>
                                      <p:to>
                                        <p:strVal val="visible"/>
                                      </p:to>
                                    </p:set>
                                    <p:animEffect transition="in" filter="dissolve">
                                      <p:cBhvr>
                                        <p:cTn id="37" dur="500"/>
                                        <p:tgtEl>
                                          <p:spTgt spid="29">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9">
                                            <p:txEl>
                                              <p:pRg st="3" end="3"/>
                                            </p:txEl>
                                          </p:spTgt>
                                        </p:tgtEl>
                                        <p:attrNameLst>
                                          <p:attrName>style.visibility</p:attrName>
                                        </p:attrNameLst>
                                      </p:cBhvr>
                                      <p:to>
                                        <p:strVal val="visible"/>
                                      </p:to>
                                    </p:set>
                                    <p:animEffect transition="in" filter="dissolve">
                                      <p:cBhvr>
                                        <p:cTn id="42" dur="500"/>
                                        <p:tgtEl>
                                          <p:spTgt spid="29">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9">
                                            <p:txEl>
                                              <p:pRg st="4" end="4"/>
                                            </p:txEl>
                                          </p:spTgt>
                                        </p:tgtEl>
                                        <p:attrNameLst>
                                          <p:attrName>style.visibility</p:attrName>
                                        </p:attrNameLst>
                                      </p:cBhvr>
                                      <p:to>
                                        <p:strVal val="visible"/>
                                      </p:to>
                                    </p:set>
                                    <p:animEffect transition="in" filter="dissolve">
                                      <p:cBhvr>
                                        <p:cTn id="47" dur="500"/>
                                        <p:tgtEl>
                                          <p:spTgt spid="29">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35"/>
                                        </p:tgtEl>
                                        <p:attrNameLst>
                                          <p:attrName>style.visibility</p:attrName>
                                        </p:attrNameLst>
                                      </p:cBhvr>
                                      <p:to>
                                        <p:strVal val="visible"/>
                                      </p:to>
                                    </p:set>
                                    <p:anim calcmode="lin" valueType="num">
                                      <p:cBhvr additive="base">
                                        <p:cTn id="52" dur="1000" fill="hold"/>
                                        <p:tgtEl>
                                          <p:spTgt spid="35"/>
                                        </p:tgtEl>
                                        <p:attrNameLst>
                                          <p:attrName>ppt_x</p:attrName>
                                        </p:attrNameLst>
                                      </p:cBhvr>
                                      <p:tavLst>
                                        <p:tav tm="0">
                                          <p:val>
                                            <p:strVal val="#ppt_x"/>
                                          </p:val>
                                        </p:tav>
                                        <p:tav tm="100000">
                                          <p:val>
                                            <p:strVal val="#ppt_x"/>
                                          </p:val>
                                        </p:tav>
                                      </p:tavLst>
                                    </p:anim>
                                    <p:anim calcmode="lin" valueType="num">
                                      <p:cBhvr additive="base">
                                        <p:cTn id="53" dur="10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P spid="32" grpId="0" build="p"/>
      <p:bldP spid="3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53824F-D4DE-73AE-55F4-C76FC8BCCB87}"/>
              </a:ext>
            </a:extLst>
          </p:cNvPr>
          <p:cNvSpPr>
            <a:spLocks noGrp="1"/>
          </p:cNvSpPr>
          <p:nvPr>
            <p:ph type="title"/>
          </p:nvPr>
        </p:nvSpPr>
        <p:spPr>
          <a:xfrm>
            <a:off x="318339" y="2032927"/>
            <a:ext cx="4959514" cy="2792146"/>
          </a:xfrm>
        </p:spPr>
        <p:txBody>
          <a:bodyPr vert="horz" lIns="91440" tIns="45720" rIns="91440" bIns="45720" rtlCol="0" anchor="t">
            <a:normAutofit/>
          </a:bodyPr>
          <a:lstStyle/>
          <a:p>
            <a:r>
              <a:rPr lang="en-US" sz="3600" kern="1200" dirty="0">
                <a:solidFill>
                  <a:schemeClr val="tx2"/>
                </a:solidFill>
                <a:latin typeface="+mj-lt"/>
                <a:ea typeface="+mj-ea"/>
                <a:cs typeface="+mj-cs"/>
              </a:rPr>
              <a:t>The evolution of databases has been driven by the </a:t>
            </a:r>
            <a:r>
              <a:rPr lang="en-US" sz="3600" b="1" kern="1200" dirty="0">
                <a:solidFill>
                  <a:schemeClr val="tx2"/>
                </a:solidFill>
                <a:latin typeface="+mj-lt"/>
                <a:ea typeface="+mj-ea"/>
                <a:cs typeface="+mj-cs"/>
              </a:rPr>
              <a:t>application demand</a:t>
            </a:r>
            <a:r>
              <a:rPr lang="en-US" sz="3600" kern="1200" dirty="0">
                <a:solidFill>
                  <a:schemeClr val="tx2"/>
                </a:solidFill>
                <a:latin typeface="+mj-lt"/>
                <a:ea typeface="+mj-ea"/>
                <a:cs typeface="+mj-cs"/>
              </a:rPr>
              <a:t> and the </a:t>
            </a:r>
            <a:r>
              <a:rPr lang="en-US" sz="3600" b="1" kern="1200" dirty="0">
                <a:solidFill>
                  <a:schemeClr val="tx2"/>
                </a:solidFill>
                <a:latin typeface="+mj-lt"/>
                <a:ea typeface="+mj-ea"/>
                <a:cs typeface="+mj-cs"/>
              </a:rPr>
              <a:t>storage media.</a:t>
            </a:r>
          </a:p>
        </p:txBody>
      </p:sp>
      <p:grpSp>
        <p:nvGrpSpPr>
          <p:cNvPr id="13" name="Group 12">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4" name="Freeform: Shape 13">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2" name="Picture 11">
            <a:extLst>
              <a:ext uri="{FF2B5EF4-FFF2-40B4-BE49-F238E27FC236}">
                <a16:creationId xmlns:a16="http://schemas.microsoft.com/office/drawing/2014/main" id="{6619961D-2D84-392E-C992-94B198B9674F}"/>
              </a:ext>
            </a:extLst>
          </p:cNvPr>
          <p:cNvPicPr>
            <a:picLocks noChangeAspect="1"/>
          </p:cNvPicPr>
          <p:nvPr/>
        </p:nvPicPr>
        <p:blipFill>
          <a:blip r:embed="rId2"/>
          <a:srcRect/>
          <a:stretch/>
        </p:blipFill>
        <p:spPr>
          <a:xfrm>
            <a:off x="5759117" y="-213375"/>
            <a:ext cx="6416842" cy="7364217"/>
          </a:xfrm>
          <a:prstGeom prst="rect">
            <a:avLst/>
          </a:prstGeom>
        </p:spPr>
      </p:pic>
    </p:spTree>
    <p:extLst>
      <p:ext uri="{BB962C8B-B14F-4D97-AF65-F5344CB8AC3E}">
        <p14:creationId xmlns:p14="http://schemas.microsoft.com/office/powerpoint/2010/main" val="2075809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7DF66C-6C46-1828-963B-4C32A2F01D54}"/>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E35CAE6A-E806-57AB-26BB-A5A655F25AA6}"/>
              </a:ext>
            </a:extLst>
          </p:cNvPr>
          <p:cNvPicPr>
            <a:picLocks noChangeAspect="1"/>
          </p:cNvPicPr>
          <p:nvPr/>
        </p:nvPicPr>
        <p:blipFill>
          <a:blip r:embed="rId3"/>
          <a:srcRect/>
          <a:stretch/>
        </p:blipFill>
        <p:spPr>
          <a:xfrm>
            <a:off x="862114" y="643467"/>
            <a:ext cx="4854371" cy="5571066"/>
          </a:xfrm>
          <a:prstGeom prst="rect">
            <a:avLst/>
          </a:prstGeom>
        </p:spPr>
      </p:pic>
      <p:pic>
        <p:nvPicPr>
          <p:cNvPr id="1028" name="Picture 4" descr="Punch card and 1890 census">
            <a:extLst>
              <a:ext uri="{FF2B5EF4-FFF2-40B4-BE49-F238E27FC236}">
                <a16:creationId xmlns:a16="http://schemas.microsoft.com/office/drawing/2014/main" id="{B361FFCA-0B50-486C-FB56-F3AB386CD3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9677" y="643467"/>
            <a:ext cx="5815414" cy="448777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AA0A7C93-7E60-D958-E479-09D6C696C7D7}"/>
              </a:ext>
            </a:extLst>
          </p:cNvPr>
          <p:cNvSpPr txBox="1"/>
          <p:nvPr/>
        </p:nvSpPr>
        <p:spPr>
          <a:xfrm>
            <a:off x="5719677" y="5131246"/>
            <a:ext cx="6096000" cy="646331"/>
          </a:xfrm>
          <a:prstGeom prst="rect">
            <a:avLst/>
          </a:prstGeom>
          <a:noFill/>
        </p:spPr>
        <p:txBody>
          <a:bodyPr wrap="square">
            <a:spAutoFit/>
          </a:bodyPr>
          <a:lstStyle/>
          <a:p>
            <a:r>
              <a:rPr lang="en-US" i="1" dirty="0"/>
              <a:t>Illustration in "Scientific American" magazine, Aug. 30, 1890. Via reproduction at </a:t>
            </a:r>
            <a:r>
              <a:rPr lang="en-US" i="1" dirty="0" err="1"/>
              <a:t>wikimedia</a:t>
            </a:r>
            <a:endParaRPr lang="en-US" i="1" dirty="0"/>
          </a:p>
        </p:txBody>
      </p:sp>
      <p:sp>
        <p:nvSpPr>
          <p:cNvPr id="27" name="Oval 26">
            <a:extLst>
              <a:ext uri="{FF2B5EF4-FFF2-40B4-BE49-F238E27FC236}">
                <a16:creationId xmlns:a16="http://schemas.microsoft.com/office/drawing/2014/main" id="{72901674-C7AF-90E4-95FF-0842D704E9AC}"/>
              </a:ext>
            </a:extLst>
          </p:cNvPr>
          <p:cNvSpPr/>
          <p:nvPr/>
        </p:nvSpPr>
        <p:spPr>
          <a:xfrm>
            <a:off x="955175" y="2693097"/>
            <a:ext cx="288758" cy="28875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Elbow Connector 28">
            <a:extLst>
              <a:ext uri="{FF2B5EF4-FFF2-40B4-BE49-F238E27FC236}">
                <a16:creationId xmlns:a16="http://schemas.microsoft.com/office/drawing/2014/main" id="{2ECD6D39-7B85-826A-9C25-A916D5AB4973}"/>
              </a:ext>
            </a:extLst>
          </p:cNvPr>
          <p:cNvCxnSpPr>
            <a:stCxn id="27" idx="4"/>
          </p:cNvCxnSpPr>
          <p:nvPr/>
        </p:nvCxnSpPr>
        <p:spPr>
          <a:xfrm rot="16200000" flipH="1">
            <a:off x="1647981" y="2433428"/>
            <a:ext cx="3360330" cy="4457184"/>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E52E8447-85BC-1A05-1B6E-66A44BC586B0}"/>
              </a:ext>
            </a:extLst>
          </p:cNvPr>
          <p:cNvSpPr txBox="1"/>
          <p:nvPr/>
        </p:nvSpPr>
        <p:spPr>
          <a:xfrm>
            <a:off x="5556738" y="6168366"/>
            <a:ext cx="5240215" cy="369332"/>
          </a:xfrm>
          <a:prstGeom prst="rect">
            <a:avLst/>
          </a:prstGeom>
          <a:noFill/>
        </p:spPr>
        <p:txBody>
          <a:bodyPr wrap="square" rtlCol="0">
            <a:spAutoFit/>
          </a:bodyPr>
          <a:lstStyle/>
          <a:p>
            <a:r>
              <a:rPr lang="en-US" dirty="0"/>
              <a:t>Punched Card and Herman Hollerith Machine</a:t>
            </a:r>
          </a:p>
        </p:txBody>
      </p:sp>
    </p:spTree>
    <p:extLst>
      <p:ext uri="{BB962C8B-B14F-4D97-AF65-F5344CB8AC3E}">
        <p14:creationId xmlns:p14="http://schemas.microsoft.com/office/powerpoint/2010/main" val="880093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84148-28EF-D47D-8A23-907EA1477BFC}"/>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B5B16719-A973-01B2-2BFD-63DE71707DEF}"/>
              </a:ext>
            </a:extLst>
          </p:cNvPr>
          <p:cNvPicPr>
            <a:picLocks noChangeAspect="1"/>
          </p:cNvPicPr>
          <p:nvPr/>
        </p:nvPicPr>
        <p:blipFill>
          <a:blip r:embed="rId3"/>
          <a:srcRect/>
          <a:stretch/>
        </p:blipFill>
        <p:spPr>
          <a:xfrm>
            <a:off x="862114" y="643467"/>
            <a:ext cx="4854371" cy="5571066"/>
          </a:xfrm>
          <a:prstGeom prst="rect">
            <a:avLst/>
          </a:prstGeom>
        </p:spPr>
      </p:pic>
      <p:sp>
        <p:nvSpPr>
          <p:cNvPr id="27" name="Oval 26">
            <a:extLst>
              <a:ext uri="{FF2B5EF4-FFF2-40B4-BE49-F238E27FC236}">
                <a16:creationId xmlns:a16="http://schemas.microsoft.com/office/drawing/2014/main" id="{A0D5AF9B-673C-D54A-0C38-1A28FF1D066C}"/>
              </a:ext>
            </a:extLst>
          </p:cNvPr>
          <p:cNvSpPr/>
          <p:nvPr/>
        </p:nvSpPr>
        <p:spPr>
          <a:xfrm>
            <a:off x="1911138" y="2693097"/>
            <a:ext cx="288758" cy="28875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iagram of a poll&#10;&#10;AI-generated content may be incorrect.">
            <a:extLst>
              <a:ext uri="{FF2B5EF4-FFF2-40B4-BE49-F238E27FC236}">
                <a16:creationId xmlns:a16="http://schemas.microsoft.com/office/drawing/2014/main" id="{0A7A7BEF-49AB-042B-7C5F-920CC21C602F}"/>
              </a:ext>
            </a:extLst>
          </p:cNvPr>
          <p:cNvPicPr>
            <a:picLocks noChangeAspect="1"/>
          </p:cNvPicPr>
          <p:nvPr/>
        </p:nvPicPr>
        <p:blipFill>
          <a:blip r:embed="rId4"/>
          <a:stretch>
            <a:fillRect/>
          </a:stretch>
        </p:blipFill>
        <p:spPr>
          <a:xfrm>
            <a:off x="5742928" y="335205"/>
            <a:ext cx="6287711" cy="2357892"/>
          </a:xfrm>
          <a:prstGeom prst="rect">
            <a:avLst/>
          </a:prstGeom>
        </p:spPr>
      </p:pic>
      <p:sp>
        <p:nvSpPr>
          <p:cNvPr id="6" name="TextBox 5">
            <a:extLst>
              <a:ext uri="{FF2B5EF4-FFF2-40B4-BE49-F238E27FC236}">
                <a16:creationId xmlns:a16="http://schemas.microsoft.com/office/drawing/2014/main" id="{CD162368-99DD-0ABA-4741-39392310EB5E}"/>
              </a:ext>
            </a:extLst>
          </p:cNvPr>
          <p:cNvSpPr txBox="1"/>
          <p:nvPr/>
        </p:nvSpPr>
        <p:spPr>
          <a:xfrm>
            <a:off x="7541766" y="2923309"/>
            <a:ext cx="2064861" cy="369332"/>
          </a:xfrm>
          <a:prstGeom prst="rect">
            <a:avLst/>
          </a:prstGeom>
          <a:noFill/>
        </p:spPr>
        <p:txBody>
          <a:bodyPr wrap="none" rtlCol="0">
            <a:spAutoFit/>
          </a:bodyPr>
          <a:lstStyle/>
          <a:p>
            <a:r>
              <a:rPr lang="en-US" dirty="0"/>
              <a:t>Hierarchical Model</a:t>
            </a:r>
          </a:p>
        </p:txBody>
      </p:sp>
      <p:pic>
        <p:nvPicPr>
          <p:cNvPr id="9" name="Picture 8" descr="A diagram of a question&#10;&#10;AI-generated content may be incorrect.">
            <a:extLst>
              <a:ext uri="{FF2B5EF4-FFF2-40B4-BE49-F238E27FC236}">
                <a16:creationId xmlns:a16="http://schemas.microsoft.com/office/drawing/2014/main" id="{0CC67041-75E6-467C-99B1-C377D42D1BC8}"/>
              </a:ext>
            </a:extLst>
          </p:cNvPr>
          <p:cNvPicPr>
            <a:picLocks noChangeAspect="1"/>
          </p:cNvPicPr>
          <p:nvPr/>
        </p:nvPicPr>
        <p:blipFill>
          <a:blip r:embed="rId5"/>
          <a:stretch>
            <a:fillRect/>
          </a:stretch>
        </p:blipFill>
        <p:spPr>
          <a:xfrm>
            <a:off x="6087047" y="3232482"/>
            <a:ext cx="2420129" cy="3158836"/>
          </a:xfrm>
          <a:prstGeom prst="rect">
            <a:avLst/>
          </a:prstGeom>
        </p:spPr>
      </p:pic>
      <p:sp>
        <p:nvSpPr>
          <p:cNvPr id="7" name="TextBox 6">
            <a:extLst>
              <a:ext uri="{FF2B5EF4-FFF2-40B4-BE49-F238E27FC236}">
                <a16:creationId xmlns:a16="http://schemas.microsoft.com/office/drawing/2014/main" id="{0DD3D43E-E239-5F77-450C-4A191CF6B433}"/>
              </a:ext>
            </a:extLst>
          </p:cNvPr>
          <p:cNvSpPr txBox="1"/>
          <p:nvPr/>
        </p:nvSpPr>
        <p:spPr>
          <a:xfrm>
            <a:off x="6518225" y="6331159"/>
            <a:ext cx="1692451" cy="369332"/>
          </a:xfrm>
          <a:prstGeom prst="rect">
            <a:avLst/>
          </a:prstGeom>
          <a:noFill/>
        </p:spPr>
        <p:txBody>
          <a:bodyPr wrap="none" rtlCol="0">
            <a:spAutoFit/>
          </a:bodyPr>
          <a:lstStyle/>
          <a:p>
            <a:r>
              <a:rPr lang="en-US" dirty="0"/>
              <a:t>Network Model</a:t>
            </a:r>
          </a:p>
        </p:txBody>
      </p:sp>
      <p:sp>
        <p:nvSpPr>
          <p:cNvPr id="16" name="TextBox 15">
            <a:extLst>
              <a:ext uri="{FF2B5EF4-FFF2-40B4-BE49-F238E27FC236}">
                <a16:creationId xmlns:a16="http://schemas.microsoft.com/office/drawing/2014/main" id="{9103685F-42B2-4F99-AE88-2C2B03DB9132}"/>
              </a:ext>
            </a:extLst>
          </p:cNvPr>
          <p:cNvSpPr txBox="1"/>
          <p:nvPr/>
        </p:nvSpPr>
        <p:spPr>
          <a:xfrm>
            <a:off x="150729" y="5899573"/>
            <a:ext cx="2183098" cy="1200329"/>
          </a:xfrm>
          <a:prstGeom prst="rect">
            <a:avLst/>
          </a:prstGeom>
          <a:noFill/>
        </p:spPr>
        <p:txBody>
          <a:bodyPr wrap="none" rtlCol="0">
            <a:spAutoFit/>
          </a:bodyPr>
          <a:lstStyle/>
          <a:p>
            <a:pPr marL="285750" indent="-285750">
              <a:buFontTx/>
              <a:buChar char="-"/>
            </a:pPr>
            <a:r>
              <a:rPr lang="en-US" dirty="0"/>
              <a:t>Navigational</a:t>
            </a:r>
          </a:p>
          <a:p>
            <a:pPr marL="285750" indent="-285750">
              <a:buFontTx/>
              <a:buChar char="-"/>
            </a:pPr>
            <a:r>
              <a:rPr lang="en-US" dirty="0"/>
              <a:t>Data redundancy</a:t>
            </a:r>
          </a:p>
          <a:p>
            <a:pPr marL="285750" indent="-285750">
              <a:buFontTx/>
              <a:buChar char="-"/>
            </a:pPr>
            <a:r>
              <a:rPr lang="en-US" dirty="0"/>
              <a:t>Fixed schema</a:t>
            </a:r>
          </a:p>
          <a:p>
            <a:endParaRPr lang="en-US" dirty="0"/>
          </a:p>
        </p:txBody>
      </p:sp>
      <p:grpSp>
        <p:nvGrpSpPr>
          <p:cNvPr id="15" name="Group 14">
            <a:extLst>
              <a:ext uri="{FF2B5EF4-FFF2-40B4-BE49-F238E27FC236}">
                <a16:creationId xmlns:a16="http://schemas.microsoft.com/office/drawing/2014/main" id="{C8EDDE95-C270-EF77-3549-1CB886D84553}"/>
              </a:ext>
            </a:extLst>
          </p:cNvPr>
          <p:cNvGrpSpPr/>
          <p:nvPr/>
        </p:nvGrpSpPr>
        <p:grpSpPr>
          <a:xfrm>
            <a:off x="8886783" y="3402753"/>
            <a:ext cx="2629857" cy="3086824"/>
            <a:chOff x="9121581" y="3244335"/>
            <a:chExt cx="2629857" cy="3086824"/>
          </a:xfrm>
        </p:grpSpPr>
        <p:pic>
          <p:nvPicPr>
            <p:cNvPr id="11" name="Picture 10" descr="Relational Database">
              <a:extLst>
                <a:ext uri="{FF2B5EF4-FFF2-40B4-BE49-F238E27FC236}">
                  <a16:creationId xmlns:a16="http://schemas.microsoft.com/office/drawing/2014/main" id="{8C4E7D5C-B7C6-50BF-E95B-2D603396ED9D}"/>
                </a:ext>
              </a:extLst>
            </p:cNvPr>
            <p:cNvPicPr>
              <a:picLocks noChangeAspect="1"/>
            </p:cNvPicPr>
            <p:nvPr/>
          </p:nvPicPr>
          <p:blipFill>
            <a:blip r:embed="rId6"/>
            <a:stretch>
              <a:fillRect/>
            </a:stretch>
          </p:blipFill>
          <p:spPr>
            <a:xfrm>
              <a:off x="9121581" y="3244335"/>
              <a:ext cx="2629857" cy="2649173"/>
            </a:xfrm>
            <a:prstGeom prst="rect">
              <a:avLst/>
            </a:prstGeom>
          </p:spPr>
        </p:pic>
        <p:sp>
          <p:nvSpPr>
            <p:cNvPr id="14" name="TextBox 13">
              <a:extLst>
                <a:ext uri="{FF2B5EF4-FFF2-40B4-BE49-F238E27FC236}">
                  <a16:creationId xmlns:a16="http://schemas.microsoft.com/office/drawing/2014/main" id="{339D03D6-5C08-9908-0B96-1A8852C61C46}"/>
                </a:ext>
              </a:extLst>
            </p:cNvPr>
            <p:cNvSpPr txBox="1"/>
            <p:nvPr/>
          </p:nvSpPr>
          <p:spPr>
            <a:xfrm>
              <a:off x="9506831" y="5961827"/>
              <a:ext cx="1859355" cy="369332"/>
            </a:xfrm>
            <a:prstGeom prst="rect">
              <a:avLst/>
            </a:prstGeom>
            <a:noFill/>
          </p:spPr>
          <p:txBody>
            <a:bodyPr wrap="none" rtlCol="0">
              <a:spAutoFit/>
            </a:bodyPr>
            <a:lstStyle/>
            <a:p>
              <a:r>
                <a:rPr lang="en-US" dirty="0"/>
                <a:t>Relational Model</a:t>
              </a:r>
            </a:p>
          </p:txBody>
        </p:sp>
      </p:grpSp>
      <p:grpSp>
        <p:nvGrpSpPr>
          <p:cNvPr id="23" name="Group 22">
            <a:extLst>
              <a:ext uri="{FF2B5EF4-FFF2-40B4-BE49-F238E27FC236}">
                <a16:creationId xmlns:a16="http://schemas.microsoft.com/office/drawing/2014/main" id="{F46FCD45-A002-6F89-6AD5-CB27294B7471}"/>
              </a:ext>
            </a:extLst>
          </p:cNvPr>
          <p:cNvGrpSpPr/>
          <p:nvPr/>
        </p:nvGrpSpPr>
        <p:grpSpPr>
          <a:xfrm>
            <a:off x="479316" y="6095453"/>
            <a:ext cx="1795669" cy="279233"/>
            <a:chOff x="1212574" y="6051926"/>
            <a:chExt cx="1795669" cy="279233"/>
          </a:xfrm>
        </p:grpSpPr>
        <p:cxnSp>
          <p:nvCxnSpPr>
            <p:cNvPr id="20" name="Straight Connector 19">
              <a:extLst>
                <a:ext uri="{FF2B5EF4-FFF2-40B4-BE49-F238E27FC236}">
                  <a16:creationId xmlns:a16="http://schemas.microsoft.com/office/drawing/2014/main" id="{72C127C8-C52E-5BD2-6A69-61764D251C24}"/>
                </a:ext>
              </a:extLst>
            </p:cNvPr>
            <p:cNvCxnSpPr/>
            <p:nvPr/>
          </p:nvCxnSpPr>
          <p:spPr>
            <a:xfrm>
              <a:off x="1212574" y="6051926"/>
              <a:ext cx="1358348" cy="0"/>
            </a:xfrm>
            <a:prstGeom prst="line">
              <a:avLst/>
            </a:prstGeom>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01851888-10F1-8913-B4DF-455FC2AD496D}"/>
                </a:ext>
              </a:extLst>
            </p:cNvPr>
            <p:cNvCxnSpPr>
              <a:cxnSpLocks/>
            </p:cNvCxnSpPr>
            <p:nvPr/>
          </p:nvCxnSpPr>
          <p:spPr>
            <a:xfrm>
              <a:off x="1231964" y="6331159"/>
              <a:ext cx="1776279" cy="0"/>
            </a:xfrm>
            <a:prstGeom prst="line">
              <a:avLst/>
            </a:prstGeom>
          </p:spPr>
          <p:style>
            <a:lnRef idx="2">
              <a:schemeClr val="dk1"/>
            </a:lnRef>
            <a:fillRef idx="0">
              <a:schemeClr val="dk1"/>
            </a:fillRef>
            <a:effectRef idx="1">
              <a:schemeClr val="dk1"/>
            </a:effectRef>
            <a:fontRef idx="minor">
              <a:schemeClr val="tx1"/>
            </a:fontRef>
          </p:style>
        </p:cxnSp>
      </p:grpSp>
      <p:sp>
        <p:nvSpPr>
          <p:cNvPr id="24" name="TextBox 23">
            <a:extLst>
              <a:ext uri="{FF2B5EF4-FFF2-40B4-BE49-F238E27FC236}">
                <a16:creationId xmlns:a16="http://schemas.microsoft.com/office/drawing/2014/main" id="{FCC4D5C8-B4C3-E083-483B-D63ED6856A79}"/>
              </a:ext>
            </a:extLst>
          </p:cNvPr>
          <p:cNvSpPr txBox="1"/>
          <p:nvPr/>
        </p:nvSpPr>
        <p:spPr>
          <a:xfrm>
            <a:off x="2166251" y="5915181"/>
            <a:ext cx="3254930" cy="646331"/>
          </a:xfrm>
          <a:prstGeom prst="rect">
            <a:avLst/>
          </a:prstGeom>
          <a:noFill/>
        </p:spPr>
        <p:txBody>
          <a:bodyPr wrap="none" rtlCol="0">
            <a:spAutoFit/>
          </a:bodyPr>
          <a:lstStyle/>
          <a:p>
            <a:r>
              <a:rPr lang="en-US" dirty="0"/>
              <a:t>Structure query language (SQL)</a:t>
            </a:r>
          </a:p>
          <a:p>
            <a:r>
              <a:rPr lang="en-US" dirty="0"/>
              <a:t>Database Normalized</a:t>
            </a:r>
          </a:p>
        </p:txBody>
      </p:sp>
    </p:spTree>
    <p:extLst>
      <p:ext uri="{BB962C8B-B14F-4D97-AF65-F5344CB8AC3E}">
        <p14:creationId xmlns:p14="http://schemas.microsoft.com/office/powerpoint/2010/main" val="3473845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 0 L 0.10286 0 " pathEditMode="relative" ptsTypes="AA">
                                      <p:cBhvr>
                                        <p:cTn id="6" dur="2000" fill="hold"/>
                                        <p:tgtEl>
                                          <p:spTgt spid="27"/>
                                        </p:tgtEl>
                                        <p:attrNameLst>
                                          <p:attrName>ppt_x</p:attrName>
                                          <p:attrName>ppt_y</p:attrName>
                                        </p:attrNameLst>
                                      </p:cBhvr>
                                    </p:animMotion>
                                  </p:childTnLst>
                                </p:cTn>
                              </p:par>
                              <p:par>
                                <p:cTn id="7" presetID="9"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animEffect transition="in" filter="dissolve">
                                      <p:cBhvr>
                                        <p:cTn id="9" dur="500"/>
                                        <p:tgtEl>
                                          <p:spTgt spid="15"/>
                                        </p:tgtEl>
                                      </p:cBhvr>
                                    </p:animEffect>
                                  </p:childTnLst>
                                </p:cTn>
                              </p:par>
                              <p:par>
                                <p:cTn id="10" presetID="9" presetClass="entr" presetSubtype="0" fill="hold" nodeType="with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dissolve">
                                      <p:cBhvr>
                                        <p:cTn id="12" dur="500"/>
                                        <p:tgtEl>
                                          <p:spTgt spid="23"/>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dissolve">
                                      <p:cBhvr>
                                        <p:cTn id="15" dur="500"/>
                                        <p:tgtEl>
                                          <p:spTgt spid="24"/>
                                        </p:tgtEl>
                                      </p:cBhvr>
                                    </p:animEffect>
                                  </p:childTnLst>
                                </p:cTn>
                              </p:par>
                            </p:childTnLst>
                          </p:cTn>
                        </p:par>
                      </p:childTnLst>
                    </p:cTn>
                  </p:par>
                  <p:par>
                    <p:cTn id="16" fill="hold">
                      <p:stCondLst>
                        <p:cond delay="indefinite"/>
                      </p:stCondLst>
                      <p:childTnLst>
                        <p:par>
                          <p:cTn id="17" fill="hold">
                            <p:stCondLst>
                              <p:cond delay="0"/>
                            </p:stCondLst>
                            <p:childTnLst>
                              <p:par>
                                <p:cTn id="18" presetID="0" presetClass="path" presetSubtype="0" accel="50000" decel="50000" fill="hold" grpId="1" nodeType="clickEffect">
                                  <p:stCondLst>
                                    <p:cond delay="0"/>
                                  </p:stCondLst>
                                  <p:childTnLst>
                                    <p:animMotion origin="layout" path="M 0.10287 -4.07407E-6 L 0.20456 2.59259E-6 " pathEditMode="relative" rAng="0" ptsTypes="AA">
                                      <p:cBhvr>
                                        <p:cTn id="19" dur="2000" fill="hold"/>
                                        <p:tgtEl>
                                          <p:spTgt spid="27"/>
                                        </p:tgtEl>
                                        <p:attrNameLst>
                                          <p:attrName>ppt_x</p:attrName>
                                          <p:attrName>ppt_y</p:attrName>
                                        </p:attrNameLst>
                                      </p:cBhvr>
                                      <p:rCtr x="5313" y="9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7" grpId="1" animBg="1"/>
      <p:bldP spid="2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2D4EA-1F24-564F-9CA8-E34AF17C15F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ED3B2D3-37B7-F6B7-AE91-FBB99216D156}"/>
              </a:ext>
            </a:extLst>
          </p:cNvPr>
          <p:cNvSpPr>
            <a:spLocks noGrp="1"/>
          </p:cNvSpPr>
          <p:nvPr>
            <p:ph type="body" idx="1"/>
          </p:nvPr>
        </p:nvSpPr>
        <p:spPr>
          <a:xfrm>
            <a:off x="1985087" y="-29440"/>
            <a:ext cx="5157787" cy="823912"/>
          </a:xfrm>
        </p:spPr>
        <p:txBody>
          <a:bodyPr/>
          <a:lstStyle/>
          <a:p>
            <a:r>
              <a:rPr lang="en-US" dirty="0"/>
              <a:t>Hierarchical Database</a:t>
            </a:r>
          </a:p>
        </p:txBody>
      </p:sp>
      <p:sp>
        <p:nvSpPr>
          <p:cNvPr id="5" name="Text Placeholder 4">
            <a:extLst>
              <a:ext uri="{FF2B5EF4-FFF2-40B4-BE49-F238E27FC236}">
                <a16:creationId xmlns:a16="http://schemas.microsoft.com/office/drawing/2014/main" id="{7A1B8766-DA99-3F82-4E14-A5FD406637D3}"/>
              </a:ext>
            </a:extLst>
          </p:cNvPr>
          <p:cNvSpPr>
            <a:spLocks noGrp="1"/>
          </p:cNvSpPr>
          <p:nvPr>
            <p:ph type="body" sz="quarter" idx="3"/>
          </p:nvPr>
        </p:nvSpPr>
        <p:spPr>
          <a:xfrm>
            <a:off x="6802527" y="-23245"/>
            <a:ext cx="5183188" cy="823912"/>
          </a:xfrm>
        </p:spPr>
        <p:txBody>
          <a:bodyPr/>
          <a:lstStyle/>
          <a:p>
            <a:r>
              <a:rPr lang="en-US" dirty="0"/>
              <a:t>Document Database</a:t>
            </a:r>
          </a:p>
        </p:txBody>
      </p:sp>
      <p:pic>
        <p:nvPicPr>
          <p:cNvPr id="9" name="Content Placeholder 8" descr="A close-up of a ballot&#10;&#10;AI-generated content may be incorrect.">
            <a:extLst>
              <a:ext uri="{FF2B5EF4-FFF2-40B4-BE49-F238E27FC236}">
                <a16:creationId xmlns:a16="http://schemas.microsoft.com/office/drawing/2014/main" id="{0F13C506-E86B-6F5B-FFC7-2ABD39AA63BB}"/>
              </a:ext>
            </a:extLst>
          </p:cNvPr>
          <p:cNvPicPr>
            <a:picLocks noGrp="1" noChangeAspect="1"/>
          </p:cNvPicPr>
          <p:nvPr>
            <p:ph sz="quarter" idx="4"/>
          </p:nvPr>
        </p:nvPicPr>
        <p:blipFill>
          <a:blip r:embed="rId3"/>
          <a:stretch>
            <a:fillRect/>
          </a:stretch>
        </p:blipFill>
        <p:spPr>
          <a:xfrm>
            <a:off x="7513274" y="903711"/>
            <a:ext cx="1713649" cy="2002560"/>
          </a:xfrm>
        </p:spPr>
      </p:pic>
      <p:pic>
        <p:nvPicPr>
          <p:cNvPr id="7" name="Content Placeholder 6" descr="A diagram of a poll&#10;&#10;AI-generated content may be incorrect.">
            <a:extLst>
              <a:ext uri="{FF2B5EF4-FFF2-40B4-BE49-F238E27FC236}">
                <a16:creationId xmlns:a16="http://schemas.microsoft.com/office/drawing/2014/main" id="{F2EE8ADE-632A-F4F8-578A-2C1D31B0E314}"/>
              </a:ext>
            </a:extLst>
          </p:cNvPr>
          <p:cNvPicPr>
            <a:picLocks noGrp="1" noChangeAspect="1"/>
          </p:cNvPicPr>
          <p:nvPr>
            <p:ph sz="half" idx="2"/>
          </p:nvPr>
        </p:nvPicPr>
        <p:blipFill>
          <a:blip r:embed="rId4"/>
          <a:stretch>
            <a:fillRect/>
          </a:stretch>
        </p:blipFill>
        <p:spPr>
          <a:xfrm>
            <a:off x="1309253" y="937906"/>
            <a:ext cx="5157787" cy="1934170"/>
          </a:xfrm>
          <a:prstGeom prst="rect">
            <a:avLst/>
          </a:prstGeom>
        </p:spPr>
      </p:pic>
      <p:sp>
        <p:nvSpPr>
          <p:cNvPr id="14" name="TextBox 13">
            <a:extLst>
              <a:ext uri="{FF2B5EF4-FFF2-40B4-BE49-F238E27FC236}">
                <a16:creationId xmlns:a16="http://schemas.microsoft.com/office/drawing/2014/main" id="{1A8C08B6-C3C5-E25E-1C4B-6DE1F4967115}"/>
              </a:ext>
            </a:extLst>
          </p:cNvPr>
          <p:cNvSpPr txBox="1"/>
          <p:nvPr/>
        </p:nvSpPr>
        <p:spPr>
          <a:xfrm>
            <a:off x="1244666" y="3188395"/>
            <a:ext cx="5508752" cy="1200329"/>
          </a:xfrm>
          <a:prstGeom prst="rect">
            <a:avLst/>
          </a:prstGeom>
          <a:noFill/>
        </p:spPr>
        <p:txBody>
          <a:bodyPr wrap="none" rtlCol="0">
            <a:spAutoFit/>
          </a:bodyPr>
          <a:lstStyle/>
          <a:p>
            <a:r>
              <a:rPr lang="en-US" dirty="0"/>
              <a:t>- Fixed schema (e.g. fixed number of votes per person)</a:t>
            </a:r>
          </a:p>
          <a:p>
            <a:r>
              <a:rPr lang="en-US" dirty="0"/>
              <a:t>- Navigational</a:t>
            </a:r>
          </a:p>
          <a:p>
            <a:r>
              <a:rPr lang="en-US" dirty="0"/>
              <a:t>- Explicit pointers</a:t>
            </a:r>
          </a:p>
          <a:p>
            <a:endParaRPr lang="en-US" dirty="0"/>
          </a:p>
        </p:txBody>
      </p:sp>
      <p:sp>
        <p:nvSpPr>
          <p:cNvPr id="15" name="TextBox 14">
            <a:extLst>
              <a:ext uri="{FF2B5EF4-FFF2-40B4-BE49-F238E27FC236}">
                <a16:creationId xmlns:a16="http://schemas.microsoft.com/office/drawing/2014/main" id="{5FD4AF99-03A1-F029-7934-9106C2B9EE72}"/>
              </a:ext>
            </a:extLst>
          </p:cNvPr>
          <p:cNvSpPr txBox="1"/>
          <p:nvPr/>
        </p:nvSpPr>
        <p:spPr>
          <a:xfrm>
            <a:off x="7441558" y="3060714"/>
            <a:ext cx="1926874" cy="1200329"/>
          </a:xfrm>
          <a:prstGeom prst="rect">
            <a:avLst/>
          </a:prstGeom>
          <a:noFill/>
        </p:spPr>
        <p:txBody>
          <a:bodyPr wrap="none" rtlCol="0">
            <a:spAutoFit/>
          </a:bodyPr>
          <a:lstStyle/>
          <a:p>
            <a:r>
              <a:rPr lang="en-US" dirty="0"/>
              <a:t>- Flexible schema</a:t>
            </a:r>
          </a:p>
          <a:p>
            <a:r>
              <a:rPr lang="en-US" dirty="0"/>
              <a:t>- Direct querying</a:t>
            </a:r>
          </a:p>
          <a:p>
            <a:r>
              <a:rPr lang="en-US" dirty="0"/>
              <a:t>- Native Nesting</a:t>
            </a:r>
          </a:p>
          <a:p>
            <a:r>
              <a:rPr lang="en-US" dirty="0"/>
              <a:t>- Scalable</a:t>
            </a:r>
          </a:p>
        </p:txBody>
      </p:sp>
      <p:cxnSp>
        <p:nvCxnSpPr>
          <p:cNvPr id="18" name="Straight Connector 17">
            <a:extLst>
              <a:ext uri="{FF2B5EF4-FFF2-40B4-BE49-F238E27FC236}">
                <a16:creationId xmlns:a16="http://schemas.microsoft.com/office/drawing/2014/main" id="{976928CD-66A5-D762-94D4-4A3E65CAB8E5}"/>
              </a:ext>
            </a:extLst>
          </p:cNvPr>
          <p:cNvCxnSpPr/>
          <p:nvPr/>
        </p:nvCxnSpPr>
        <p:spPr>
          <a:xfrm>
            <a:off x="203204" y="800667"/>
            <a:ext cx="11026588" cy="0"/>
          </a:xfrm>
          <a:prstGeom prst="line">
            <a:avLst/>
          </a:prstGeom>
        </p:spPr>
        <p:style>
          <a:lnRef idx="2">
            <a:schemeClr val="dk1"/>
          </a:lnRef>
          <a:fillRef idx="0">
            <a:schemeClr val="dk1"/>
          </a:fillRef>
          <a:effectRef idx="1">
            <a:schemeClr val="dk1"/>
          </a:effectRef>
          <a:fontRef idx="minor">
            <a:schemeClr val="tx1"/>
          </a:fontRef>
        </p:style>
      </p:cxnSp>
      <p:cxnSp>
        <p:nvCxnSpPr>
          <p:cNvPr id="19" name="Straight Connector 18">
            <a:extLst>
              <a:ext uri="{FF2B5EF4-FFF2-40B4-BE49-F238E27FC236}">
                <a16:creationId xmlns:a16="http://schemas.microsoft.com/office/drawing/2014/main" id="{103A8965-C07C-33B1-E59E-7AB11CA79CAE}"/>
              </a:ext>
            </a:extLst>
          </p:cNvPr>
          <p:cNvCxnSpPr/>
          <p:nvPr/>
        </p:nvCxnSpPr>
        <p:spPr>
          <a:xfrm>
            <a:off x="203204" y="3095632"/>
            <a:ext cx="11026588" cy="0"/>
          </a:xfrm>
          <a:prstGeom prst="line">
            <a:avLst/>
          </a:prstGeom>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6EAE7FCD-75F9-CDC7-416B-0BEC1AA185F0}"/>
              </a:ext>
            </a:extLst>
          </p:cNvPr>
          <p:cNvCxnSpPr/>
          <p:nvPr/>
        </p:nvCxnSpPr>
        <p:spPr>
          <a:xfrm>
            <a:off x="6621933" y="229101"/>
            <a:ext cx="0" cy="5342964"/>
          </a:xfrm>
          <a:prstGeom prst="line">
            <a:avLst/>
          </a:prstGeom>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D6740D38-1B0C-C17F-5393-CEAA7E006608}"/>
              </a:ext>
            </a:extLst>
          </p:cNvPr>
          <p:cNvCxnSpPr/>
          <p:nvPr/>
        </p:nvCxnSpPr>
        <p:spPr>
          <a:xfrm>
            <a:off x="1309253" y="229101"/>
            <a:ext cx="0" cy="5342964"/>
          </a:xfrm>
          <a:prstGeom prst="line">
            <a:avLst/>
          </a:prstGeom>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F1A59302-EFCA-62BD-F5E9-A8E0BDAFEDB4}"/>
              </a:ext>
            </a:extLst>
          </p:cNvPr>
          <p:cNvSpPr txBox="1"/>
          <p:nvPr/>
        </p:nvSpPr>
        <p:spPr>
          <a:xfrm>
            <a:off x="22676" y="1551048"/>
            <a:ext cx="1221488" cy="707886"/>
          </a:xfrm>
          <a:prstGeom prst="rect">
            <a:avLst/>
          </a:prstGeom>
          <a:noFill/>
        </p:spPr>
        <p:txBody>
          <a:bodyPr wrap="none" rtlCol="0">
            <a:spAutoFit/>
          </a:bodyPr>
          <a:lstStyle/>
          <a:p>
            <a:r>
              <a:rPr lang="en-US" sz="2000" dirty="0"/>
              <a:t>Data </a:t>
            </a:r>
          </a:p>
          <a:p>
            <a:r>
              <a:rPr lang="en-US" sz="2000" dirty="0"/>
              <a:t>Structure</a:t>
            </a:r>
          </a:p>
        </p:txBody>
      </p:sp>
      <p:sp>
        <p:nvSpPr>
          <p:cNvPr id="24" name="TextBox 23">
            <a:extLst>
              <a:ext uri="{FF2B5EF4-FFF2-40B4-BE49-F238E27FC236}">
                <a16:creationId xmlns:a16="http://schemas.microsoft.com/office/drawing/2014/main" id="{AB43EE51-078E-FDE9-395F-A50049557B79}"/>
              </a:ext>
            </a:extLst>
          </p:cNvPr>
          <p:cNvSpPr txBox="1"/>
          <p:nvPr/>
        </p:nvSpPr>
        <p:spPr>
          <a:xfrm>
            <a:off x="22676" y="3407890"/>
            <a:ext cx="1153457" cy="400110"/>
          </a:xfrm>
          <a:prstGeom prst="rect">
            <a:avLst/>
          </a:prstGeom>
          <a:noFill/>
        </p:spPr>
        <p:txBody>
          <a:bodyPr wrap="none" rtlCol="0">
            <a:spAutoFit/>
          </a:bodyPr>
          <a:lstStyle/>
          <a:p>
            <a:r>
              <a:rPr lang="en-US" sz="2000" dirty="0"/>
              <a:t>Features</a:t>
            </a:r>
          </a:p>
        </p:txBody>
      </p:sp>
      <p:cxnSp>
        <p:nvCxnSpPr>
          <p:cNvPr id="25" name="Straight Connector 24">
            <a:extLst>
              <a:ext uri="{FF2B5EF4-FFF2-40B4-BE49-F238E27FC236}">
                <a16:creationId xmlns:a16="http://schemas.microsoft.com/office/drawing/2014/main" id="{3BDC1CF6-3F64-5753-D55F-87B29BDEBE2E}"/>
              </a:ext>
            </a:extLst>
          </p:cNvPr>
          <p:cNvCxnSpPr/>
          <p:nvPr/>
        </p:nvCxnSpPr>
        <p:spPr>
          <a:xfrm>
            <a:off x="203204" y="4207258"/>
            <a:ext cx="11026588" cy="0"/>
          </a:xfrm>
          <a:prstGeom prst="line">
            <a:avLst/>
          </a:prstGeom>
        </p:spPr>
        <p:style>
          <a:lnRef idx="2">
            <a:schemeClr val="dk1"/>
          </a:lnRef>
          <a:fillRef idx="0">
            <a:schemeClr val="dk1"/>
          </a:fillRef>
          <a:effectRef idx="1">
            <a:schemeClr val="dk1"/>
          </a:effectRef>
          <a:fontRef idx="minor">
            <a:schemeClr val="tx1"/>
          </a:fontRef>
        </p:style>
      </p:cxnSp>
      <p:sp>
        <p:nvSpPr>
          <p:cNvPr id="26" name="TextBox 25">
            <a:extLst>
              <a:ext uri="{FF2B5EF4-FFF2-40B4-BE49-F238E27FC236}">
                <a16:creationId xmlns:a16="http://schemas.microsoft.com/office/drawing/2014/main" id="{EC569914-FD9A-D4AC-B35B-449E4B2CAD4C}"/>
              </a:ext>
            </a:extLst>
          </p:cNvPr>
          <p:cNvSpPr txBox="1"/>
          <p:nvPr/>
        </p:nvSpPr>
        <p:spPr>
          <a:xfrm>
            <a:off x="22676" y="4480834"/>
            <a:ext cx="1554149" cy="923330"/>
          </a:xfrm>
          <a:prstGeom prst="rect">
            <a:avLst/>
          </a:prstGeom>
          <a:noFill/>
        </p:spPr>
        <p:txBody>
          <a:bodyPr wrap="square" rtlCol="0">
            <a:spAutoFit/>
          </a:bodyPr>
          <a:lstStyle/>
          <a:p>
            <a:r>
              <a:rPr lang="en-US" dirty="0"/>
              <a:t>Example:</a:t>
            </a:r>
            <a:br>
              <a:rPr lang="en-US" dirty="0"/>
            </a:br>
            <a:r>
              <a:rPr lang="en-US" dirty="0"/>
              <a:t>find polls</a:t>
            </a:r>
          </a:p>
          <a:p>
            <a:r>
              <a:rPr lang="en-US" dirty="0"/>
              <a:t>w/o vote</a:t>
            </a:r>
          </a:p>
        </p:txBody>
      </p:sp>
      <p:sp>
        <p:nvSpPr>
          <p:cNvPr id="28" name="TextBox 27">
            <a:extLst>
              <a:ext uri="{FF2B5EF4-FFF2-40B4-BE49-F238E27FC236}">
                <a16:creationId xmlns:a16="http://schemas.microsoft.com/office/drawing/2014/main" id="{215B929F-1C54-C501-6B32-C8A26276F718}"/>
              </a:ext>
            </a:extLst>
          </p:cNvPr>
          <p:cNvSpPr txBox="1"/>
          <p:nvPr/>
        </p:nvSpPr>
        <p:spPr>
          <a:xfrm>
            <a:off x="1845383" y="4218354"/>
            <a:ext cx="6194612" cy="1477328"/>
          </a:xfrm>
          <a:prstGeom prst="rect">
            <a:avLst/>
          </a:prstGeom>
          <a:noFill/>
        </p:spPr>
        <p:txBody>
          <a:bodyPr wrap="square">
            <a:spAutoFit/>
          </a:bodyPr>
          <a:lstStyle/>
          <a:p>
            <a:r>
              <a:rPr lang="en-US" dirty="0"/>
              <a:t>FOR EACH poll IN </a:t>
            </a:r>
            <a:r>
              <a:rPr lang="en-US" dirty="0" err="1"/>
              <a:t>PollRoot</a:t>
            </a:r>
            <a:endParaRPr lang="en-US" dirty="0"/>
          </a:p>
          <a:p>
            <a:r>
              <a:rPr lang="en-US" dirty="0"/>
              <a:t>    IF NOT EXISTS(</a:t>
            </a:r>
            <a:r>
              <a:rPr lang="en-US" dirty="0" err="1"/>
              <a:t>poll.Votes</a:t>
            </a:r>
            <a:r>
              <a:rPr lang="en-US" dirty="0"/>
              <a:t>)</a:t>
            </a:r>
          </a:p>
          <a:p>
            <a:r>
              <a:rPr lang="en-US" dirty="0"/>
              <a:t>        PRINT </a:t>
            </a:r>
            <a:r>
              <a:rPr lang="en-US" dirty="0" err="1"/>
              <a:t>poll.id</a:t>
            </a:r>
            <a:r>
              <a:rPr lang="en-US" dirty="0"/>
              <a:t>, </a:t>
            </a:r>
            <a:r>
              <a:rPr lang="en-US" dirty="0" err="1"/>
              <a:t>poll.Question</a:t>
            </a:r>
            <a:endParaRPr lang="en-US" dirty="0"/>
          </a:p>
          <a:p>
            <a:r>
              <a:rPr lang="en-US" dirty="0"/>
              <a:t>    ENDIF</a:t>
            </a:r>
          </a:p>
          <a:p>
            <a:r>
              <a:rPr lang="en-US" dirty="0"/>
              <a:t>ENDFOR</a:t>
            </a:r>
          </a:p>
        </p:txBody>
      </p:sp>
      <p:sp>
        <p:nvSpPr>
          <p:cNvPr id="30" name="TextBox 29">
            <a:extLst>
              <a:ext uri="{FF2B5EF4-FFF2-40B4-BE49-F238E27FC236}">
                <a16:creationId xmlns:a16="http://schemas.microsoft.com/office/drawing/2014/main" id="{47500C01-064F-1485-8BFB-478C71A0E4CE}"/>
              </a:ext>
            </a:extLst>
          </p:cNvPr>
          <p:cNvSpPr txBox="1"/>
          <p:nvPr/>
        </p:nvSpPr>
        <p:spPr>
          <a:xfrm>
            <a:off x="7246618" y="4681143"/>
            <a:ext cx="6194612" cy="369332"/>
          </a:xfrm>
          <a:prstGeom prst="rect">
            <a:avLst/>
          </a:prstGeom>
          <a:noFill/>
        </p:spPr>
        <p:txBody>
          <a:bodyPr wrap="square">
            <a:spAutoFit/>
          </a:bodyPr>
          <a:lstStyle/>
          <a:p>
            <a:r>
              <a:rPr lang="en-US" dirty="0" err="1"/>
              <a:t>db.polls.find</a:t>
            </a:r>
            <a:r>
              <a:rPr lang="en-US" dirty="0"/>
              <a:t>({ votes: { $eq: [] } })</a:t>
            </a:r>
          </a:p>
        </p:txBody>
      </p:sp>
    </p:spTree>
    <p:extLst>
      <p:ext uri="{BB962C8B-B14F-4D97-AF65-F5344CB8AC3E}">
        <p14:creationId xmlns:p14="http://schemas.microsoft.com/office/powerpoint/2010/main" val="1729001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10B6E-5227-F893-1171-D7BA43E8AD0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FC17530-AA0A-63C1-52A2-5EA635FEF1D5}"/>
              </a:ext>
            </a:extLst>
          </p:cNvPr>
          <p:cNvSpPr>
            <a:spLocks noGrp="1"/>
          </p:cNvSpPr>
          <p:nvPr>
            <p:ph type="body" idx="1"/>
          </p:nvPr>
        </p:nvSpPr>
        <p:spPr>
          <a:xfrm>
            <a:off x="2391483" y="1122024"/>
            <a:ext cx="5157787" cy="823912"/>
          </a:xfrm>
        </p:spPr>
        <p:txBody>
          <a:bodyPr/>
          <a:lstStyle/>
          <a:p>
            <a:r>
              <a:rPr lang="en-US" dirty="0"/>
              <a:t>Network Database</a:t>
            </a:r>
          </a:p>
        </p:txBody>
      </p:sp>
      <p:sp>
        <p:nvSpPr>
          <p:cNvPr id="5" name="Text Placeholder 4">
            <a:extLst>
              <a:ext uri="{FF2B5EF4-FFF2-40B4-BE49-F238E27FC236}">
                <a16:creationId xmlns:a16="http://schemas.microsoft.com/office/drawing/2014/main" id="{DC2910A6-B73F-ACCC-995B-D94ACE43F007}"/>
              </a:ext>
            </a:extLst>
          </p:cNvPr>
          <p:cNvSpPr>
            <a:spLocks noGrp="1"/>
          </p:cNvSpPr>
          <p:nvPr>
            <p:ph type="body" sz="quarter" idx="3"/>
          </p:nvPr>
        </p:nvSpPr>
        <p:spPr>
          <a:xfrm>
            <a:off x="7208923" y="1128219"/>
            <a:ext cx="5183188" cy="823912"/>
          </a:xfrm>
        </p:spPr>
        <p:txBody>
          <a:bodyPr/>
          <a:lstStyle/>
          <a:p>
            <a:r>
              <a:rPr lang="en-US" dirty="0"/>
              <a:t>Graph Database</a:t>
            </a:r>
          </a:p>
        </p:txBody>
      </p:sp>
      <p:sp>
        <p:nvSpPr>
          <p:cNvPr id="14" name="TextBox 13">
            <a:extLst>
              <a:ext uri="{FF2B5EF4-FFF2-40B4-BE49-F238E27FC236}">
                <a16:creationId xmlns:a16="http://schemas.microsoft.com/office/drawing/2014/main" id="{B6E6B930-678F-64E2-FC08-6DE4FD602D4D}"/>
              </a:ext>
            </a:extLst>
          </p:cNvPr>
          <p:cNvSpPr txBox="1"/>
          <p:nvPr/>
        </p:nvSpPr>
        <p:spPr>
          <a:xfrm>
            <a:off x="1651062" y="4339859"/>
            <a:ext cx="5508752" cy="1200329"/>
          </a:xfrm>
          <a:prstGeom prst="rect">
            <a:avLst/>
          </a:prstGeom>
          <a:noFill/>
        </p:spPr>
        <p:txBody>
          <a:bodyPr wrap="none" rtlCol="0">
            <a:spAutoFit/>
          </a:bodyPr>
          <a:lstStyle/>
          <a:p>
            <a:r>
              <a:rPr lang="en-US" dirty="0"/>
              <a:t>- Fixed schema (e.g. fixed number of votes per person)</a:t>
            </a:r>
          </a:p>
          <a:p>
            <a:r>
              <a:rPr lang="en-US" dirty="0"/>
              <a:t>- Navigational</a:t>
            </a:r>
          </a:p>
          <a:p>
            <a:r>
              <a:rPr lang="en-US" dirty="0"/>
              <a:t>- Explicit pointers</a:t>
            </a:r>
          </a:p>
          <a:p>
            <a:endParaRPr lang="en-US" dirty="0"/>
          </a:p>
        </p:txBody>
      </p:sp>
      <p:sp>
        <p:nvSpPr>
          <p:cNvPr id="15" name="TextBox 14">
            <a:extLst>
              <a:ext uri="{FF2B5EF4-FFF2-40B4-BE49-F238E27FC236}">
                <a16:creationId xmlns:a16="http://schemas.microsoft.com/office/drawing/2014/main" id="{825592ED-FAC4-989D-56D3-7CC7C3FC95C6}"/>
              </a:ext>
            </a:extLst>
          </p:cNvPr>
          <p:cNvSpPr txBox="1"/>
          <p:nvPr/>
        </p:nvSpPr>
        <p:spPr>
          <a:xfrm>
            <a:off x="7919670" y="4223704"/>
            <a:ext cx="3518912" cy="1200329"/>
          </a:xfrm>
          <a:prstGeom prst="rect">
            <a:avLst/>
          </a:prstGeom>
          <a:noFill/>
        </p:spPr>
        <p:txBody>
          <a:bodyPr wrap="none" rtlCol="0">
            <a:spAutoFit/>
          </a:bodyPr>
          <a:lstStyle/>
          <a:p>
            <a:r>
              <a:rPr lang="en-US" dirty="0"/>
              <a:t>- Flexible schema</a:t>
            </a:r>
          </a:p>
          <a:p>
            <a:r>
              <a:rPr lang="en-US" dirty="0"/>
              <a:t>- Direct querying</a:t>
            </a:r>
          </a:p>
          <a:p>
            <a:r>
              <a:rPr lang="en-US" dirty="0"/>
              <a:t>- Native Graph (Nodes and Edges)</a:t>
            </a:r>
          </a:p>
          <a:p>
            <a:r>
              <a:rPr lang="en-US" dirty="0"/>
              <a:t>- Scalable</a:t>
            </a:r>
          </a:p>
        </p:txBody>
      </p:sp>
      <p:cxnSp>
        <p:nvCxnSpPr>
          <p:cNvPr id="18" name="Straight Connector 17">
            <a:extLst>
              <a:ext uri="{FF2B5EF4-FFF2-40B4-BE49-F238E27FC236}">
                <a16:creationId xmlns:a16="http://schemas.microsoft.com/office/drawing/2014/main" id="{A4DF5C4D-D9B8-A27E-AFBE-2D75AB4EDB12}"/>
              </a:ext>
            </a:extLst>
          </p:cNvPr>
          <p:cNvCxnSpPr/>
          <p:nvPr/>
        </p:nvCxnSpPr>
        <p:spPr>
          <a:xfrm>
            <a:off x="609600" y="1952131"/>
            <a:ext cx="11026588" cy="0"/>
          </a:xfrm>
          <a:prstGeom prst="line">
            <a:avLst/>
          </a:prstGeom>
        </p:spPr>
        <p:style>
          <a:lnRef idx="2">
            <a:schemeClr val="dk1"/>
          </a:lnRef>
          <a:fillRef idx="0">
            <a:schemeClr val="dk1"/>
          </a:fillRef>
          <a:effectRef idx="1">
            <a:schemeClr val="dk1"/>
          </a:effectRef>
          <a:fontRef idx="minor">
            <a:schemeClr val="tx1"/>
          </a:fontRef>
        </p:style>
      </p:cxnSp>
      <p:cxnSp>
        <p:nvCxnSpPr>
          <p:cNvPr id="19" name="Straight Connector 18">
            <a:extLst>
              <a:ext uri="{FF2B5EF4-FFF2-40B4-BE49-F238E27FC236}">
                <a16:creationId xmlns:a16="http://schemas.microsoft.com/office/drawing/2014/main" id="{10F3A8EA-DCC1-660A-4A54-0F5613AEC9E3}"/>
              </a:ext>
            </a:extLst>
          </p:cNvPr>
          <p:cNvCxnSpPr/>
          <p:nvPr/>
        </p:nvCxnSpPr>
        <p:spPr>
          <a:xfrm>
            <a:off x="609600" y="4247096"/>
            <a:ext cx="11026588" cy="0"/>
          </a:xfrm>
          <a:prstGeom prst="line">
            <a:avLst/>
          </a:prstGeom>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A6B21A98-595E-D13C-3765-E78E12961D5C}"/>
              </a:ext>
            </a:extLst>
          </p:cNvPr>
          <p:cNvCxnSpPr/>
          <p:nvPr/>
        </p:nvCxnSpPr>
        <p:spPr>
          <a:xfrm>
            <a:off x="7028329" y="1380565"/>
            <a:ext cx="0" cy="5342964"/>
          </a:xfrm>
          <a:prstGeom prst="line">
            <a:avLst/>
          </a:prstGeom>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A6068FBA-6900-543A-0384-C8421945521D}"/>
              </a:ext>
            </a:extLst>
          </p:cNvPr>
          <p:cNvCxnSpPr/>
          <p:nvPr/>
        </p:nvCxnSpPr>
        <p:spPr>
          <a:xfrm>
            <a:off x="1715649" y="1380565"/>
            <a:ext cx="0" cy="5342964"/>
          </a:xfrm>
          <a:prstGeom prst="line">
            <a:avLst/>
          </a:prstGeom>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BA37C1BC-F6A1-C273-39DD-AF3DD264FA84}"/>
              </a:ext>
            </a:extLst>
          </p:cNvPr>
          <p:cNvSpPr txBox="1"/>
          <p:nvPr/>
        </p:nvSpPr>
        <p:spPr>
          <a:xfrm>
            <a:off x="429072" y="2702512"/>
            <a:ext cx="1221488" cy="707886"/>
          </a:xfrm>
          <a:prstGeom prst="rect">
            <a:avLst/>
          </a:prstGeom>
          <a:noFill/>
        </p:spPr>
        <p:txBody>
          <a:bodyPr wrap="none" rtlCol="0">
            <a:spAutoFit/>
          </a:bodyPr>
          <a:lstStyle/>
          <a:p>
            <a:r>
              <a:rPr lang="en-US" sz="2000" dirty="0"/>
              <a:t>Data </a:t>
            </a:r>
          </a:p>
          <a:p>
            <a:r>
              <a:rPr lang="en-US" sz="2000" dirty="0"/>
              <a:t>Structure</a:t>
            </a:r>
          </a:p>
        </p:txBody>
      </p:sp>
      <p:sp>
        <p:nvSpPr>
          <p:cNvPr id="24" name="TextBox 23">
            <a:extLst>
              <a:ext uri="{FF2B5EF4-FFF2-40B4-BE49-F238E27FC236}">
                <a16:creationId xmlns:a16="http://schemas.microsoft.com/office/drawing/2014/main" id="{D0099260-EAC2-C298-0CB9-97DB44945F6E}"/>
              </a:ext>
            </a:extLst>
          </p:cNvPr>
          <p:cNvSpPr txBox="1"/>
          <p:nvPr/>
        </p:nvSpPr>
        <p:spPr>
          <a:xfrm>
            <a:off x="429072" y="4559354"/>
            <a:ext cx="1153457" cy="400110"/>
          </a:xfrm>
          <a:prstGeom prst="rect">
            <a:avLst/>
          </a:prstGeom>
          <a:noFill/>
        </p:spPr>
        <p:txBody>
          <a:bodyPr wrap="none" rtlCol="0">
            <a:spAutoFit/>
          </a:bodyPr>
          <a:lstStyle/>
          <a:p>
            <a:r>
              <a:rPr lang="en-US" sz="2000" dirty="0"/>
              <a:t>Features</a:t>
            </a:r>
          </a:p>
        </p:txBody>
      </p:sp>
      <p:cxnSp>
        <p:nvCxnSpPr>
          <p:cNvPr id="25" name="Straight Connector 24">
            <a:extLst>
              <a:ext uri="{FF2B5EF4-FFF2-40B4-BE49-F238E27FC236}">
                <a16:creationId xmlns:a16="http://schemas.microsoft.com/office/drawing/2014/main" id="{822E01F0-F079-A473-C870-41928695BDDB}"/>
              </a:ext>
            </a:extLst>
          </p:cNvPr>
          <p:cNvCxnSpPr/>
          <p:nvPr/>
        </p:nvCxnSpPr>
        <p:spPr>
          <a:xfrm>
            <a:off x="609600" y="5358722"/>
            <a:ext cx="11026588" cy="0"/>
          </a:xfrm>
          <a:prstGeom prst="line">
            <a:avLst/>
          </a:prstGeom>
        </p:spPr>
        <p:style>
          <a:lnRef idx="2">
            <a:schemeClr val="dk1"/>
          </a:lnRef>
          <a:fillRef idx="0">
            <a:schemeClr val="dk1"/>
          </a:fillRef>
          <a:effectRef idx="1">
            <a:schemeClr val="dk1"/>
          </a:effectRef>
          <a:fontRef idx="minor">
            <a:schemeClr val="tx1"/>
          </a:fontRef>
        </p:style>
      </p:cxnSp>
      <p:sp>
        <p:nvSpPr>
          <p:cNvPr id="26" name="TextBox 25">
            <a:extLst>
              <a:ext uri="{FF2B5EF4-FFF2-40B4-BE49-F238E27FC236}">
                <a16:creationId xmlns:a16="http://schemas.microsoft.com/office/drawing/2014/main" id="{1C76A7B5-FC7C-5A7A-8ECE-4FB8612931A9}"/>
              </a:ext>
            </a:extLst>
          </p:cNvPr>
          <p:cNvSpPr txBox="1"/>
          <p:nvPr/>
        </p:nvSpPr>
        <p:spPr>
          <a:xfrm>
            <a:off x="429072" y="5632298"/>
            <a:ext cx="1554149" cy="923330"/>
          </a:xfrm>
          <a:prstGeom prst="rect">
            <a:avLst/>
          </a:prstGeom>
          <a:noFill/>
        </p:spPr>
        <p:txBody>
          <a:bodyPr wrap="square" rtlCol="0">
            <a:spAutoFit/>
          </a:bodyPr>
          <a:lstStyle/>
          <a:p>
            <a:r>
              <a:rPr lang="en-US" dirty="0"/>
              <a:t>Example:</a:t>
            </a:r>
            <a:br>
              <a:rPr lang="en-US" dirty="0"/>
            </a:br>
            <a:r>
              <a:rPr lang="en-US" dirty="0"/>
              <a:t>find polls</a:t>
            </a:r>
          </a:p>
          <a:p>
            <a:r>
              <a:rPr lang="en-US" dirty="0"/>
              <a:t>w/o vote</a:t>
            </a:r>
          </a:p>
        </p:txBody>
      </p:sp>
      <p:sp>
        <p:nvSpPr>
          <p:cNvPr id="28" name="TextBox 27">
            <a:extLst>
              <a:ext uri="{FF2B5EF4-FFF2-40B4-BE49-F238E27FC236}">
                <a16:creationId xmlns:a16="http://schemas.microsoft.com/office/drawing/2014/main" id="{F6911685-C501-9A4F-FAF1-0DCCEA117976}"/>
              </a:ext>
            </a:extLst>
          </p:cNvPr>
          <p:cNvSpPr txBox="1"/>
          <p:nvPr/>
        </p:nvSpPr>
        <p:spPr>
          <a:xfrm>
            <a:off x="2251779" y="5369818"/>
            <a:ext cx="6194612" cy="1477328"/>
          </a:xfrm>
          <a:prstGeom prst="rect">
            <a:avLst/>
          </a:prstGeom>
          <a:noFill/>
        </p:spPr>
        <p:txBody>
          <a:bodyPr wrap="square">
            <a:spAutoFit/>
          </a:bodyPr>
          <a:lstStyle/>
          <a:p>
            <a:r>
              <a:rPr lang="en-US" dirty="0"/>
              <a:t>FOR EACH poll IN </a:t>
            </a:r>
            <a:r>
              <a:rPr lang="en-US" dirty="0" err="1"/>
              <a:t>PollSet</a:t>
            </a:r>
            <a:endParaRPr lang="en-US" dirty="0"/>
          </a:p>
          <a:p>
            <a:r>
              <a:rPr lang="en-US" dirty="0"/>
              <a:t>    IF FIRST VOTE IN </a:t>
            </a:r>
            <a:r>
              <a:rPr lang="en-US" dirty="0" err="1"/>
              <a:t>PollHasVotes</a:t>
            </a:r>
            <a:r>
              <a:rPr lang="en-US" dirty="0"/>
              <a:t> OF poll IS NULL</a:t>
            </a:r>
          </a:p>
          <a:p>
            <a:r>
              <a:rPr lang="en-US" dirty="0"/>
              <a:t>        PRINT </a:t>
            </a:r>
            <a:r>
              <a:rPr lang="en-US" dirty="0" err="1"/>
              <a:t>poll.ID</a:t>
            </a:r>
            <a:r>
              <a:rPr lang="en-US" dirty="0"/>
              <a:t>, </a:t>
            </a:r>
            <a:r>
              <a:rPr lang="en-US" dirty="0" err="1"/>
              <a:t>poll.Question</a:t>
            </a:r>
            <a:endParaRPr lang="en-US" dirty="0"/>
          </a:p>
          <a:p>
            <a:r>
              <a:rPr lang="en-US" dirty="0"/>
              <a:t>    ENDIF</a:t>
            </a:r>
          </a:p>
          <a:p>
            <a:r>
              <a:rPr lang="en-US" dirty="0"/>
              <a:t>ENDFOR</a:t>
            </a:r>
          </a:p>
        </p:txBody>
      </p:sp>
      <p:sp>
        <p:nvSpPr>
          <p:cNvPr id="30" name="TextBox 29">
            <a:extLst>
              <a:ext uri="{FF2B5EF4-FFF2-40B4-BE49-F238E27FC236}">
                <a16:creationId xmlns:a16="http://schemas.microsoft.com/office/drawing/2014/main" id="{8C886D86-BC25-7BB3-A372-57B1F4944182}"/>
              </a:ext>
            </a:extLst>
          </p:cNvPr>
          <p:cNvSpPr txBox="1"/>
          <p:nvPr/>
        </p:nvSpPr>
        <p:spPr>
          <a:xfrm>
            <a:off x="7379045" y="5618731"/>
            <a:ext cx="6194612" cy="923330"/>
          </a:xfrm>
          <a:prstGeom prst="rect">
            <a:avLst/>
          </a:prstGeom>
          <a:noFill/>
        </p:spPr>
        <p:txBody>
          <a:bodyPr wrap="square">
            <a:spAutoFit/>
          </a:bodyPr>
          <a:lstStyle/>
          <a:p>
            <a:r>
              <a:rPr lang="en-US" dirty="0"/>
              <a:t>MATCH (</a:t>
            </a:r>
            <a:r>
              <a:rPr lang="en-US" dirty="0" err="1"/>
              <a:t>p:Poll</a:t>
            </a:r>
            <a:r>
              <a:rPr lang="en-US" dirty="0"/>
              <a:t>)</a:t>
            </a:r>
          </a:p>
          <a:p>
            <a:r>
              <a:rPr lang="en-US" dirty="0"/>
              <a:t>WHERE NOT (p)-[:RECEIVED]-&gt;(:Vote)</a:t>
            </a:r>
          </a:p>
          <a:p>
            <a:r>
              <a:rPr lang="en-US" dirty="0"/>
              <a:t>RETURN p</a:t>
            </a:r>
          </a:p>
        </p:txBody>
      </p:sp>
      <p:pic>
        <p:nvPicPr>
          <p:cNvPr id="4" name="Picture 3" descr="A diagram of a question&#10;&#10;AI-generated content may be incorrect.">
            <a:extLst>
              <a:ext uri="{FF2B5EF4-FFF2-40B4-BE49-F238E27FC236}">
                <a16:creationId xmlns:a16="http://schemas.microsoft.com/office/drawing/2014/main" id="{CF917BBD-ED5D-2F25-7B72-858118F84A86}"/>
              </a:ext>
            </a:extLst>
          </p:cNvPr>
          <p:cNvPicPr>
            <a:picLocks noChangeAspect="1"/>
          </p:cNvPicPr>
          <p:nvPr/>
        </p:nvPicPr>
        <p:blipFill>
          <a:blip r:embed="rId3"/>
          <a:stretch>
            <a:fillRect/>
          </a:stretch>
        </p:blipFill>
        <p:spPr>
          <a:xfrm>
            <a:off x="3467636" y="2029325"/>
            <a:ext cx="1678526" cy="2190870"/>
          </a:xfrm>
          <a:prstGeom prst="rect">
            <a:avLst/>
          </a:prstGeom>
        </p:spPr>
      </p:pic>
      <p:pic>
        <p:nvPicPr>
          <p:cNvPr id="12" name="Picture 11" descr="A diagram of a question&#10;&#10;AI-generated content may be incorrect.">
            <a:extLst>
              <a:ext uri="{FF2B5EF4-FFF2-40B4-BE49-F238E27FC236}">
                <a16:creationId xmlns:a16="http://schemas.microsoft.com/office/drawing/2014/main" id="{F65AC24B-45E0-34FD-4AB9-2DB10F9A8D5B}"/>
              </a:ext>
            </a:extLst>
          </p:cNvPr>
          <p:cNvPicPr>
            <a:picLocks noChangeAspect="1"/>
          </p:cNvPicPr>
          <p:nvPr/>
        </p:nvPicPr>
        <p:blipFill>
          <a:blip r:embed="rId3"/>
          <a:stretch>
            <a:fillRect/>
          </a:stretch>
        </p:blipFill>
        <p:spPr>
          <a:xfrm>
            <a:off x="7779660" y="2004178"/>
            <a:ext cx="1678526" cy="2190870"/>
          </a:xfrm>
          <a:prstGeom prst="rect">
            <a:avLst/>
          </a:prstGeom>
        </p:spPr>
      </p:pic>
    </p:spTree>
    <p:extLst>
      <p:ext uri="{BB962C8B-B14F-4D97-AF65-F5344CB8AC3E}">
        <p14:creationId xmlns:p14="http://schemas.microsoft.com/office/powerpoint/2010/main" val="2033996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B212E-659A-7A9C-C7FD-5343367D6E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7C5413-198F-2FD1-9F9A-E73C320B1978}"/>
              </a:ext>
            </a:extLst>
          </p:cNvPr>
          <p:cNvSpPr>
            <a:spLocks noGrp="1"/>
          </p:cNvSpPr>
          <p:nvPr>
            <p:ph type="title"/>
          </p:nvPr>
        </p:nvSpPr>
        <p:spPr/>
        <p:txBody>
          <a:bodyPr/>
          <a:lstStyle/>
          <a:p>
            <a:r>
              <a:rPr lang="en-US" dirty="0"/>
              <a:t>NoSQL: Key-Value Store and Wide-column</a:t>
            </a:r>
          </a:p>
        </p:txBody>
      </p:sp>
      <p:sp>
        <p:nvSpPr>
          <p:cNvPr id="3" name="Text Placeholder 2">
            <a:extLst>
              <a:ext uri="{FF2B5EF4-FFF2-40B4-BE49-F238E27FC236}">
                <a16:creationId xmlns:a16="http://schemas.microsoft.com/office/drawing/2014/main" id="{4A7102C4-7251-A217-CC9D-9383247AD84F}"/>
              </a:ext>
            </a:extLst>
          </p:cNvPr>
          <p:cNvSpPr>
            <a:spLocks noGrp="1"/>
          </p:cNvSpPr>
          <p:nvPr>
            <p:ph type="body" idx="1"/>
          </p:nvPr>
        </p:nvSpPr>
        <p:spPr>
          <a:xfrm>
            <a:off x="2391483" y="1122024"/>
            <a:ext cx="5157787" cy="823912"/>
          </a:xfrm>
        </p:spPr>
        <p:txBody>
          <a:bodyPr/>
          <a:lstStyle/>
          <a:p>
            <a:r>
              <a:rPr lang="en-US" dirty="0"/>
              <a:t>Key-value store</a:t>
            </a:r>
          </a:p>
        </p:txBody>
      </p:sp>
      <p:sp>
        <p:nvSpPr>
          <p:cNvPr id="5" name="Text Placeholder 4">
            <a:extLst>
              <a:ext uri="{FF2B5EF4-FFF2-40B4-BE49-F238E27FC236}">
                <a16:creationId xmlns:a16="http://schemas.microsoft.com/office/drawing/2014/main" id="{CAC43A8A-4BF8-4AA2-098E-3B1E649EB97B}"/>
              </a:ext>
            </a:extLst>
          </p:cNvPr>
          <p:cNvSpPr>
            <a:spLocks noGrp="1"/>
          </p:cNvSpPr>
          <p:nvPr>
            <p:ph type="body" sz="quarter" idx="3"/>
          </p:nvPr>
        </p:nvSpPr>
        <p:spPr>
          <a:xfrm>
            <a:off x="7208923" y="1128219"/>
            <a:ext cx="5183188" cy="823912"/>
          </a:xfrm>
        </p:spPr>
        <p:txBody>
          <a:bodyPr/>
          <a:lstStyle/>
          <a:p>
            <a:r>
              <a:rPr lang="en-US" dirty="0"/>
              <a:t>Wide column</a:t>
            </a:r>
          </a:p>
        </p:txBody>
      </p:sp>
      <p:sp>
        <p:nvSpPr>
          <p:cNvPr id="14" name="TextBox 13">
            <a:extLst>
              <a:ext uri="{FF2B5EF4-FFF2-40B4-BE49-F238E27FC236}">
                <a16:creationId xmlns:a16="http://schemas.microsoft.com/office/drawing/2014/main" id="{5D84A24C-BE21-98F5-19AA-FAA074F868B5}"/>
              </a:ext>
            </a:extLst>
          </p:cNvPr>
          <p:cNvSpPr txBox="1"/>
          <p:nvPr/>
        </p:nvSpPr>
        <p:spPr>
          <a:xfrm>
            <a:off x="1848770" y="3816792"/>
            <a:ext cx="1944507" cy="1477328"/>
          </a:xfrm>
          <a:prstGeom prst="rect">
            <a:avLst/>
          </a:prstGeom>
          <a:noFill/>
        </p:spPr>
        <p:txBody>
          <a:bodyPr wrap="none" rtlCol="0">
            <a:spAutoFit/>
          </a:bodyPr>
          <a:lstStyle/>
          <a:p>
            <a:r>
              <a:rPr lang="en-US" dirty="0"/>
              <a:t>- Very fast</a:t>
            </a:r>
          </a:p>
          <a:p>
            <a:r>
              <a:rPr lang="en-US" dirty="0"/>
              <a:t>- Single-key index</a:t>
            </a:r>
          </a:p>
          <a:p>
            <a:r>
              <a:rPr lang="en-US" dirty="0"/>
              <a:t>- Flexible Schema</a:t>
            </a:r>
          </a:p>
          <a:p>
            <a:r>
              <a:rPr lang="en-US" dirty="0"/>
              <a:t>- Scalable</a:t>
            </a:r>
          </a:p>
          <a:p>
            <a:endParaRPr lang="en-US" dirty="0"/>
          </a:p>
        </p:txBody>
      </p:sp>
      <p:sp>
        <p:nvSpPr>
          <p:cNvPr id="15" name="TextBox 14">
            <a:extLst>
              <a:ext uri="{FF2B5EF4-FFF2-40B4-BE49-F238E27FC236}">
                <a16:creationId xmlns:a16="http://schemas.microsoft.com/office/drawing/2014/main" id="{4916DB70-2925-B7F7-03EC-D90FB9575717}"/>
              </a:ext>
            </a:extLst>
          </p:cNvPr>
          <p:cNvSpPr txBox="1"/>
          <p:nvPr/>
        </p:nvSpPr>
        <p:spPr>
          <a:xfrm>
            <a:off x="7174138" y="3834753"/>
            <a:ext cx="2110258" cy="1200329"/>
          </a:xfrm>
          <a:prstGeom prst="rect">
            <a:avLst/>
          </a:prstGeom>
          <a:noFill/>
        </p:spPr>
        <p:txBody>
          <a:bodyPr wrap="none" rtlCol="0">
            <a:spAutoFit/>
          </a:bodyPr>
          <a:lstStyle/>
          <a:p>
            <a:r>
              <a:rPr lang="en-US" dirty="0"/>
              <a:t>- Very fast</a:t>
            </a:r>
          </a:p>
          <a:p>
            <a:r>
              <a:rPr lang="en-US" dirty="0"/>
              <a:t>- Multiple-key index</a:t>
            </a:r>
          </a:p>
          <a:p>
            <a:r>
              <a:rPr lang="en-US" dirty="0"/>
              <a:t>- Flexible Schema</a:t>
            </a:r>
          </a:p>
          <a:p>
            <a:r>
              <a:rPr lang="en-US" dirty="0"/>
              <a:t>- Scalable</a:t>
            </a:r>
          </a:p>
        </p:txBody>
      </p:sp>
      <p:cxnSp>
        <p:nvCxnSpPr>
          <p:cNvPr id="18" name="Straight Connector 17">
            <a:extLst>
              <a:ext uri="{FF2B5EF4-FFF2-40B4-BE49-F238E27FC236}">
                <a16:creationId xmlns:a16="http://schemas.microsoft.com/office/drawing/2014/main" id="{F4156CB2-2044-5443-58C3-3805B7625F23}"/>
              </a:ext>
            </a:extLst>
          </p:cNvPr>
          <p:cNvCxnSpPr/>
          <p:nvPr/>
        </p:nvCxnSpPr>
        <p:spPr>
          <a:xfrm>
            <a:off x="609600" y="1952131"/>
            <a:ext cx="11026588" cy="0"/>
          </a:xfrm>
          <a:prstGeom prst="line">
            <a:avLst/>
          </a:prstGeom>
        </p:spPr>
        <p:style>
          <a:lnRef idx="2">
            <a:schemeClr val="dk1"/>
          </a:lnRef>
          <a:fillRef idx="0">
            <a:schemeClr val="dk1"/>
          </a:fillRef>
          <a:effectRef idx="1">
            <a:schemeClr val="dk1"/>
          </a:effectRef>
          <a:fontRef idx="minor">
            <a:schemeClr val="tx1"/>
          </a:fontRef>
        </p:style>
      </p:cxnSp>
      <p:cxnSp>
        <p:nvCxnSpPr>
          <p:cNvPr id="19" name="Straight Connector 18">
            <a:extLst>
              <a:ext uri="{FF2B5EF4-FFF2-40B4-BE49-F238E27FC236}">
                <a16:creationId xmlns:a16="http://schemas.microsoft.com/office/drawing/2014/main" id="{F11C24B6-2191-B923-D999-844BDE5526C9}"/>
              </a:ext>
            </a:extLst>
          </p:cNvPr>
          <p:cNvCxnSpPr/>
          <p:nvPr/>
        </p:nvCxnSpPr>
        <p:spPr>
          <a:xfrm>
            <a:off x="582706" y="3880702"/>
            <a:ext cx="11026588" cy="0"/>
          </a:xfrm>
          <a:prstGeom prst="line">
            <a:avLst/>
          </a:prstGeom>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3C6A2BB1-02DB-E74F-1ADC-9A6C52604509}"/>
              </a:ext>
            </a:extLst>
          </p:cNvPr>
          <p:cNvCxnSpPr/>
          <p:nvPr/>
        </p:nvCxnSpPr>
        <p:spPr>
          <a:xfrm>
            <a:off x="7028329" y="1380565"/>
            <a:ext cx="0" cy="5342964"/>
          </a:xfrm>
          <a:prstGeom prst="line">
            <a:avLst/>
          </a:prstGeom>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818CDC83-65A6-9C9D-15F9-3D2E8AC2599B}"/>
              </a:ext>
            </a:extLst>
          </p:cNvPr>
          <p:cNvCxnSpPr/>
          <p:nvPr/>
        </p:nvCxnSpPr>
        <p:spPr>
          <a:xfrm>
            <a:off x="1715649" y="1380565"/>
            <a:ext cx="0" cy="5342964"/>
          </a:xfrm>
          <a:prstGeom prst="line">
            <a:avLst/>
          </a:prstGeom>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21E7F940-BDC6-1EE1-9931-CBE9250798C3}"/>
              </a:ext>
            </a:extLst>
          </p:cNvPr>
          <p:cNvSpPr txBox="1"/>
          <p:nvPr/>
        </p:nvSpPr>
        <p:spPr>
          <a:xfrm>
            <a:off x="429072" y="2702512"/>
            <a:ext cx="1221488" cy="707886"/>
          </a:xfrm>
          <a:prstGeom prst="rect">
            <a:avLst/>
          </a:prstGeom>
          <a:noFill/>
        </p:spPr>
        <p:txBody>
          <a:bodyPr wrap="none" rtlCol="0">
            <a:spAutoFit/>
          </a:bodyPr>
          <a:lstStyle/>
          <a:p>
            <a:r>
              <a:rPr lang="en-US" sz="2000" dirty="0"/>
              <a:t>Data </a:t>
            </a:r>
          </a:p>
          <a:p>
            <a:r>
              <a:rPr lang="en-US" sz="2000" dirty="0"/>
              <a:t>Structure</a:t>
            </a:r>
          </a:p>
        </p:txBody>
      </p:sp>
      <p:sp>
        <p:nvSpPr>
          <p:cNvPr id="24" name="TextBox 23">
            <a:extLst>
              <a:ext uri="{FF2B5EF4-FFF2-40B4-BE49-F238E27FC236}">
                <a16:creationId xmlns:a16="http://schemas.microsoft.com/office/drawing/2014/main" id="{1E20F58A-FB9E-D00E-B368-365E39D16AE1}"/>
              </a:ext>
            </a:extLst>
          </p:cNvPr>
          <p:cNvSpPr txBox="1"/>
          <p:nvPr/>
        </p:nvSpPr>
        <p:spPr>
          <a:xfrm>
            <a:off x="429072" y="4164908"/>
            <a:ext cx="1153457" cy="400110"/>
          </a:xfrm>
          <a:prstGeom prst="rect">
            <a:avLst/>
          </a:prstGeom>
          <a:noFill/>
        </p:spPr>
        <p:txBody>
          <a:bodyPr wrap="none" rtlCol="0">
            <a:spAutoFit/>
          </a:bodyPr>
          <a:lstStyle/>
          <a:p>
            <a:r>
              <a:rPr lang="en-US" sz="2000" dirty="0"/>
              <a:t>Features</a:t>
            </a:r>
          </a:p>
        </p:txBody>
      </p:sp>
      <p:cxnSp>
        <p:nvCxnSpPr>
          <p:cNvPr id="25" name="Straight Connector 24">
            <a:extLst>
              <a:ext uri="{FF2B5EF4-FFF2-40B4-BE49-F238E27FC236}">
                <a16:creationId xmlns:a16="http://schemas.microsoft.com/office/drawing/2014/main" id="{E473F683-553C-4E78-98AC-3C3A0775008A}"/>
              </a:ext>
            </a:extLst>
          </p:cNvPr>
          <p:cNvCxnSpPr/>
          <p:nvPr/>
        </p:nvCxnSpPr>
        <p:spPr>
          <a:xfrm>
            <a:off x="609600" y="4964276"/>
            <a:ext cx="11026588" cy="0"/>
          </a:xfrm>
          <a:prstGeom prst="line">
            <a:avLst/>
          </a:prstGeom>
        </p:spPr>
        <p:style>
          <a:lnRef idx="2">
            <a:schemeClr val="dk1"/>
          </a:lnRef>
          <a:fillRef idx="0">
            <a:schemeClr val="dk1"/>
          </a:fillRef>
          <a:effectRef idx="1">
            <a:schemeClr val="dk1"/>
          </a:effectRef>
          <a:fontRef idx="minor">
            <a:schemeClr val="tx1"/>
          </a:fontRef>
        </p:style>
      </p:cxnSp>
      <p:sp>
        <p:nvSpPr>
          <p:cNvPr id="26" name="TextBox 25">
            <a:extLst>
              <a:ext uri="{FF2B5EF4-FFF2-40B4-BE49-F238E27FC236}">
                <a16:creationId xmlns:a16="http://schemas.microsoft.com/office/drawing/2014/main" id="{34EEEE49-3E47-5D60-DC4A-909C67F381DA}"/>
              </a:ext>
            </a:extLst>
          </p:cNvPr>
          <p:cNvSpPr txBox="1"/>
          <p:nvPr/>
        </p:nvSpPr>
        <p:spPr>
          <a:xfrm>
            <a:off x="137072" y="4877275"/>
            <a:ext cx="1554149" cy="923330"/>
          </a:xfrm>
          <a:prstGeom prst="rect">
            <a:avLst/>
          </a:prstGeom>
          <a:noFill/>
        </p:spPr>
        <p:txBody>
          <a:bodyPr wrap="square" rtlCol="0">
            <a:spAutoFit/>
          </a:bodyPr>
          <a:lstStyle/>
          <a:p>
            <a:r>
              <a:rPr lang="en-US" dirty="0"/>
              <a:t>Example:</a:t>
            </a:r>
            <a:br>
              <a:rPr lang="en-US" dirty="0"/>
            </a:br>
            <a:r>
              <a:rPr lang="en-US" dirty="0"/>
              <a:t>find polls</a:t>
            </a:r>
          </a:p>
          <a:p>
            <a:r>
              <a:rPr lang="en-US" dirty="0"/>
              <a:t>w/o vote</a:t>
            </a:r>
          </a:p>
        </p:txBody>
      </p:sp>
      <p:pic>
        <p:nvPicPr>
          <p:cNvPr id="9" name="Picture 8" descr="A white rectangular box with black text&#10;&#10;AI-generated content may be incorrect.">
            <a:extLst>
              <a:ext uri="{FF2B5EF4-FFF2-40B4-BE49-F238E27FC236}">
                <a16:creationId xmlns:a16="http://schemas.microsoft.com/office/drawing/2014/main" id="{55CCD4BD-3233-5C0D-9641-0BF031EBB3AD}"/>
              </a:ext>
            </a:extLst>
          </p:cNvPr>
          <p:cNvPicPr>
            <a:picLocks noChangeAspect="1"/>
          </p:cNvPicPr>
          <p:nvPr/>
        </p:nvPicPr>
        <p:blipFill>
          <a:blip r:embed="rId3"/>
          <a:stretch>
            <a:fillRect/>
          </a:stretch>
        </p:blipFill>
        <p:spPr>
          <a:xfrm>
            <a:off x="4619562" y="1970034"/>
            <a:ext cx="1838213" cy="1915013"/>
          </a:xfrm>
          <a:prstGeom prst="rect">
            <a:avLst/>
          </a:prstGeom>
        </p:spPr>
      </p:pic>
      <p:pic>
        <p:nvPicPr>
          <p:cNvPr id="10" name="Picture 9" descr="A white rectangular box with black text&#10;&#10;AI-generated content may be incorrect.">
            <a:extLst>
              <a:ext uri="{FF2B5EF4-FFF2-40B4-BE49-F238E27FC236}">
                <a16:creationId xmlns:a16="http://schemas.microsoft.com/office/drawing/2014/main" id="{9B8AF018-C05C-47E2-6922-61BED4F95D4C}"/>
              </a:ext>
            </a:extLst>
          </p:cNvPr>
          <p:cNvPicPr>
            <a:picLocks noChangeAspect="1"/>
          </p:cNvPicPr>
          <p:nvPr/>
        </p:nvPicPr>
        <p:blipFill>
          <a:blip r:embed="rId3"/>
          <a:stretch>
            <a:fillRect/>
          </a:stretch>
        </p:blipFill>
        <p:spPr>
          <a:xfrm>
            <a:off x="9560984" y="1951444"/>
            <a:ext cx="1838213" cy="1915013"/>
          </a:xfrm>
          <a:prstGeom prst="rect">
            <a:avLst/>
          </a:prstGeom>
        </p:spPr>
      </p:pic>
      <p:sp>
        <p:nvSpPr>
          <p:cNvPr id="11" name="TextBox 10">
            <a:extLst>
              <a:ext uri="{FF2B5EF4-FFF2-40B4-BE49-F238E27FC236}">
                <a16:creationId xmlns:a16="http://schemas.microsoft.com/office/drawing/2014/main" id="{EE64D28E-F575-AA39-6A84-1F33334D60BA}"/>
              </a:ext>
            </a:extLst>
          </p:cNvPr>
          <p:cNvSpPr txBox="1"/>
          <p:nvPr/>
        </p:nvSpPr>
        <p:spPr>
          <a:xfrm>
            <a:off x="2230858" y="2871789"/>
            <a:ext cx="856325" cy="369332"/>
          </a:xfrm>
          <a:prstGeom prst="rect">
            <a:avLst/>
          </a:prstGeom>
          <a:noFill/>
        </p:spPr>
        <p:txBody>
          <a:bodyPr wrap="none" rtlCol="0">
            <a:spAutoFit/>
          </a:bodyPr>
          <a:lstStyle/>
          <a:p>
            <a:r>
              <a:rPr lang="en-US" dirty="0"/>
              <a:t>poll: id</a:t>
            </a:r>
          </a:p>
        </p:txBody>
      </p:sp>
      <p:cxnSp>
        <p:nvCxnSpPr>
          <p:cNvPr id="16" name="Straight Arrow Connector 15">
            <a:extLst>
              <a:ext uri="{FF2B5EF4-FFF2-40B4-BE49-F238E27FC236}">
                <a16:creationId xmlns:a16="http://schemas.microsoft.com/office/drawing/2014/main" id="{5DAA3F23-ECC0-0A38-EEC8-4767526E62F5}"/>
              </a:ext>
            </a:extLst>
          </p:cNvPr>
          <p:cNvCxnSpPr>
            <a:stCxn id="11" idx="3"/>
          </p:cNvCxnSpPr>
          <p:nvPr/>
        </p:nvCxnSpPr>
        <p:spPr>
          <a:xfrm>
            <a:off x="3087183" y="3056455"/>
            <a:ext cx="135931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F26C809E-83ED-B50B-DE91-8D7C14206DD9}"/>
              </a:ext>
            </a:extLst>
          </p:cNvPr>
          <p:cNvSpPr txBox="1"/>
          <p:nvPr/>
        </p:nvSpPr>
        <p:spPr>
          <a:xfrm>
            <a:off x="7028329" y="2923458"/>
            <a:ext cx="2256067" cy="369332"/>
          </a:xfrm>
          <a:prstGeom prst="rect">
            <a:avLst/>
          </a:prstGeom>
          <a:noFill/>
        </p:spPr>
        <p:txBody>
          <a:bodyPr wrap="none" rtlCol="0">
            <a:spAutoFit/>
          </a:bodyPr>
          <a:lstStyle/>
          <a:p>
            <a:r>
              <a:rPr lang="en-US" dirty="0"/>
              <a:t>(</a:t>
            </a:r>
            <a:r>
              <a:rPr lang="en-US" dirty="0" err="1"/>
              <a:t>poll:id</a:t>
            </a:r>
            <a:r>
              <a:rPr lang="en-US" dirty="0"/>
              <a:t>, </a:t>
            </a:r>
            <a:r>
              <a:rPr lang="en-US" dirty="0" err="1"/>
              <a:t>poll_version</a:t>
            </a:r>
            <a:r>
              <a:rPr lang="en-US" dirty="0"/>
              <a:t>)</a:t>
            </a:r>
          </a:p>
        </p:txBody>
      </p:sp>
      <p:cxnSp>
        <p:nvCxnSpPr>
          <p:cNvPr id="27" name="Straight Arrow Connector 26">
            <a:extLst>
              <a:ext uri="{FF2B5EF4-FFF2-40B4-BE49-F238E27FC236}">
                <a16:creationId xmlns:a16="http://schemas.microsoft.com/office/drawing/2014/main" id="{36DA57EE-6F6C-A73E-C7C3-0A2F5CB54DC0}"/>
              </a:ext>
            </a:extLst>
          </p:cNvPr>
          <p:cNvCxnSpPr/>
          <p:nvPr/>
        </p:nvCxnSpPr>
        <p:spPr>
          <a:xfrm>
            <a:off x="9212680" y="3133547"/>
            <a:ext cx="39473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917A8097-622D-AAB9-8131-7C2996329688}"/>
              </a:ext>
            </a:extLst>
          </p:cNvPr>
          <p:cNvSpPr txBox="1"/>
          <p:nvPr/>
        </p:nvSpPr>
        <p:spPr>
          <a:xfrm>
            <a:off x="3561890" y="5089710"/>
            <a:ext cx="552267" cy="369332"/>
          </a:xfrm>
          <a:prstGeom prst="rect">
            <a:avLst/>
          </a:prstGeom>
          <a:noFill/>
        </p:spPr>
        <p:txBody>
          <a:bodyPr wrap="none" rtlCol="0">
            <a:spAutoFit/>
          </a:bodyPr>
          <a:lstStyle/>
          <a:p>
            <a:r>
              <a:rPr lang="en-US" dirty="0"/>
              <a:t>N/A</a:t>
            </a:r>
          </a:p>
        </p:txBody>
      </p:sp>
      <p:sp>
        <p:nvSpPr>
          <p:cNvPr id="31" name="TextBox 30">
            <a:extLst>
              <a:ext uri="{FF2B5EF4-FFF2-40B4-BE49-F238E27FC236}">
                <a16:creationId xmlns:a16="http://schemas.microsoft.com/office/drawing/2014/main" id="{FB9F9E52-A2EC-F5B4-9E24-8CCB6D0B7979}"/>
              </a:ext>
            </a:extLst>
          </p:cNvPr>
          <p:cNvSpPr txBox="1"/>
          <p:nvPr/>
        </p:nvSpPr>
        <p:spPr>
          <a:xfrm>
            <a:off x="8390436" y="5048666"/>
            <a:ext cx="552267" cy="369332"/>
          </a:xfrm>
          <a:prstGeom prst="rect">
            <a:avLst/>
          </a:prstGeom>
          <a:noFill/>
        </p:spPr>
        <p:txBody>
          <a:bodyPr wrap="none" rtlCol="0">
            <a:spAutoFit/>
          </a:bodyPr>
          <a:lstStyle/>
          <a:p>
            <a:r>
              <a:rPr lang="en-US" dirty="0"/>
              <a:t>N/A</a:t>
            </a:r>
          </a:p>
        </p:txBody>
      </p:sp>
      <p:cxnSp>
        <p:nvCxnSpPr>
          <p:cNvPr id="37" name="Straight Connector 36">
            <a:extLst>
              <a:ext uri="{FF2B5EF4-FFF2-40B4-BE49-F238E27FC236}">
                <a16:creationId xmlns:a16="http://schemas.microsoft.com/office/drawing/2014/main" id="{7A5AF194-A780-E952-E83C-67FD7EB26A78}"/>
              </a:ext>
            </a:extLst>
          </p:cNvPr>
          <p:cNvCxnSpPr/>
          <p:nvPr/>
        </p:nvCxnSpPr>
        <p:spPr>
          <a:xfrm>
            <a:off x="609600" y="5800605"/>
            <a:ext cx="11026588" cy="0"/>
          </a:xfrm>
          <a:prstGeom prst="line">
            <a:avLst/>
          </a:prstGeom>
        </p:spPr>
        <p:style>
          <a:lnRef idx="2">
            <a:schemeClr val="dk1"/>
          </a:lnRef>
          <a:fillRef idx="0">
            <a:schemeClr val="dk1"/>
          </a:fillRef>
          <a:effectRef idx="1">
            <a:schemeClr val="dk1"/>
          </a:effectRef>
          <a:fontRef idx="minor">
            <a:schemeClr val="tx1"/>
          </a:fontRef>
        </p:style>
      </p:cxnSp>
      <p:sp>
        <p:nvSpPr>
          <p:cNvPr id="38" name="TextBox 37">
            <a:extLst>
              <a:ext uri="{FF2B5EF4-FFF2-40B4-BE49-F238E27FC236}">
                <a16:creationId xmlns:a16="http://schemas.microsoft.com/office/drawing/2014/main" id="{C5F64205-A4DB-13DB-3932-E9515F003B7F}"/>
              </a:ext>
            </a:extLst>
          </p:cNvPr>
          <p:cNvSpPr txBox="1"/>
          <p:nvPr/>
        </p:nvSpPr>
        <p:spPr>
          <a:xfrm>
            <a:off x="353107" y="5937758"/>
            <a:ext cx="1139799" cy="369332"/>
          </a:xfrm>
          <a:prstGeom prst="rect">
            <a:avLst/>
          </a:prstGeom>
          <a:noFill/>
        </p:spPr>
        <p:txBody>
          <a:bodyPr wrap="none" rtlCol="0">
            <a:spAutoFit/>
          </a:bodyPr>
          <a:lstStyle/>
          <a:p>
            <a:r>
              <a:rPr lang="en-US" dirty="0"/>
              <a:t>Use Case</a:t>
            </a:r>
          </a:p>
        </p:txBody>
      </p:sp>
      <p:sp>
        <p:nvSpPr>
          <p:cNvPr id="39" name="TextBox 38">
            <a:extLst>
              <a:ext uri="{FF2B5EF4-FFF2-40B4-BE49-F238E27FC236}">
                <a16:creationId xmlns:a16="http://schemas.microsoft.com/office/drawing/2014/main" id="{1ED7FAE0-1CB1-C88D-75E3-51AA95E193A1}"/>
              </a:ext>
            </a:extLst>
          </p:cNvPr>
          <p:cNvSpPr txBox="1"/>
          <p:nvPr/>
        </p:nvSpPr>
        <p:spPr>
          <a:xfrm>
            <a:off x="2563906" y="6024282"/>
            <a:ext cx="3259162" cy="369332"/>
          </a:xfrm>
          <a:prstGeom prst="rect">
            <a:avLst/>
          </a:prstGeom>
          <a:noFill/>
        </p:spPr>
        <p:txBody>
          <a:bodyPr wrap="none" rtlCol="0">
            <a:spAutoFit/>
          </a:bodyPr>
          <a:lstStyle/>
          <a:p>
            <a:r>
              <a:rPr lang="en-US" dirty="0"/>
              <a:t>Caching, session management</a:t>
            </a:r>
          </a:p>
        </p:txBody>
      </p:sp>
      <p:sp>
        <p:nvSpPr>
          <p:cNvPr id="40" name="TextBox 39">
            <a:extLst>
              <a:ext uri="{FF2B5EF4-FFF2-40B4-BE49-F238E27FC236}">
                <a16:creationId xmlns:a16="http://schemas.microsoft.com/office/drawing/2014/main" id="{4081B7AE-2B24-BBE4-DB45-83DEE18B53CD}"/>
              </a:ext>
            </a:extLst>
          </p:cNvPr>
          <p:cNvSpPr txBox="1"/>
          <p:nvPr/>
        </p:nvSpPr>
        <p:spPr>
          <a:xfrm>
            <a:off x="7705819" y="6012131"/>
            <a:ext cx="3985002" cy="369332"/>
          </a:xfrm>
          <a:prstGeom prst="rect">
            <a:avLst/>
          </a:prstGeom>
          <a:noFill/>
        </p:spPr>
        <p:txBody>
          <a:bodyPr wrap="none" rtlCol="0">
            <a:spAutoFit/>
          </a:bodyPr>
          <a:lstStyle/>
          <a:p>
            <a:r>
              <a:rPr lang="en-US" dirty="0"/>
              <a:t>Internet of Things (IoT), Time sequence</a:t>
            </a:r>
          </a:p>
        </p:txBody>
      </p:sp>
    </p:spTree>
    <p:extLst>
      <p:ext uri="{BB962C8B-B14F-4D97-AF65-F5344CB8AC3E}">
        <p14:creationId xmlns:p14="http://schemas.microsoft.com/office/powerpoint/2010/main" val="3960488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D4906-8975-DD04-7BA4-869C4C99F853}"/>
              </a:ext>
            </a:extLst>
          </p:cNvPr>
          <p:cNvSpPr>
            <a:spLocks noGrp="1"/>
          </p:cNvSpPr>
          <p:nvPr>
            <p:ph type="title"/>
          </p:nvPr>
        </p:nvSpPr>
        <p:spPr>
          <a:xfrm>
            <a:off x="839788" y="365125"/>
            <a:ext cx="10688824" cy="1325563"/>
          </a:xfrm>
        </p:spPr>
        <p:txBody>
          <a:bodyPr/>
          <a:lstStyle/>
          <a:p>
            <a:r>
              <a:rPr lang="en-US" dirty="0"/>
              <a:t>How would Document DB benefit </a:t>
            </a:r>
            <a:r>
              <a:rPr lang="en-US" dirty="0" err="1"/>
              <a:t>BioScience</a:t>
            </a:r>
            <a:r>
              <a:rPr lang="en-US" dirty="0"/>
              <a:t>?</a:t>
            </a:r>
          </a:p>
        </p:txBody>
      </p:sp>
      <p:sp>
        <p:nvSpPr>
          <p:cNvPr id="5" name="Text Placeholder 4">
            <a:extLst>
              <a:ext uri="{FF2B5EF4-FFF2-40B4-BE49-F238E27FC236}">
                <a16:creationId xmlns:a16="http://schemas.microsoft.com/office/drawing/2014/main" id="{2B9B899F-155A-1045-7B6C-9C8B57496491}"/>
              </a:ext>
            </a:extLst>
          </p:cNvPr>
          <p:cNvSpPr>
            <a:spLocks noGrp="1"/>
          </p:cNvSpPr>
          <p:nvPr>
            <p:ph type="body" sz="quarter" idx="3"/>
          </p:nvPr>
        </p:nvSpPr>
        <p:spPr>
          <a:xfrm>
            <a:off x="6184200" y="1273970"/>
            <a:ext cx="5661212" cy="823912"/>
          </a:xfrm>
        </p:spPr>
        <p:txBody>
          <a:bodyPr/>
          <a:lstStyle/>
          <a:p>
            <a:r>
              <a:rPr lang="en-US" b="0" dirty="0"/>
              <a:t>100,000 Genomes Project and MongoDB</a:t>
            </a:r>
          </a:p>
        </p:txBody>
      </p:sp>
      <p:sp>
        <p:nvSpPr>
          <p:cNvPr id="6" name="Content Placeholder 5">
            <a:extLst>
              <a:ext uri="{FF2B5EF4-FFF2-40B4-BE49-F238E27FC236}">
                <a16:creationId xmlns:a16="http://schemas.microsoft.com/office/drawing/2014/main" id="{2822DF1C-29F6-AF2B-F912-A451A7B7C602}"/>
              </a:ext>
            </a:extLst>
          </p:cNvPr>
          <p:cNvSpPr>
            <a:spLocks noGrp="1"/>
          </p:cNvSpPr>
          <p:nvPr>
            <p:ph sz="quarter" idx="4"/>
          </p:nvPr>
        </p:nvSpPr>
        <p:spPr>
          <a:xfrm>
            <a:off x="6172200" y="2110631"/>
            <a:ext cx="5183188" cy="3684588"/>
          </a:xfrm>
        </p:spPr>
        <p:txBody>
          <a:bodyPr/>
          <a:lstStyle/>
          <a:p>
            <a:r>
              <a:rPr lang="en-US" dirty="0"/>
              <a:t>Patient data, genome data, sequencing metadata in 1 database</a:t>
            </a:r>
          </a:p>
          <a:p>
            <a:r>
              <a:rPr lang="en-US" dirty="0"/>
              <a:t>Horizontal scaling</a:t>
            </a:r>
          </a:p>
          <a:p>
            <a:r>
              <a:rPr lang="en-US" dirty="0"/>
              <a:t>Concurrent Read/Write</a:t>
            </a:r>
          </a:p>
          <a:p>
            <a:endParaRPr lang="en-US" dirty="0"/>
          </a:p>
        </p:txBody>
      </p:sp>
      <p:pic>
        <p:nvPicPr>
          <p:cNvPr id="8194" name="Picture 2">
            <a:extLst>
              <a:ext uri="{FF2B5EF4-FFF2-40B4-BE49-F238E27FC236}">
                <a16:creationId xmlns:a16="http://schemas.microsoft.com/office/drawing/2014/main" id="{CF127792-EEAE-F16B-EF1C-38784DBF2E89}"/>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822667" y="1447046"/>
            <a:ext cx="5183188" cy="474261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0C08E471-2591-A6FD-F3EE-17977EFA2C0C}"/>
              </a:ext>
            </a:extLst>
          </p:cNvPr>
          <p:cNvSpPr txBox="1"/>
          <p:nvPr/>
        </p:nvSpPr>
        <p:spPr>
          <a:xfrm>
            <a:off x="7942729" y="6412190"/>
            <a:ext cx="6096000" cy="369332"/>
          </a:xfrm>
          <a:prstGeom prst="rect">
            <a:avLst/>
          </a:prstGeom>
          <a:noFill/>
        </p:spPr>
        <p:txBody>
          <a:bodyPr wrap="square">
            <a:spAutoFit/>
          </a:bodyPr>
          <a:lstStyle/>
          <a:p>
            <a:r>
              <a:rPr lang="en-US" dirty="0"/>
              <a:t>https://</a:t>
            </a:r>
            <a:r>
              <a:rPr lang="en-US" dirty="0" err="1"/>
              <a:t>github.com</a:t>
            </a:r>
            <a:r>
              <a:rPr lang="en-US" dirty="0"/>
              <a:t>/</a:t>
            </a:r>
            <a:r>
              <a:rPr lang="en-US" dirty="0" err="1"/>
              <a:t>uludag</a:t>
            </a:r>
            <a:r>
              <a:rPr lang="en-US" dirty="0"/>
              <a:t>/</a:t>
            </a:r>
            <a:r>
              <a:rPr lang="en-US" dirty="0" err="1"/>
              <a:t>nosql-biosets</a:t>
            </a:r>
            <a:endParaRPr lang="en-US" dirty="0"/>
          </a:p>
        </p:txBody>
      </p:sp>
      <p:pic>
        <p:nvPicPr>
          <p:cNvPr id="8198" name="Picture 6" descr="GitHub Logomark">
            <a:extLst>
              <a:ext uri="{FF2B5EF4-FFF2-40B4-BE49-F238E27FC236}">
                <a16:creationId xmlns:a16="http://schemas.microsoft.com/office/drawing/2014/main" id="{254211B0-FAF1-F6FF-6A63-0A0EF9744E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3445" y="6400522"/>
            <a:ext cx="398929" cy="39892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698BF172-41DA-21FE-D5DC-297F7F680DB1}"/>
              </a:ext>
            </a:extLst>
          </p:cNvPr>
          <p:cNvSpPr txBox="1"/>
          <p:nvPr/>
        </p:nvSpPr>
        <p:spPr>
          <a:xfrm>
            <a:off x="5738206" y="4060711"/>
            <a:ext cx="7019364" cy="2031325"/>
          </a:xfrm>
          <a:prstGeom prst="rect">
            <a:avLst/>
          </a:prstGeom>
          <a:noFill/>
        </p:spPr>
        <p:txBody>
          <a:bodyPr wrap="square">
            <a:spAutoFit/>
          </a:bodyPr>
          <a:lstStyle/>
          <a:p>
            <a:r>
              <a:rPr lang="en-US" b="0" i="0" dirty="0">
                <a:solidFill>
                  <a:srgbClr val="222222"/>
                </a:solidFill>
                <a:effectLst/>
                <a:latin typeface="Courier New" panose="02070309020205020404" pitchFamily="49" charset="0"/>
              </a:rPr>
              <a:t>{</a:t>
            </a:r>
            <a:br>
              <a:rPr lang="en-US" dirty="0"/>
            </a:br>
            <a:r>
              <a:rPr lang="en-US" dirty="0">
                <a:solidFill>
                  <a:srgbClr val="222222"/>
                </a:solidFill>
                <a:latin typeface="Courier New" panose="02070309020205020404" pitchFamily="49" charset="0"/>
              </a:rPr>
              <a:t>  </a:t>
            </a:r>
            <a:r>
              <a:rPr lang="en-US" b="0" i="0" dirty="0">
                <a:solidFill>
                  <a:srgbClr val="222222"/>
                </a:solidFill>
                <a:effectLst/>
                <a:latin typeface="Courier New" panose="02070309020205020404" pitchFamily="49" charset="0"/>
              </a:rPr>
              <a:t>_id: "ENSG00000123456",</a:t>
            </a:r>
            <a:br>
              <a:rPr lang="en-US" dirty="0"/>
            </a:br>
            <a:r>
              <a:rPr lang="en-US" dirty="0">
                <a:solidFill>
                  <a:srgbClr val="222222"/>
                </a:solidFill>
                <a:latin typeface="Courier New" panose="02070309020205020404" pitchFamily="49" charset="0"/>
              </a:rPr>
              <a:t> </a:t>
            </a:r>
            <a:r>
              <a:rPr lang="en-US" b="0" i="0" dirty="0">
                <a:solidFill>
                  <a:srgbClr val="222222"/>
                </a:solidFill>
                <a:effectLst/>
                <a:latin typeface="Courier New" panose="02070309020205020404" pitchFamily="49" charset="0"/>
              </a:rPr>
              <a:t> organism: "Homo sapiens”, </a:t>
            </a:r>
          </a:p>
          <a:p>
            <a:r>
              <a:rPr lang="en-US" dirty="0">
                <a:solidFill>
                  <a:srgbClr val="222222"/>
                </a:solidFill>
                <a:latin typeface="Courier New" panose="02070309020205020404" pitchFamily="49" charset="0"/>
              </a:rPr>
              <a:t>  </a:t>
            </a:r>
            <a:r>
              <a:rPr lang="en-US" b="0" i="0" dirty="0">
                <a:solidFill>
                  <a:srgbClr val="222222"/>
                </a:solidFill>
                <a:effectLst/>
                <a:latin typeface="Courier New" panose="02070309020205020404" pitchFamily="49" charset="0"/>
              </a:rPr>
              <a:t>symbol: "TP53",</a:t>
            </a:r>
            <a:br>
              <a:rPr lang="en-US" dirty="0"/>
            </a:br>
            <a:r>
              <a:rPr lang="en-US" dirty="0">
                <a:solidFill>
                  <a:srgbClr val="222222"/>
                </a:solidFill>
                <a:latin typeface="Courier New" panose="02070309020205020404" pitchFamily="49" charset="0"/>
              </a:rPr>
              <a:t> </a:t>
            </a:r>
            <a:r>
              <a:rPr lang="en-US" b="0" i="0" dirty="0">
                <a:solidFill>
                  <a:srgbClr val="222222"/>
                </a:solidFill>
                <a:effectLst/>
                <a:latin typeface="Courier New" panose="02070309020205020404" pitchFamily="49" charset="0"/>
              </a:rPr>
              <a:t> disease:[{name</a:t>
            </a:r>
            <a:r>
              <a:rPr lang="en-US" dirty="0">
                <a:solidFill>
                  <a:srgbClr val="222222"/>
                </a:solidFill>
                <a:latin typeface="Courier New" panose="02070309020205020404" pitchFamily="49" charset="0"/>
              </a:rPr>
              <a:t>: "Li-Fraumeni syndrome”, …}] </a:t>
            </a:r>
            <a:br>
              <a:rPr lang="en-US" dirty="0"/>
            </a:br>
            <a:r>
              <a:rPr lang="en-US" dirty="0">
                <a:solidFill>
                  <a:srgbClr val="222222"/>
                </a:solidFill>
                <a:latin typeface="Courier New" panose="02070309020205020404" pitchFamily="49" charset="0"/>
              </a:rPr>
              <a:t> </a:t>
            </a:r>
            <a:r>
              <a:rPr lang="en-US" b="0" i="0" dirty="0">
                <a:solidFill>
                  <a:srgbClr val="222222"/>
                </a:solidFill>
                <a:effectLst/>
                <a:latin typeface="Courier New" panose="02070309020205020404" pitchFamily="49" charset="0"/>
              </a:rPr>
              <a:t> sequence: "</a:t>
            </a:r>
            <a:r>
              <a:rPr lang="en-US" dirty="0">
                <a:solidFill>
                  <a:srgbClr val="222222"/>
                </a:solidFill>
                <a:latin typeface="Courier New" panose="02070309020205020404" pitchFamily="49" charset="0"/>
              </a:rPr>
              <a:t>ATGCGATCGCATCGATCG…"</a:t>
            </a:r>
          </a:p>
          <a:p>
            <a:r>
              <a:rPr lang="en-US" dirty="0">
                <a:solidFill>
                  <a:srgbClr val="222222"/>
                </a:solidFill>
                <a:latin typeface="Courier New" panose="02070309020205020404" pitchFamily="49" charset="0"/>
              </a:rPr>
              <a:t>}</a:t>
            </a:r>
            <a:endParaRPr lang="en-US" dirty="0"/>
          </a:p>
        </p:txBody>
      </p:sp>
      <p:sp>
        <p:nvSpPr>
          <p:cNvPr id="11" name="TextBox 10">
            <a:extLst>
              <a:ext uri="{FF2B5EF4-FFF2-40B4-BE49-F238E27FC236}">
                <a16:creationId xmlns:a16="http://schemas.microsoft.com/office/drawing/2014/main" id="{432ABB0E-E645-CC94-718A-DB612AB72149}"/>
              </a:ext>
            </a:extLst>
          </p:cNvPr>
          <p:cNvSpPr txBox="1"/>
          <p:nvPr/>
        </p:nvSpPr>
        <p:spPr>
          <a:xfrm>
            <a:off x="4376498" y="6155438"/>
            <a:ext cx="1629357" cy="369332"/>
          </a:xfrm>
          <a:prstGeom prst="rect">
            <a:avLst/>
          </a:prstGeom>
          <a:noFill/>
        </p:spPr>
        <p:txBody>
          <a:bodyPr wrap="none" rtlCol="0">
            <a:spAutoFit/>
          </a:bodyPr>
          <a:lstStyle/>
          <a:p>
            <a:r>
              <a:rPr lang="en-US" dirty="0" err="1"/>
              <a:t>mongodb.com</a:t>
            </a:r>
            <a:endParaRPr lang="en-US" dirty="0"/>
          </a:p>
        </p:txBody>
      </p:sp>
    </p:spTree>
    <p:extLst>
      <p:ext uri="{BB962C8B-B14F-4D97-AF65-F5344CB8AC3E}">
        <p14:creationId xmlns:p14="http://schemas.microsoft.com/office/powerpoint/2010/main" val="3088856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F0054-ADA8-D588-5E88-371114381E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432DF6-DE4E-C69D-D922-52DB6561915E}"/>
              </a:ext>
            </a:extLst>
          </p:cNvPr>
          <p:cNvSpPr>
            <a:spLocks noGrp="1"/>
          </p:cNvSpPr>
          <p:nvPr>
            <p:ph type="title"/>
          </p:nvPr>
        </p:nvSpPr>
        <p:spPr>
          <a:xfrm>
            <a:off x="839788" y="365125"/>
            <a:ext cx="10688824" cy="1325563"/>
          </a:xfrm>
        </p:spPr>
        <p:txBody>
          <a:bodyPr/>
          <a:lstStyle/>
          <a:p>
            <a:r>
              <a:rPr lang="en-US" dirty="0"/>
              <a:t>How would Graph DB benefit </a:t>
            </a:r>
            <a:r>
              <a:rPr lang="en-US" dirty="0" err="1"/>
              <a:t>BioScience</a:t>
            </a:r>
            <a:r>
              <a:rPr lang="en-US" dirty="0"/>
              <a:t>?</a:t>
            </a:r>
          </a:p>
        </p:txBody>
      </p:sp>
      <p:sp>
        <p:nvSpPr>
          <p:cNvPr id="8" name="TextBox 7">
            <a:extLst>
              <a:ext uri="{FF2B5EF4-FFF2-40B4-BE49-F238E27FC236}">
                <a16:creationId xmlns:a16="http://schemas.microsoft.com/office/drawing/2014/main" id="{CB6EDC16-5F4E-D2C0-FA39-B2D938681029}"/>
              </a:ext>
            </a:extLst>
          </p:cNvPr>
          <p:cNvSpPr txBox="1"/>
          <p:nvPr/>
        </p:nvSpPr>
        <p:spPr>
          <a:xfrm>
            <a:off x="7942729" y="6412190"/>
            <a:ext cx="6096000" cy="369332"/>
          </a:xfrm>
          <a:prstGeom prst="rect">
            <a:avLst/>
          </a:prstGeom>
          <a:noFill/>
        </p:spPr>
        <p:txBody>
          <a:bodyPr wrap="square">
            <a:spAutoFit/>
          </a:bodyPr>
          <a:lstStyle/>
          <a:p>
            <a:r>
              <a:rPr lang="en-US" dirty="0"/>
              <a:t>https://</a:t>
            </a:r>
            <a:r>
              <a:rPr lang="en-US" dirty="0" err="1"/>
              <a:t>github.com</a:t>
            </a:r>
            <a:r>
              <a:rPr lang="en-US" dirty="0"/>
              <a:t>/</a:t>
            </a:r>
            <a:r>
              <a:rPr lang="en-US" dirty="0" err="1"/>
              <a:t>hetio</a:t>
            </a:r>
            <a:r>
              <a:rPr lang="en-US" dirty="0"/>
              <a:t>/</a:t>
            </a:r>
            <a:r>
              <a:rPr lang="en-US" dirty="0" err="1"/>
              <a:t>hetnetpy</a:t>
            </a:r>
            <a:endParaRPr lang="en-US" dirty="0"/>
          </a:p>
        </p:txBody>
      </p:sp>
      <p:pic>
        <p:nvPicPr>
          <p:cNvPr id="11266" name="Picture 2" descr="Watch Daniel Himmelstein's presentation on the heterogeneous biomedical network Hetionet">
            <a:extLst>
              <a:ext uri="{FF2B5EF4-FFF2-40B4-BE49-F238E27FC236}">
                <a16:creationId xmlns:a16="http://schemas.microsoft.com/office/drawing/2014/main" id="{5DE54AD9-6A48-4BCE-F31B-512DC358864F}"/>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73345" y="1690688"/>
            <a:ext cx="5946858" cy="434578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B51E11F-2650-7A6D-EBE7-CCE9A8845C18}"/>
              </a:ext>
            </a:extLst>
          </p:cNvPr>
          <p:cNvSpPr txBox="1"/>
          <p:nvPr/>
        </p:nvSpPr>
        <p:spPr>
          <a:xfrm>
            <a:off x="4631442" y="6005768"/>
            <a:ext cx="1242071" cy="369332"/>
          </a:xfrm>
          <a:prstGeom prst="rect">
            <a:avLst/>
          </a:prstGeom>
          <a:noFill/>
        </p:spPr>
        <p:txBody>
          <a:bodyPr wrap="none" rtlCol="0">
            <a:spAutoFit/>
          </a:bodyPr>
          <a:lstStyle/>
          <a:p>
            <a:r>
              <a:rPr lang="en-US" dirty="0"/>
              <a:t>neo4j.com</a:t>
            </a:r>
          </a:p>
        </p:txBody>
      </p:sp>
      <p:pic>
        <p:nvPicPr>
          <p:cNvPr id="14" name="Content Placeholder 13" descr="A diagram of lung cancer&#10;&#10;AI-generated content may be incorrect.">
            <a:extLst>
              <a:ext uri="{FF2B5EF4-FFF2-40B4-BE49-F238E27FC236}">
                <a16:creationId xmlns:a16="http://schemas.microsoft.com/office/drawing/2014/main" id="{EEEA0E72-8CC6-B0C7-10F3-7E6CAA8B54DC}"/>
              </a:ext>
            </a:extLst>
          </p:cNvPr>
          <p:cNvPicPr>
            <a:picLocks noGrp="1" noChangeAspect="1"/>
          </p:cNvPicPr>
          <p:nvPr>
            <p:ph sz="quarter" idx="4"/>
          </p:nvPr>
        </p:nvPicPr>
        <p:blipFill>
          <a:blip r:embed="rId4"/>
          <a:stretch>
            <a:fillRect/>
          </a:stretch>
        </p:blipFill>
        <p:spPr>
          <a:xfrm>
            <a:off x="6644305" y="1298713"/>
            <a:ext cx="4527278" cy="4053303"/>
          </a:xfrm>
          <a:prstGeom prst="rect">
            <a:avLst/>
          </a:prstGeom>
        </p:spPr>
      </p:pic>
      <p:pic>
        <p:nvPicPr>
          <p:cNvPr id="15" name="Picture 6" descr="GitHub Logomark">
            <a:extLst>
              <a:ext uri="{FF2B5EF4-FFF2-40B4-BE49-F238E27FC236}">
                <a16:creationId xmlns:a16="http://schemas.microsoft.com/office/drawing/2014/main" id="{420B288C-BAA8-DB9A-A96B-406627FA0C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33445" y="6400522"/>
            <a:ext cx="398929" cy="398929"/>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6E83BD9D-5B2B-A814-C1DB-8323CC151CE2}"/>
              </a:ext>
            </a:extLst>
          </p:cNvPr>
          <p:cNvSpPr txBox="1"/>
          <p:nvPr/>
        </p:nvSpPr>
        <p:spPr>
          <a:xfrm>
            <a:off x="6644305" y="5049893"/>
            <a:ext cx="4823792" cy="369332"/>
          </a:xfrm>
          <a:prstGeom prst="rect">
            <a:avLst/>
          </a:prstGeom>
          <a:noFill/>
        </p:spPr>
        <p:txBody>
          <a:bodyPr wrap="square" rtlCol="0">
            <a:spAutoFit/>
          </a:bodyPr>
          <a:lstStyle/>
          <a:p>
            <a:r>
              <a:rPr lang="en-US" dirty="0"/>
              <a:t>Which tissue does Lung Cancer Localize?</a:t>
            </a:r>
          </a:p>
        </p:txBody>
      </p:sp>
      <p:sp>
        <p:nvSpPr>
          <p:cNvPr id="18" name="TextBox 17">
            <a:extLst>
              <a:ext uri="{FF2B5EF4-FFF2-40B4-BE49-F238E27FC236}">
                <a16:creationId xmlns:a16="http://schemas.microsoft.com/office/drawing/2014/main" id="{8873427E-4C20-27BF-850C-C13B80671C4F}"/>
              </a:ext>
            </a:extLst>
          </p:cNvPr>
          <p:cNvSpPr txBox="1"/>
          <p:nvPr/>
        </p:nvSpPr>
        <p:spPr>
          <a:xfrm>
            <a:off x="6605429" y="5388326"/>
            <a:ext cx="5572540" cy="923330"/>
          </a:xfrm>
          <a:prstGeom prst="rect">
            <a:avLst/>
          </a:prstGeom>
          <a:noFill/>
        </p:spPr>
        <p:txBody>
          <a:bodyPr wrap="square">
            <a:spAutoFit/>
          </a:bodyPr>
          <a:lstStyle/>
          <a:p>
            <a:r>
              <a:rPr lang="en-US" dirty="0"/>
              <a:t>MATCH path = (:Disease {name: 'lung cancer'})-[:LOCALIZES_DlA]-&gt;()</a:t>
            </a:r>
          </a:p>
          <a:p>
            <a:r>
              <a:rPr lang="en-US" dirty="0"/>
              <a:t>RETURN path</a:t>
            </a:r>
          </a:p>
        </p:txBody>
      </p:sp>
    </p:spTree>
    <p:extLst>
      <p:ext uri="{BB962C8B-B14F-4D97-AF65-F5344CB8AC3E}">
        <p14:creationId xmlns:p14="http://schemas.microsoft.com/office/powerpoint/2010/main" val="23876912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41B37-794D-C817-E01E-8521EA8610C6}"/>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5B3F4C4E-472F-0622-F465-17CC19ECA687}"/>
              </a:ext>
            </a:extLst>
          </p:cNvPr>
          <p:cNvSpPr>
            <a:spLocks noGrp="1"/>
          </p:cNvSpPr>
          <p:nvPr>
            <p:ph type="title"/>
          </p:nvPr>
        </p:nvSpPr>
        <p:spPr/>
        <p:txBody>
          <a:bodyPr/>
          <a:lstStyle/>
          <a:p>
            <a:r>
              <a:rPr lang="en-US" dirty="0"/>
              <a:t>Which Database to choose?</a:t>
            </a:r>
          </a:p>
        </p:txBody>
      </p:sp>
      <p:pic>
        <p:nvPicPr>
          <p:cNvPr id="17" name="Picture 16" descr="A diagram of data flow&#10;&#10;AI-generated content may be incorrect.">
            <a:extLst>
              <a:ext uri="{FF2B5EF4-FFF2-40B4-BE49-F238E27FC236}">
                <a16:creationId xmlns:a16="http://schemas.microsoft.com/office/drawing/2014/main" id="{3F9BB443-5065-9062-B8FA-1CFBFD7DA76E}"/>
              </a:ext>
            </a:extLst>
          </p:cNvPr>
          <p:cNvPicPr>
            <a:picLocks noChangeAspect="1"/>
          </p:cNvPicPr>
          <p:nvPr/>
        </p:nvPicPr>
        <p:blipFill>
          <a:blip r:embed="rId3"/>
          <a:stretch>
            <a:fillRect/>
          </a:stretch>
        </p:blipFill>
        <p:spPr>
          <a:xfrm>
            <a:off x="1146035" y="1690688"/>
            <a:ext cx="9899930" cy="4594186"/>
          </a:xfrm>
          <a:prstGeom prst="rect">
            <a:avLst/>
          </a:prstGeom>
        </p:spPr>
      </p:pic>
      <p:sp>
        <p:nvSpPr>
          <p:cNvPr id="20" name="TextBox 19">
            <a:extLst>
              <a:ext uri="{FF2B5EF4-FFF2-40B4-BE49-F238E27FC236}">
                <a16:creationId xmlns:a16="http://schemas.microsoft.com/office/drawing/2014/main" id="{6BAD4511-A27C-EFAA-AF76-564F55DEC8E8}"/>
              </a:ext>
            </a:extLst>
          </p:cNvPr>
          <p:cNvSpPr txBox="1"/>
          <p:nvPr/>
        </p:nvSpPr>
        <p:spPr>
          <a:xfrm>
            <a:off x="39757" y="6377639"/>
            <a:ext cx="12973878" cy="369332"/>
          </a:xfrm>
          <a:prstGeom prst="rect">
            <a:avLst/>
          </a:prstGeom>
          <a:noFill/>
        </p:spPr>
        <p:txBody>
          <a:bodyPr wrap="square">
            <a:spAutoFit/>
          </a:bodyPr>
          <a:lstStyle/>
          <a:p>
            <a:r>
              <a:rPr lang="en-US" dirty="0"/>
              <a:t>Modern SQL databases now offer robust horizontal scaling, rivaling NoSQL systems. </a:t>
            </a:r>
            <a:r>
              <a:rPr lang="en-US" i="1" dirty="0"/>
              <a:t>E.g. Google Spanner, MySQL NDB.</a:t>
            </a:r>
            <a:endParaRPr lang="en-US" dirty="0"/>
          </a:p>
        </p:txBody>
      </p:sp>
    </p:spTree>
    <p:extLst>
      <p:ext uri="{BB962C8B-B14F-4D97-AF65-F5344CB8AC3E}">
        <p14:creationId xmlns:p14="http://schemas.microsoft.com/office/powerpoint/2010/main" val="422479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11064240" cy="777240"/>
          </a:xfrm>
        </p:spPr>
        <p:txBody>
          <a:bodyPr wrap="square" anchor="ctr"/>
          <a:lstStyle/>
          <a:p>
            <a:pPr algn="l"/>
            <a:r>
              <a:rPr sz="3000" b="1" i="0">
                <a:solidFill>
                  <a:srgbClr val="0E2841"/>
                </a:solidFill>
              </a:rPr>
              <a:t>What comes next: from concepts to hands-on</a:t>
            </a:r>
          </a:p>
        </p:txBody>
      </p:sp>
      <p:sp>
        <p:nvSpPr>
          <p:cNvPr id="3" name="footer"/>
          <p:cNvSpPr txBox="1"/>
          <p:nvPr/>
        </p:nvSpPr>
        <p:spPr>
          <a:xfrm>
            <a:off x="548640" y="6455664"/>
            <a:ext cx="8686800" cy="274320"/>
          </a:xfrm>
          <a:prstGeom prst="rect">
            <a:avLst/>
          </a:prstGeom>
          <a:noFill/>
        </p:spPr>
        <p:txBody>
          <a:bodyPr wrap="square" lIns="45720" tIns="27432" rIns="45720" bIns="27432" anchor="t">
            <a:spAutoFit/>
          </a:bodyPr>
          <a:lstStyle/>
          <a:p>
            <a:pPr algn="l">
              <a:spcAft>
                <a:spcPts val="600"/>
              </a:spcAft>
            </a:pPr>
            <a:r>
              <a:rPr sz="1000" b="0" i="0">
                <a:solidFill>
                  <a:srgbClr val="595959"/>
                </a:solidFill>
              </a:rPr>
              <a:t>NoSQL Databases for Bioinformatics  ·  Lecture 24  ·  NoSQL foundations</a:t>
            </a:r>
          </a:p>
        </p:txBody>
      </p:sp>
      <p:sp>
        <p:nvSpPr>
          <p:cNvPr id="4" name="slide number"/>
          <p:cNvSpPr txBox="1"/>
          <p:nvPr/>
        </p:nvSpPr>
        <p:spPr>
          <a:xfrm>
            <a:off x="10698480" y="6455664"/>
            <a:ext cx="914400" cy="274320"/>
          </a:xfrm>
          <a:prstGeom prst="rect">
            <a:avLst/>
          </a:prstGeom>
          <a:noFill/>
        </p:spPr>
        <p:txBody>
          <a:bodyPr wrap="square" lIns="45720" tIns="27432" rIns="45720" bIns="27432" anchor="t">
            <a:spAutoFit/>
          </a:bodyPr>
          <a:lstStyle/>
          <a:p>
            <a:pPr algn="r">
              <a:spcAft>
                <a:spcPts val="600"/>
              </a:spcAft>
            </a:pPr>
            <a:fld id="{B6F15528-21DE-4FAA-801E-634DDDAF4B2B}" type="slidenum">
              <a:rPr lang="en-US" sz="1000">
                <a:solidFill>
                  <a:srgbClr val="595959"/>
                </a:solidFill>
              </a:rPr>
              <a:t>16</a:t>
            </a:fld>
            <a:endParaRPr lang="en-US" sz="1000">
              <a:solidFill>
                <a:srgbClr val="595959"/>
              </a:solidFill>
            </a:endParaRPr>
          </a:p>
        </p:txBody>
      </p:sp>
      <p:sp>
        <p:nvSpPr>
          <p:cNvPr id="5" name="lecture 25"/>
          <p:cNvSpPr/>
          <p:nvPr/>
        </p:nvSpPr>
        <p:spPr>
          <a:xfrm>
            <a:off x="548640" y="1325880"/>
            <a:ext cx="3566160" cy="3977639"/>
          </a:xfrm>
          <a:prstGeom prst="roundRect">
            <a:avLst>
              <a:gd name="adj" fmla="val 1538"/>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ag 25"/>
          <p:cNvSpPr/>
          <p:nvPr/>
        </p:nvSpPr>
        <p:spPr>
          <a:xfrm>
            <a:off x="685800" y="1463040"/>
            <a:ext cx="822960" cy="457200"/>
          </a:xfrm>
          <a:prstGeom prst="roundRect">
            <a:avLst>
              <a:gd name="adj" fmla="val 16000"/>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FFFFFF"/>
                </a:solidFill>
              </a:rPr>
              <a:t>L25</a:t>
            </a:r>
          </a:p>
        </p:txBody>
      </p:sp>
      <p:sp>
        <p:nvSpPr>
          <p:cNvPr id="7" name="name 25"/>
          <p:cNvSpPr txBox="1"/>
          <p:nvPr/>
        </p:nvSpPr>
        <p:spPr>
          <a:xfrm>
            <a:off x="1600200" y="1417320"/>
            <a:ext cx="2423160" cy="548640"/>
          </a:xfrm>
          <a:prstGeom prst="rect">
            <a:avLst/>
          </a:prstGeom>
          <a:noFill/>
        </p:spPr>
        <p:txBody>
          <a:bodyPr wrap="square" lIns="45720" tIns="27432" rIns="45720" bIns="27432" anchor="ctr">
            <a:spAutoFit/>
          </a:bodyPr>
          <a:lstStyle/>
          <a:p>
            <a:pPr algn="l">
              <a:spcAft>
                <a:spcPts val="600"/>
              </a:spcAft>
            </a:pPr>
            <a:r>
              <a:rPr sz="1900" b="1" i="0">
                <a:solidFill>
                  <a:srgbClr val="2E8B3E"/>
                </a:solidFill>
              </a:rPr>
              <a:t>MongoDB</a:t>
            </a:r>
          </a:p>
        </p:txBody>
      </p:sp>
      <p:sp>
        <p:nvSpPr>
          <p:cNvPr id="8" name="sub 25"/>
          <p:cNvSpPr txBox="1"/>
          <p:nvPr/>
        </p:nvSpPr>
        <p:spPr>
          <a:xfrm>
            <a:off x="685800" y="2103120"/>
            <a:ext cx="3291840" cy="365760"/>
          </a:xfrm>
          <a:prstGeom prst="rect">
            <a:avLst/>
          </a:prstGeom>
          <a:noFill/>
        </p:spPr>
        <p:txBody>
          <a:bodyPr wrap="square" lIns="45720" tIns="27432" rIns="45720" bIns="27432" anchor="t">
            <a:spAutoFit/>
          </a:bodyPr>
          <a:lstStyle/>
          <a:p>
            <a:pPr algn="l">
              <a:spcAft>
                <a:spcPts val="600"/>
              </a:spcAft>
            </a:pPr>
            <a:r>
              <a:rPr sz="1500" b="0" i="0">
                <a:solidFill>
                  <a:srgbClr val="595959"/>
                </a:solidFill>
              </a:rPr>
              <a:t>Document model</a:t>
            </a:r>
          </a:p>
        </p:txBody>
      </p:sp>
      <p:sp>
        <p:nvSpPr>
          <p:cNvPr id="9" name="bullets 25"/>
          <p:cNvSpPr txBox="1"/>
          <p:nvPr/>
        </p:nvSpPr>
        <p:spPr>
          <a:xfrm>
            <a:off x="685800" y="2606040"/>
            <a:ext cx="3291840" cy="2560320"/>
          </a:xfrm>
          <a:prstGeom prst="rect">
            <a:avLst/>
          </a:prstGeom>
          <a:noFill/>
        </p:spPr>
        <p:txBody>
          <a:bodyPr wrap="square" lIns="45720" tIns="27432" rIns="45720" bIns="27432" anchor="t">
            <a:spAutoFit/>
          </a:bodyPr>
          <a:lstStyle/>
          <a:p>
            <a:pPr marL="256032" indent="-256032" algn="l">
              <a:spcAft>
                <a:spcPts val="800"/>
              </a:spcAft>
              <a:buFont typeface="Arial"/>
              <a:buChar char="•"/>
            </a:pPr>
            <a:r>
              <a:rPr sz="1600" b="0" i="0">
                <a:solidFill>
                  <a:srgbClr val="0E2841"/>
                </a:solidFill>
              </a:rPr>
              <a:t>VCF variants as JSON documents</a:t>
            </a:r>
          </a:p>
          <a:p>
            <a:pPr marL="256032" indent="-256032" algn="l">
              <a:spcAft>
                <a:spcPts val="800"/>
              </a:spcAft>
              <a:buFont typeface="Arial"/>
              <a:buChar char="•"/>
            </a:pPr>
            <a:r>
              <a:rPr sz="1600" b="0" i="0">
                <a:solidFill>
                  <a:srgbClr val="0E2841"/>
                </a:solidFill>
              </a:rPr>
              <a:t>CRUD · RBAC · indexes</a:t>
            </a:r>
          </a:p>
          <a:p>
            <a:pPr marL="256032" indent="-256032" algn="l">
              <a:spcAft>
                <a:spcPts val="800"/>
              </a:spcAft>
              <a:buFont typeface="Arial"/>
              <a:buChar char="•"/>
            </a:pPr>
            <a:r>
              <a:rPr sz="1600" b="0" i="0">
                <a:solidFill>
                  <a:srgbClr val="0E2841"/>
                </a:solidFill>
              </a:rPr>
              <a:t>Aggregation ≈ </a:t>
            </a:r>
            <a:r>
              <a:rPr sz="1600" b="0" i="0">
                <a:solidFill>
                  <a:srgbClr val="156082"/>
                </a:solidFill>
                <a:latin typeface="Courier New"/>
              </a:rPr>
              <a:t>bcftools stats</a:t>
            </a:r>
          </a:p>
        </p:txBody>
      </p:sp>
      <p:sp>
        <p:nvSpPr>
          <p:cNvPr id="10" name="lecture 26"/>
          <p:cNvSpPr/>
          <p:nvPr/>
        </p:nvSpPr>
        <p:spPr>
          <a:xfrm>
            <a:off x="4297679" y="1325880"/>
            <a:ext cx="3566160" cy="3977639"/>
          </a:xfrm>
          <a:prstGeom prst="roundRect">
            <a:avLst>
              <a:gd name="adj" fmla="val 1538"/>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ag 26"/>
          <p:cNvSpPr/>
          <p:nvPr/>
        </p:nvSpPr>
        <p:spPr>
          <a:xfrm>
            <a:off x="4434840" y="1463040"/>
            <a:ext cx="822960" cy="457200"/>
          </a:xfrm>
          <a:prstGeom prst="roundRect">
            <a:avLst>
              <a:gd name="adj" fmla="val 16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FFFFFF"/>
                </a:solidFill>
              </a:rPr>
              <a:t>L26</a:t>
            </a:r>
          </a:p>
        </p:txBody>
      </p:sp>
      <p:sp>
        <p:nvSpPr>
          <p:cNvPr id="12" name="name 26"/>
          <p:cNvSpPr txBox="1"/>
          <p:nvPr/>
        </p:nvSpPr>
        <p:spPr>
          <a:xfrm>
            <a:off x="5349240" y="1417320"/>
            <a:ext cx="2423160" cy="548640"/>
          </a:xfrm>
          <a:prstGeom prst="rect">
            <a:avLst/>
          </a:prstGeom>
          <a:noFill/>
        </p:spPr>
        <p:txBody>
          <a:bodyPr wrap="square" lIns="45720" tIns="27432" rIns="45720" bIns="27432" anchor="ctr">
            <a:spAutoFit/>
          </a:bodyPr>
          <a:lstStyle/>
          <a:p>
            <a:pPr algn="l">
              <a:spcAft>
                <a:spcPts val="600"/>
              </a:spcAft>
            </a:pPr>
            <a:r>
              <a:rPr sz="1900" b="1" i="0">
                <a:solidFill>
                  <a:srgbClr val="156082"/>
                </a:solidFill>
              </a:rPr>
              <a:t>Graph basics</a:t>
            </a:r>
          </a:p>
        </p:txBody>
      </p:sp>
      <p:sp>
        <p:nvSpPr>
          <p:cNvPr id="13" name="sub 26"/>
          <p:cNvSpPr txBox="1"/>
          <p:nvPr/>
        </p:nvSpPr>
        <p:spPr>
          <a:xfrm>
            <a:off x="4434840" y="2103120"/>
            <a:ext cx="3291840" cy="365760"/>
          </a:xfrm>
          <a:prstGeom prst="rect">
            <a:avLst/>
          </a:prstGeom>
          <a:noFill/>
        </p:spPr>
        <p:txBody>
          <a:bodyPr wrap="square" lIns="45720" tIns="27432" rIns="45720" bIns="27432" anchor="t">
            <a:spAutoFit/>
          </a:bodyPr>
          <a:lstStyle/>
          <a:p>
            <a:pPr algn="l">
              <a:spcAft>
                <a:spcPts val="600"/>
              </a:spcAft>
            </a:pPr>
            <a:r>
              <a:rPr sz="1500" b="0" i="0">
                <a:solidFill>
                  <a:srgbClr val="595959"/>
                </a:solidFill>
              </a:rPr>
              <a:t>Nodes · relationships</a:t>
            </a:r>
          </a:p>
        </p:txBody>
      </p:sp>
      <p:sp>
        <p:nvSpPr>
          <p:cNvPr id="14" name="bullets 26"/>
          <p:cNvSpPr txBox="1"/>
          <p:nvPr/>
        </p:nvSpPr>
        <p:spPr>
          <a:xfrm>
            <a:off x="4434840" y="2606040"/>
            <a:ext cx="3291840" cy="2560320"/>
          </a:xfrm>
          <a:prstGeom prst="rect">
            <a:avLst/>
          </a:prstGeom>
          <a:noFill/>
        </p:spPr>
        <p:txBody>
          <a:bodyPr wrap="square" lIns="45720" tIns="27432" rIns="45720" bIns="27432" anchor="t">
            <a:spAutoFit/>
          </a:bodyPr>
          <a:lstStyle/>
          <a:p>
            <a:pPr marL="256032" indent="-256032" algn="l">
              <a:spcAft>
                <a:spcPts val="800"/>
              </a:spcAft>
              <a:buFont typeface="Arial"/>
              <a:buChar char="•"/>
            </a:pPr>
            <a:r>
              <a:rPr sz="1600" b="0" i="0">
                <a:solidFill>
                  <a:srgbClr val="0E2841"/>
                </a:solidFill>
              </a:rPr>
              <a:t>Property graph model</a:t>
            </a:r>
          </a:p>
          <a:p>
            <a:pPr marL="256032" indent="-256032" algn="l">
              <a:spcAft>
                <a:spcPts val="800"/>
              </a:spcAft>
              <a:buFont typeface="Arial"/>
              <a:buChar char="•"/>
            </a:pPr>
            <a:r>
              <a:rPr sz="1600" b="0" i="0">
                <a:solidFill>
                  <a:srgbClr val="0E2841"/>
                </a:solidFill>
              </a:rPr>
              <a:t>Cypher: </a:t>
            </a:r>
            <a:r>
              <a:rPr sz="1600" b="0" i="0">
                <a:solidFill>
                  <a:srgbClr val="156082"/>
                </a:solidFill>
                <a:latin typeface="Courier New"/>
              </a:rPr>
              <a:t>MATCH</a:t>
            </a:r>
            <a:r>
              <a:rPr sz="1600" b="0" i="0">
                <a:solidFill>
                  <a:srgbClr val="0E2841"/>
                </a:solidFill>
              </a:rPr>
              <a:t> </a:t>
            </a:r>
            <a:r>
              <a:rPr sz="1600" b="0" i="0">
                <a:solidFill>
                  <a:srgbClr val="156082"/>
                </a:solidFill>
                <a:latin typeface="Courier New"/>
              </a:rPr>
              <a:t>MERGE</a:t>
            </a:r>
          </a:p>
          <a:p>
            <a:pPr marL="256032" indent="-256032" algn="l">
              <a:spcAft>
                <a:spcPts val="800"/>
              </a:spcAft>
              <a:buFont typeface="Arial"/>
              <a:buChar char="•"/>
            </a:pPr>
            <a:r>
              <a:rPr sz="1600" b="0" i="0">
                <a:solidFill>
                  <a:srgbClr val="0E2841"/>
                </a:solidFill>
              </a:rPr>
              <a:t>Traversal: shared neighbours</a:t>
            </a:r>
          </a:p>
        </p:txBody>
      </p:sp>
      <p:sp>
        <p:nvSpPr>
          <p:cNvPr id="15" name="lecture 27"/>
          <p:cNvSpPr/>
          <p:nvPr/>
        </p:nvSpPr>
        <p:spPr>
          <a:xfrm>
            <a:off x="8046719" y="1325880"/>
            <a:ext cx="3566160" cy="3977639"/>
          </a:xfrm>
          <a:prstGeom prst="roundRect">
            <a:avLst>
              <a:gd name="adj" fmla="val 1538"/>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ag 27"/>
          <p:cNvSpPr/>
          <p:nvPr/>
        </p:nvSpPr>
        <p:spPr>
          <a:xfrm>
            <a:off x="8183879" y="1463040"/>
            <a:ext cx="822960" cy="457200"/>
          </a:xfrm>
          <a:prstGeom prst="roundRect">
            <a:avLst>
              <a:gd name="adj" fmla="val 16000"/>
            </a:avLst>
          </a:prstGeom>
          <a:solidFill>
            <a:srgbClr val="D4134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FFFFFF"/>
                </a:solidFill>
              </a:rPr>
              <a:t>L27</a:t>
            </a:r>
          </a:p>
        </p:txBody>
      </p:sp>
      <p:sp>
        <p:nvSpPr>
          <p:cNvPr id="17" name="name 27"/>
          <p:cNvSpPr txBox="1"/>
          <p:nvPr/>
        </p:nvSpPr>
        <p:spPr>
          <a:xfrm>
            <a:off x="9098280" y="1417320"/>
            <a:ext cx="2423160" cy="548640"/>
          </a:xfrm>
          <a:prstGeom prst="rect">
            <a:avLst/>
          </a:prstGeom>
          <a:noFill/>
        </p:spPr>
        <p:txBody>
          <a:bodyPr wrap="square" lIns="45720" tIns="27432" rIns="45720" bIns="27432" anchor="ctr">
            <a:spAutoFit/>
          </a:bodyPr>
          <a:lstStyle/>
          <a:p>
            <a:pPr algn="l">
              <a:spcAft>
                <a:spcPts val="600"/>
              </a:spcAft>
            </a:pPr>
            <a:r>
              <a:rPr sz="1900" b="1" i="0">
                <a:solidFill>
                  <a:srgbClr val="D41348"/>
                </a:solidFill>
              </a:rPr>
              <a:t>Neo4j genomes</a:t>
            </a:r>
          </a:p>
        </p:txBody>
      </p:sp>
      <p:sp>
        <p:nvSpPr>
          <p:cNvPr id="18" name="sub 27"/>
          <p:cNvSpPr txBox="1"/>
          <p:nvPr/>
        </p:nvSpPr>
        <p:spPr>
          <a:xfrm>
            <a:off x="8183879" y="2103120"/>
            <a:ext cx="3291840" cy="365760"/>
          </a:xfrm>
          <a:prstGeom prst="rect">
            <a:avLst/>
          </a:prstGeom>
          <a:noFill/>
        </p:spPr>
        <p:txBody>
          <a:bodyPr wrap="square" lIns="45720" tIns="27432" rIns="45720" bIns="27432" anchor="t">
            <a:spAutoFit/>
          </a:bodyPr>
          <a:lstStyle/>
          <a:p>
            <a:pPr algn="l">
              <a:spcAft>
                <a:spcPts val="600"/>
              </a:spcAft>
            </a:pPr>
            <a:r>
              <a:rPr sz="1500" b="0" i="0">
                <a:solidFill>
                  <a:srgbClr val="595959"/>
                </a:solidFill>
              </a:rPr>
              <a:t>65 genomes · KOs · tree</a:t>
            </a:r>
          </a:p>
        </p:txBody>
      </p:sp>
      <p:sp>
        <p:nvSpPr>
          <p:cNvPr id="19" name="bullets 27"/>
          <p:cNvSpPr txBox="1"/>
          <p:nvPr/>
        </p:nvSpPr>
        <p:spPr>
          <a:xfrm>
            <a:off x="8183879" y="2606040"/>
            <a:ext cx="3291840" cy="2560320"/>
          </a:xfrm>
          <a:prstGeom prst="rect">
            <a:avLst/>
          </a:prstGeom>
          <a:noFill/>
        </p:spPr>
        <p:txBody>
          <a:bodyPr wrap="square" lIns="45720" tIns="27432" rIns="45720" bIns="27432" anchor="t">
            <a:spAutoFit/>
          </a:bodyPr>
          <a:lstStyle/>
          <a:p>
            <a:pPr marL="256032" indent="-256032" algn="l">
              <a:spcAft>
                <a:spcPts val="800"/>
              </a:spcAft>
              <a:buFont typeface="Arial"/>
              <a:buChar char="•"/>
            </a:pPr>
            <a:r>
              <a:rPr sz="1600" b="0" i="0">
                <a:solidFill>
                  <a:srgbClr val="0E2841"/>
                </a:solidFill>
              </a:rPr>
              <a:t>Model, import, explore</a:t>
            </a:r>
          </a:p>
          <a:p>
            <a:pPr marL="256032" indent="-256032" algn="l">
              <a:spcAft>
                <a:spcPts val="800"/>
              </a:spcAft>
              <a:buFont typeface="Arial"/>
              <a:buChar char="•"/>
            </a:pPr>
            <a:r>
              <a:rPr sz="1600" b="0" i="0">
                <a:solidFill>
                  <a:srgbClr val="0E2841"/>
                </a:solidFill>
              </a:rPr>
              <a:t>Q1: similar genomes</a:t>
            </a:r>
          </a:p>
          <a:p>
            <a:pPr marL="256032" indent="-256032" algn="l">
              <a:spcAft>
                <a:spcPts val="800"/>
              </a:spcAft>
              <a:buFont typeface="Arial"/>
              <a:buChar char="•"/>
            </a:pPr>
            <a:r>
              <a:rPr sz="1600" b="0" i="0">
                <a:solidFill>
                  <a:srgbClr val="0E2841"/>
                </a:solidFill>
              </a:rPr>
              <a:t>Q2: KO evolution on the tree</a:t>
            </a:r>
          </a:p>
        </p:txBody>
      </p:sp>
      <p:sp>
        <p:nvSpPr>
          <p:cNvPr id="20" name="banner"/>
          <p:cNvSpPr/>
          <p:nvPr/>
        </p:nvSpPr>
        <p:spPr>
          <a:xfrm>
            <a:off x="548640" y="5486400"/>
            <a:ext cx="11064240" cy="777240"/>
          </a:xfrm>
          <a:prstGeom prst="roundRect">
            <a:avLst>
              <a:gd name="adj" fmla="val 7058"/>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banner text"/>
          <p:cNvSpPr txBox="1"/>
          <p:nvPr/>
        </p:nvSpPr>
        <p:spPr>
          <a:xfrm>
            <a:off x="731520" y="5532120"/>
            <a:ext cx="10698480" cy="685800"/>
          </a:xfrm>
          <a:prstGeom prst="rect">
            <a:avLst/>
          </a:prstGeom>
          <a:noFill/>
        </p:spPr>
        <p:txBody>
          <a:bodyPr wrap="square" lIns="45720" tIns="27432" rIns="45720" bIns="27432" anchor="ctr">
            <a:spAutoFit/>
          </a:bodyPr>
          <a:lstStyle/>
          <a:p>
            <a:pPr algn="l">
              <a:spcAft>
                <a:spcPts val="600"/>
              </a:spcAft>
            </a:pPr>
            <a:r>
              <a:rPr sz="1800" b="0" i="0">
                <a:solidFill>
                  <a:srgbClr val="FFFFFF"/>
                </a:solidFill>
              </a:rPr>
              <a:t>All hands-on sessions run </a:t>
            </a:r>
            <a:r>
              <a:rPr sz="1800" b="1" i="0">
                <a:solidFill>
                  <a:srgbClr val="FFFFFF"/>
                </a:solidFill>
              </a:rPr>
              <a:t>on your laptop</a:t>
            </a:r>
            <a:r>
              <a:rPr sz="1800" b="0" i="0">
                <a:solidFill>
                  <a:srgbClr val="FFFFFF"/>
                </a:solidFill>
              </a:rPr>
              <a:t>: Docker (MongoDB + Neo4j) + JupyterLab, no cloud account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74320"/>
            <a:ext cx="11064240" cy="777240"/>
          </a:xfrm>
        </p:spPr>
        <p:txBody>
          <a:bodyPr wrap="square" anchor="ctr"/>
          <a:lstStyle/>
          <a:p>
            <a:pPr algn="l"/>
            <a:r>
              <a:rPr sz="3000" b="1" i="0">
                <a:solidFill>
                  <a:srgbClr val="0E2841"/>
                </a:solidFill>
              </a:rPr>
              <a:t>Get your laptop ready (before Lecture 25)</a:t>
            </a:r>
          </a:p>
        </p:txBody>
      </p:sp>
      <p:sp>
        <p:nvSpPr>
          <p:cNvPr id="3" name="footer"/>
          <p:cNvSpPr txBox="1"/>
          <p:nvPr/>
        </p:nvSpPr>
        <p:spPr>
          <a:xfrm>
            <a:off x="548640" y="6455664"/>
            <a:ext cx="8686800" cy="274320"/>
          </a:xfrm>
          <a:prstGeom prst="rect">
            <a:avLst/>
          </a:prstGeom>
          <a:noFill/>
        </p:spPr>
        <p:txBody>
          <a:bodyPr wrap="square" lIns="45720" tIns="27432" rIns="45720" bIns="27432" anchor="t">
            <a:spAutoFit/>
          </a:bodyPr>
          <a:lstStyle/>
          <a:p>
            <a:pPr algn="l">
              <a:spcAft>
                <a:spcPts val="600"/>
              </a:spcAft>
            </a:pPr>
            <a:r>
              <a:rPr sz="1000" b="0" i="0">
                <a:solidFill>
                  <a:srgbClr val="595959"/>
                </a:solidFill>
              </a:rPr>
              <a:t>NoSQL Databases for Bioinformatics  ·  Lecture 24  ·  NoSQL foundations</a:t>
            </a:r>
          </a:p>
        </p:txBody>
      </p:sp>
      <p:sp>
        <p:nvSpPr>
          <p:cNvPr id="4" name="slide number"/>
          <p:cNvSpPr txBox="1"/>
          <p:nvPr/>
        </p:nvSpPr>
        <p:spPr>
          <a:xfrm>
            <a:off x="10698480" y="6455664"/>
            <a:ext cx="914400" cy="274320"/>
          </a:xfrm>
          <a:prstGeom prst="rect">
            <a:avLst/>
          </a:prstGeom>
          <a:noFill/>
        </p:spPr>
        <p:txBody>
          <a:bodyPr wrap="square" lIns="45720" tIns="27432" rIns="45720" bIns="27432" anchor="t">
            <a:spAutoFit/>
          </a:bodyPr>
          <a:lstStyle/>
          <a:p>
            <a:pPr algn="r">
              <a:spcAft>
                <a:spcPts val="600"/>
              </a:spcAft>
            </a:pPr>
            <a:fld id="{B6F15528-21DE-4FAA-801E-634DDDAF4B2B}" type="slidenum">
              <a:rPr lang="en-US" sz="1000">
                <a:solidFill>
                  <a:srgbClr val="595959"/>
                </a:solidFill>
              </a:rPr>
              <a:t>17</a:t>
            </a:fld>
            <a:endParaRPr lang="en-US" sz="1000">
              <a:solidFill>
                <a:srgbClr val="595959"/>
              </a:solidFill>
            </a:endParaRPr>
          </a:p>
        </p:txBody>
      </p:sp>
      <p:sp>
        <p:nvSpPr>
          <p:cNvPr id="5" name="step 1"/>
          <p:cNvSpPr/>
          <p:nvPr/>
        </p:nvSpPr>
        <p:spPr>
          <a:xfrm>
            <a:off x="548640" y="1325880"/>
            <a:ext cx="3566160" cy="3063240"/>
          </a:xfrm>
          <a:prstGeom prst="roundRect">
            <a:avLst>
              <a:gd name="adj" fmla="val 1791"/>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n1"/>
          <p:cNvSpPr/>
          <p:nvPr/>
        </p:nvSpPr>
        <p:spPr>
          <a:xfrm>
            <a:off x="685800" y="1463040"/>
            <a:ext cx="502920" cy="50292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000" b="1" i="0">
                <a:solidFill>
                  <a:srgbClr val="FFFFFF"/>
                </a:solidFill>
              </a:rPr>
              <a:t>1</a:t>
            </a:r>
          </a:p>
        </p:txBody>
      </p:sp>
      <p:sp>
        <p:nvSpPr>
          <p:cNvPr id="7" name="h1"/>
          <p:cNvSpPr txBox="1"/>
          <p:nvPr/>
        </p:nvSpPr>
        <p:spPr>
          <a:xfrm>
            <a:off x="1325880" y="1417320"/>
            <a:ext cx="2697480" cy="731520"/>
          </a:xfrm>
          <a:prstGeom prst="rect">
            <a:avLst/>
          </a:prstGeom>
          <a:noFill/>
        </p:spPr>
        <p:txBody>
          <a:bodyPr wrap="square" lIns="45720" tIns="27432" rIns="45720" bIns="27432" anchor="ctr">
            <a:spAutoFit/>
          </a:bodyPr>
          <a:lstStyle/>
          <a:p>
            <a:pPr algn="l">
              <a:spcAft>
                <a:spcPts val="600"/>
              </a:spcAft>
            </a:pPr>
            <a:r>
              <a:rPr sz="1700" b="1" i="0">
                <a:solidFill>
                  <a:srgbClr val="156082"/>
                </a:solidFill>
              </a:rPr>
              <a:t>Install Docker</a:t>
            </a:r>
          </a:p>
        </p:txBody>
      </p:sp>
      <p:sp>
        <p:nvSpPr>
          <p:cNvPr id="8" name="i1"/>
          <p:cNvSpPr txBox="1"/>
          <p:nvPr/>
        </p:nvSpPr>
        <p:spPr>
          <a:xfrm>
            <a:off x="685800" y="2286000"/>
            <a:ext cx="3291840" cy="2057400"/>
          </a:xfrm>
          <a:prstGeom prst="rect">
            <a:avLst/>
          </a:prstGeom>
          <a:noFill/>
        </p:spPr>
        <p:txBody>
          <a:bodyPr wrap="square" lIns="45720" tIns="27432" rIns="45720" bIns="27432" anchor="t">
            <a:spAutoFit/>
          </a:bodyPr>
          <a:lstStyle/>
          <a:p>
            <a:pPr marL="256032" indent="-256032" algn="l">
              <a:spcAft>
                <a:spcPts val="700"/>
              </a:spcAft>
              <a:buFont typeface="Arial"/>
              <a:buChar char="•"/>
            </a:pPr>
            <a:r>
              <a:rPr sz="1400" b="0" i="0">
                <a:solidFill>
                  <a:srgbClr val="0E2841"/>
                </a:solidFill>
              </a:rPr>
              <a:t>Docker Desktop (macOS, Windows) or Docker Engine + Compose (Linux)</a:t>
            </a:r>
          </a:p>
          <a:p>
            <a:pPr marL="256032" indent="-256032" algn="l">
              <a:spcAft>
                <a:spcPts val="700"/>
              </a:spcAft>
              <a:buFont typeface="Arial"/>
              <a:buChar char="•"/>
            </a:pPr>
            <a:r>
              <a:rPr sz="1400" b="0" i="0">
                <a:solidFill>
                  <a:srgbClr val="0E2841"/>
                </a:solidFill>
              </a:rPr>
              <a:t>Test: </a:t>
            </a:r>
            <a:r>
              <a:rPr sz="1400" b="0" i="0">
                <a:solidFill>
                  <a:srgbClr val="156082"/>
                </a:solidFill>
                <a:latin typeface="Courier New"/>
              </a:rPr>
              <a:t>docker --version</a:t>
            </a:r>
            <a:r>
              <a:rPr sz="1400" b="0" i="0">
                <a:solidFill>
                  <a:srgbClr val="0E2841"/>
                </a:solidFill>
              </a:rPr>
              <a:t> and </a:t>
            </a:r>
            <a:r>
              <a:rPr sz="1400" b="0" i="0">
                <a:solidFill>
                  <a:srgbClr val="156082"/>
                </a:solidFill>
                <a:latin typeface="Courier New"/>
              </a:rPr>
              <a:t>docker compose version</a:t>
            </a:r>
          </a:p>
        </p:txBody>
      </p:sp>
      <p:sp>
        <p:nvSpPr>
          <p:cNvPr id="9" name="step 2"/>
          <p:cNvSpPr/>
          <p:nvPr/>
        </p:nvSpPr>
        <p:spPr>
          <a:xfrm>
            <a:off x="4297679" y="1325880"/>
            <a:ext cx="3566160" cy="3063240"/>
          </a:xfrm>
          <a:prstGeom prst="roundRect">
            <a:avLst>
              <a:gd name="adj" fmla="val 1791"/>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n2"/>
          <p:cNvSpPr/>
          <p:nvPr/>
        </p:nvSpPr>
        <p:spPr>
          <a:xfrm>
            <a:off x="4434840" y="1463040"/>
            <a:ext cx="502920" cy="502920"/>
          </a:xfrm>
          <a:prstGeom prst="ellipse">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000" b="1" i="0">
                <a:solidFill>
                  <a:srgbClr val="FFFFFF"/>
                </a:solidFill>
              </a:rPr>
              <a:t>2</a:t>
            </a:r>
          </a:p>
        </p:txBody>
      </p:sp>
      <p:sp>
        <p:nvSpPr>
          <p:cNvPr id="11" name="h2"/>
          <p:cNvSpPr txBox="1"/>
          <p:nvPr/>
        </p:nvSpPr>
        <p:spPr>
          <a:xfrm>
            <a:off x="5074919" y="1417320"/>
            <a:ext cx="2697480" cy="731520"/>
          </a:xfrm>
          <a:prstGeom prst="rect">
            <a:avLst/>
          </a:prstGeom>
          <a:noFill/>
        </p:spPr>
        <p:txBody>
          <a:bodyPr wrap="square" lIns="45720" tIns="27432" rIns="45720" bIns="27432" anchor="ctr">
            <a:spAutoFit/>
          </a:bodyPr>
          <a:lstStyle/>
          <a:p>
            <a:pPr algn="l">
              <a:spcAft>
                <a:spcPts val="600"/>
              </a:spcAft>
            </a:pPr>
            <a:r>
              <a:rPr sz="1700" b="1" i="0">
                <a:solidFill>
                  <a:srgbClr val="2E8B3E"/>
                </a:solidFill>
              </a:rPr>
              <a:t>Get the materials and start the databases</a:t>
            </a:r>
          </a:p>
        </p:txBody>
      </p:sp>
      <p:sp>
        <p:nvSpPr>
          <p:cNvPr id="12" name="i2"/>
          <p:cNvSpPr txBox="1"/>
          <p:nvPr/>
        </p:nvSpPr>
        <p:spPr>
          <a:xfrm>
            <a:off x="4434840" y="2286000"/>
            <a:ext cx="3291840" cy="2057400"/>
          </a:xfrm>
          <a:prstGeom prst="rect">
            <a:avLst/>
          </a:prstGeom>
          <a:noFill/>
        </p:spPr>
        <p:txBody>
          <a:bodyPr wrap="square" lIns="45720" tIns="27432" rIns="45720" bIns="27432" anchor="t">
            <a:spAutoFit/>
          </a:bodyPr>
          <a:lstStyle/>
          <a:p>
            <a:pPr marL="256032" indent="-256032" algn="l">
              <a:spcAft>
                <a:spcPts val="700"/>
              </a:spcAft>
              <a:buFont typeface="Arial"/>
              <a:buChar char="•"/>
            </a:pPr>
            <a:r>
              <a:rPr sz="1400" b="0" i="0">
                <a:solidFill>
                  <a:srgbClr val="156082"/>
                </a:solidFill>
                <a:latin typeface="Courier New"/>
              </a:rPr>
              <a:t>git clone</a:t>
            </a:r>
            <a:r>
              <a:rPr sz="1400" b="0" i="0">
                <a:solidFill>
                  <a:srgbClr val="0E2841"/>
                </a:solidFill>
              </a:rPr>
              <a:t> the course repository</a:t>
            </a:r>
          </a:p>
          <a:p>
            <a:pPr marL="256032" indent="-256032" algn="l">
              <a:spcAft>
                <a:spcPts val="700"/>
              </a:spcAft>
              <a:buFont typeface="Arial"/>
              <a:buChar char="•"/>
            </a:pPr>
            <a:r>
              <a:rPr sz="1400" b="0" i="0">
                <a:solidFill>
                  <a:srgbClr val="156082"/>
                </a:solidFill>
                <a:latin typeface="Courier New"/>
              </a:rPr>
              <a:t>cd docker &amp;&amp; docker compose up -d</a:t>
            </a:r>
          </a:p>
          <a:p>
            <a:pPr marL="256032" indent="-256032" algn="l">
              <a:spcAft>
                <a:spcPts val="700"/>
              </a:spcAft>
              <a:buFont typeface="Arial"/>
              <a:buChar char="•"/>
            </a:pPr>
            <a:r>
              <a:rPr sz="1400" b="0" i="0">
                <a:solidFill>
                  <a:srgbClr val="0E2841"/>
                </a:solidFill>
              </a:rPr>
              <a:t>wait until </a:t>
            </a:r>
            <a:r>
              <a:rPr sz="1400" b="0" i="0">
                <a:solidFill>
                  <a:srgbClr val="156082"/>
                </a:solidFill>
                <a:latin typeface="Courier New"/>
              </a:rPr>
              <a:t>docker compose ps</a:t>
            </a:r>
            <a:r>
              <a:rPr sz="1400" b="0" i="0">
                <a:solidFill>
                  <a:srgbClr val="0E2841"/>
                </a:solidFill>
              </a:rPr>
              <a:t> says </a:t>
            </a:r>
            <a:r>
              <a:rPr sz="1400" b="1" i="0">
                <a:solidFill>
                  <a:srgbClr val="0E2841"/>
                </a:solidFill>
              </a:rPr>
              <a:t>healthy</a:t>
            </a:r>
          </a:p>
        </p:txBody>
      </p:sp>
      <p:sp>
        <p:nvSpPr>
          <p:cNvPr id="13" name="step 3"/>
          <p:cNvSpPr/>
          <p:nvPr/>
        </p:nvSpPr>
        <p:spPr>
          <a:xfrm>
            <a:off x="8046719" y="1325880"/>
            <a:ext cx="3566160" cy="3063240"/>
          </a:xfrm>
          <a:prstGeom prst="roundRect">
            <a:avLst>
              <a:gd name="adj" fmla="val 1791"/>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n3"/>
          <p:cNvSpPr/>
          <p:nvPr/>
        </p:nvSpPr>
        <p:spPr>
          <a:xfrm>
            <a:off x="8183879" y="1463040"/>
            <a:ext cx="502920" cy="50292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000" b="1" i="0">
                <a:solidFill>
                  <a:srgbClr val="FFFFFF"/>
                </a:solidFill>
              </a:rPr>
              <a:t>3</a:t>
            </a:r>
          </a:p>
        </p:txBody>
      </p:sp>
      <p:sp>
        <p:nvSpPr>
          <p:cNvPr id="15" name="h3"/>
          <p:cNvSpPr txBox="1"/>
          <p:nvPr/>
        </p:nvSpPr>
        <p:spPr>
          <a:xfrm>
            <a:off x="8823959" y="1417320"/>
            <a:ext cx="2697480" cy="731520"/>
          </a:xfrm>
          <a:prstGeom prst="rect">
            <a:avLst/>
          </a:prstGeom>
          <a:noFill/>
        </p:spPr>
        <p:txBody>
          <a:bodyPr wrap="square" lIns="45720" tIns="27432" rIns="45720" bIns="27432" anchor="ctr">
            <a:spAutoFit/>
          </a:bodyPr>
          <a:lstStyle/>
          <a:p>
            <a:pPr algn="l">
              <a:spcAft>
                <a:spcPts val="600"/>
              </a:spcAft>
            </a:pPr>
            <a:r>
              <a:rPr sz="1700" b="1" i="0">
                <a:solidFill>
                  <a:srgbClr val="E97132"/>
                </a:solidFill>
              </a:rPr>
              <a:t>Python environment and check</a:t>
            </a:r>
          </a:p>
        </p:txBody>
      </p:sp>
      <p:sp>
        <p:nvSpPr>
          <p:cNvPr id="16" name="i3"/>
          <p:cNvSpPr txBox="1"/>
          <p:nvPr/>
        </p:nvSpPr>
        <p:spPr>
          <a:xfrm>
            <a:off x="8183879" y="2286000"/>
            <a:ext cx="3291840" cy="2057400"/>
          </a:xfrm>
          <a:prstGeom prst="rect">
            <a:avLst/>
          </a:prstGeom>
          <a:noFill/>
        </p:spPr>
        <p:txBody>
          <a:bodyPr wrap="square" lIns="45720" tIns="27432" rIns="45720" bIns="27432" anchor="t">
            <a:spAutoFit/>
          </a:bodyPr>
          <a:lstStyle/>
          <a:p>
            <a:pPr marL="256032" indent="-256032" algn="l">
              <a:spcAft>
                <a:spcPts val="700"/>
              </a:spcAft>
              <a:buFont typeface="Arial"/>
              <a:buChar char="•"/>
            </a:pPr>
            <a:r>
              <a:rPr sz="1400" b="0" i="0">
                <a:solidFill>
                  <a:srgbClr val="156082"/>
                </a:solidFill>
                <a:latin typeface="Courier New"/>
              </a:rPr>
              <a:t>python3 -m venv .venv</a:t>
            </a:r>
            <a:r>
              <a:rPr sz="1400" b="0" i="0">
                <a:solidFill>
                  <a:srgbClr val="0E2841"/>
                </a:solidFill>
              </a:rPr>
              <a:t>, activate it</a:t>
            </a:r>
          </a:p>
          <a:p>
            <a:pPr marL="256032" indent="-256032" algn="l">
              <a:spcAft>
                <a:spcPts val="700"/>
              </a:spcAft>
              <a:buFont typeface="Arial"/>
              <a:buChar char="•"/>
            </a:pPr>
            <a:r>
              <a:rPr sz="1400" b="0" i="0">
                <a:solidFill>
                  <a:srgbClr val="156082"/>
                </a:solidFill>
                <a:latin typeface="Courier New"/>
              </a:rPr>
              <a:t>pip install -r requirements.txt</a:t>
            </a:r>
          </a:p>
          <a:p>
            <a:pPr marL="256032" indent="-256032" algn="l">
              <a:spcAft>
                <a:spcPts val="700"/>
              </a:spcAft>
              <a:buFont typeface="Arial"/>
              <a:buChar char="•"/>
            </a:pPr>
            <a:r>
              <a:rPr sz="1400" b="0" i="0">
                <a:solidFill>
                  <a:srgbClr val="156082"/>
                </a:solidFill>
                <a:latin typeface="Courier New"/>
              </a:rPr>
              <a:t>python scripts/check_setup.py</a:t>
            </a:r>
            <a:r>
              <a:rPr sz="1400" b="0" i="0">
                <a:solidFill>
                  <a:srgbClr val="0E2841"/>
                </a:solidFill>
              </a:rPr>
              <a:t> → 🎉</a:t>
            </a:r>
          </a:p>
        </p:txBody>
      </p:sp>
      <p:graphicFrame>
        <p:nvGraphicFramePr>
          <p:cNvPr id="17" name="requirements"/>
          <p:cNvGraphicFramePr>
            <a:graphicFrameLocks noGrp="1"/>
          </p:cNvGraphicFramePr>
          <p:nvPr/>
        </p:nvGraphicFramePr>
        <p:xfrm>
          <a:off x="548640" y="4617720"/>
          <a:ext cx="11064240" cy="1133856"/>
        </p:xfrm>
        <a:graphic>
          <a:graphicData uri="http://schemas.openxmlformats.org/drawingml/2006/table">
            <a:tbl>
              <a:tblPr>
                <a:tableStyleId>{5C22544A-7EE6-4342-B048-85BDC9FD1C3A}</a:tableStyleId>
              </a:tblPr>
              <a:tblGrid>
                <a:gridCol w="31089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4114800">
                  <a:extLst>
                    <a:ext uri="{9D8B030D-6E8A-4147-A177-3AD203B41FA5}">
                      <a16:colId xmlns:a16="http://schemas.microsoft.com/office/drawing/2014/main" val="20003"/>
                    </a:ext>
                  </a:extLst>
                </a:gridCol>
              </a:tblGrid>
              <a:tr h="365760">
                <a:tc>
                  <a:txBody>
                    <a:bodyPr/>
                    <a:lstStyle/>
                    <a:p>
                      <a:endParaRPr/>
                    </a:p>
                  </a:txBody>
                  <a:tcPr marL="73152" marR="73152" marT="36576" marB="36576" anchor="ctr">
                    <a:solidFill>
                      <a:srgbClr val="0E2841"/>
                    </a:solidFill>
                  </a:tcPr>
                </a:tc>
                <a:tc>
                  <a:txBody>
                    <a:bodyPr/>
                    <a:lstStyle/>
                    <a:p>
                      <a:r>
                        <a:rPr sz="1400" b="1" i="0">
                          <a:solidFill>
                            <a:srgbClr val="FFFFFF"/>
                          </a:solidFill>
                        </a:rPr>
                        <a:t>time</a:t>
                      </a:r>
                    </a:p>
                  </a:txBody>
                  <a:tcPr marL="73152" marR="73152" marT="36576" marB="36576" anchor="ctr">
                    <a:solidFill>
                      <a:srgbClr val="0E2841"/>
                    </a:solidFill>
                  </a:tcPr>
                </a:tc>
                <a:tc>
                  <a:txBody>
                    <a:bodyPr/>
                    <a:lstStyle/>
                    <a:p>
                      <a:r>
                        <a:rPr sz="1400" b="1" i="0">
                          <a:solidFill>
                            <a:srgbClr val="FFFFFF"/>
                          </a:solidFill>
                        </a:rPr>
                        <a:t>disk</a:t>
                      </a:r>
                    </a:p>
                  </a:txBody>
                  <a:tcPr marL="73152" marR="73152" marT="36576" marB="36576" anchor="ctr">
                    <a:solidFill>
                      <a:srgbClr val="0E2841"/>
                    </a:solidFill>
                  </a:tcPr>
                </a:tc>
                <a:tc>
                  <a:txBody>
                    <a:bodyPr/>
                    <a:lstStyle/>
                    <a:p>
                      <a:r>
                        <a:rPr sz="1400" b="1" i="0">
                          <a:solidFill>
                            <a:srgbClr val="FFFFFF"/>
                          </a:solidFill>
                        </a:rPr>
                        <a:t>internet</a:t>
                      </a:r>
                    </a:p>
                  </a:txBody>
                  <a:tcPr marL="73152" marR="73152" marT="36576" marB="36576" anchor="ctr">
                    <a:solidFill>
                      <a:srgbClr val="0E2841"/>
                    </a:solidFill>
                  </a:tcPr>
                </a:tc>
                <a:extLst>
                  <a:ext uri="{0D108BD9-81ED-4DB2-BD59-A6C34878D82A}">
                    <a16:rowId xmlns:a16="http://schemas.microsoft.com/office/drawing/2014/main" val="10000"/>
                  </a:ext>
                </a:extLst>
              </a:tr>
              <a:tr h="384048">
                <a:tc>
                  <a:txBody>
                    <a:bodyPr/>
                    <a:lstStyle/>
                    <a:p>
                      <a:r>
                        <a:rPr sz="1400" b="0" i="0">
                          <a:solidFill>
                            <a:srgbClr val="0E2841"/>
                          </a:solidFill>
                        </a:rPr>
                        <a:t>one-off preparation</a:t>
                      </a:r>
                    </a:p>
                  </a:txBody>
                  <a:tcPr marL="73152" marR="73152" marT="36576" marB="36576" anchor="ctr">
                    <a:solidFill>
                      <a:srgbClr val="FFFFFF"/>
                    </a:solidFill>
                  </a:tcPr>
                </a:tc>
                <a:tc>
                  <a:txBody>
                    <a:bodyPr/>
                    <a:lstStyle/>
                    <a:p>
                      <a:r>
                        <a:rPr sz="1400" b="0" i="0">
                          <a:solidFill>
                            <a:srgbClr val="0E2841"/>
                          </a:solidFill>
                        </a:rPr>
                        <a:t>20–30 min</a:t>
                      </a:r>
                    </a:p>
                  </a:txBody>
                  <a:tcPr marL="73152" marR="73152" marT="36576" marB="36576" anchor="ctr">
                    <a:solidFill>
                      <a:srgbClr val="FFFFFF"/>
                    </a:solidFill>
                  </a:tcPr>
                </a:tc>
                <a:tc>
                  <a:txBody>
                    <a:bodyPr/>
                    <a:lstStyle/>
                    <a:p>
                      <a:r>
                        <a:rPr sz="1400" b="0" i="0">
                          <a:solidFill>
                            <a:srgbClr val="0E2841"/>
                          </a:solidFill>
                        </a:rPr>
                        <a:t>≈ 4 GB</a:t>
                      </a:r>
                    </a:p>
                  </a:txBody>
                  <a:tcPr marL="73152" marR="73152" marT="36576" marB="36576" anchor="ctr">
                    <a:solidFill>
                      <a:srgbClr val="FFFFFF"/>
                    </a:solidFill>
                  </a:tcPr>
                </a:tc>
                <a:tc>
                  <a:txBody>
                    <a:bodyPr/>
                    <a:lstStyle/>
                    <a:p>
                      <a:r>
                        <a:rPr sz="1400" b="0" i="0">
                          <a:solidFill>
                            <a:srgbClr val="0E2841"/>
                          </a:solidFill>
                        </a:rPr>
                        <a:t>yes (downloads)</a:t>
                      </a:r>
                    </a:p>
                  </a:txBody>
                  <a:tcPr marL="73152" marR="73152" marT="36576" marB="36576" anchor="ctr">
                    <a:solidFill>
                      <a:srgbClr val="FFFFFF"/>
                    </a:solidFill>
                  </a:tcPr>
                </a:tc>
                <a:extLst>
                  <a:ext uri="{0D108BD9-81ED-4DB2-BD59-A6C34878D82A}">
                    <a16:rowId xmlns:a16="http://schemas.microsoft.com/office/drawing/2014/main" val="10001"/>
                  </a:ext>
                </a:extLst>
              </a:tr>
              <a:tr h="384048">
                <a:tc>
                  <a:txBody>
                    <a:bodyPr/>
                    <a:lstStyle/>
                    <a:p>
                      <a:r>
                        <a:rPr sz="1400" b="0" i="0">
                          <a:solidFill>
                            <a:srgbClr val="0E2841"/>
                          </a:solidFill>
                        </a:rPr>
                        <a:t>during the workshops</a:t>
                      </a:r>
                    </a:p>
                  </a:txBody>
                  <a:tcPr marL="73152" marR="73152" marT="36576" marB="36576" anchor="ctr">
                    <a:solidFill>
                      <a:srgbClr val="F2F5F9"/>
                    </a:solidFill>
                  </a:tcPr>
                </a:tc>
                <a:tc>
                  <a:txBody>
                    <a:bodyPr/>
                    <a:lstStyle/>
                    <a:p>
                      <a:endParaRPr/>
                    </a:p>
                  </a:txBody>
                  <a:tcPr marL="73152" marR="73152" marT="36576" marB="36576" anchor="ctr">
                    <a:solidFill>
                      <a:srgbClr val="F2F5F9"/>
                    </a:solidFill>
                  </a:tcPr>
                </a:tc>
                <a:tc>
                  <a:txBody>
                    <a:bodyPr/>
                    <a:lstStyle/>
                    <a:p>
                      <a:endParaRPr/>
                    </a:p>
                  </a:txBody>
                  <a:tcPr marL="73152" marR="73152" marT="36576" marB="36576" anchor="ctr">
                    <a:solidFill>
                      <a:srgbClr val="F2F5F9"/>
                    </a:solidFill>
                  </a:tcPr>
                </a:tc>
                <a:tc>
                  <a:txBody>
                    <a:bodyPr/>
                    <a:lstStyle/>
                    <a:p>
                      <a:r>
                        <a:rPr sz="1400" b="1" i="0">
                          <a:solidFill>
                            <a:srgbClr val="0E2841"/>
                          </a:solidFill>
                        </a:rPr>
                        <a:t>no</a:t>
                      </a:r>
                      <a:r>
                        <a:rPr sz="1400" b="0" i="0">
                          <a:solidFill>
                            <a:srgbClr val="0E2841"/>
                          </a:solidFill>
                        </a:rPr>
                        <a:t>: everything is local</a:t>
                      </a:r>
                    </a:p>
                  </a:txBody>
                  <a:tcPr marL="73152" marR="73152" marT="36576" marB="36576" anchor="ctr">
                    <a:solidFill>
                      <a:srgbClr val="F2F5F9"/>
                    </a:solidFill>
                  </a:tcPr>
                </a:tc>
                <a:extLst>
                  <a:ext uri="{0D108BD9-81ED-4DB2-BD59-A6C34878D82A}">
                    <a16:rowId xmlns:a16="http://schemas.microsoft.com/office/drawing/2014/main" val="10002"/>
                  </a:ext>
                </a:extLst>
              </a:tr>
            </a:tbl>
          </a:graphicData>
        </a:graphic>
      </p:graphicFrame>
      <p:sp>
        <p:nvSpPr>
          <p:cNvPr id="18" name="setup pointer"/>
          <p:cNvSpPr txBox="1"/>
          <p:nvPr/>
        </p:nvSpPr>
        <p:spPr>
          <a:xfrm>
            <a:off x="548640" y="5943600"/>
            <a:ext cx="11064240" cy="365760"/>
          </a:xfrm>
          <a:prstGeom prst="rect">
            <a:avLst/>
          </a:prstGeom>
          <a:noFill/>
        </p:spPr>
        <p:txBody>
          <a:bodyPr wrap="square" lIns="45720" tIns="27432" rIns="45720" bIns="27432" anchor="t">
            <a:spAutoFit/>
          </a:bodyPr>
          <a:lstStyle/>
          <a:p>
            <a:pPr algn="l">
              <a:spcAft>
                <a:spcPts val="600"/>
              </a:spcAft>
            </a:pPr>
            <a:r>
              <a:rPr sz="1400" b="0" i="0">
                <a:solidFill>
                  <a:srgbClr val="595959"/>
                </a:solidFill>
              </a:rPr>
              <a:t>Full guide + troubleshooting: </a:t>
            </a:r>
            <a:r>
              <a:rPr sz="1400" b="1" i="0">
                <a:solidFill>
                  <a:srgbClr val="595959"/>
                </a:solidFill>
              </a:rPr>
              <a:t>SETUP.md</a:t>
            </a:r>
            <a:r>
              <a:rPr sz="1400" b="0" i="0">
                <a:solidFill>
                  <a:srgbClr val="595959"/>
                </a:solidFill>
              </a:rPr>
              <a:t> in the repository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665B85-034C-F26A-80ED-F4789D25C56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020D51A2-9418-497E-9DD2-EF249BA7C407}"/>
              </a:ext>
            </a:extLst>
          </p:cNvPr>
          <p:cNvSpPr>
            <a:spLocks noGrp="1"/>
          </p:cNvSpPr>
          <p:nvPr>
            <p:ph type="title"/>
          </p:nvPr>
        </p:nvSpPr>
        <p:spPr>
          <a:xfrm>
            <a:off x="3215729" y="854918"/>
            <a:ext cx="5760846" cy="819767"/>
          </a:xfrm>
        </p:spPr>
        <p:txBody>
          <a:bodyPr vert="horz" lIns="91440" tIns="45720" rIns="91440" bIns="45720" rtlCol="0" anchor="b">
            <a:normAutofit/>
          </a:bodyPr>
          <a:lstStyle/>
          <a:p>
            <a:pPr algn="ctr"/>
            <a:r>
              <a:rPr lang="en-US" sz="5200" dirty="0">
                <a:solidFill>
                  <a:schemeClr val="tx2"/>
                </a:solidFill>
              </a:rPr>
              <a:t>Recap:</a:t>
            </a:r>
            <a:endParaRPr lang="en-US" sz="5200" kern="1200" dirty="0">
              <a:solidFill>
                <a:schemeClr val="tx2"/>
              </a:solidFill>
              <a:latin typeface="+mj-lt"/>
              <a:ea typeface="+mj-ea"/>
              <a:cs typeface="+mj-cs"/>
            </a:endParaRPr>
          </a:p>
        </p:txBody>
      </p:sp>
      <p:sp>
        <p:nvSpPr>
          <p:cNvPr id="4" name="TextBox 3">
            <a:extLst>
              <a:ext uri="{FF2B5EF4-FFF2-40B4-BE49-F238E27FC236}">
                <a16:creationId xmlns:a16="http://schemas.microsoft.com/office/drawing/2014/main" id="{5AE65E05-95DA-2874-FE98-0E633A9C7289}"/>
              </a:ext>
            </a:extLst>
          </p:cNvPr>
          <p:cNvSpPr txBox="1"/>
          <p:nvPr/>
        </p:nvSpPr>
        <p:spPr>
          <a:xfrm>
            <a:off x="2549562" y="1971209"/>
            <a:ext cx="7817647" cy="4031873"/>
          </a:xfrm>
          <a:prstGeom prst="rect">
            <a:avLst/>
          </a:prstGeom>
          <a:noFill/>
        </p:spPr>
        <p:txBody>
          <a:bodyPr wrap="square" rtlCol="0">
            <a:spAutoFit/>
          </a:bodyPr>
          <a:lstStyle/>
          <a:p>
            <a:pPr marL="457200" indent="-457200">
              <a:buFont typeface="Arial" panose="020B0604020202020204" pitchFamily="34" charset="0"/>
              <a:buChar char="•"/>
            </a:pPr>
            <a:r>
              <a:rPr lang="en-US" sz="3200" dirty="0"/>
              <a:t>Evolution of database structures: pre-relational, SQL, to NoSQL</a:t>
            </a:r>
          </a:p>
          <a:p>
            <a:pPr marL="457200" indent="-457200">
              <a:buFont typeface="Arial" panose="020B0604020202020204" pitchFamily="34" charset="0"/>
              <a:buChar char="•"/>
            </a:pPr>
            <a:r>
              <a:rPr lang="en-US" sz="3200" dirty="0"/>
              <a:t>Data structures of Document, Graph, Key-value, and Wide-column</a:t>
            </a:r>
          </a:p>
          <a:p>
            <a:pPr marL="457200" indent="-457200">
              <a:buFont typeface="Arial" panose="020B0604020202020204" pitchFamily="34" charset="0"/>
              <a:buChar char="•"/>
            </a:pPr>
            <a:r>
              <a:rPr lang="en-US" sz="3200" dirty="0"/>
              <a:t>Decision tree of choosing the best databases for your project</a:t>
            </a:r>
          </a:p>
          <a:p>
            <a:pPr marL="457200" indent="-457200">
              <a:buFont typeface="Arial" panose="020B0604020202020204" pitchFamily="34" charset="0"/>
              <a:buChar char="•"/>
            </a:pPr>
            <a:r>
              <a:rPr lang="en-US" sz="3200" dirty="0"/>
              <a:t>Use of Document model and Graph model in </a:t>
            </a:r>
            <a:r>
              <a:rPr lang="en-US" sz="3200" dirty="0" err="1"/>
              <a:t>BioScience</a:t>
            </a:r>
            <a:r>
              <a:rPr lang="en-US" sz="3200" dirty="0"/>
              <a:t> projects</a:t>
            </a:r>
          </a:p>
        </p:txBody>
      </p:sp>
    </p:spTree>
    <p:extLst>
      <p:ext uri="{BB962C8B-B14F-4D97-AF65-F5344CB8AC3E}">
        <p14:creationId xmlns:p14="http://schemas.microsoft.com/office/powerpoint/2010/main" val="2501520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dissolv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dissolv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dissolve">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5ce1208-e929-4ec4-be64-9138d78922c0}" enabled="1" method="Standard" siteId="{22340fa8-9226-4871-b677-d3b3e377af72}" removed="0"/>
</clbl:labelList>
</file>

<file path=docProps/app.xml><?xml version="1.0" encoding="utf-8"?>
<Properties xmlns="http://schemas.openxmlformats.org/officeDocument/2006/extended-properties" xmlns:vt="http://schemas.openxmlformats.org/officeDocument/2006/docPropsVTypes">
  <TotalTime>7996</TotalTime>
  <Words>1912</Words>
  <Application>Microsoft Macintosh PowerPoint</Application>
  <PresentationFormat>Widescreen</PresentationFormat>
  <Paragraphs>242</Paragraphs>
  <Slides>18</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Aptos Display</vt:lpstr>
      <vt:lpstr>Arial</vt:lpstr>
      <vt:lpstr>Courier New</vt:lpstr>
      <vt:lpstr>Times New Roman</vt:lpstr>
      <vt:lpstr>Wingdings</vt:lpstr>
      <vt:lpstr>Office Theme</vt:lpstr>
      <vt:lpstr>NoSQL Databases for Bioinformatics </vt:lpstr>
      <vt:lpstr>Learning Objectives </vt:lpstr>
      <vt:lpstr>Before we talk about database</vt:lpstr>
      <vt:lpstr>What have happened?</vt:lpstr>
      <vt:lpstr>PowerPoint Presentation</vt:lpstr>
      <vt:lpstr>PowerPoint Presentation</vt:lpstr>
      <vt:lpstr>The evolution of databases has been driven by the application demand and the storage media.</vt:lpstr>
      <vt:lpstr>PowerPoint Presentation</vt:lpstr>
      <vt:lpstr>PowerPoint Presentation</vt:lpstr>
      <vt:lpstr>PowerPoint Presentation</vt:lpstr>
      <vt:lpstr>PowerPoint Presentation</vt:lpstr>
      <vt:lpstr>NoSQL: Key-Value Store and Wide-column</vt:lpstr>
      <vt:lpstr>How would Document DB benefit BioScience?</vt:lpstr>
      <vt:lpstr>How would Graph DB benefit BioScience?</vt:lpstr>
      <vt:lpstr>Which Database to choose?</vt:lpstr>
      <vt:lpstr>What comes next: from concepts to hands-on</vt:lpstr>
      <vt:lpstr>Get your laptop ready (before Lecture 25)</vt:lpstr>
      <vt:lpstr>Recap: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Zhang, Ziang</dc:creator>
  <cp:lastModifiedBy>Yi, Haidong</cp:lastModifiedBy>
  <cp:revision>5</cp:revision>
  <dcterms:created xsi:type="dcterms:W3CDTF">2025-07-25T02:03:29Z</dcterms:created>
  <dcterms:modified xsi:type="dcterms:W3CDTF">2026-10-17T14:42:49Z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St. Jude - Confidential</vt:lpwstr>
  </property>
</Properties>
</file>